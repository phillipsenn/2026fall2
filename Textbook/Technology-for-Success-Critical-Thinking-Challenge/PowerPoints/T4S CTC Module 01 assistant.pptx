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6"/>
  </p:sldMasterIdLst>
  <p:notesMasterIdLst>
    <p:notesMasterId r:id="rId31"/>
  </p:notesMasterIdLst>
  <p:sldIdLst>
    <p:sldId id="258" r:id="rId7"/>
    <p:sldId id="260" r:id="rId8"/>
    <p:sldId id="295" r:id="rId9"/>
    <p:sldId id="401" r:id="rId10"/>
    <p:sldId id="374" r:id="rId11"/>
    <p:sldId id="377" r:id="rId12"/>
    <p:sldId id="379" r:id="rId13"/>
    <p:sldId id="389" r:id="rId14"/>
    <p:sldId id="381" r:id="rId15"/>
    <p:sldId id="390" r:id="rId16"/>
    <p:sldId id="391" r:id="rId17"/>
    <p:sldId id="382" r:id="rId18"/>
    <p:sldId id="383" r:id="rId19"/>
    <p:sldId id="384" r:id="rId20"/>
    <p:sldId id="395" r:id="rId21"/>
    <p:sldId id="385" r:id="rId22"/>
    <p:sldId id="400" r:id="rId23"/>
    <p:sldId id="386" r:id="rId24"/>
    <p:sldId id="397" r:id="rId25"/>
    <p:sldId id="387" r:id="rId26"/>
    <p:sldId id="402" r:id="rId27"/>
    <p:sldId id="378" r:id="rId28"/>
    <p:sldId id="286" r:id="rId29"/>
    <p:sldId id="35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9D8A47-5A93-4DEB-AFB8-8554CB1F1CA0}">
          <p14:sldIdLst>
            <p14:sldId id="258"/>
            <p14:sldId id="260"/>
            <p14:sldId id="295"/>
            <p14:sldId id="401"/>
            <p14:sldId id="374"/>
            <p14:sldId id="377"/>
            <p14:sldId id="379"/>
            <p14:sldId id="389"/>
            <p14:sldId id="381"/>
            <p14:sldId id="390"/>
            <p14:sldId id="391"/>
            <p14:sldId id="382"/>
            <p14:sldId id="383"/>
            <p14:sldId id="384"/>
            <p14:sldId id="395"/>
            <p14:sldId id="385"/>
            <p14:sldId id="400"/>
            <p14:sldId id="386"/>
            <p14:sldId id="397"/>
            <p14:sldId id="387"/>
            <p14:sldId id="402"/>
            <p14:sldId id="378"/>
            <p14:sldId id="286"/>
            <p14:sldId id="35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Campbell" initials="JC" lastIdx="22" clrIdx="0">
    <p:extLst>
      <p:ext uri="{19B8F6BF-5375-455C-9EA6-DF929625EA0E}">
        <p15:presenceInfo xmlns:p15="http://schemas.microsoft.com/office/powerpoint/2012/main" userId="9252b8fd17e1143e" providerId="Windows Live"/>
      </p:ext>
    </p:extLst>
  </p:cmAuthor>
  <p:cmAuthor id="2" name="Pope, Emily D" initials="PED" lastIdx="22" clrIdx="1">
    <p:extLst>
      <p:ext uri="{19B8F6BF-5375-455C-9EA6-DF929625EA0E}">
        <p15:presenceInfo xmlns:p15="http://schemas.microsoft.com/office/powerpoint/2012/main" userId="S-1-5-21-4027829005-1107895287-290554039-212238" providerId="AD"/>
      </p:ext>
    </p:extLst>
  </p:cmAuthor>
  <p:cmAuthor id="3" name="Pope, Emily D" initials="PD" lastIdx="1" clrIdx="2">
    <p:extLst>
      <p:ext uri="{19B8F6BF-5375-455C-9EA6-DF929625EA0E}">
        <p15:presenceInfo xmlns:p15="http://schemas.microsoft.com/office/powerpoint/2012/main" userId="S::emily.pope@cengage.com::7463c579-f915-4f79-b33b-e619963d635a" providerId="AD"/>
      </p:ext>
    </p:extLst>
  </p:cmAuthor>
  <p:cmAuthor id="4" name="Molnar, Zenya" initials="MZ" lastIdx="28" clrIdx="3">
    <p:extLst>
      <p:ext uri="{19B8F6BF-5375-455C-9EA6-DF929625EA0E}">
        <p15:presenceInfo xmlns:p15="http://schemas.microsoft.com/office/powerpoint/2012/main" userId="S::zenya.molnar@cengage.com::d17daa46-33bc-45d8-ab7d-8dd45e08dac2" providerId="AD"/>
      </p:ext>
    </p:extLst>
  </p:cmAuthor>
  <p:cmAuthor id="5" name="Jill West" initials="JW" lastIdx="10" clrIdx="4">
    <p:extLst>
      <p:ext uri="{19B8F6BF-5375-455C-9EA6-DF929625EA0E}">
        <p15:presenceInfo xmlns:p15="http://schemas.microsoft.com/office/powerpoint/2012/main" userId="Jill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89950" autoAdjust="0"/>
  </p:normalViewPr>
  <p:slideViewPr>
    <p:cSldViewPr snapToGrid="0">
      <p:cViewPr varScale="1">
        <p:scale>
          <a:sx n="89" d="100"/>
          <a:sy n="89" d="100"/>
        </p:scale>
        <p:origin x="114" y="42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lnar, Zenya" userId="d17daa46-33bc-45d8-ab7d-8dd45e08dac2" providerId="ADAL" clId="{BA6BBCDE-4B6F-420B-A4D9-C8F5AAC3A508}"/>
    <pc:docChg chg="modSld">
      <pc:chgData name="Molnar, Zenya" userId="d17daa46-33bc-45d8-ab7d-8dd45e08dac2" providerId="ADAL" clId="{BA6BBCDE-4B6F-420B-A4D9-C8F5AAC3A508}" dt="2020-03-03T20:44:26.481" v="0" actId="20577"/>
      <pc:docMkLst>
        <pc:docMk/>
      </pc:docMkLst>
      <pc:sldChg chg="modSp mod">
        <pc:chgData name="Molnar, Zenya" userId="d17daa46-33bc-45d8-ab7d-8dd45e08dac2" providerId="ADAL" clId="{BA6BBCDE-4B6F-420B-A4D9-C8F5AAC3A508}" dt="2020-03-03T20:44:26.481" v="0" actId="20577"/>
        <pc:sldMkLst>
          <pc:docMk/>
          <pc:sldMk cId="524398555" sldId="397"/>
        </pc:sldMkLst>
        <pc:spChg chg="mod">
          <ac:chgData name="Molnar, Zenya" userId="d17daa46-33bc-45d8-ab7d-8dd45e08dac2" providerId="ADAL" clId="{BA6BBCDE-4B6F-420B-A4D9-C8F5AAC3A508}" dt="2020-03-03T20:44:26.481" v="0" actId="20577"/>
          <ac:spMkLst>
            <pc:docMk/>
            <pc:sldMk cId="524398555" sldId="397"/>
            <ac:spMk id="15" creationId="{750BCC29-EC62-4272-8A3D-8EFBBE483FF4}"/>
          </ac:spMkLst>
        </pc:spChg>
      </pc:sldChg>
    </pc:docChg>
  </pc:docChgLst>
  <pc:docChgLst>
    <pc:chgData name="MikeandJill West" userId="0caeac936585bbb7" providerId="LiveId" clId="{769389C3-52CA-444E-9466-C888E8B59CE8}"/>
    <pc:docChg chg="undo custSel modSld">
      <pc:chgData name="MikeandJill West" userId="0caeac936585bbb7" providerId="LiveId" clId="{769389C3-52CA-444E-9466-C888E8B59CE8}" dt="2020-02-17T15:23:56.566" v="23" actId="113"/>
      <pc:docMkLst>
        <pc:docMk/>
      </pc:docMkLst>
      <pc:sldChg chg="modSp addCm delCm">
        <pc:chgData name="MikeandJill West" userId="0caeac936585bbb7" providerId="LiveId" clId="{769389C3-52CA-444E-9466-C888E8B59CE8}" dt="2020-02-17T15:23:56.566" v="23" actId="113"/>
        <pc:sldMkLst>
          <pc:docMk/>
          <pc:sldMk cId="987616076" sldId="258"/>
        </pc:sldMkLst>
        <pc:spChg chg="mod">
          <ac:chgData name="MikeandJill West" userId="0caeac936585bbb7" providerId="LiveId" clId="{769389C3-52CA-444E-9466-C888E8B59CE8}" dt="2020-02-17T15:23:56.566" v="23" actId="113"/>
          <ac:spMkLst>
            <pc:docMk/>
            <pc:sldMk cId="987616076" sldId="258"/>
            <ac:spMk id="26" creationId="{40184B40-508E-4CC0-A6B8-3111CAA042DC}"/>
          </ac:spMkLst>
        </pc:spChg>
      </pc:sldChg>
      <pc:sldChg chg="modSp">
        <pc:chgData name="MikeandJill West" userId="0caeac936585bbb7" providerId="LiveId" clId="{769389C3-52CA-444E-9466-C888E8B59CE8}" dt="2020-02-17T15:22:13.508" v="3" actId="108"/>
        <pc:sldMkLst>
          <pc:docMk/>
          <pc:sldMk cId="3703926794" sldId="374"/>
        </pc:sldMkLst>
        <pc:spChg chg="mod">
          <ac:chgData name="MikeandJill West" userId="0caeac936585bbb7" providerId="LiveId" clId="{769389C3-52CA-444E-9466-C888E8B59CE8}" dt="2020-02-17T15:22:13.508" v="3" actId="108"/>
          <ac:spMkLst>
            <pc:docMk/>
            <pc:sldMk cId="3703926794" sldId="374"/>
            <ac:spMk id="10" creationId="{29E45148-02A7-4E37-861A-F967878CCA58}"/>
          </ac:spMkLst>
        </pc:spChg>
      </pc:sldChg>
      <pc:sldChg chg="modSp">
        <pc:chgData name="MikeandJill West" userId="0caeac936585bbb7" providerId="LiveId" clId="{769389C3-52CA-444E-9466-C888E8B59CE8}" dt="2020-02-17T15:22:30.713" v="10" actId="108"/>
        <pc:sldMkLst>
          <pc:docMk/>
          <pc:sldMk cId="747411846" sldId="377"/>
        </pc:sldMkLst>
        <pc:spChg chg="mod">
          <ac:chgData name="MikeandJill West" userId="0caeac936585bbb7" providerId="LiveId" clId="{769389C3-52CA-444E-9466-C888E8B59CE8}" dt="2020-02-17T15:22:30.713" v="10" actId="108"/>
          <ac:spMkLst>
            <pc:docMk/>
            <pc:sldMk cId="747411846" sldId="377"/>
            <ac:spMk id="8" creationId="{A2EFE3B4-D030-4FA2-9EE1-DC5041C30A6A}"/>
          </ac:spMkLst>
        </pc:spChg>
      </pc:sldChg>
      <pc:sldChg chg="modSp">
        <pc:chgData name="MikeandJill West" userId="0caeac936585bbb7" providerId="LiveId" clId="{769389C3-52CA-444E-9466-C888E8B59CE8}" dt="2020-02-17T15:23:03.415" v="11" actId="108"/>
        <pc:sldMkLst>
          <pc:docMk/>
          <pc:sldMk cId="3381618474" sldId="379"/>
        </pc:sldMkLst>
        <pc:spChg chg="mod">
          <ac:chgData name="MikeandJill West" userId="0caeac936585bbb7" providerId="LiveId" clId="{769389C3-52CA-444E-9466-C888E8B59CE8}" dt="2020-02-17T15:23:03.415" v="11" actId="108"/>
          <ac:spMkLst>
            <pc:docMk/>
            <pc:sldMk cId="3381618474" sldId="379"/>
            <ac:spMk id="10" creationId="{877A43A5-5572-4550-9A1E-9576D2A855F3}"/>
          </ac:spMkLst>
        </pc:spChg>
      </pc:sldChg>
      <pc:sldChg chg="modSp">
        <pc:chgData name="MikeandJill West" userId="0caeac936585bbb7" providerId="LiveId" clId="{769389C3-52CA-444E-9466-C888E8B59CE8}" dt="2020-02-17T15:23:11.741" v="13" actId="108"/>
        <pc:sldMkLst>
          <pc:docMk/>
          <pc:sldMk cId="2519012401" sldId="381"/>
        </pc:sldMkLst>
        <pc:spChg chg="mod">
          <ac:chgData name="MikeandJill West" userId="0caeac936585bbb7" providerId="LiveId" clId="{769389C3-52CA-444E-9466-C888E8B59CE8}" dt="2020-02-17T15:23:11.741" v="13" actId="108"/>
          <ac:spMkLst>
            <pc:docMk/>
            <pc:sldMk cId="2519012401" sldId="381"/>
            <ac:spMk id="10" creationId="{87EE5C9A-6B13-4A7B-B3C0-B7630DB74DF6}"/>
          </ac:spMkLst>
        </pc:spChg>
      </pc:sldChg>
      <pc:sldChg chg="modSp">
        <pc:chgData name="MikeandJill West" userId="0caeac936585bbb7" providerId="LiveId" clId="{769389C3-52CA-444E-9466-C888E8B59CE8}" dt="2020-02-17T15:23:28.216" v="18" actId="108"/>
        <pc:sldMkLst>
          <pc:docMk/>
          <pc:sldMk cId="2926012245" sldId="382"/>
        </pc:sldMkLst>
        <pc:spChg chg="mod">
          <ac:chgData name="MikeandJill West" userId="0caeac936585bbb7" providerId="LiveId" clId="{769389C3-52CA-444E-9466-C888E8B59CE8}" dt="2020-02-17T15:23:28.216" v="18" actId="108"/>
          <ac:spMkLst>
            <pc:docMk/>
            <pc:sldMk cId="2926012245" sldId="382"/>
            <ac:spMk id="8" creationId="{8007187E-ED6B-40FD-B847-B4B425FBD13D}"/>
          </ac:spMkLst>
        </pc:spChg>
      </pc:sldChg>
      <pc:sldChg chg="modSp">
        <pc:chgData name="MikeandJill West" userId="0caeac936585bbb7" providerId="LiveId" clId="{769389C3-52CA-444E-9466-C888E8B59CE8}" dt="2020-02-17T15:23:32.895" v="19" actId="108"/>
        <pc:sldMkLst>
          <pc:docMk/>
          <pc:sldMk cId="1425313207" sldId="384"/>
        </pc:sldMkLst>
        <pc:spChg chg="mod">
          <ac:chgData name="MikeandJill West" userId="0caeac936585bbb7" providerId="LiveId" clId="{769389C3-52CA-444E-9466-C888E8B59CE8}" dt="2020-02-17T15:23:32.895" v="19" actId="108"/>
          <ac:spMkLst>
            <pc:docMk/>
            <pc:sldMk cId="1425313207" sldId="384"/>
            <ac:spMk id="8" creationId="{4C60E2B2-096C-42D0-B542-6093A113456D}"/>
          </ac:spMkLst>
        </pc:spChg>
      </pc:sldChg>
      <pc:sldChg chg="modSp">
        <pc:chgData name="MikeandJill West" userId="0caeac936585bbb7" providerId="LiveId" clId="{769389C3-52CA-444E-9466-C888E8B59CE8}" dt="2020-02-17T15:23:42.188" v="21" actId="108"/>
        <pc:sldMkLst>
          <pc:docMk/>
          <pc:sldMk cId="2773555034" sldId="386"/>
        </pc:sldMkLst>
        <pc:spChg chg="mod">
          <ac:chgData name="MikeandJill West" userId="0caeac936585bbb7" providerId="LiveId" clId="{769389C3-52CA-444E-9466-C888E8B59CE8}" dt="2020-02-17T15:23:42.188" v="21" actId="108"/>
          <ac:spMkLst>
            <pc:docMk/>
            <pc:sldMk cId="2773555034" sldId="386"/>
            <ac:spMk id="8" creationId="{C5B09556-64BE-47F9-8E50-38F031A9FA84}"/>
          </ac:spMkLst>
        </pc:spChg>
      </pc:sldChg>
      <pc:sldChg chg="modSp">
        <pc:chgData name="MikeandJill West" userId="0caeac936585bbb7" providerId="LiveId" clId="{769389C3-52CA-444E-9466-C888E8B59CE8}" dt="2020-02-17T15:23:07.331" v="12" actId="108"/>
        <pc:sldMkLst>
          <pc:docMk/>
          <pc:sldMk cId="3172021433" sldId="389"/>
        </pc:sldMkLst>
        <pc:spChg chg="mod">
          <ac:chgData name="MikeandJill West" userId="0caeac936585bbb7" providerId="LiveId" clId="{769389C3-52CA-444E-9466-C888E8B59CE8}" dt="2020-02-17T15:23:07.331" v="12" actId="108"/>
          <ac:spMkLst>
            <pc:docMk/>
            <pc:sldMk cId="3172021433" sldId="389"/>
            <ac:spMk id="8" creationId="{F37F4448-E87D-4596-B450-D8CEBF694EF1}"/>
          </ac:spMkLst>
        </pc:spChg>
      </pc:sldChg>
      <pc:sldChg chg="modSp">
        <pc:chgData name="MikeandJill West" userId="0caeac936585bbb7" providerId="LiveId" clId="{769389C3-52CA-444E-9466-C888E8B59CE8}" dt="2020-02-17T15:23:16.446" v="14" actId="108"/>
        <pc:sldMkLst>
          <pc:docMk/>
          <pc:sldMk cId="1188910191" sldId="390"/>
        </pc:sldMkLst>
        <pc:spChg chg="mod">
          <ac:chgData name="MikeandJill West" userId="0caeac936585bbb7" providerId="LiveId" clId="{769389C3-52CA-444E-9466-C888E8B59CE8}" dt="2020-02-17T15:23:16.446" v="14" actId="108"/>
          <ac:spMkLst>
            <pc:docMk/>
            <pc:sldMk cId="1188910191" sldId="390"/>
            <ac:spMk id="7" creationId="{784DE64A-83BC-4916-8A16-740E37FE3412}"/>
          </ac:spMkLst>
        </pc:spChg>
      </pc:sldChg>
      <pc:sldChg chg="modSp">
        <pc:chgData name="MikeandJill West" userId="0caeac936585bbb7" providerId="LiveId" clId="{769389C3-52CA-444E-9466-C888E8B59CE8}" dt="2020-02-17T15:23:20.673" v="15" actId="108"/>
        <pc:sldMkLst>
          <pc:docMk/>
          <pc:sldMk cId="592516389" sldId="391"/>
        </pc:sldMkLst>
        <pc:spChg chg="mod">
          <ac:chgData name="MikeandJill West" userId="0caeac936585bbb7" providerId="LiveId" clId="{769389C3-52CA-444E-9466-C888E8B59CE8}" dt="2020-02-17T15:23:20.673" v="15" actId="108"/>
          <ac:spMkLst>
            <pc:docMk/>
            <pc:sldMk cId="592516389" sldId="391"/>
            <ac:spMk id="8" creationId="{3523042C-EC27-4F65-8EA9-59C5047B6F3C}"/>
          </ac:spMkLst>
        </pc:spChg>
      </pc:sldChg>
      <pc:sldChg chg="modSp">
        <pc:chgData name="MikeandJill West" userId="0caeac936585bbb7" providerId="LiveId" clId="{769389C3-52CA-444E-9466-C888E8B59CE8}" dt="2020-02-17T15:23:37.378" v="20" actId="108"/>
        <pc:sldMkLst>
          <pc:docMk/>
          <pc:sldMk cId="47771984" sldId="395"/>
        </pc:sldMkLst>
        <pc:spChg chg="mod">
          <ac:chgData name="MikeandJill West" userId="0caeac936585bbb7" providerId="LiveId" clId="{769389C3-52CA-444E-9466-C888E8B59CE8}" dt="2020-02-17T15:23:37.378" v="20" actId="108"/>
          <ac:spMkLst>
            <pc:docMk/>
            <pc:sldMk cId="47771984" sldId="395"/>
            <ac:spMk id="9" creationId="{1D96AEC1-8AC0-4951-A383-E5DE7AD791EA}"/>
          </ac:spMkLst>
        </pc:spChg>
      </pc:sldChg>
      <pc:sldChg chg="modSp">
        <pc:chgData name="MikeandJill West" userId="0caeac936585bbb7" providerId="LiveId" clId="{769389C3-52CA-444E-9466-C888E8B59CE8}" dt="2020-02-17T15:23:46.283" v="22" actId="108"/>
        <pc:sldMkLst>
          <pc:docMk/>
          <pc:sldMk cId="524398555" sldId="397"/>
        </pc:sldMkLst>
        <pc:spChg chg="mod">
          <ac:chgData name="MikeandJill West" userId="0caeac936585bbb7" providerId="LiveId" clId="{769389C3-52CA-444E-9466-C888E8B59CE8}" dt="2020-02-17T15:23:46.283" v="22" actId="108"/>
          <ac:spMkLst>
            <pc:docMk/>
            <pc:sldMk cId="524398555" sldId="397"/>
            <ac:spMk id="9" creationId="{BA4CEDB5-88A2-46EA-AFD5-0059F7F27FD1}"/>
          </ac:spMkLst>
        </pc:spChg>
      </pc:sldChg>
      <pc:sldChg chg="modSp">
        <pc:chgData name="MikeandJill West" userId="0caeac936585bbb7" providerId="LiveId" clId="{769389C3-52CA-444E-9466-C888E8B59CE8}" dt="2020-02-17T15:22:09.445" v="2" actId="108"/>
        <pc:sldMkLst>
          <pc:docMk/>
          <pc:sldMk cId="1570637284" sldId="401"/>
        </pc:sldMkLst>
        <pc:spChg chg="mod">
          <ac:chgData name="MikeandJill West" userId="0caeac936585bbb7" providerId="LiveId" clId="{769389C3-52CA-444E-9466-C888E8B59CE8}" dt="2020-02-17T15:22:09.445" v="2" actId="108"/>
          <ac:spMkLst>
            <pc:docMk/>
            <pc:sldMk cId="1570637284" sldId="401"/>
            <ac:spMk id="5" creationId="{2A12F759-BE05-427B-BDEB-87744229F0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3/3/2020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127488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520502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1223458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1438963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6217191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362544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1508919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2180895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18156371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1254606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highlight>
                <a:srgbClr val="FFFF00"/>
              </a:highlight>
            </a:endParaRPr>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1080765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highlight>
                <a:srgbClr val="FFFF00"/>
              </a:highlight>
            </a:endParaRPr>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561718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3076422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1671296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2983528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1105089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2434716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2899251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22</a:t>
            </a:fld>
            <a:endParaRPr lang="en-US" dirty="0"/>
          </a:p>
        </p:txBody>
      </p:sp>
    </p:spTree>
    <p:extLst>
      <p:ext uri="{BB962C8B-B14F-4D97-AF65-F5344CB8AC3E}">
        <p14:creationId xmlns:p14="http://schemas.microsoft.com/office/powerpoint/2010/main" val="3027156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23</a:t>
            </a:fld>
            <a:endParaRPr lang="en-US" dirty="0"/>
          </a:p>
        </p:txBody>
      </p:sp>
    </p:spTree>
    <p:extLst>
      <p:ext uri="{BB962C8B-B14F-4D97-AF65-F5344CB8AC3E}">
        <p14:creationId xmlns:p14="http://schemas.microsoft.com/office/powerpoint/2010/main" val="1985977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24</a:t>
            </a:fld>
            <a:endParaRPr lang="en-US" dirty="0"/>
          </a:p>
        </p:txBody>
      </p:sp>
    </p:spTree>
    <p:extLst>
      <p:ext uri="{BB962C8B-B14F-4D97-AF65-F5344CB8AC3E}">
        <p14:creationId xmlns:p14="http://schemas.microsoft.com/office/powerpoint/2010/main" val="361186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3/3/2020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3/3/2020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3/3/2020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3/3/2020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3/3/2020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svg"/><Relationship Id="rId2" Type="http://schemas.openxmlformats.org/officeDocument/2006/relationships/slideLayout" Target="../slideLayouts/slideLayout12.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7.xml"/><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8.xml"/><Relationship Id="rId5" Type="http://schemas.openxmlformats.org/officeDocument/2006/relationships/slide" Target="slide8.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9.xml"/><Relationship Id="rId6" Type="http://schemas.openxmlformats.org/officeDocument/2006/relationships/image" Target="../media/image5.png"/><Relationship Id="rId5" Type="http://schemas.openxmlformats.org/officeDocument/2006/relationships/slide" Target="slide8.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0.xml"/><Relationship Id="rId6" Type="http://schemas.openxmlformats.org/officeDocument/2006/relationships/image" Target="../media/image5.png"/><Relationship Id="rId5" Type="http://schemas.openxmlformats.org/officeDocument/2006/relationships/slide" Target="slide10.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1.xml"/><Relationship Id="rId6" Type="http://schemas.openxmlformats.org/officeDocument/2006/relationships/image" Target="../media/image6.png"/><Relationship Id="rId5" Type="http://schemas.openxmlformats.org/officeDocument/2006/relationships/slide" Target="slide11.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slide" Target="slide15.xml"/><Relationship Id="rId4" Type="http://schemas.openxmlformats.org/officeDocument/2006/relationships/slide" Target="slide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3.xml"/><Relationship Id="rId6" Type="http://schemas.openxmlformats.org/officeDocument/2006/relationships/image" Target="../media/image6.png"/><Relationship Id="rId5" Type="http://schemas.openxmlformats.org/officeDocument/2006/relationships/slide" Target="slide15.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4.xml"/><Relationship Id="rId6" Type="http://schemas.openxmlformats.org/officeDocument/2006/relationships/image" Target="../media/image6.png"/><Relationship Id="rId5" Type="http://schemas.openxmlformats.org/officeDocument/2006/relationships/slide" Target="slide15.xml"/><Relationship Id="rId4" Type="http://schemas.openxmlformats.org/officeDocument/2006/relationships/slide" Target="slide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5.xml"/><Relationship Id="rId6" Type="http://schemas.openxmlformats.org/officeDocument/2006/relationships/image" Target="../media/image6.png"/><Relationship Id="rId5" Type="http://schemas.openxmlformats.org/officeDocument/2006/relationships/slide" Target="slide1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6.xml"/><Relationship Id="rId4" Type="http://schemas.openxmlformats.org/officeDocument/2006/relationships/slide" Target="slide2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17.xml"/><Relationship Id="rId6" Type="http://schemas.openxmlformats.org/officeDocument/2006/relationships/image" Target="../media/image6.png"/><Relationship Id="rId5" Type="http://schemas.openxmlformats.org/officeDocument/2006/relationships/slide" Target="slide18.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8.xml"/><Relationship Id="rId6" Type="http://schemas.openxmlformats.org/officeDocument/2006/relationships/image" Target="../media/image7.png"/><Relationship Id="rId5" Type="http://schemas.openxmlformats.org/officeDocument/2006/relationships/slide" Target="slide19.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19.xml"/><Relationship Id="rId4" Type="http://schemas.openxmlformats.org/officeDocument/2006/relationships/slide" Target="slide2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0.xml"/><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21.xml"/><Relationship Id="rId6" Type="http://schemas.openxmlformats.org/officeDocument/2006/relationships/image" Target="../media/image7.png"/><Relationship Id="rId5" Type="http://schemas.openxmlformats.org/officeDocument/2006/relationships/slide" Target="slide22.xml"/><Relationship Id="rId4"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tags" Target="../tags/tag22.xml"/><Relationship Id="rId6" Type="http://schemas.openxmlformats.org/officeDocument/2006/relationships/image" Target="../media/image7.png"/><Relationship Id="rId5" Type="http://schemas.openxmlformats.org/officeDocument/2006/relationships/slide" Target="slide23.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4.xml"/><Relationship Id="rId1" Type="http://schemas.openxmlformats.org/officeDocument/2006/relationships/tags" Target="../tags/tag23.xml"/><Relationship Id="rId4" Type="http://schemas.openxmlformats.org/officeDocument/2006/relationships/slide" Target="slide2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tags" Target="../tags/tag24.xml"/><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25.xml"/><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26.xml"/><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27.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p:cNvSpPr txBox="1">
            <a:spLocks/>
          </p:cNvSpPr>
          <p:nvPr/>
        </p:nvSpPr>
        <p:spPr>
          <a:xfrm>
            <a:off x="1571987" y="2097243"/>
            <a:ext cx="3160713" cy="460375"/>
          </a:xfrm>
          <a:prstGeom prst="rect">
            <a:avLst/>
          </a:prstGeom>
        </p:spPr>
        <p:txBody>
          <a:bodyPr vert="horz" lIns="121954" tIns="60977" rIns="121954" bIns="60977" rtlCol="0">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Font typeface="Arial"/>
              <a:buNone/>
            </a:pPr>
            <a:r>
              <a:rPr lang="en-US" sz="2099" dirty="0">
                <a:solidFill>
                  <a:schemeClr val="bg1"/>
                </a:solidFill>
                <a:latin typeface="+mj-lt"/>
                <a:cs typeface="Titillium WebSemiBold"/>
              </a:rPr>
              <a:t>Hardware Concepts</a:t>
            </a:r>
          </a:p>
        </p:txBody>
      </p:sp>
      <p:sp>
        <p:nvSpPr>
          <p:cNvPr id="10" name="Rectangle 9"/>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8" name="Rectangle 7">
            <a:extLst>
              <a:ext uri="{FF2B5EF4-FFF2-40B4-BE49-F238E27FC236}">
                <a16:creationId xmlns:a16="http://schemas.microsoft.com/office/drawing/2014/main" id="{21676021-D745-4ED1-B363-7F2F1B112008}"/>
              </a:ext>
            </a:extLst>
          </p:cNvPr>
          <p:cNvSpPr/>
          <p:nvPr/>
        </p:nvSpPr>
        <p:spPr>
          <a:xfrm>
            <a:off x="104343" y="956492"/>
            <a:ext cx="6096000" cy="646331"/>
          </a:xfrm>
          <a:prstGeom prst="rect">
            <a:avLst/>
          </a:prstGeom>
        </p:spPr>
        <p:txBody>
          <a:bodyPr>
            <a:spAutoFit/>
          </a:bodyPr>
          <a:lstStyle/>
          <a:p>
            <a:r>
              <a:rPr lang="en-US" dirty="0">
                <a:solidFill>
                  <a:schemeClr val="bg1"/>
                </a:solidFill>
                <a:ea typeface="Calibri"/>
                <a:cs typeface="Calibri"/>
              </a:rPr>
              <a:t>Click the audio icon to narrate the contents of any screen.</a:t>
            </a:r>
            <a:endParaRPr lang="en-JM" dirty="0">
              <a:solidFill>
                <a:schemeClr val="bg1"/>
              </a:solidFill>
              <a:ea typeface="Calibri"/>
              <a:cs typeface="Calibri"/>
            </a:endParaRPr>
          </a:p>
          <a:p>
            <a:endParaRPr lang="en-US" dirty="0">
              <a:solidFill>
                <a:schemeClr val="tx2"/>
              </a:solidFill>
              <a:cs typeface="Calibri"/>
            </a:endParaRPr>
          </a:p>
        </p:txBody>
      </p:sp>
      <p:pic>
        <p:nvPicPr>
          <p:cNvPr id="14" name="Graphic 13" descr="Line Arrow: Counterclockwise curve">
            <a:extLst>
              <a:ext uri="{FF2B5EF4-FFF2-40B4-BE49-F238E27FC236}">
                <a16:creationId xmlns:a16="http://schemas.microsoft.com/office/drawing/2014/main" id="{9F167046-C41B-485D-89B4-7CEEBA04A2F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940850" flipH="1" flipV="1">
            <a:off x="19856" y="1390556"/>
            <a:ext cx="661798" cy="661798"/>
          </a:xfrm>
          <a:prstGeom prst="rect">
            <a:avLst/>
          </a:prstGeom>
        </p:spPr>
      </p:pic>
      <p:sp>
        <p:nvSpPr>
          <p:cNvPr id="16" name="Text Placeholder 1">
            <a:extLst>
              <a:ext uri="{FF2B5EF4-FFF2-40B4-BE49-F238E27FC236}">
                <a16:creationId xmlns:a16="http://schemas.microsoft.com/office/drawing/2014/main" id="{56D014FF-8A21-4898-9927-6B8A070A90FD}"/>
              </a:ext>
            </a:extLst>
          </p:cNvPr>
          <p:cNvSpPr txBox="1">
            <a:spLocks/>
          </p:cNvSpPr>
          <p:nvPr/>
        </p:nvSpPr>
        <p:spPr>
          <a:xfrm>
            <a:off x="9989902" y="4666578"/>
            <a:ext cx="2159068" cy="930685"/>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1800" dirty="0">
                <a:solidFill>
                  <a:schemeClr val="bg1"/>
                </a:solidFill>
                <a:ea typeface="Calibri"/>
                <a:cs typeface="Calibri"/>
              </a:rPr>
              <a:t>The navigation button advances to the next screen. Click now to start the course.</a:t>
            </a:r>
            <a:endParaRPr lang="en-JM" sz="1800" dirty="0">
              <a:solidFill>
                <a:schemeClr val="bg1"/>
              </a:solidFill>
              <a:ea typeface="Calibri"/>
              <a:cs typeface="Calibri"/>
            </a:endParaRPr>
          </a:p>
        </p:txBody>
      </p:sp>
      <p:pic>
        <p:nvPicPr>
          <p:cNvPr id="19" name="Graphic 18" descr="Back">
            <a:extLst>
              <a:ext uri="{FF2B5EF4-FFF2-40B4-BE49-F238E27FC236}">
                <a16:creationId xmlns:a16="http://schemas.microsoft.com/office/drawing/2014/main" id="{F06CCC2F-D75B-4C7A-B005-2007EE34F256}"/>
              </a:ext>
            </a:extLst>
          </p:cNvPr>
          <p:cNvPicPr>
            <a:picLocks noChangeAspect="1"/>
          </p:cNvPicPr>
          <p:nvPr/>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11326010" y="5938230"/>
            <a:ext cx="822960" cy="822960"/>
          </a:xfrm>
          <a:prstGeom prst="rect">
            <a:avLst/>
          </a:prstGeom>
        </p:spPr>
      </p:pic>
      <p:sp>
        <p:nvSpPr>
          <p:cNvPr id="6" name="Rectangle 5"/>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3" name="Rectangle 2">
            <a:extLst>
              <a:ext uri="{FF2B5EF4-FFF2-40B4-BE49-F238E27FC236}">
                <a16:creationId xmlns:a16="http://schemas.microsoft.com/office/drawing/2014/main" id="{F4346A4B-66B9-4C40-8C85-A63FEC479A07}"/>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1085376" y="2359743"/>
            <a:ext cx="10605179" cy="3743878"/>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cs typeface="Titillium WebSemiBold"/>
              </a:rPr>
              <a:t>Module 1</a:t>
            </a:r>
            <a:r>
              <a:rPr lang="en-US" sz="2400" dirty="0">
                <a:solidFill>
                  <a:schemeClr val="tx1"/>
                </a:solidFill>
                <a:latin typeface="+mj-lt"/>
                <a:cs typeface="Titillium WebSemiBold"/>
              </a:rPr>
              <a:t>: Impact of Digital Technology</a:t>
            </a:r>
          </a:p>
          <a:p>
            <a:pPr marL="0" indent="0">
              <a:buNone/>
            </a:pPr>
            <a:r>
              <a:rPr lang="en-US" sz="2400" b="1" dirty="0">
                <a:solidFill>
                  <a:schemeClr val="tx1"/>
                </a:solidFill>
                <a:latin typeface="+mj-lt"/>
                <a:cs typeface="Calibri Light"/>
              </a:rPr>
              <a:t>Lesson objective 1.2</a:t>
            </a:r>
            <a:r>
              <a:rPr lang="en-US" sz="2400" dirty="0">
                <a:solidFill>
                  <a:schemeClr val="tx1"/>
                </a:solidFill>
                <a:latin typeface="+mj-lt"/>
                <a:cs typeface="Calibri Light"/>
              </a:rPr>
              <a:t>: Develop personal uses for technology to help with productivity, learning, and future career growth.</a:t>
            </a:r>
          </a:p>
          <a:p>
            <a:pPr marL="0" indent="0">
              <a:buNone/>
            </a:pPr>
            <a:r>
              <a:rPr lang="en-US" sz="2400" b="1" i="1" dirty="0">
                <a:solidFill>
                  <a:schemeClr val="tx1"/>
                </a:solidFill>
                <a:latin typeface="+mj-lt"/>
                <a:cs typeface="Calibri Light"/>
              </a:rPr>
              <a:t>Learning objectives:</a:t>
            </a:r>
            <a:endParaRPr lang="en-US" sz="2400" i="1" dirty="0">
              <a:solidFill>
                <a:schemeClr val="tx1"/>
              </a:solidFill>
              <a:latin typeface="+mj-lt"/>
              <a:cs typeface="Calibri Light"/>
            </a:endParaRPr>
          </a:p>
          <a:p>
            <a:pPr marL="0" indent="0">
              <a:buNone/>
            </a:pPr>
            <a:r>
              <a:rPr lang="en-US" sz="2400" dirty="0">
                <a:solidFill>
                  <a:schemeClr val="tx1"/>
                </a:solidFill>
                <a:latin typeface="+mj-lt"/>
                <a:cs typeface="Calibri Light"/>
              </a:rPr>
              <a:t>1.2.1 Use technology in daily life.</a:t>
            </a:r>
          </a:p>
          <a:p>
            <a:pPr marL="0" indent="0">
              <a:buNone/>
            </a:pPr>
            <a:r>
              <a:rPr lang="en-US" sz="2400" dirty="0">
                <a:solidFill>
                  <a:schemeClr val="tx1"/>
                </a:solidFill>
                <a:latin typeface="+mj-lt"/>
                <a:cs typeface="Calibri Light"/>
              </a:rPr>
              <a:t>1.2.2 Use technology to enhance productivity and learning.</a:t>
            </a:r>
          </a:p>
          <a:p>
            <a:pPr marL="0" indent="0">
              <a:buNone/>
            </a:pPr>
            <a:endParaRPr lang="en-US" sz="2400" b="1" dirty="0">
              <a:solidFill>
                <a:schemeClr val="tx1"/>
              </a:solidFill>
              <a:latin typeface="+mj-lt"/>
              <a:cs typeface="Calibri Light"/>
            </a:endParaRPr>
          </a:p>
          <a:p>
            <a:pPr marL="0" indent="0">
              <a:buNone/>
            </a:pPr>
            <a:r>
              <a:rPr lang="en-US" sz="2050" dirty="0">
                <a:solidFill>
                  <a:schemeClr val="tx1"/>
                </a:solidFill>
                <a:latin typeface="+mj-lt"/>
                <a:cs typeface="Calibri Light"/>
              </a:rPr>
              <a:t> </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681351" y="570353"/>
            <a:ext cx="8246626" cy="1143000"/>
          </a:xfrm>
        </p:spPr>
        <p:txBody>
          <a:bodyPr>
            <a:normAutofit/>
          </a:bodyPr>
          <a:lstStyle/>
          <a:p>
            <a:pPr algn="ctr"/>
            <a:r>
              <a:rPr lang="en-US" sz="5400" dirty="0">
                <a:solidFill>
                  <a:schemeClr val="tx1"/>
                </a:solidFill>
                <a:cs typeface="Calibri Light"/>
              </a:rPr>
              <a:t>Use Technology in Daily Life</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50" dirty="0"/>
              <a:t>Use Technology in Daily Life</a:t>
            </a:r>
            <a:endParaRPr lang="en-JM" dirty="0"/>
          </a:p>
        </p:txBody>
      </p:sp>
      <p:sp>
        <p:nvSpPr>
          <p:cNvPr id="23" name="Text Placeholder 5">
            <a:extLst>
              <a:ext uri="{FF2B5EF4-FFF2-40B4-BE49-F238E27FC236}">
                <a16:creationId xmlns:a16="http://schemas.microsoft.com/office/drawing/2014/main" id="{1A020ED8-5D57-4920-A776-AB751552818E}"/>
              </a:ext>
            </a:extLst>
          </p:cNvPr>
          <p:cNvSpPr txBox="1">
            <a:spLocks/>
          </p:cNvSpPr>
          <p:nvPr/>
        </p:nvSpPr>
        <p:spPr>
          <a:xfrm>
            <a:off x="790835" y="1590650"/>
            <a:ext cx="10988209" cy="4819431"/>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How/when to integrate technology into their daily life</a:t>
            </a:r>
          </a:p>
          <a:p>
            <a:pPr>
              <a:buNone/>
            </a:pPr>
            <a:r>
              <a:rPr lang="en-US" dirty="0">
                <a:solidFill>
                  <a:schemeClr val="tx2"/>
                </a:solidFill>
              </a:rPr>
              <a:t>•	How to use technology to enhance their productivity and efficiency </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decide whether to use technology throughout your day. At each step, think carefully about why you might use technology, and how it could benefit you.</a:t>
            </a:r>
          </a:p>
          <a:p>
            <a:pPr>
              <a:buFont typeface="Wingdings" panose="05000000000000000000" pitchFamily="2" charset="2"/>
              <a:buChar char="ü"/>
            </a:pPr>
            <a:r>
              <a:rPr lang="en-US" dirty="0">
                <a:solidFill>
                  <a:schemeClr val="tx2"/>
                </a:solidFill>
              </a:rPr>
              <a:t>Look for ways to use modern technology to streamline your tasks and help you get to class on time.</a:t>
            </a:r>
          </a:p>
          <a:p>
            <a:pPr>
              <a:buFont typeface="Wingdings" panose="05000000000000000000" pitchFamily="2" charset="2"/>
              <a:buChar char="ü"/>
            </a:pPr>
            <a:r>
              <a:rPr lang="en-US" dirty="0">
                <a:solidFill>
                  <a:schemeClr val="tx2"/>
                </a:solidFill>
              </a:rPr>
              <a:t>Often, newer technology is developed to improve efficiency with everyday tasks.</a:t>
            </a:r>
            <a:endParaRPr lang="en-JM" dirty="0">
              <a:solidFill>
                <a:schemeClr val="tx2"/>
              </a:solidFill>
            </a:endParaRPr>
          </a:p>
          <a:p>
            <a:pPr>
              <a:buNone/>
            </a:pPr>
            <a:endParaRPr lang="en-US" dirty="0">
              <a:solidFill>
                <a:schemeClr val="tx2"/>
              </a:solidFill>
            </a:endParaRP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828001"/>
            <a:ext cx="11079729" cy="34450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We use technology every day…phone calls, texting, banking, education, and more. As technology improves, we have the option to use technology that helps save us time and accomplish our goals. For this simulation, think about which technology options you might choose on your way to class.</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You have several tasks on your to-do list before class this afternoon. Yesterday was payday, so you need to deposit your check. It’s just in time, too, because today your rent is due, and you need to buy books for school before class starts this afternoon. But first—coffee. </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795113" y="4663173"/>
            <a:ext cx="10994640" cy="65212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Introduction</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4" y="342319"/>
            <a:ext cx="10433326" cy="374617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Last night, you added coffee and water to the coffee maker to help speed things up this morning. Your roommate recently installed a smart plug on the coffee maker and added it to the Alexa Echo Dot. Are you going to trust this new technology, or make coffee the old-fashioned way?</a:t>
            </a:r>
            <a:endParaRPr lang="en-US" sz="2050" dirty="0">
              <a:solidFill>
                <a:srgbClr val="FF0000"/>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dirty="0">
              <a:solidFill>
                <a:schemeClr val="tx2"/>
              </a:solidFill>
            </a:endParaRPr>
          </a:p>
        </p:txBody>
      </p:sp>
      <p:sp>
        <p:nvSpPr>
          <p:cNvPr id="12" name="Text Placeholder 1"/>
          <p:cNvSpPr txBox="1">
            <a:spLocks/>
          </p:cNvSpPr>
          <p:nvPr/>
        </p:nvSpPr>
        <p:spPr>
          <a:xfrm>
            <a:off x="1569442" y="2215408"/>
            <a:ext cx="9658997" cy="182689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You can’t figure out how to use the smart plug. You finally decide to unplug it, plug the coffee maker directly into the wall, and hit the coffee maker’s power button. </a:t>
            </a:r>
            <a:r>
              <a:rPr lang="en-US" sz="2050" b="1" dirty="0">
                <a:solidFill>
                  <a:schemeClr val="tx2"/>
                </a:solidFill>
                <a:ea typeface="Calibri"/>
                <a:cs typeface="Calibri"/>
                <a:hlinkClick r:id="rId4" action="ppaction://hlinksldjump"/>
              </a:rPr>
              <a:t>[Level1_Decision1_OptionA]</a:t>
            </a:r>
            <a:endParaRPr lang="en-US" sz="2050" b="1" dirty="0">
              <a:solidFill>
                <a:schemeClr val="tx2"/>
              </a:solidFill>
              <a:ea typeface="Calibri"/>
              <a:cs typeface="Calibri"/>
            </a:endParaRPr>
          </a:p>
          <a:p>
            <a:pPr marL="0" indent="0">
              <a:spcBef>
                <a:spcPts val="0"/>
              </a:spcBef>
              <a:buNone/>
              <a:defRPr/>
            </a:pPr>
            <a:endParaRPr lang="en-US" sz="2050"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You step out of your bedroom and say, “Alexa, turn on the coffee maker.” </a:t>
            </a:r>
            <a:r>
              <a:rPr lang="en-US" sz="2050" b="1" dirty="0">
                <a:solidFill>
                  <a:schemeClr val="tx2"/>
                </a:solidFill>
                <a:ea typeface="Calibri"/>
                <a:cs typeface="Calibri"/>
                <a:hlinkClick r:id="rId5" action="ppaction://hlinksldjump"/>
              </a:rPr>
              <a:t>[Level1_Decision1_OptionB]</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185444" y="2300707"/>
            <a:ext cx="573187"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59084517-AE3F-42B9-B673-1937206652FE}"/>
              </a:ext>
            </a:extLst>
          </p:cNvPr>
          <p:cNvSpPr txBox="1">
            <a:spLocks/>
          </p:cNvSpPr>
          <p:nvPr/>
        </p:nvSpPr>
        <p:spPr>
          <a:xfrm>
            <a:off x="1185444" y="3449533"/>
            <a:ext cx="586389"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solidFill>
                  <a:schemeClr val="tx1"/>
                </a:solidFill>
              </a:rPr>
              <a:t>Level1_Decision1</a:t>
            </a:r>
          </a:p>
        </p:txBody>
      </p:sp>
      <p:sp>
        <p:nvSpPr>
          <p:cNvPr id="5" name="TextBox 4">
            <a:extLst>
              <a:ext uri="{FF2B5EF4-FFF2-40B4-BE49-F238E27FC236}">
                <a16:creationId xmlns:a16="http://schemas.microsoft.com/office/drawing/2014/main" id="{2A12F759-BE05-427B-BDEB-87744229F0D9}"/>
              </a:ext>
            </a:extLst>
          </p:cNvPr>
          <p:cNvSpPr txBox="1"/>
          <p:nvPr/>
        </p:nvSpPr>
        <p:spPr>
          <a:xfrm>
            <a:off x="795113" y="4982466"/>
            <a:ext cx="10412616"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rgbClr val="C00000"/>
                </a:solidFill>
              </a:rPr>
              <a:t>Explanation:</a:t>
            </a:r>
          </a:p>
          <a:p>
            <a:r>
              <a:rPr lang="en-US" dirty="0">
                <a:solidFill>
                  <a:srgbClr val="C00000"/>
                </a:solidFill>
              </a:rPr>
              <a:t>Alexa and the smart plug offer the fastest way to get the coffee maker going.</a:t>
            </a:r>
          </a:p>
        </p:txBody>
      </p:sp>
      <p:sp>
        <p:nvSpPr>
          <p:cNvPr id="8" name="Arrow: Pentagon 7">
            <a:extLst>
              <a:ext uri="{FF2B5EF4-FFF2-40B4-BE49-F238E27FC236}">
                <a16:creationId xmlns:a16="http://schemas.microsoft.com/office/drawing/2014/main" id="{2916828F-7C05-49D2-A055-2D551D5C15F0}"/>
              </a:ext>
            </a:extLst>
          </p:cNvPr>
          <p:cNvSpPr/>
          <p:nvPr/>
        </p:nvSpPr>
        <p:spPr>
          <a:xfrm>
            <a:off x="142903" y="3449533"/>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TextBox 8">
            <a:extLst>
              <a:ext uri="{FF2B5EF4-FFF2-40B4-BE49-F238E27FC236}">
                <a16:creationId xmlns:a16="http://schemas.microsoft.com/office/drawing/2014/main" id="{1F10614D-4C31-43E5-B6DC-9905046C80F1}"/>
              </a:ext>
            </a:extLst>
          </p:cNvPr>
          <p:cNvSpPr txBox="1"/>
          <p:nvPr/>
        </p:nvSpPr>
        <p:spPr>
          <a:xfrm>
            <a:off x="795113" y="5961586"/>
            <a:ext cx="10433329"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t>
            </a:r>
            <a:r>
              <a:rPr lang="en-US" dirty="0"/>
              <a:t>whether to bring a paper notebook or a laptop.</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570637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2" y="1291964"/>
            <a:ext cx="10412616" cy="388849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The coffee maker finally gets started. You glance at your watch and realize you’re already running late. </a:t>
            </a:r>
            <a:r>
              <a:rPr lang="en-US" sz="2050" dirty="0">
                <a:solidFill>
                  <a:srgbClr val="44546A"/>
                </a:solidFill>
                <a:latin typeface="Calibri" panose="020F0502020204030204"/>
                <a:cs typeface="Calibri"/>
              </a:rPr>
              <a:t>You make a mental note to ask your roommate how to use the smart plug to program or start the coffee maker. Since you won’t be returning home before your afternoon class, you pack your things for school before you leave. What will you do to be sure you are prepared for today’s lecture? </a:t>
            </a: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Level2_Decision1</a:t>
            </a:r>
          </a:p>
        </p:txBody>
      </p:sp>
      <p:sp>
        <p:nvSpPr>
          <p:cNvPr id="18" name="Text Placeholder 1">
            <a:extLst>
              <a:ext uri="{FF2B5EF4-FFF2-40B4-BE49-F238E27FC236}">
                <a16:creationId xmlns:a16="http://schemas.microsoft.com/office/drawing/2014/main" id="{6C0B82C3-066F-4C07-88FE-1A0379690085}"/>
              </a:ext>
            </a:extLst>
          </p:cNvPr>
          <p:cNvSpPr txBox="1">
            <a:spLocks/>
          </p:cNvSpPr>
          <p:nvPr/>
        </p:nvSpPr>
        <p:spPr>
          <a:xfrm>
            <a:off x="1565302" y="3051331"/>
            <a:ext cx="9929969" cy="138743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Dig through piles on your desk for a paper notebook</a:t>
            </a:r>
            <a:r>
              <a:rPr lang="en-US" sz="2050" dirty="0">
                <a:solidFill>
                  <a:schemeClr val="tx2"/>
                </a:solidFill>
                <a:ea typeface="Calibri"/>
                <a:cs typeface="Calibri"/>
              </a:rPr>
              <a:t>. </a:t>
            </a:r>
            <a:r>
              <a:rPr lang="en-US" sz="2050" b="1" dirty="0">
                <a:solidFill>
                  <a:schemeClr val="tx2"/>
                </a:solidFill>
                <a:ea typeface="Calibri"/>
                <a:cs typeface="Calibri"/>
              </a:rPr>
              <a:t>[Level2_Decision1_OptionA]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Grab your laptop so you can take notes in OneNote. </a:t>
            </a:r>
            <a:r>
              <a:rPr lang="en-US" sz="2050" b="1" dirty="0">
                <a:solidFill>
                  <a:schemeClr val="tx2"/>
                </a:solidFill>
                <a:ea typeface="Calibri"/>
                <a:cs typeface="Calibri"/>
              </a:rPr>
              <a:t>[Level2_Decision1_OptionB]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9" name="Text Placeholder 3">
            <a:extLst>
              <a:ext uri="{FF2B5EF4-FFF2-40B4-BE49-F238E27FC236}">
                <a16:creationId xmlns:a16="http://schemas.microsoft.com/office/drawing/2014/main" id="{1DA2E0F3-A80C-48F3-B4F3-EE3FD9399F3C}"/>
              </a:ext>
            </a:extLst>
          </p:cNvPr>
          <p:cNvSpPr txBox="1">
            <a:spLocks/>
          </p:cNvSpPr>
          <p:nvPr/>
        </p:nvSpPr>
        <p:spPr>
          <a:xfrm>
            <a:off x="1205199" y="302967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20" name="Text Placeholder 3">
            <a:extLst>
              <a:ext uri="{FF2B5EF4-FFF2-40B4-BE49-F238E27FC236}">
                <a16:creationId xmlns:a16="http://schemas.microsoft.com/office/drawing/2014/main" id="{1A602D33-42BF-49F0-B2A8-2DBCB29178EA}"/>
              </a:ext>
            </a:extLst>
          </p:cNvPr>
          <p:cNvSpPr txBox="1">
            <a:spLocks/>
          </p:cNvSpPr>
          <p:nvPr/>
        </p:nvSpPr>
        <p:spPr>
          <a:xfrm>
            <a:off x="1214268" y="370213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Box 9">
            <a:extLst>
              <a:ext uri="{FF2B5EF4-FFF2-40B4-BE49-F238E27FC236}">
                <a16:creationId xmlns:a16="http://schemas.microsoft.com/office/drawing/2014/main" id="{29E45148-02A7-4E37-861A-F967878CCA58}"/>
              </a:ext>
            </a:extLst>
          </p:cNvPr>
          <p:cNvSpPr txBox="1"/>
          <p:nvPr/>
        </p:nvSpPr>
        <p:spPr>
          <a:xfrm>
            <a:off x="795113" y="4972300"/>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laptop will provide more options later for using technology.</a:t>
            </a:r>
          </a:p>
        </p:txBody>
      </p:sp>
      <p:sp>
        <p:nvSpPr>
          <p:cNvPr id="8" name="Arrow: Pentagon 7">
            <a:extLst>
              <a:ext uri="{FF2B5EF4-FFF2-40B4-BE49-F238E27FC236}">
                <a16:creationId xmlns:a16="http://schemas.microsoft.com/office/drawing/2014/main" id="{AB03D6DF-9E8F-416A-8514-84B3AC680A6C}"/>
              </a:ext>
            </a:extLst>
          </p:cNvPr>
          <p:cNvSpPr/>
          <p:nvPr/>
        </p:nvSpPr>
        <p:spPr>
          <a:xfrm>
            <a:off x="164191" y="373869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2" name="TextBox 11">
            <a:extLst>
              <a:ext uri="{FF2B5EF4-FFF2-40B4-BE49-F238E27FC236}">
                <a16:creationId xmlns:a16="http://schemas.microsoft.com/office/drawing/2014/main" id="{916FDD06-0188-4F23-8027-AA5F7C1BF413}"/>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t>
            </a:r>
            <a:r>
              <a:rPr lang="en-US" dirty="0"/>
              <a:t>how to check the weather forecast.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E9800C2B-E347-4D4B-813E-DD9A40754B5F}"/>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make coffee manually.</a:t>
            </a:r>
          </a:p>
        </p:txBody>
      </p:sp>
    </p:spTree>
    <p:custDataLst>
      <p:tags r:id="rId1"/>
    </p:custDataLst>
    <p:extLst>
      <p:ext uri="{BB962C8B-B14F-4D97-AF65-F5344CB8AC3E}">
        <p14:creationId xmlns:p14="http://schemas.microsoft.com/office/powerpoint/2010/main" val="370392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1254994"/>
            <a:ext cx="10412618" cy="237221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rPr>
              <a:t>Alexa responds with, “Okay”, and you hear the coffee maker switch on. Nice! You make a mental note to congratulate your roommate later that evening on making your day just a little easier. You pour some into your travel mug, and leave the rest of the pot for your roommate.</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rPr>
              <a:t>Since you won’t be returning home before your afternoon class, you pack your things for school before you leave. What will you do to be sure you are prepared for today’s lecture?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Level2_Decision2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755233" y="3597388"/>
            <a:ext cx="9452496" cy="132268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Dig through piles on your desk for a paper notebook. </a:t>
            </a:r>
            <a:r>
              <a:rPr lang="en-US" sz="2050" b="1" dirty="0">
                <a:solidFill>
                  <a:schemeClr val="tx2"/>
                </a:solidFill>
                <a:ea typeface="Calibri"/>
                <a:cs typeface="Calibri"/>
              </a:rPr>
              <a:t>[Level2_Decision2_OptionA]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Grab your laptop so you can take notes in OneNote.</a:t>
            </a:r>
            <a:r>
              <a:rPr lang="en-US" sz="2050" dirty="0">
                <a:solidFill>
                  <a:schemeClr val="tx2"/>
                </a:solidFill>
                <a:ea typeface="Calibri"/>
                <a:cs typeface="Calibri"/>
              </a:rPr>
              <a:t> </a:t>
            </a:r>
            <a:r>
              <a:rPr lang="en-US" sz="2050" b="1" dirty="0">
                <a:solidFill>
                  <a:schemeClr val="tx2"/>
                </a:solidFill>
                <a:ea typeface="Calibri"/>
                <a:cs typeface="Calibri"/>
              </a:rPr>
              <a:t>[Level2_Decision2_OptionB]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390521" y="361748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390521" y="421291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A2EFE3B4-D030-4FA2-9EE1-DC5041C30A6A}"/>
              </a:ext>
            </a:extLst>
          </p:cNvPr>
          <p:cNvSpPr txBox="1"/>
          <p:nvPr/>
        </p:nvSpPr>
        <p:spPr>
          <a:xfrm>
            <a:off x="795112" y="5076986"/>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laptop will provide more options later for using technology.</a:t>
            </a:r>
          </a:p>
        </p:txBody>
      </p:sp>
      <p:pic>
        <p:nvPicPr>
          <p:cNvPr id="3" name="Picture 2">
            <a:extLst>
              <a:ext uri="{FF2B5EF4-FFF2-40B4-BE49-F238E27FC236}">
                <a16:creationId xmlns:a16="http://schemas.microsoft.com/office/drawing/2014/main" id="{676FBEC6-AA1D-4357-8101-F61916795F1F}"/>
              </a:ext>
            </a:extLst>
          </p:cNvPr>
          <p:cNvPicPr>
            <a:picLocks noChangeAspect="1"/>
          </p:cNvPicPr>
          <p:nvPr/>
        </p:nvPicPr>
        <p:blipFill>
          <a:blip r:embed="rId6"/>
          <a:stretch>
            <a:fillRect/>
          </a:stretch>
        </p:blipFill>
        <p:spPr>
          <a:xfrm>
            <a:off x="234232" y="4212919"/>
            <a:ext cx="1121761" cy="499915"/>
          </a:xfrm>
          <a:prstGeom prst="rect">
            <a:avLst/>
          </a:prstGeom>
        </p:spPr>
      </p:pic>
      <p:sp>
        <p:nvSpPr>
          <p:cNvPr id="10" name="TextBox 9">
            <a:extLst>
              <a:ext uri="{FF2B5EF4-FFF2-40B4-BE49-F238E27FC236}">
                <a16:creationId xmlns:a16="http://schemas.microsoft.com/office/drawing/2014/main" id="{F1D73819-E483-4876-96F4-F5F52D581205}"/>
              </a:ext>
            </a:extLst>
          </p:cNvPr>
          <p:cNvSpPr txBox="1"/>
          <p:nvPr/>
        </p:nvSpPr>
        <p:spPr>
          <a:xfrm>
            <a:off x="795114" y="600817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t>
            </a:r>
            <a:r>
              <a:rPr lang="en-US" dirty="0"/>
              <a:t>how to check the weather forecast.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1AE3C4F-004F-4486-A2F8-613291BA8FC1}"/>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the smart plug to start the coffee pot automatically.</a:t>
            </a:r>
          </a:p>
        </p:txBody>
      </p:sp>
    </p:spTree>
    <p:custDataLst>
      <p:tags r:id="rId1"/>
    </p:custDataLst>
    <p:extLst>
      <p:ext uri="{BB962C8B-B14F-4D97-AF65-F5344CB8AC3E}">
        <p14:creationId xmlns:p14="http://schemas.microsoft.com/office/powerpoint/2010/main" val="747411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1258834"/>
            <a:ext cx="10412618" cy="178089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Although your desk is messy, you manage to locate the notebook for your class. As you are heading out the door, you hear a distant clap of thunder. Since you have a long walk from the campus parking lot to class, you hate it when it rains! You go back inside to check the weather forecast. Which will you choose?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Level3_Decision1</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615423" y="3365636"/>
            <a:ext cx="9290857" cy="15533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Turn on your local news station. They report the weather every 10 minutes during the morning broadcast. </a:t>
            </a:r>
            <a:r>
              <a:rPr lang="en-US" sz="2050" b="1" dirty="0">
                <a:solidFill>
                  <a:schemeClr val="tx2"/>
                </a:solidFill>
                <a:ea typeface="Calibri"/>
                <a:cs typeface="Calibri"/>
              </a:rPr>
              <a:t>[Level3_Decision1_OptionA]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Ask Alexa “Alexa. What is the forecast for today?” </a:t>
            </a:r>
            <a:r>
              <a:rPr lang="en-US" sz="2050" b="1" dirty="0">
                <a:solidFill>
                  <a:schemeClr val="tx2"/>
                </a:solidFill>
                <a:ea typeface="Calibri"/>
                <a:cs typeface="Calibri"/>
              </a:rPr>
              <a:t>[Level3_Decision1_OptionB]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243011" y="3395694"/>
            <a:ext cx="543137"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243012" y="4312943"/>
            <a:ext cx="555647"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Box 9">
            <a:extLst>
              <a:ext uri="{FF2B5EF4-FFF2-40B4-BE49-F238E27FC236}">
                <a16:creationId xmlns:a16="http://schemas.microsoft.com/office/drawing/2014/main" id="{877A43A5-5572-4550-9A1E-9576D2A855F3}"/>
              </a:ext>
            </a:extLst>
          </p:cNvPr>
          <p:cNvSpPr txBox="1"/>
          <p:nvPr/>
        </p:nvSpPr>
        <p:spPr>
          <a:xfrm>
            <a:off x="795113" y="5199565"/>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Alexa offers the fastest way to get the weather forecast.</a:t>
            </a:r>
          </a:p>
        </p:txBody>
      </p:sp>
      <p:pic>
        <p:nvPicPr>
          <p:cNvPr id="3" name="Picture 2">
            <a:extLst>
              <a:ext uri="{FF2B5EF4-FFF2-40B4-BE49-F238E27FC236}">
                <a16:creationId xmlns:a16="http://schemas.microsoft.com/office/drawing/2014/main" id="{2F30C57F-0B71-4592-9051-0C42DB0A1314}"/>
              </a:ext>
            </a:extLst>
          </p:cNvPr>
          <p:cNvPicPr>
            <a:picLocks noChangeAspect="1"/>
          </p:cNvPicPr>
          <p:nvPr/>
        </p:nvPicPr>
        <p:blipFill>
          <a:blip r:embed="rId6"/>
          <a:stretch>
            <a:fillRect/>
          </a:stretch>
        </p:blipFill>
        <p:spPr>
          <a:xfrm>
            <a:off x="121250" y="4309383"/>
            <a:ext cx="1121761" cy="499915"/>
          </a:xfrm>
          <a:prstGeom prst="rect">
            <a:avLst/>
          </a:prstGeom>
        </p:spPr>
      </p:pic>
      <p:sp>
        <p:nvSpPr>
          <p:cNvPr id="9" name="TextBox 8">
            <a:extLst>
              <a:ext uri="{FF2B5EF4-FFF2-40B4-BE49-F238E27FC236}">
                <a16:creationId xmlns:a16="http://schemas.microsoft.com/office/drawing/2014/main" id="{003F68FD-C599-4950-BBE2-902C0E4E2509}"/>
              </a:ext>
            </a:extLst>
          </p:cNvPr>
          <p:cNvSpPr txBox="1"/>
          <p:nvPr/>
        </p:nvSpPr>
        <p:spPr>
          <a:xfrm>
            <a:off x="795113" y="6025652"/>
            <a:ext cx="10412618"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t>
            </a:r>
            <a:r>
              <a:rPr lang="en-US" dirty="0"/>
              <a:t>how to make a bank deposit.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9D275AB-BD89-4F66-B7BC-A7A5FB84FFAF}"/>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dig for a paper notebook.</a:t>
            </a:r>
          </a:p>
        </p:txBody>
      </p:sp>
    </p:spTree>
    <p:custDataLst>
      <p:tags r:id="rId1"/>
    </p:custDataLst>
    <p:extLst>
      <p:ext uri="{BB962C8B-B14F-4D97-AF65-F5344CB8AC3E}">
        <p14:creationId xmlns:p14="http://schemas.microsoft.com/office/powerpoint/2010/main" val="3381618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6141" y="1245322"/>
            <a:ext cx="10599717" cy="336893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 pack your laptop in its travel case. As you are heading out the door, you hear a distant clap of thunder. Since you have a long walk from the campus parking lot to class, you hate it when it rains! You go back inside to check the weather forecast. Which will you choose?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Level3_Decision2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779124" y="2824880"/>
            <a:ext cx="9615706" cy="164134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Turn on your local news station. They report the weather every 10 minutes during the morning broadcast.</a:t>
            </a:r>
            <a:r>
              <a:rPr lang="en-US" sz="2050" dirty="0">
                <a:solidFill>
                  <a:schemeClr val="tx2"/>
                </a:solidFill>
                <a:ea typeface="Calibri"/>
                <a:cs typeface="Calibri"/>
              </a:rPr>
              <a:t> </a:t>
            </a:r>
            <a:r>
              <a:rPr lang="en-US" sz="2050" b="1" dirty="0">
                <a:solidFill>
                  <a:schemeClr val="tx2"/>
                </a:solidFill>
                <a:ea typeface="Calibri"/>
                <a:cs typeface="Calibri"/>
              </a:rPr>
              <a:t>[Level3_Decision2_OptionA]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Ask Alexa “Alexa. What is the forecast for today?” </a:t>
            </a:r>
            <a:r>
              <a:rPr lang="en-US" sz="2050" b="1" dirty="0">
                <a:solidFill>
                  <a:schemeClr val="tx2"/>
                </a:solidFill>
                <a:ea typeface="Calibri"/>
                <a:cs typeface="Calibri"/>
              </a:rPr>
              <a:t>[Level3_Decision2_OptionB]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406712" y="2812407"/>
            <a:ext cx="562127"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406713" y="3745197"/>
            <a:ext cx="575074"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F37F4448-E87D-4596-B450-D8CEBF694EF1}"/>
              </a:ext>
            </a:extLst>
          </p:cNvPr>
          <p:cNvSpPr txBox="1"/>
          <p:nvPr/>
        </p:nvSpPr>
        <p:spPr>
          <a:xfrm>
            <a:off x="795113" y="5200915"/>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Alexa offers the fastest way to get the weather forecast.</a:t>
            </a:r>
          </a:p>
        </p:txBody>
      </p:sp>
      <p:pic>
        <p:nvPicPr>
          <p:cNvPr id="4" name="Picture 3">
            <a:extLst>
              <a:ext uri="{FF2B5EF4-FFF2-40B4-BE49-F238E27FC236}">
                <a16:creationId xmlns:a16="http://schemas.microsoft.com/office/drawing/2014/main" id="{9216158B-1485-4850-8FEE-66C2136087B4}"/>
              </a:ext>
            </a:extLst>
          </p:cNvPr>
          <p:cNvPicPr>
            <a:picLocks noChangeAspect="1"/>
          </p:cNvPicPr>
          <p:nvPr/>
        </p:nvPicPr>
        <p:blipFill>
          <a:blip r:embed="rId6"/>
          <a:stretch>
            <a:fillRect/>
          </a:stretch>
        </p:blipFill>
        <p:spPr>
          <a:xfrm>
            <a:off x="234232" y="3745197"/>
            <a:ext cx="1121761" cy="499915"/>
          </a:xfrm>
          <a:prstGeom prst="rect">
            <a:avLst/>
          </a:prstGeom>
        </p:spPr>
      </p:pic>
      <p:sp>
        <p:nvSpPr>
          <p:cNvPr id="9" name="TextBox 8">
            <a:extLst>
              <a:ext uri="{FF2B5EF4-FFF2-40B4-BE49-F238E27FC236}">
                <a16:creationId xmlns:a16="http://schemas.microsoft.com/office/drawing/2014/main" id="{7F3722D7-D079-42D4-8D41-80178A6903C0}"/>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t>
            </a:r>
            <a:r>
              <a:rPr lang="en-US" dirty="0"/>
              <a:t>how to make a bank deposit.</a:t>
            </a:r>
          </a:p>
        </p:txBody>
      </p:sp>
      <p:sp>
        <p:nvSpPr>
          <p:cNvPr id="10" name="TextBox 9">
            <a:extLst>
              <a:ext uri="{FF2B5EF4-FFF2-40B4-BE49-F238E27FC236}">
                <a16:creationId xmlns:a16="http://schemas.microsoft.com/office/drawing/2014/main" id="{50DF6930-560F-4D3B-B8E7-303BAB649B24}"/>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grab the laptop to use OneNote.</a:t>
            </a:r>
          </a:p>
        </p:txBody>
      </p:sp>
    </p:spTree>
    <p:custDataLst>
      <p:tags r:id="rId1"/>
    </p:custDataLst>
    <p:extLst>
      <p:ext uri="{BB962C8B-B14F-4D97-AF65-F5344CB8AC3E}">
        <p14:creationId xmlns:p14="http://schemas.microsoft.com/office/powerpoint/2010/main" val="3172021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0" y="1278157"/>
            <a:ext cx="10412618" cy="18563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Rain is predicted on and off for parts of the metro area. Your first task of the day is to deposit your paycheck and send your half of the rent payment in time. You have your paper check from your part time job in your school’s library. How will you get the money from the check into your bank account?</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Level4_Decision1</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2041421" y="3367215"/>
            <a:ext cx="9166310" cy="122701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Grab your umbrella and drive to the bank. </a:t>
            </a:r>
            <a:r>
              <a:rPr lang="en-US" sz="2050" b="1" dirty="0">
                <a:solidFill>
                  <a:schemeClr val="tx2"/>
                </a:solidFill>
                <a:ea typeface="Calibri"/>
                <a:cs typeface="Calibri"/>
              </a:rPr>
              <a:t>[Level4_Decision1_OptionA]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Use your bank’s app to deposit the paycheck. </a:t>
            </a:r>
            <a:r>
              <a:rPr lang="en-US" sz="2050" b="1" dirty="0">
                <a:solidFill>
                  <a:schemeClr val="tx2"/>
                </a:solidFill>
                <a:ea typeface="Calibri"/>
                <a:cs typeface="Calibri"/>
              </a:rPr>
              <a:t>[Level4_Decision1_OptionB]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669009" y="3397274"/>
            <a:ext cx="535856"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657266" y="3977212"/>
            <a:ext cx="54819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10" name="TextBox 9">
            <a:extLst>
              <a:ext uri="{FF2B5EF4-FFF2-40B4-BE49-F238E27FC236}">
                <a16:creationId xmlns:a16="http://schemas.microsoft.com/office/drawing/2014/main" id="{87EE5C9A-6B13-4A7B-B3C0-B7630DB74DF6}"/>
              </a:ext>
            </a:extLst>
          </p:cNvPr>
          <p:cNvSpPr txBox="1"/>
          <p:nvPr/>
        </p:nvSpPr>
        <p:spPr>
          <a:xfrm>
            <a:off x="795113" y="496537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Using the bank app to make the deposit will be a lot faster than going by the bank.</a:t>
            </a:r>
          </a:p>
        </p:txBody>
      </p:sp>
      <p:pic>
        <p:nvPicPr>
          <p:cNvPr id="3" name="Picture 2">
            <a:extLst>
              <a:ext uri="{FF2B5EF4-FFF2-40B4-BE49-F238E27FC236}">
                <a16:creationId xmlns:a16="http://schemas.microsoft.com/office/drawing/2014/main" id="{21B79159-3C69-40CE-B65D-6500354AEFD3}"/>
              </a:ext>
            </a:extLst>
          </p:cNvPr>
          <p:cNvPicPr>
            <a:picLocks noChangeAspect="1"/>
          </p:cNvPicPr>
          <p:nvPr/>
        </p:nvPicPr>
        <p:blipFill>
          <a:blip r:embed="rId6"/>
          <a:stretch>
            <a:fillRect/>
          </a:stretch>
        </p:blipFill>
        <p:spPr>
          <a:xfrm>
            <a:off x="423388" y="4000035"/>
            <a:ext cx="1121761" cy="499915"/>
          </a:xfrm>
          <a:prstGeom prst="rect">
            <a:avLst/>
          </a:prstGeom>
        </p:spPr>
      </p:pic>
      <p:sp>
        <p:nvSpPr>
          <p:cNvPr id="9" name="TextBox 8">
            <a:extLst>
              <a:ext uri="{FF2B5EF4-FFF2-40B4-BE49-F238E27FC236}">
                <a16:creationId xmlns:a16="http://schemas.microsoft.com/office/drawing/2014/main" id="{17B615AB-8D99-4BBF-8DD7-5A0C16A65D0B}"/>
              </a:ext>
            </a:extLst>
          </p:cNvPr>
          <p:cNvSpPr txBox="1"/>
          <p:nvPr/>
        </p:nvSpPr>
        <p:spPr>
          <a:xfrm>
            <a:off x="795113" y="5970627"/>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dirty="0"/>
              <a:t>If Option A: Student will need to choose a travel method.</a:t>
            </a:r>
          </a:p>
          <a:p>
            <a:pPr lvl="0">
              <a:defRPr/>
            </a:pPr>
            <a:r>
              <a:rPr lang="en-US" dirty="0"/>
              <a:t>If Option B: Student will need to choose how to pay rent.</a:t>
            </a:r>
          </a:p>
        </p:txBody>
      </p:sp>
      <p:sp>
        <p:nvSpPr>
          <p:cNvPr id="12" name="TextBox 11">
            <a:extLst>
              <a:ext uri="{FF2B5EF4-FFF2-40B4-BE49-F238E27FC236}">
                <a16:creationId xmlns:a16="http://schemas.microsoft.com/office/drawing/2014/main" id="{FE253436-C986-4E15-AD07-107E03E388E5}"/>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check the TV weather forecast.</a:t>
            </a:r>
          </a:p>
        </p:txBody>
      </p:sp>
    </p:spTree>
    <p:custDataLst>
      <p:tags r:id="rId1"/>
    </p:custDataLst>
    <p:extLst>
      <p:ext uri="{BB962C8B-B14F-4D97-AF65-F5344CB8AC3E}">
        <p14:creationId xmlns:p14="http://schemas.microsoft.com/office/powerpoint/2010/main" val="2519012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1267197"/>
            <a:ext cx="10412618" cy="178237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Rain is predicted all day. Your first task of the day is to deposit your paycheck and send your half of the rent payment in time. You have your paper check from your part time job in your school’s library. How will you get the money from the check into your bank account?</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824061" y="3260827"/>
            <a:ext cx="9383670" cy="132268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Grab your umbrella and drive to the bank.</a:t>
            </a:r>
            <a:r>
              <a:rPr lang="en-US" sz="2050" dirty="0">
                <a:solidFill>
                  <a:schemeClr val="tx2"/>
                </a:solidFill>
                <a:ea typeface="Calibri"/>
                <a:cs typeface="Calibri"/>
              </a:rPr>
              <a:t> </a:t>
            </a:r>
            <a:r>
              <a:rPr lang="en-US" sz="2050" b="1" dirty="0">
                <a:solidFill>
                  <a:schemeClr val="tx2"/>
                </a:solidFill>
                <a:ea typeface="Calibri"/>
                <a:cs typeface="Calibri"/>
              </a:rPr>
              <a:t>[Level4_Decision2_OptionA]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Use your bank’s app to deposit the paycheck. </a:t>
            </a:r>
            <a:r>
              <a:rPr lang="en-US" sz="2050" b="1" dirty="0">
                <a:solidFill>
                  <a:schemeClr val="tx2"/>
                </a:solidFill>
                <a:ea typeface="Calibri"/>
                <a:cs typeface="Calibri"/>
              </a:rPr>
              <a:t>[Level4_Decision2_OptionB]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451649" y="3248354"/>
            <a:ext cx="548563"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444461" y="3922169"/>
            <a:ext cx="56119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7" name="TextBox 6">
            <a:extLst>
              <a:ext uri="{FF2B5EF4-FFF2-40B4-BE49-F238E27FC236}">
                <a16:creationId xmlns:a16="http://schemas.microsoft.com/office/drawing/2014/main" id="{784DE64A-83BC-4916-8A16-740E37FE3412}"/>
              </a:ext>
            </a:extLst>
          </p:cNvPr>
          <p:cNvSpPr txBox="1"/>
          <p:nvPr/>
        </p:nvSpPr>
        <p:spPr>
          <a:xfrm>
            <a:off x="795111" y="508819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Using the bank app to make the deposit will be a lot faster than going by the bank.</a:t>
            </a:r>
          </a:p>
        </p:txBody>
      </p:sp>
      <p:pic>
        <p:nvPicPr>
          <p:cNvPr id="4" name="Picture 3">
            <a:extLst>
              <a:ext uri="{FF2B5EF4-FFF2-40B4-BE49-F238E27FC236}">
                <a16:creationId xmlns:a16="http://schemas.microsoft.com/office/drawing/2014/main" id="{E80A3075-51F4-4235-88AD-55D981301ED6}"/>
              </a:ext>
            </a:extLst>
          </p:cNvPr>
          <p:cNvPicPr>
            <a:picLocks noChangeAspect="1"/>
          </p:cNvPicPr>
          <p:nvPr/>
        </p:nvPicPr>
        <p:blipFill>
          <a:blip r:embed="rId6"/>
          <a:stretch>
            <a:fillRect/>
          </a:stretch>
        </p:blipFill>
        <p:spPr>
          <a:xfrm>
            <a:off x="234232" y="3922169"/>
            <a:ext cx="1121761" cy="499915"/>
          </a:xfrm>
          <a:prstGeom prst="rect">
            <a:avLst/>
          </a:prstGeom>
        </p:spPr>
      </p:pic>
      <p:sp>
        <p:nvSpPr>
          <p:cNvPr id="9" name="TextBox 8">
            <a:extLst>
              <a:ext uri="{FF2B5EF4-FFF2-40B4-BE49-F238E27FC236}">
                <a16:creationId xmlns:a16="http://schemas.microsoft.com/office/drawing/2014/main" id="{D86401A8-83AF-4574-88BF-ACD74A69179D}"/>
              </a:ext>
            </a:extLst>
          </p:cNvPr>
          <p:cNvSpPr txBox="1"/>
          <p:nvPr/>
        </p:nvSpPr>
        <p:spPr>
          <a:xfrm>
            <a:off x="795113" y="597858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dirty="0"/>
              <a:t>If Option A: Student will need to choose a travel method.</a:t>
            </a:r>
          </a:p>
          <a:p>
            <a:pPr lvl="0">
              <a:defRPr/>
            </a:pPr>
            <a:r>
              <a:rPr lang="en-US" dirty="0"/>
              <a:t>If Option B: Student will need to choose how to pay rent.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FFADB128-A765-4B34-9507-0ADC465786FF}"/>
              </a:ext>
            </a:extLst>
          </p:cNvPr>
          <p:cNvSpPr txBox="1"/>
          <p:nvPr/>
        </p:nvSpPr>
        <p:spPr>
          <a:xfrm>
            <a:off x="795111" y="573091"/>
            <a:ext cx="1041261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might have chosen to ask Alexa for the forecast after losing time digging for a paper notebook. Or student might have lost time checking the TV weather forecast after grabbing the laptop.</a:t>
            </a:r>
          </a:p>
        </p:txBody>
      </p:sp>
    </p:spTree>
    <p:custDataLst>
      <p:tags r:id="rId1"/>
    </p:custDataLst>
    <p:extLst>
      <p:ext uri="{BB962C8B-B14F-4D97-AF65-F5344CB8AC3E}">
        <p14:creationId xmlns:p14="http://schemas.microsoft.com/office/powerpoint/2010/main" val="1188910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0" y="1288287"/>
            <a:ext cx="10412618" cy="202245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The rain is supposed to start in your part of the city soon, and last until mid-afternoon. Your first task of the day is to deposit your paycheck and send your half of the rent payment in time. You have your paper check from your part time job in your school’s library. How will you get the money from the check into your bank account?</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Level4_Decision3</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798298" y="3323217"/>
            <a:ext cx="9409433" cy="122459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Grab your umbrella and drive to the bank. </a:t>
            </a:r>
            <a:r>
              <a:rPr lang="en-US" sz="2050" b="1" dirty="0">
                <a:solidFill>
                  <a:schemeClr val="tx2"/>
                </a:solidFill>
                <a:ea typeface="Calibri"/>
                <a:cs typeface="Calibri"/>
              </a:rPr>
              <a:t>[Level4_Decision3_OptionA]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Use your bank’s app to deposit the paycheck. </a:t>
            </a:r>
            <a:r>
              <a:rPr lang="en-US" sz="2050" b="1" dirty="0">
                <a:solidFill>
                  <a:schemeClr val="tx2"/>
                </a:solidFill>
                <a:ea typeface="Calibri"/>
                <a:cs typeface="Calibri"/>
              </a:rPr>
              <a:t>[Level4_Decision3_OptionB]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425886" y="3310744"/>
            <a:ext cx="55006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418698" y="3972493"/>
            <a:ext cx="56273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3523042C-EC27-4F65-8EA9-59C5047B6F3C}"/>
              </a:ext>
            </a:extLst>
          </p:cNvPr>
          <p:cNvSpPr txBox="1"/>
          <p:nvPr/>
        </p:nvSpPr>
        <p:spPr>
          <a:xfrm>
            <a:off x="795113" y="4889874"/>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Using the bank app to make the deposit will be a lot faster than going by the bank.</a:t>
            </a:r>
          </a:p>
        </p:txBody>
      </p:sp>
      <p:pic>
        <p:nvPicPr>
          <p:cNvPr id="4" name="Picture 3">
            <a:extLst>
              <a:ext uri="{FF2B5EF4-FFF2-40B4-BE49-F238E27FC236}">
                <a16:creationId xmlns:a16="http://schemas.microsoft.com/office/drawing/2014/main" id="{2CAA79C3-6285-4B41-9C9A-8166AF8EEC45}"/>
              </a:ext>
            </a:extLst>
          </p:cNvPr>
          <p:cNvPicPr>
            <a:picLocks noChangeAspect="1"/>
          </p:cNvPicPr>
          <p:nvPr/>
        </p:nvPicPr>
        <p:blipFill>
          <a:blip r:embed="rId6"/>
          <a:stretch>
            <a:fillRect/>
          </a:stretch>
        </p:blipFill>
        <p:spPr>
          <a:xfrm>
            <a:off x="234232" y="3935515"/>
            <a:ext cx="1121761" cy="499915"/>
          </a:xfrm>
          <a:prstGeom prst="rect">
            <a:avLst/>
          </a:prstGeom>
        </p:spPr>
      </p:pic>
      <p:sp>
        <p:nvSpPr>
          <p:cNvPr id="9" name="TextBox 8">
            <a:extLst>
              <a:ext uri="{FF2B5EF4-FFF2-40B4-BE49-F238E27FC236}">
                <a16:creationId xmlns:a16="http://schemas.microsoft.com/office/drawing/2014/main" id="{BC49CF84-8033-4EA6-8988-BB3E5026543C}"/>
              </a:ext>
            </a:extLst>
          </p:cNvPr>
          <p:cNvSpPr txBox="1"/>
          <p:nvPr/>
        </p:nvSpPr>
        <p:spPr>
          <a:xfrm>
            <a:off x="795113" y="586864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t>If Option A: Student will need to choose a travel method.</a:t>
            </a:r>
          </a:p>
          <a:p>
            <a:pPr lvl="0">
              <a:defRPr/>
            </a:pPr>
            <a:r>
              <a:rPr lang="en-US" dirty="0"/>
              <a:t>If Option B: Student will need to choose how to pay rent.</a:t>
            </a:r>
          </a:p>
        </p:txBody>
      </p:sp>
      <p:sp>
        <p:nvSpPr>
          <p:cNvPr id="10" name="TextBox 9">
            <a:extLst>
              <a:ext uri="{FF2B5EF4-FFF2-40B4-BE49-F238E27FC236}">
                <a16:creationId xmlns:a16="http://schemas.microsoft.com/office/drawing/2014/main" id="{1467093E-078A-4A5E-9233-497918548BCD}"/>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ask Alexa for the weather forecast.</a:t>
            </a:r>
          </a:p>
        </p:txBody>
      </p:sp>
    </p:spTree>
    <p:custDataLst>
      <p:tags r:id="rId1"/>
    </p:custDataLst>
    <p:extLst>
      <p:ext uri="{BB962C8B-B14F-4D97-AF65-F5344CB8AC3E}">
        <p14:creationId xmlns:p14="http://schemas.microsoft.com/office/powerpoint/2010/main" val="592516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36885" y="1241537"/>
            <a:ext cx="10470846" cy="15372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Oh no! Your car won’t start. After several attempts, you know that if you don’t find a way to get to class you will be late. How can you fix this situation?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Level5_Decision1</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661664" y="2891222"/>
            <a:ext cx="9546068" cy="125253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Call your classmate, Stephanie, who lives a few blocks away.</a:t>
            </a:r>
            <a:r>
              <a:rPr lang="en-US" sz="2050" dirty="0">
                <a:solidFill>
                  <a:schemeClr val="tx2"/>
                </a:solidFill>
                <a:ea typeface="Calibri"/>
                <a:cs typeface="Calibri"/>
              </a:rPr>
              <a:t> </a:t>
            </a:r>
            <a:r>
              <a:rPr lang="en-US" sz="2050" b="1" dirty="0">
                <a:solidFill>
                  <a:schemeClr val="tx2"/>
                </a:solidFill>
                <a:ea typeface="Calibri"/>
                <a:cs typeface="Calibri"/>
              </a:rPr>
              <a:t>[Level5_Decision1_OptionA]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Use your Lyft app to request a ride. </a:t>
            </a:r>
            <a:r>
              <a:rPr lang="en-US" sz="2050" b="1" dirty="0">
                <a:solidFill>
                  <a:schemeClr val="tx2"/>
                </a:solidFill>
                <a:ea typeface="Calibri"/>
                <a:cs typeface="Calibri"/>
              </a:rPr>
              <a:t>[Level5_Decision1_OptionB]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289251" y="2878749"/>
            <a:ext cx="558056"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272223" y="3817519"/>
            <a:ext cx="570910"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8007187E-ED6B-40FD-B847-B4B425FBD13D}"/>
              </a:ext>
            </a:extLst>
          </p:cNvPr>
          <p:cNvSpPr txBox="1"/>
          <p:nvPr/>
        </p:nvSpPr>
        <p:spPr>
          <a:xfrm>
            <a:off x="795113" y="5022382"/>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Lyft is a more reliable form of transportation, especially when you’re in a hurry.</a:t>
            </a:r>
          </a:p>
        </p:txBody>
      </p:sp>
      <p:pic>
        <p:nvPicPr>
          <p:cNvPr id="5" name="Picture 4">
            <a:extLst>
              <a:ext uri="{FF2B5EF4-FFF2-40B4-BE49-F238E27FC236}">
                <a16:creationId xmlns:a16="http://schemas.microsoft.com/office/drawing/2014/main" id="{A65D93DF-844B-4E57-A44F-6EEA379B0A9D}"/>
              </a:ext>
            </a:extLst>
          </p:cNvPr>
          <p:cNvPicPr>
            <a:picLocks noChangeAspect="1"/>
          </p:cNvPicPr>
          <p:nvPr/>
        </p:nvPicPr>
        <p:blipFill>
          <a:blip r:embed="rId6"/>
          <a:stretch>
            <a:fillRect/>
          </a:stretch>
        </p:blipFill>
        <p:spPr>
          <a:xfrm>
            <a:off x="184519" y="3817519"/>
            <a:ext cx="1104732" cy="499915"/>
          </a:xfrm>
          <a:prstGeom prst="rect">
            <a:avLst/>
          </a:prstGeom>
        </p:spPr>
      </p:pic>
      <p:sp>
        <p:nvSpPr>
          <p:cNvPr id="10" name="TextBox 9">
            <a:extLst>
              <a:ext uri="{FF2B5EF4-FFF2-40B4-BE49-F238E27FC236}">
                <a16:creationId xmlns:a16="http://schemas.microsoft.com/office/drawing/2014/main" id="{FDC7C8CA-0214-4ED5-9104-FA476FB47C3D}"/>
              </a:ext>
            </a:extLst>
          </p:cNvPr>
          <p:cNvSpPr txBox="1"/>
          <p:nvPr/>
        </p:nvSpPr>
        <p:spPr>
          <a:xfrm>
            <a:off x="795113" y="586864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If Option A: Student misses class.</a:t>
            </a:r>
          </a:p>
          <a:p>
            <a:r>
              <a:rPr lang="en-US" dirty="0"/>
              <a:t>If Option B: Student will need to choose how to pay rent.</a:t>
            </a:r>
            <a:endParaRPr lang="en-US" dirty="0">
              <a:solidFill>
                <a:prstClr val="black"/>
              </a:solidFill>
            </a:endParaRPr>
          </a:p>
        </p:txBody>
      </p:sp>
      <p:sp>
        <p:nvSpPr>
          <p:cNvPr id="12" name="TextBox 11">
            <a:extLst>
              <a:ext uri="{FF2B5EF4-FFF2-40B4-BE49-F238E27FC236}">
                <a16:creationId xmlns:a16="http://schemas.microsoft.com/office/drawing/2014/main" id="{194A61E7-F583-4FCC-9A3B-00FA1B1F00BC}"/>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go to the bank.</a:t>
            </a:r>
          </a:p>
        </p:txBody>
      </p:sp>
    </p:spTree>
    <p:custDataLst>
      <p:tags r:id="rId1"/>
    </p:custDataLst>
    <p:extLst>
      <p:ext uri="{BB962C8B-B14F-4D97-AF65-F5344CB8AC3E}">
        <p14:creationId xmlns:p14="http://schemas.microsoft.com/office/powerpoint/2010/main" val="2926012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0" y="1229966"/>
            <a:ext cx="10412618" cy="384715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Stephanie says she is on her way, and will text you when she arrives at your apartment. You wait anxiously as the minutes pass and she still isn’t there. She calls from her car using Bluetooth, and says traffic is terrible and she is still 10 minutes away. You realize there is no way you can get to class on time.</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Story_Slide14</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795111" y="3153542"/>
            <a:ext cx="10412618" cy="55091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p:txBody>
      </p:sp>
      <p:sp>
        <p:nvSpPr>
          <p:cNvPr id="5" name="TextBox 4">
            <a:extLst>
              <a:ext uri="{FF2B5EF4-FFF2-40B4-BE49-F238E27FC236}">
                <a16:creationId xmlns:a16="http://schemas.microsoft.com/office/drawing/2014/main" id="{48A6D304-3A10-4112-AEDF-161EB88EC0A3}"/>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call a friend for a ride.</a:t>
            </a:r>
          </a:p>
        </p:txBody>
      </p:sp>
      <p:sp>
        <p:nvSpPr>
          <p:cNvPr id="6" name="TextBox 5">
            <a:extLst>
              <a:ext uri="{FF2B5EF4-FFF2-40B4-BE49-F238E27FC236}">
                <a16:creationId xmlns:a16="http://schemas.microsoft.com/office/drawing/2014/main" id="{9E80E7E3-AD92-4063-A7E6-C987FA4699EF}"/>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Next step: Student misses class.</a:t>
            </a:r>
          </a:p>
        </p:txBody>
      </p:sp>
    </p:spTree>
    <p:custDataLst>
      <p:tags r:id="rId1"/>
    </p:custDataLst>
    <p:extLst>
      <p:ext uri="{BB962C8B-B14F-4D97-AF65-F5344CB8AC3E}">
        <p14:creationId xmlns:p14="http://schemas.microsoft.com/office/powerpoint/2010/main" val="729836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07564" y="1301120"/>
            <a:ext cx="10412618" cy="148989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Your Lyft driver arrives promptly, promises you he knows all of the shortcuts, and you are on your way!  You make a brief stop at the bank to deposit your check at the drive-thru ATM. Now you need to pay your rent. What’s your next step?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Level6_Decision1</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736597" y="2487949"/>
            <a:ext cx="9471134"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hlinkClick r:id="rId4" action="ppaction://hlinksldjump"/>
              </a:rPr>
              <a:t>Ask your driver to stop quickly at the Post Office. You run in, buy an envelope and stamp, write out a check, address the envelope, and put it in the outgoing mail slot</a:t>
            </a:r>
            <a:r>
              <a:rPr lang="en-US" sz="2050" dirty="0">
                <a:solidFill>
                  <a:schemeClr val="tx2"/>
                </a:solidFill>
                <a:ea typeface="Calibri"/>
                <a:cs typeface="Calibri"/>
                <a:hlinkClick r:id="rId4" action="ppaction://hlinksldjump"/>
              </a:rPr>
              <a:t>. </a:t>
            </a:r>
            <a:r>
              <a:rPr lang="en-US" sz="2050" b="1" dirty="0">
                <a:solidFill>
                  <a:schemeClr val="tx2"/>
                </a:solidFill>
                <a:ea typeface="Calibri"/>
                <a:cs typeface="Calibri"/>
              </a:rPr>
              <a:t>[Level6_Decision1_OptionA]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Use </a:t>
            </a:r>
            <a:r>
              <a:rPr lang="en-US" sz="2050" dirty="0" err="1">
                <a:solidFill>
                  <a:schemeClr val="tx2"/>
                </a:solidFill>
                <a:ea typeface="Calibri"/>
                <a:cs typeface="Calibri"/>
                <a:hlinkClick r:id="rId5" action="ppaction://hlinksldjump"/>
              </a:rPr>
              <a:t>Zelle</a:t>
            </a:r>
            <a:r>
              <a:rPr lang="en-US" sz="2050" dirty="0">
                <a:solidFill>
                  <a:schemeClr val="tx2"/>
                </a:solidFill>
                <a:ea typeface="Calibri"/>
                <a:cs typeface="Calibri"/>
                <a:hlinkClick r:id="rId5" action="ppaction://hlinksldjump"/>
              </a:rPr>
              <a:t> to pay your landlord directly from your phone during the ride and head directly to school. </a:t>
            </a:r>
            <a:r>
              <a:rPr lang="en-US" sz="2050" b="1" dirty="0">
                <a:solidFill>
                  <a:schemeClr val="tx2"/>
                </a:solidFill>
                <a:ea typeface="Calibri"/>
                <a:cs typeface="Calibri"/>
              </a:rPr>
              <a:t>[Level6_Decision1_OptionB]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464537" y="2509106"/>
            <a:ext cx="553676"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464537" y="3731151"/>
            <a:ext cx="566428"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4C60E2B2-096C-42D0-B542-6093A113456D}"/>
              </a:ext>
            </a:extLst>
          </p:cNvPr>
          <p:cNvSpPr txBox="1"/>
          <p:nvPr/>
        </p:nvSpPr>
        <p:spPr>
          <a:xfrm>
            <a:off x="795114" y="4993061"/>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a:t>
            </a:r>
            <a:r>
              <a:rPr lang="en-US" dirty="0" err="1">
                <a:solidFill>
                  <a:srgbClr val="C00000"/>
                </a:solidFill>
              </a:rPr>
              <a:t>Zelle</a:t>
            </a:r>
            <a:r>
              <a:rPr lang="en-US" dirty="0">
                <a:solidFill>
                  <a:srgbClr val="C00000"/>
                </a:solidFill>
              </a:rPr>
              <a:t> app is much faster than stopping by the Post Office.</a:t>
            </a:r>
          </a:p>
        </p:txBody>
      </p:sp>
      <p:pic>
        <p:nvPicPr>
          <p:cNvPr id="4" name="Picture 3">
            <a:extLst>
              <a:ext uri="{FF2B5EF4-FFF2-40B4-BE49-F238E27FC236}">
                <a16:creationId xmlns:a16="http://schemas.microsoft.com/office/drawing/2014/main" id="{F404E08C-41F5-40F2-98AB-5F95066A6DA5}"/>
              </a:ext>
            </a:extLst>
          </p:cNvPr>
          <p:cNvPicPr>
            <a:picLocks noChangeAspect="1"/>
          </p:cNvPicPr>
          <p:nvPr/>
        </p:nvPicPr>
        <p:blipFill>
          <a:blip r:embed="rId6"/>
          <a:stretch>
            <a:fillRect/>
          </a:stretch>
        </p:blipFill>
        <p:spPr>
          <a:xfrm>
            <a:off x="342776" y="3731151"/>
            <a:ext cx="1121761" cy="499915"/>
          </a:xfrm>
          <a:prstGeom prst="rect">
            <a:avLst/>
          </a:prstGeom>
        </p:spPr>
      </p:pic>
      <p:sp>
        <p:nvSpPr>
          <p:cNvPr id="9" name="TextBox 8">
            <a:extLst>
              <a:ext uri="{FF2B5EF4-FFF2-40B4-BE49-F238E27FC236}">
                <a16:creationId xmlns:a16="http://schemas.microsoft.com/office/drawing/2014/main" id="{1A6B9250-6452-4C74-9E7E-AABEB986C828}"/>
              </a:ext>
            </a:extLst>
          </p:cNvPr>
          <p:cNvSpPr txBox="1"/>
          <p:nvPr/>
        </p:nvSpPr>
        <p:spPr>
          <a:xfrm>
            <a:off x="795113" y="586864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If Option A: Student misses class.</a:t>
            </a:r>
          </a:p>
          <a:p>
            <a:pPr lvl="0">
              <a:defRPr/>
            </a:pPr>
            <a:r>
              <a:rPr lang="en-US" dirty="0">
                <a:solidFill>
                  <a:prstClr val="black"/>
                </a:solidFill>
              </a:rPr>
              <a:t>If Option B: Student will need to choose how to get books for class.</a:t>
            </a:r>
          </a:p>
        </p:txBody>
      </p:sp>
      <p:sp>
        <p:nvSpPr>
          <p:cNvPr id="12" name="TextBox 11">
            <a:extLst>
              <a:ext uri="{FF2B5EF4-FFF2-40B4-BE49-F238E27FC236}">
                <a16:creationId xmlns:a16="http://schemas.microsoft.com/office/drawing/2014/main" id="{D1CD0A0F-BF1F-4A08-A9D5-FC634B850F40}"/>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order a Lyft ride.</a:t>
            </a:r>
          </a:p>
        </p:txBody>
      </p:sp>
    </p:spTree>
    <p:custDataLst>
      <p:tags r:id="rId1"/>
    </p:custDataLst>
    <p:extLst>
      <p:ext uri="{BB962C8B-B14F-4D97-AF65-F5344CB8AC3E}">
        <p14:creationId xmlns:p14="http://schemas.microsoft.com/office/powerpoint/2010/main" val="1425313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17292" y="1326343"/>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You decide to take a Lyft to avoid the rain. Your Lyft driver arrives promptly, promises you he knows all of the shortcuts, and you are on your way! Now you need to pay your rent. What’s your next step?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Level6_Decision2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709598" y="2394400"/>
            <a:ext cx="9498132"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hlinkClick r:id="rId4" action="ppaction://hlinksldjump"/>
              </a:rPr>
              <a:t>Ask your driver to stop quickly at the Post Office. You run in, buy an envelope and stamp, write out a check, address the envelope, and put it in the outgoing mail slot</a:t>
            </a:r>
            <a:r>
              <a:rPr lang="en-US" sz="2050" dirty="0">
                <a:solidFill>
                  <a:schemeClr val="tx2"/>
                </a:solidFill>
                <a:ea typeface="Calibri"/>
                <a:cs typeface="Calibri"/>
                <a:hlinkClick r:id="rId4" action="ppaction://hlinksldjump"/>
              </a:rPr>
              <a:t>.</a:t>
            </a:r>
            <a:r>
              <a:rPr lang="en-US" sz="2050" dirty="0">
                <a:solidFill>
                  <a:schemeClr val="tx2"/>
                </a:solidFill>
                <a:ea typeface="Calibri"/>
                <a:cs typeface="Calibri"/>
              </a:rPr>
              <a:t> </a:t>
            </a:r>
            <a:r>
              <a:rPr lang="en-US" sz="2050" b="1" dirty="0">
                <a:solidFill>
                  <a:schemeClr val="tx2"/>
                </a:solidFill>
                <a:ea typeface="Calibri"/>
                <a:cs typeface="Calibri"/>
              </a:rPr>
              <a:t>[Level6_Decision1_OptionA]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Use </a:t>
            </a:r>
            <a:r>
              <a:rPr lang="en-US" sz="2050" dirty="0" err="1">
                <a:solidFill>
                  <a:schemeClr val="tx2"/>
                </a:solidFill>
                <a:ea typeface="Calibri"/>
                <a:cs typeface="Calibri"/>
                <a:hlinkClick r:id="rId5" action="ppaction://hlinksldjump"/>
              </a:rPr>
              <a:t>Zelle</a:t>
            </a:r>
            <a:r>
              <a:rPr lang="en-US" sz="2050" dirty="0">
                <a:solidFill>
                  <a:schemeClr val="tx2"/>
                </a:solidFill>
                <a:ea typeface="Calibri"/>
                <a:cs typeface="Calibri"/>
                <a:hlinkClick r:id="rId5" action="ppaction://hlinksldjump"/>
              </a:rPr>
              <a:t> to pay your landlord directly from your phone during the ride and head directly to school. </a:t>
            </a:r>
            <a:r>
              <a:rPr lang="en-US" sz="2050" b="1" dirty="0">
                <a:solidFill>
                  <a:schemeClr val="tx2"/>
                </a:solidFill>
                <a:ea typeface="Calibri"/>
                <a:cs typeface="Calibri"/>
              </a:rPr>
              <a:t>[Level6_Decision1_OptionB]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337186" y="2381927"/>
            <a:ext cx="555254"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355992" y="3700051"/>
            <a:ext cx="568043"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9" name="TextBox 8">
            <a:extLst>
              <a:ext uri="{FF2B5EF4-FFF2-40B4-BE49-F238E27FC236}">
                <a16:creationId xmlns:a16="http://schemas.microsoft.com/office/drawing/2014/main" id="{1D96AEC1-8AC0-4951-A383-E5DE7AD791EA}"/>
              </a:ext>
            </a:extLst>
          </p:cNvPr>
          <p:cNvSpPr txBox="1"/>
          <p:nvPr/>
        </p:nvSpPr>
        <p:spPr>
          <a:xfrm>
            <a:off x="795113" y="5214203"/>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a:t>
            </a:r>
            <a:r>
              <a:rPr lang="en-US" dirty="0" err="1">
                <a:solidFill>
                  <a:srgbClr val="C00000"/>
                </a:solidFill>
              </a:rPr>
              <a:t>Zelle</a:t>
            </a:r>
            <a:r>
              <a:rPr lang="en-US" dirty="0">
                <a:solidFill>
                  <a:srgbClr val="C00000"/>
                </a:solidFill>
              </a:rPr>
              <a:t> app is much faster than stopping by the Post Office.</a:t>
            </a:r>
          </a:p>
        </p:txBody>
      </p:sp>
      <p:pic>
        <p:nvPicPr>
          <p:cNvPr id="3" name="Picture 2">
            <a:extLst>
              <a:ext uri="{FF2B5EF4-FFF2-40B4-BE49-F238E27FC236}">
                <a16:creationId xmlns:a16="http://schemas.microsoft.com/office/drawing/2014/main" id="{0E5D69F0-365A-43B7-A538-BED92FAF3CED}"/>
              </a:ext>
            </a:extLst>
          </p:cNvPr>
          <p:cNvPicPr>
            <a:picLocks noChangeAspect="1"/>
          </p:cNvPicPr>
          <p:nvPr/>
        </p:nvPicPr>
        <p:blipFill>
          <a:blip r:embed="rId6"/>
          <a:stretch>
            <a:fillRect/>
          </a:stretch>
        </p:blipFill>
        <p:spPr>
          <a:xfrm>
            <a:off x="307397" y="3687784"/>
            <a:ext cx="1121761" cy="499915"/>
          </a:xfrm>
          <a:prstGeom prst="rect">
            <a:avLst/>
          </a:prstGeom>
        </p:spPr>
      </p:pic>
      <p:sp>
        <p:nvSpPr>
          <p:cNvPr id="10" name="TextBox 9">
            <a:extLst>
              <a:ext uri="{FF2B5EF4-FFF2-40B4-BE49-F238E27FC236}">
                <a16:creationId xmlns:a16="http://schemas.microsoft.com/office/drawing/2014/main" id="{AB33B52B-FE9B-4A7D-A9EA-1B18AFFF3608}"/>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Next step for both options: Student will need to choose how to get books for class.</a:t>
            </a:r>
          </a:p>
        </p:txBody>
      </p:sp>
      <p:sp>
        <p:nvSpPr>
          <p:cNvPr id="13" name="TextBox 12">
            <a:extLst>
              <a:ext uri="{FF2B5EF4-FFF2-40B4-BE49-F238E27FC236}">
                <a16:creationId xmlns:a16="http://schemas.microsoft.com/office/drawing/2014/main" id="{3379ABAF-44EF-4BF1-92AC-61C938F18032}"/>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online banking.</a:t>
            </a:r>
          </a:p>
        </p:txBody>
      </p:sp>
    </p:spTree>
    <p:custDataLst>
      <p:tags r:id="rId1"/>
    </p:custDataLst>
    <p:extLst>
      <p:ext uri="{BB962C8B-B14F-4D97-AF65-F5344CB8AC3E}">
        <p14:creationId xmlns:p14="http://schemas.microsoft.com/office/powerpoint/2010/main" val="47771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911662"/>
            <a:ext cx="11079729"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Story_Slide17</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863803" y="2463463"/>
            <a:ext cx="10677482"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8" name="Text Placeholder 1">
            <a:extLst>
              <a:ext uri="{FF2B5EF4-FFF2-40B4-BE49-F238E27FC236}">
                <a16:creationId xmlns:a16="http://schemas.microsoft.com/office/drawing/2014/main" id="{E910F18E-8E2B-46DA-BA50-6A074B4D2996}"/>
              </a:ext>
            </a:extLst>
          </p:cNvPr>
          <p:cNvSpPr txBox="1">
            <a:spLocks/>
          </p:cNvSpPr>
          <p:nvPr/>
        </p:nvSpPr>
        <p:spPr>
          <a:xfrm>
            <a:off x="795110" y="1280994"/>
            <a:ext cx="10412617" cy="23649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Back in the car, your driver starts heading towards campus. The rain is causing a huge traffic jam. You look out the car’s window and know that because of your stop at the Post Office you are not going to make it.</a:t>
            </a:r>
            <a:endParaRPr lang="en-US" dirty="0">
              <a:solidFill>
                <a:schemeClr val="tx2"/>
              </a:solidFill>
            </a:endParaRPr>
          </a:p>
        </p:txBody>
      </p:sp>
      <p:sp>
        <p:nvSpPr>
          <p:cNvPr id="6" name="TextBox 5">
            <a:extLst>
              <a:ext uri="{FF2B5EF4-FFF2-40B4-BE49-F238E27FC236}">
                <a16:creationId xmlns:a16="http://schemas.microsoft.com/office/drawing/2014/main" id="{5ADB059B-85C5-482D-989B-F05ED0C0F3A7}"/>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go to the post office to mail the check.</a:t>
            </a:r>
          </a:p>
        </p:txBody>
      </p:sp>
      <p:sp>
        <p:nvSpPr>
          <p:cNvPr id="7" name="TextBox 6">
            <a:extLst>
              <a:ext uri="{FF2B5EF4-FFF2-40B4-BE49-F238E27FC236}">
                <a16:creationId xmlns:a16="http://schemas.microsoft.com/office/drawing/2014/main" id="{0627AD29-2BC7-403F-BD2B-FE75D9FD12E3}"/>
              </a:ext>
            </a:extLst>
          </p:cNvPr>
          <p:cNvSpPr txBox="1"/>
          <p:nvPr/>
        </p:nvSpPr>
        <p:spPr>
          <a:xfrm>
            <a:off x="795115" y="6025652"/>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Next step: Student misses class.</a:t>
            </a:r>
          </a:p>
        </p:txBody>
      </p:sp>
    </p:spTree>
    <p:custDataLst>
      <p:tags r:id="rId1"/>
    </p:custDataLst>
    <p:extLst>
      <p:ext uri="{BB962C8B-B14F-4D97-AF65-F5344CB8AC3E}">
        <p14:creationId xmlns:p14="http://schemas.microsoft.com/office/powerpoint/2010/main" val="4089043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911662"/>
            <a:ext cx="11079729"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Story_Slide18</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795109" y="2355178"/>
            <a:ext cx="10677482"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8" name="Text Placeholder 1">
            <a:extLst>
              <a:ext uri="{FF2B5EF4-FFF2-40B4-BE49-F238E27FC236}">
                <a16:creationId xmlns:a16="http://schemas.microsoft.com/office/drawing/2014/main" id="{E910F18E-8E2B-46DA-BA50-6A074B4D2996}"/>
              </a:ext>
            </a:extLst>
          </p:cNvPr>
          <p:cNvSpPr txBox="1">
            <a:spLocks/>
          </p:cNvSpPr>
          <p:nvPr/>
        </p:nvSpPr>
        <p:spPr>
          <a:xfrm>
            <a:off x="795109" y="1280994"/>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Back in the car, your driver starts heading towards campus. The rain is causing a huge traffic jam. Because you are early, you still might make it to class on time.</a:t>
            </a:r>
            <a:endParaRPr lang="en-US" dirty="0">
              <a:solidFill>
                <a:schemeClr val="tx2"/>
              </a:solidFill>
            </a:endParaRPr>
          </a:p>
        </p:txBody>
      </p:sp>
      <p:sp>
        <p:nvSpPr>
          <p:cNvPr id="6" name="TextBox 5">
            <a:extLst>
              <a:ext uri="{FF2B5EF4-FFF2-40B4-BE49-F238E27FC236}">
                <a16:creationId xmlns:a16="http://schemas.microsoft.com/office/drawing/2014/main" id="{50D9F9C4-6D00-4C8C-90D4-5A6C34E17EC1}"/>
              </a:ext>
            </a:extLst>
          </p:cNvPr>
          <p:cNvSpPr txBox="1"/>
          <p:nvPr/>
        </p:nvSpPr>
        <p:spPr>
          <a:xfrm>
            <a:off x="795110" y="76279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go to the post office to mail the check.</a:t>
            </a:r>
          </a:p>
        </p:txBody>
      </p:sp>
      <p:sp>
        <p:nvSpPr>
          <p:cNvPr id="7" name="TextBox 6">
            <a:extLst>
              <a:ext uri="{FF2B5EF4-FFF2-40B4-BE49-F238E27FC236}">
                <a16:creationId xmlns:a16="http://schemas.microsoft.com/office/drawing/2014/main" id="{EAA3FBDD-F8D9-431B-B75F-FEBDEC8B9762}"/>
              </a:ext>
            </a:extLst>
          </p:cNvPr>
          <p:cNvSpPr txBox="1"/>
          <p:nvPr/>
        </p:nvSpPr>
        <p:spPr>
          <a:xfrm>
            <a:off x="795109"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Student will need to choose how to get their books.</a:t>
            </a:r>
          </a:p>
        </p:txBody>
      </p:sp>
    </p:spTree>
    <p:custDataLst>
      <p:tags r:id="rId1"/>
    </p:custDataLst>
    <p:extLst>
      <p:ext uri="{BB962C8B-B14F-4D97-AF65-F5344CB8AC3E}">
        <p14:creationId xmlns:p14="http://schemas.microsoft.com/office/powerpoint/2010/main" val="21644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1569026"/>
            <a:ext cx="10412618" cy="339656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dirty="0">
                <a:solidFill>
                  <a:schemeClr val="tx2"/>
                </a:solidFill>
                <a:cs typeface="Calibri"/>
              </a:rPr>
              <a:t>The rain is causing a huge traffic jam. Thank goodness your Lyft driver knows a shortcut to campus! You remember that you need to purchase an additional book for class today. After your driver drops you off, what do you do?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Level7_Decision1</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628403" y="3211878"/>
            <a:ext cx="9579328" cy="140493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cs typeface="Calibri"/>
                <a:hlinkClick r:id="rId4" action="ppaction://hlinksldjump"/>
              </a:rPr>
              <a:t>Pop open your umbrella and run to the campus bookstore</a:t>
            </a:r>
            <a:r>
              <a:rPr lang="en-US" sz="2050" dirty="0">
                <a:solidFill>
                  <a:schemeClr val="tx2"/>
                </a:solidFill>
                <a:ea typeface="Calibri"/>
                <a:cs typeface="Calibri"/>
                <a:hlinkClick r:id="rId4" action="ppaction://hlinksldjump"/>
              </a:rPr>
              <a:t>. </a:t>
            </a:r>
            <a:r>
              <a:rPr lang="en-US" sz="2050" b="1" dirty="0">
                <a:solidFill>
                  <a:schemeClr val="tx2"/>
                </a:solidFill>
                <a:ea typeface="Calibri"/>
                <a:cs typeface="Calibri"/>
              </a:rPr>
              <a:t>[Level7_Decision1_OptionA]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Enter your classroom building, log onto the campus </a:t>
            </a:r>
            <a:r>
              <a:rPr lang="en-US" sz="2050" dirty="0" err="1">
                <a:solidFill>
                  <a:schemeClr val="tx2"/>
                </a:solidFill>
                <a:ea typeface="Calibri"/>
                <a:cs typeface="Calibri"/>
                <a:hlinkClick r:id="rId5" action="ppaction://hlinksldjump"/>
              </a:rPr>
              <a:t>WiFi</a:t>
            </a:r>
            <a:r>
              <a:rPr lang="en-US" sz="2050" dirty="0">
                <a:solidFill>
                  <a:schemeClr val="tx2"/>
                </a:solidFill>
                <a:ea typeface="Calibri"/>
                <a:cs typeface="Calibri"/>
                <a:hlinkClick r:id="rId5" action="ppaction://hlinksldjump"/>
              </a:rPr>
              <a:t>, open your MindTap app to access Cengage Unlimited on your smartphone, and download the book. </a:t>
            </a:r>
            <a:r>
              <a:rPr lang="en-US" sz="2050" b="1" dirty="0">
                <a:solidFill>
                  <a:schemeClr val="tx2"/>
                </a:solidFill>
                <a:ea typeface="Calibri"/>
                <a:cs typeface="Calibri"/>
              </a:rPr>
              <a:t>[Level7_Decision1_OptionB]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255991" y="3199405"/>
            <a:ext cx="560001"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255991" y="3854780"/>
            <a:ext cx="572899"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8" name="TextBox 7">
            <a:extLst>
              <a:ext uri="{FF2B5EF4-FFF2-40B4-BE49-F238E27FC236}">
                <a16:creationId xmlns:a16="http://schemas.microsoft.com/office/drawing/2014/main" id="{C5B09556-64BE-47F9-8E50-38F031A9FA84}"/>
              </a:ext>
            </a:extLst>
          </p:cNvPr>
          <p:cNvSpPr txBox="1"/>
          <p:nvPr/>
        </p:nvSpPr>
        <p:spPr>
          <a:xfrm>
            <a:off x="795111" y="5186930"/>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Buying Cengage Unlimited online is faster than getting a book at the bookstore.</a:t>
            </a:r>
          </a:p>
        </p:txBody>
      </p:sp>
      <p:pic>
        <p:nvPicPr>
          <p:cNvPr id="3" name="Picture 2">
            <a:extLst>
              <a:ext uri="{FF2B5EF4-FFF2-40B4-BE49-F238E27FC236}">
                <a16:creationId xmlns:a16="http://schemas.microsoft.com/office/drawing/2014/main" id="{3F944316-02BD-40D7-A57F-04C9DB982212}"/>
              </a:ext>
            </a:extLst>
          </p:cNvPr>
          <p:cNvPicPr>
            <a:picLocks noChangeAspect="1"/>
          </p:cNvPicPr>
          <p:nvPr/>
        </p:nvPicPr>
        <p:blipFill>
          <a:blip r:embed="rId6"/>
          <a:stretch>
            <a:fillRect/>
          </a:stretch>
        </p:blipFill>
        <p:spPr>
          <a:xfrm>
            <a:off x="134230" y="3874156"/>
            <a:ext cx="1121761" cy="499915"/>
          </a:xfrm>
          <a:prstGeom prst="rect">
            <a:avLst/>
          </a:prstGeom>
        </p:spPr>
      </p:pic>
      <p:sp>
        <p:nvSpPr>
          <p:cNvPr id="9" name="TextBox 8">
            <a:extLst>
              <a:ext uri="{FF2B5EF4-FFF2-40B4-BE49-F238E27FC236}">
                <a16:creationId xmlns:a16="http://schemas.microsoft.com/office/drawing/2014/main" id="{61DFE52A-0159-4917-A468-D26BFDAC76D5}"/>
              </a:ext>
            </a:extLst>
          </p:cNvPr>
          <p:cNvSpPr txBox="1"/>
          <p:nvPr/>
        </p:nvSpPr>
        <p:spPr>
          <a:xfrm>
            <a:off x="795112" y="711940"/>
            <a:ext cx="1041261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either chose to pay with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Zelle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after losing time going to the bank. Or student lost time going to the post office to mail </a:t>
            </a:r>
            <a:r>
              <a:rPr lang="en-US" dirty="0">
                <a:solidFill>
                  <a:prstClr val="black"/>
                </a:solidFill>
                <a:latin typeface="Calibri" panose="020F0502020204030204"/>
              </a:rPr>
              <a:t>the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check.</a:t>
            </a:r>
          </a:p>
        </p:txBody>
      </p:sp>
      <p:sp>
        <p:nvSpPr>
          <p:cNvPr id="10" name="TextBox 9">
            <a:extLst>
              <a:ext uri="{FF2B5EF4-FFF2-40B4-BE49-F238E27FC236}">
                <a16:creationId xmlns:a16="http://schemas.microsoft.com/office/drawing/2014/main" id="{FDD317D1-E7E2-433B-B2EC-040C980A06C5}"/>
              </a:ext>
            </a:extLst>
          </p:cNvPr>
          <p:cNvSpPr txBox="1"/>
          <p:nvPr/>
        </p:nvSpPr>
        <p:spPr>
          <a:xfrm>
            <a:off x="795111" y="605460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If Option A: Student misses class.</a:t>
            </a:r>
          </a:p>
          <a:p>
            <a:r>
              <a:rPr lang="en-US" dirty="0"/>
              <a:t>If Option B: Student is late to class.</a:t>
            </a:r>
          </a:p>
        </p:txBody>
      </p:sp>
    </p:spTree>
    <p:custDataLst>
      <p:tags r:id="rId1"/>
    </p:custDataLst>
    <p:extLst>
      <p:ext uri="{BB962C8B-B14F-4D97-AF65-F5344CB8AC3E}">
        <p14:creationId xmlns:p14="http://schemas.microsoft.com/office/powerpoint/2010/main" val="2773555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801307" y="1506682"/>
            <a:ext cx="10412620" cy="172521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dirty="0">
                <a:solidFill>
                  <a:schemeClr val="tx2"/>
                </a:solidFill>
                <a:cs typeface="Calibri"/>
              </a:rPr>
              <a:t>The rain is causing a huge traffic jam. Thank goodness your Lyft driver knows a shortcut to campus! You remember that you need to purchase an additional book for class today. After your driver drops you off, what do you do?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Level7_Decision2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1698805" y="3294466"/>
            <a:ext cx="9508926" cy="164134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cs typeface="Calibri"/>
                <a:hlinkClick r:id="rId4" action="ppaction://hlinksldjump"/>
              </a:rPr>
              <a:t>Pop open your umbrella and run to the campus bookstore</a:t>
            </a:r>
            <a:r>
              <a:rPr lang="en-US" sz="2050" dirty="0">
                <a:solidFill>
                  <a:schemeClr val="tx2"/>
                </a:solidFill>
                <a:ea typeface="Calibri"/>
                <a:cs typeface="Calibri"/>
                <a:hlinkClick r:id="rId4" action="ppaction://hlinksldjump"/>
              </a:rPr>
              <a:t>. </a:t>
            </a:r>
            <a:r>
              <a:rPr lang="en-US" sz="2050" b="1" dirty="0">
                <a:solidFill>
                  <a:schemeClr val="tx2"/>
                </a:solidFill>
                <a:ea typeface="Calibri"/>
                <a:cs typeface="Calibri"/>
              </a:rPr>
              <a:t>[Level7_Decision1_OptionA]</a:t>
            </a:r>
          </a:p>
          <a:p>
            <a:pPr marL="0" indent="0">
              <a:spcBef>
                <a:spcPts val="0"/>
              </a:spcBef>
              <a:buNone/>
              <a:defRPr/>
            </a:pPr>
            <a:endParaRPr lang="en-US" sz="2099" dirty="0">
              <a:solidFill>
                <a:srgbClr val="AD7318"/>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Enter your classroom building, log onto the campus </a:t>
            </a:r>
            <a:r>
              <a:rPr lang="en-US" sz="2050" dirty="0" err="1">
                <a:solidFill>
                  <a:schemeClr val="tx2"/>
                </a:solidFill>
                <a:ea typeface="Calibri"/>
                <a:cs typeface="Calibri"/>
                <a:hlinkClick r:id="rId5" action="ppaction://hlinksldjump"/>
              </a:rPr>
              <a:t>WiFi</a:t>
            </a:r>
            <a:r>
              <a:rPr lang="en-US" sz="2050" dirty="0">
                <a:solidFill>
                  <a:schemeClr val="tx2"/>
                </a:solidFill>
                <a:ea typeface="Calibri"/>
                <a:cs typeface="Calibri"/>
                <a:hlinkClick r:id="rId5" action="ppaction://hlinksldjump"/>
              </a:rPr>
              <a:t>, open your MindTap app to access Cengage Unlimited on your smartphone, and download the book.</a:t>
            </a:r>
            <a:r>
              <a:rPr lang="en-US" sz="2050" dirty="0">
                <a:solidFill>
                  <a:schemeClr val="tx2"/>
                </a:solidFill>
                <a:ea typeface="Calibri"/>
                <a:cs typeface="Calibri"/>
                <a:hlinkClick r:id="" action="ppaction://noaction"/>
              </a:rPr>
              <a:t> </a:t>
            </a:r>
            <a:r>
              <a:rPr lang="en-US" sz="2050" b="1" dirty="0">
                <a:solidFill>
                  <a:schemeClr val="tx2"/>
                </a:solidFill>
                <a:ea typeface="Calibri"/>
                <a:cs typeface="Calibri"/>
              </a:rPr>
              <a:t>[Level7_Decision1_OptionB]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6" name="Text Placeholder 3">
            <a:extLst>
              <a:ext uri="{FF2B5EF4-FFF2-40B4-BE49-F238E27FC236}">
                <a16:creationId xmlns:a16="http://schemas.microsoft.com/office/drawing/2014/main" id="{06E89FA9-1360-4D4C-8409-55802D572DFA}"/>
              </a:ext>
            </a:extLst>
          </p:cNvPr>
          <p:cNvSpPr txBox="1">
            <a:spLocks/>
          </p:cNvSpPr>
          <p:nvPr/>
        </p:nvSpPr>
        <p:spPr>
          <a:xfrm>
            <a:off x="1326393" y="3281993"/>
            <a:ext cx="555885"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17" name="Text Placeholder 3">
            <a:extLst>
              <a:ext uri="{FF2B5EF4-FFF2-40B4-BE49-F238E27FC236}">
                <a16:creationId xmlns:a16="http://schemas.microsoft.com/office/drawing/2014/main" id="{50A2D96C-922B-4D98-BAED-F0F980E0B0D4}"/>
              </a:ext>
            </a:extLst>
          </p:cNvPr>
          <p:cNvSpPr txBox="1">
            <a:spLocks/>
          </p:cNvSpPr>
          <p:nvPr/>
        </p:nvSpPr>
        <p:spPr>
          <a:xfrm>
            <a:off x="1296558" y="3913956"/>
            <a:ext cx="568689"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a:p>
            <a:pPr marL="0" indent="0">
              <a:buNone/>
            </a:pPr>
            <a:endParaRPr lang="en-US" sz="2050" b="1" dirty="0">
              <a:solidFill>
                <a:schemeClr val="accent1">
                  <a:lumMod val="75000"/>
                </a:schemeClr>
              </a:solidFill>
              <a:latin typeface="+mj-lt"/>
              <a:cs typeface="Calibri Light"/>
            </a:endParaRPr>
          </a:p>
        </p:txBody>
      </p:sp>
      <p:sp>
        <p:nvSpPr>
          <p:cNvPr id="9" name="TextBox 8">
            <a:extLst>
              <a:ext uri="{FF2B5EF4-FFF2-40B4-BE49-F238E27FC236}">
                <a16:creationId xmlns:a16="http://schemas.microsoft.com/office/drawing/2014/main" id="{BA4CEDB5-88A2-46EA-AFD5-0059F7F27FD1}"/>
              </a:ext>
            </a:extLst>
          </p:cNvPr>
          <p:cNvSpPr txBox="1"/>
          <p:nvPr/>
        </p:nvSpPr>
        <p:spPr>
          <a:xfrm>
            <a:off x="795110" y="5158622"/>
            <a:ext cx="1041261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Buying Cengage Unlimited online is faster than getting a book at the bookstore.</a:t>
            </a:r>
          </a:p>
        </p:txBody>
      </p:sp>
      <p:pic>
        <p:nvPicPr>
          <p:cNvPr id="3" name="Picture 2">
            <a:extLst>
              <a:ext uri="{FF2B5EF4-FFF2-40B4-BE49-F238E27FC236}">
                <a16:creationId xmlns:a16="http://schemas.microsoft.com/office/drawing/2014/main" id="{27DD8B70-A4F6-4CEA-82B3-AFC4799C5487}"/>
              </a:ext>
            </a:extLst>
          </p:cNvPr>
          <p:cNvPicPr>
            <a:picLocks noChangeAspect="1"/>
          </p:cNvPicPr>
          <p:nvPr/>
        </p:nvPicPr>
        <p:blipFill>
          <a:blip r:embed="rId6"/>
          <a:stretch>
            <a:fillRect/>
          </a:stretch>
        </p:blipFill>
        <p:spPr>
          <a:xfrm>
            <a:off x="174797" y="3913956"/>
            <a:ext cx="1121761" cy="499915"/>
          </a:xfrm>
          <a:prstGeom prst="rect">
            <a:avLst/>
          </a:prstGeom>
        </p:spPr>
      </p:pic>
      <p:sp>
        <p:nvSpPr>
          <p:cNvPr id="10" name="TextBox 9">
            <a:extLst>
              <a:ext uri="{FF2B5EF4-FFF2-40B4-BE49-F238E27FC236}">
                <a16:creationId xmlns:a16="http://schemas.microsoft.com/office/drawing/2014/main" id="{0297AEB1-D0F9-42A3-B179-C1742DF07B05}"/>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pay with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Zelle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app.</a:t>
            </a:r>
          </a:p>
        </p:txBody>
      </p:sp>
      <p:sp>
        <p:nvSpPr>
          <p:cNvPr id="12" name="TextBox 11">
            <a:extLst>
              <a:ext uri="{FF2B5EF4-FFF2-40B4-BE49-F238E27FC236}">
                <a16:creationId xmlns:a16="http://schemas.microsoft.com/office/drawing/2014/main" id="{ADA3B46E-EE3E-42F6-A9FA-88558964D111}"/>
              </a:ext>
            </a:extLst>
          </p:cNvPr>
          <p:cNvSpPr txBox="1"/>
          <p:nvPr/>
        </p:nvSpPr>
        <p:spPr>
          <a:xfrm>
            <a:off x="795110" y="5988882"/>
            <a:ext cx="1041261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dirty="0"/>
              <a:t>If Option A: Student is late to class.</a:t>
            </a:r>
          </a:p>
          <a:p>
            <a:r>
              <a:rPr lang="en-US" dirty="0"/>
              <a:t>If Option B: Student is early to class.</a:t>
            </a:r>
          </a:p>
        </p:txBody>
      </p:sp>
    </p:spTree>
    <p:custDataLst>
      <p:tags r:id="rId1"/>
    </p:custDataLst>
    <p:extLst>
      <p:ext uri="{BB962C8B-B14F-4D97-AF65-F5344CB8AC3E}">
        <p14:creationId xmlns:p14="http://schemas.microsoft.com/office/powerpoint/2010/main" val="524398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1256523"/>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It seems everyone needs books today. The lines are terribly long at the bookstore. You glance at your smartwatch. Class starts in three minutes, the line is going to be at least 20 more minutes, and you have a 10 minute walk ahead of you.  </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Story_Slide21</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795111" y="2987467"/>
            <a:ext cx="10412617"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Box 4">
            <a:extLst>
              <a:ext uri="{FF2B5EF4-FFF2-40B4-BE49-F238E27FC236}">
                <a16:creationId xmlns:a16="http://schemas.microsoft.com/office/drawing/2014/main" id="{53E3D523-A99B-4DF9-B9B2-A400C82F27CC}"/>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go to the bookstore.</a:t>
            </a:r>
          </a:p>
        </p:txBody>
      </p:sp>
      <p:sp>
        <p:nvSpPr>
          <p:cNvPr id="6" name="TextBox 5">
            <a:extLst>
              <a:ext uri="{FF2B5EF4-FFF2-40B4-BE49-F238E27FC236}">
                <a16:creationId xmlns:a16="http://schemas.microsoft.com/office/drawing/2014/main" id="{AE9D6EC5-BA7E-4E82-91AB-07129D8B7573}"/>
              </a:ext>
            </a:extLst>
          </p:cNvPr>
          <p:cNvSpPr txBox="1"/>
          <p:nvPr/>
        </p:nvSpPr>
        <p:spPr>
          <a:xfrm>
            <a:off x="795109"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Student misses class.</a:t>
            </a:r>
          </a:p>
        </p:txBody>
      </p:sp>
    </p:spTree>
    <p:custDataLst>
      <p:tags r:id="rId1"/>
    </p:custDataLst>
    <p:extLst>
      <p:ext uri="{BB962C8B-B14F-4D97-AF65-F5344CB8AC3E}">
        <p14:creationId xmlns:p14="http://schemas.microsoft.com/office/powerpoint/2010/main" val="1482488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1" y="1296168"/>
            <a:ext cx="10412618" cy="36877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cs typeface="Calibri"/>
              </a:rPr>
              <a:t>It seems everyone needs books today. The lines are terribly long at the bookstore. You glance at your smartwatch. Class starts in three minutes, the line is going to be at least 20 more minutes, and you have a 10 minute walk ahead of you. You are going to be late to class.</a:t>
            </a:r>
            <a:endParaRPr lang="en-US" dirty="0">
              <a:solidFill>
                <a:schemeClr val="tx2"/>
              </a:solidFill>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795113" y="5074"/>
            <a:ext cx="10412618" cy="505562"/>
          </a:xfrm>
        </p:spPr>
        <p:txBody>
          <a:bodyPr>
            <a:normAutofit fontScale="90000"/>
          </a:bodyPr>
          <a:lstStyle/>
          <a:p>
            <a:r>
              <a:rPr lang="en-US" dirty="0"/>
              <a:t>Story_Slide22</a:t>
            </a:r>
          </a:p>
        </p:txBody>
      </p:sp>
      <p:sp>
        <p:nvSpPr>
          <p:cNvPr id="15" name="Text Placeholder 1">
            <a:extLst>
              <a:ext uri="{FF2B5EF4-FFF2-40B4-BE49-F238E27FC236}">
                <a16:creationId xmlns:a16="http://schemas.microsoft.com/office/drawing/2014/main" id="{750BCC29-EC62-4272-8A3D-8EFBBE483FF4}"/>
              </a:ext>
            </a:extLst>
          </p:cNvPr>
          <p:cNvSpPr txBox="1">
            <a:spLocks/>
          </p:cNvSpPr>
          <p:nvPr/>
        </p:nvSpPr>
        <p:spPr>
          <a:xfrm>
            <a:off x="795113" y="2889144"/>
            <a:ext cx="10412618" cy="17961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4"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Box 4">
            <a:extLst>
              <a:ext uri="{FF2B5EF4-FFF2-40B4-BE49-F238E27FC236}">
                <a16:creationId xmlns:a16="http://schemas.microsoft.com/office/drawing/2014/main" id="{D09F7177-DD52-44F2-80D4-2BCB791DA7A5}"/>
              </a:ext>
            </a:extLst>
          </p:cNvPr>
          <p:cNvSpPr txBox="1"/>
          <p:nvPr/>
        </p:nvSpPr>
        <p:spPr>
          <a:xfrm>
            <a:off x="795111" y="75581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go to the bookstore.</a:t>
            </a:r>
          </a:p>
        </p:txBody>
      </p:sp>
      <p:sp>
        <p:nvSpPr>
          <p:cNvPr id="6" name="TextBox 5">
            <a:extLst>
              <a:ext uri="{FF2B5EF4-FFF2-40B4-BE49-F238E27FC236}">
                <a16:creationId xmlns:a16="http://schemas.microsoft.com/office/drawing/2014/main" id="{5DC4CC17-CDA7-42F3-BE7F-A97BB1238CC0}"/>
              </a:ext>
            </a:extLst>
          </p:cNvPr>
          <p:cNvSpPr txBox="1"/>
          <p:nvPr/>
        </p:nvSpPr>
        <p:spPr>
          <a:xfrm>
            <a:off x="795109" y="5868642"/>
            <a:ext cx="1041261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Student is late to class.</a:t>
            </a:r>
          </a:p>
        </p:txBody>
      </p:sp>
    </p:spTree>
    <p:custDataLst>
      <p:tags r:id="rId1"/>
    </p:custDataLst>
    <p:extLst>
      <p:ext uri="{BB962C8B-B14F-4D97-AF65-F5344CB8AC3E}">
        <p14:creationId xmlns:p14="http://schemas.microsoft.com/office/powerpoint/2010/main" val="2062092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795113" y="4074788"/>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23" name="Rectangle 22"/>
          <p:cNvSpPr/>
          <p:nvPr/>
        </p:nvSpPr>
        <p:spPr>
          <a:xfrm>
            <a:off x="835318" y="4958375"/>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
        <p:nvSpPr>
          <p:cNvPr id="2" name="Title 1"/>
          <p:cNvSpPr>
            <a:spLocks noGrp="1"/>
          </p:cNvSpPr>
          <p:nvPr>
            <p:ph type="title"/>
          </p:nvPr>
        </p:nvSpPr>
        <p:spPr>
          <a:xfrm>
            <a:off x="795113" y="0"/>
            <a:ext cx="10561569" cy="4023360"/>
          </a:xfrm>
        </p:spPr>
        <p:txBody>
          <a:bodyPr>
            <a:noAutofit/>
          </a:bodyPr>
          <a:lstStyle/>
          <a:p>
            <a:r>
              <a:rPr lang="en-US" sz="2800" b="1" dirty="0">
                <a:solidFill>
                  <a:schemeClr val="tx1"/>
                </a:solidFill>
              </a:rPr>
              <a:t>Things didn’t go as smoothly as you’d hoped today, and you slip into class a few minutes late. But at least you made it! No worries…tomorrow’s another day, and you’re learning a lot about some new technologies that can help you out going forward.</a:t>
            </a:r>
            <a:endParaRPr lang="en-US" sz="2800" dirty="0">
              <a:cs typeface="Calibri Light"/>
            </a:endParaRPr>
          </a:p>
        </p:txBody>
      </p:sp>
      <p:sp>
        <p:nvSpPr>
          <p:cNvPr id="10" name="Title 1">
            <a:extLst>
              <a:ext uri="{FF2B5EF4-FFF2-40B4-BE49-F238E27FC236}">
                <a16:creationId xmlns:a16="http://schemas.microsoft.com/office/drawing/2014/main" id="{7DF28EA0-CD7D-44E2-8DC4-1E263A526E90}"/>
              </a:ext>
            </a:extLst>
          </p:cNvPr>
          <p:cNvSpPr txBox="1">
            <a:spLocks/>
          </p:cNvSpPr>
          <p:nvPr/>
        </p:nvSpPr>
        <p:spPr>
          <a:xfrm>
            <a:off x="795113" y="5074"/>
            <a:ext cx="10412618" cy="505562"/>
          </a:xfrm>
          <a:prstGeom prst="rect">
            <a:avLst/>
          </a:prstGeom>
        </p:spPr>
        <p:txBody>
          <a:bodyPr vert="horz" lIns="121954" tIns="60977" rIns="121954" bIns="60977" rtlCol="0" anchor="ctr">
            <a:normAutofit fontScale="75000" lnSpcReduction="2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r>
              <a:rPr lang="en-US" dirty="0">
                <a:solidFill>
                  <a:schemeClr val="tx1"/>
                </a:solidFill>
              </a:rPr>
              <a:t>Outcome 1</a:t>
            </a:r>
          </a:p>
        </p:txBody>
      </p:sp>
    </p:spTree>
    <p:custDataLst>
      <p:tags r:id="rId1"/>
    </p:custDataLst>
    <p:extLst>
      <p:ext uri="{BB962C8B-B14F-4D97-AF65-F5344CB8AC3E}">
        <p14:creationId xmlns:p14="http://schemas.microsoft.com/office/powerpoint/2010/main" val="4112371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996696" y="3296037"/>
            <a:ext cx="9834016" cy="1136622"/>
          </a:xfrm>
          <a:prstGeom prst="rect">
            <a:avLst/>
          </a:prstGeom>
          <a:noFill/>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 </a:t>
            </a:r>
            <a:endParaRPr lang="en-US" sz="2050" dirty="0">
              <a:solidFill>
                <a:schemeClr val="tx1"/>
              </a:solidFill>
              <a:ea typeface="Calibri"/>
              <a:cs typeface="Calibri"/>
            </a:endParaRPr>
          </a:p>
        </p:txBody>
      </p:sp>
      <p:sp>
        <p:nvSpPr>
          <p:cNvPr id="23" name="Rectangle 22"/>
          <p:cNvSpPr/>
          <p:nvPr/>
        </p:nvSpPr>
        <p:spPr>
          <a:xfrm>
            <a:off x="996696" y="4432659"/>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accent1">
                    <a:lumMod val="75000"/>
                  </a:schemeClr>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accent1">
                    <a:lumMod val="75000"/>
                  </a:schemeClr>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accent1">
                  <a:lumMod val="75000"/>
                </a:schemeClr>
              </a:solidFill>
              <a:latin typeface="+mj-lt"/>
              <a:cs typeface="Titillium WebRegular"/>
            </a:endParaRPr>
          </a:p>
        </p:txBody>
      </p:sp>
      <p:sp>
        <p:nvSpPr>
          <p:cNvPr id="2" name="Title 1"/>
          <p:cNvSpPr>
            <a:spLocks noGrp="1"/>
          </p:cNvSpPr>
          <p:nvPr>
            <p:ph type="title"/>
          </p:nvPr>
        </p:nvSpPr>
        <p:spPr>
          <a:xfrm>
            <a:off x="996696" y="277109"/>
            <a:ext cx="9674653" cy="2834640"/>
          </a:xfrm>
        </p:spPr>
        <p:txBody>
          <a:bodyPr>
            <a:noAutofit/>
          </a:bodyPr>
          <a:lstStyle/>
          <a:p>
            <a:r>
              <a:rPr lang="en-US" sz="2800" b="1" dirty="0">
                <a:solidFill>
                  <a:schemeClr val="tx1"/>
                </a:solidFill>
              </a:rPr>
              <a:t>Today went great and you’re walking into class several minutes early! You pause for a minute to congratulate yourself on making your day easier by using so many new technologies. </a:t>
            </a:r>
          </a:p>
        </p:txBody>
      </p:sp>
      <p:sp>
        <p:nvSpPr>
          <p:cNvPr id="10" name="Title 1">
            <a:extLst>
              <a:ext uri="{FF2B5EF4-FFF2-40B4-BE49-F238E27FC236}">
                <a16:creationId xmlns:a16="http://schemas.microsoft.com/office/drawing/2014/main" id="{11AD8C42-37D3-4D21-8166-B56B47465D7D}"/>
              </a:ext>
            </a:extLst>
          </p:cNvPr>
          <p:cNvSpPr txBox="1">
            <a:spLocks/>
          </p:cNvSpPr>
          <p:nvPr/>
        </p:nvSpPr>
        <p:spPr>
          <a:xfrm>
            <a:off x="889691" y="58314"/>
            <a:ext cx="10412618" cy="505562"/>
          </a:xfrm>
          <a:prstGeom prst="rect">
            <a:avLst/>
          </a:prstGeom>
        </p:spPr>
        <p:txBody>
          <a:bodyPr vert="horz" lIns="121954" tIns="60977" rIns="121954" bIns="60977" rtlCol="0" anchor="ctr">
            <a:normAutofit fontScale="75000" lnSpcReduction="2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r>
              <a:rPr lang="en-US" dirty="0">
                <a:solidFill>
                  <a:schemeClr val="tx1"/>
                </a:solidFill>
              </a:rPr>
              <a:t>Outcome 2</a:t>
            </a:r>
          </a:p>
        </p:txBody>
      </p:sp>
    </p:spTree>
    <p:custDataLst>
      <p:tags r:id="rId1"/>
    </p:custDataLst>
    <p:extLst>
      <p:ext uri="{BB962C8B-B14F-4D97-AF65-F5344CB8AC3E}">
        <p14:creationId xmlns:p14="http://schemas.microsoft.com/office/powerpoint/2010/main" val="513619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889691" y="3907016"/>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23" name="Rectangle 22"/>
          <p:cNvSpPr/>
          <p:nvPr/>
        </p:nvSpPr>
        <p:spPr>
          <a:xfrm>
            <a:off x="889691" y="4790602"/>
            <a:ext cx="3254387" cy="50607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4" action="ppaction://hlinksldjump"/>
              </a:rPr>
              <a:t>Start</a:t>
            </a:r>
            <a:r>
              <a:rPr lang="en-US" sz="2050" dirty="0">
                <a:solidFill>
                  <a:schemeClr val="bg1"/>
                </a:solidFill>
                <a:latin typeface="+mj-lt"/>
                <a:cs typeface="Calibri Light"/>
                <a:hlinkClick r:id="rId4" action="ppaction://hlinksldjump"/>
              </a:rPr>
              <a:t> Again</a:t>
            </a:r>
            <a:endParaRPr lang="en-US" sz="2099" dirty="0">
              <a:solidFill>
                <a:schemeClr val="bg1"/>
              </a:solidFill>
              <a:latin typeface="+mj-lt"/>
              <a:cs typeface="Titillium WebRegular"/>
            </a:endParaRPr>
          </a:p>
        </p:txBody>
      </p:sp>
      <p:sp>
        <p:nvSpPr>
          <p:cNvPr id="2" name="Title 1"/>
          <p:cNvSpPr>
            <a:spLocks noGrp="1"/>
          </p:cNvSpPr>
          <p:nvPr>
            <p:ph type="title"/>
          </p:nvPr>
        </p:nvSpPr>
        <p:spPr>
          <a:xfrm>
            <a:off x="889691" y="160020"/>
            <a:ext cx="10263979" cy="4023360"/>
          </a:xfrm>
        </p:spPr>
        <p:txBody>
          <a:bodyPr>
            <a:noAutofit/>
          </a:bodyPr>
          <a:lstStyle/>
          <a:p>
            <a:r>
              <a:rPr lang="en-US" sz="2800" b="1" dirty="0">
                <a:solidFill>
                  <a:schemeClr val="tx1"/>
                </a:solidFill>
              </a:rPr>
              <a:t>That plan didn’t work out so well. Now you’re going to miss class! </a:t>
            </a:r>
            <a:endParaRPr lang="en-US" sz="2800" dirty="0">
              <a:cs typeface="Calibri Light"/>
            </a:endParaRPr>
          </a:p>
        </p:txBody>
      </p:sp>
      <p:sp>
        <p:nvSpPr>
          <p:cNvPr id="10" name="Title 1">
            <a:extLst>
              <a:ext uri="{FF2B5EF4-FFF2-40B4-BE49-F238E27FC236}">
                <a16:creationId xmlns:a16="http://schemas.microsoft.com/office/drawing/2014/main" id="{D0A265EF-DC32-4982-9D5D-845972E33698}"/>
              </a:ext>
            </a:extLst>
          </p:cNvPr>
          <p:cNvSpPr txBox="1">
            <a:spLocks/>
          </p:cNvSpPr>
          <p:nvPr/>
        </p:nvSpPr>
        <p:spPr>
          <a:xfrm>
            <a:off x="889691" y="160020"/>
            <a:ext cx="10412618" cy="505562"/>
          </a:xfrm>
          <a:prstGeom prst="rect">
            <a:avLst/>
          </a:prstGeom>
        </p:spPr>
        <p:txBody>
          <a:bodyPr vert="horz" lIns="121954" tIns="60977" rIns="121954" bIns="60977" rtlCol="0" anchor="ctr">
            <a:normAutofit fontScale="75000" lnSpcReduction="2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r>
              <a:rPr lang="en-US" dirty="0">
                <a:solidFill>
                  <a:schemeClr val="tx1"/>
                </a:solidFill>
              </a:rPr>
              <a:t>Outcome 3</a:t>
            </a:r>
          </a:p>
        </p:txBody>
      </p:sp>
    </p:spTree>
    <p:custDataLst>
      <p:tags r:id="rId1"/>
    </p:custDataLst>
    <p:extLst>
      <p:ext uri="{BB962C8B-B14F-4D97-AF65-F5344CB8AC3E}">
        <p14:creationId xmlns:p14="http://schemas.microsoft.com/office/powerpoint/2010/main" val="1729003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3.xml><?xml version="1.0" encoding="utf-8"?>
<Control xmlns="http://schemas.microsoft.com/VisualStudio/2011/storyboarding/control">
  <Id Name="1fd42469-89aa-4a08-b532-3332bc5f5ec1" Revision="1" Stencil="System.MyShapes" StencilVersion="1.0"/>
</Control>
</file>

<file path=customXml/item4.xml><?xml version="1.0" encoding="utf-8"?>
<Control xmlns="http://schemas.microsoft.com/VisualStudio/2011/storyboarding/control">
  <Id Name="1fd42469-89aa-4a08-b532-3332bc5f5ec1" Revision="1" Stencil="System.MyShapes" StencilVersion="1.0"/>
</Control>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287BCAA-294E-47BB-9502-4D29E1D6BED1}"/>
</file>

<file path=customXml/itemProps2.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4.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customXml/itemProps5.xml><?xml version="1.0" encoding="utf-8"?>
<ds:datastoreItem xmlns:ds="http://schemas.openxmlformats.org/officeDocument/2006/customXml" ds:itemID="{AD92EAD0-DA55-4F7D-BD93-5513A29DFF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TM03090430[[fn=Banded]]</Template>
  <TotalTime>3812</TotalTime>
  <Words>2990</Words>
  <Application>Microsoft Office PowerPoint</Application>
  <PresentationFormat>Widescreen</PresentationFormat>
  <Paragraphs>328</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Titillium Web</vt:lpstr>
      <vt:lpstr>Wingdings</vt:lpstr>
      <vt:lpstr>Office Theme</vt:lpstr>
      <vt:lpstr>Use Technology in Daily Life</vt:lpstr>
      <vt:lpstr>Use Technology in Daily Life</vt:lpstr>
      <vt:lpstr>Introduction</vt:lpstr>
      <vt:lpstr>Level1_Decision1</vt:lpstr>
      <vt:lpstr>Level2_Decision1</vt:lpstr>
      <vt:lpstr>Level2_Decision2</vt:lpstr>
      <vt:lpstr>Level3_Decision1</vt:lpstr>
      <vt:lpstr>Level3_Decision2</vt:lpstr>
      <vt:lpstr>Level4_Decision1</vt:lpstr>
      <vt:lpstr>Level4_Decision2</vt:lpstr>
      <vt:lpstr>Level4_Decision3</vt:lpstr>
      <vt:lpstr>Level5_Decision1</vt:lpstr>
      <vt:lpstr>Story_Slide14</vt:lpstr>
      <vt:lpstr>Level6_Decision1</vt:lpstr>
      <vt:lpstr>Level6_Decision2</vt:lpstr>
      <vt:lpstr>Story_Slide17</vt:lpstr>
      <vt:lpstr>Story_Slide18</vt:lpstr>
      <vt:lpstr>Level7_Decision1</vt:lpstr>
      <vt:lpstr>Level7_Decision2</vt:lpstr>
      <vt:lpstr>Story_Slide21</vt:lpstr>
      <vt:lpstr>Story_Slide22</vt:lpstr>
      <vt:lpstr>Things didn’t go as smoothly as you’d hoped today, and you slip into class a few minutes late. But at least you made it! No worries…tomorrow’s another day, and you’re learning a lot about some new technologies that can help you out going forward.</vt:lpstr>
      <vt:lpstr>Today went great and you’re walking into class several minutes early! You pause for a minute to congratulate yourself on making your day easier by using so many new technologies. </vt:lpstr>
      <vt:lpstr>That plan didn’t work out so well. Now you’re going to miss class!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Molnar, Zenya</cp:lastModifiedBy>
  <cp:revision>2074</cp:revision>
  <dcterms:created xsi:type="dcterms:W3CDTF">2018-06-14T17:50:20Z</dcterms:created>
  <dcterms:modified xsi:type="dcterms:W3CDTF">2020-03-03T20:44:37Z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