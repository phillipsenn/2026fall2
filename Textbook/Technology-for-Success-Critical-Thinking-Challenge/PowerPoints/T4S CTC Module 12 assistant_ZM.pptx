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Lst>
  <p:notesMasterIdLst>
    <p:notesMasterId r:id="rId29"/>
  </p:notesMasterIdLst>
  <p:sldIdLst>
    <p:sldId id="258" r:id="rId6"/>
    <p:sldId id="412" r:id="rId7"/>
    <p:sldId id="295" r:id="rId8"/>
    <p:sldId id="407" r:id="rId9"/>
    <p:sldId id="413" r:id="rId10"/>
    <p:sldId id="422" r:id="rId11"/>
    <p:sldId id="417" r:id="rId12"/>
    <p:sldId id="423" r:id="rId13"/>
    <p:sldId id="418" r:id="rId14"/>
    <p:sldId id="424" r:id="rId15"/>
    <p:sldId id="419" r:id="rId16"/>
    <p:sldId id="425" r:id="rId17"/>
    <p:sldId id="420" r:id="rId18"/>
    <p:sldId id="426" r:id="rId19"/>
    <p:sldId id="411" r:id="rId20"/>
    <p:sldId id="414" r:id="rId21"/>
    <p:sldId id="421" r:id="rId22"/>
    <p:sldId id="427" r:id="rId23"/>
    <p:sldId id="415" r:id="rId24"/>
    <p:sldId id="416" r:id="rId25"/>
    <p:sldId id="408" r:id="rId26"/>
    <p:sldId id="410" r:id="rId27"/>
    <p:sldId id="40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lnar, Zenya" initials="MZ" lastIdx="8" clrIdx="0">
    <p:extLst>
      <p:ext uri="{19B8F6BF-5375-455C-9EA6-DF929625EA0E}">
        <p15:presenceInfo xmlns:p15="http://schemas.microsoft.com/office/powerpoint/2012/main" userId="S::zenya.molnar@cengage.com::d17daa46-33bc-45d8-ab7d-8dd45e08dac2" providerId="AD"/>
      </p:ext>
    </p:extLst>
  </p:cmAuthor>
  <p:cmAuthor id="2" name="Jennifer Campbell" initials="JC" lastIdx="7" clrIdx="1">
    <p:extLst>
      <p:ext uri="{19B8F6BF-5375-455C-9EA6-DF929625EA0E}">
        <p15:presenceInfo xmlns:p15="http://schemas.microsoft.com/office/powerpoint/2012/main" userId="9252b8fd17e1143e" providerId="Windows Live"/>
      </p:ext>
    </p:extLst>
  </p:cmAuthor>
  <p:cmAuthor id="3" name="Staci Eckenroth" initials="SE" lastIdx="19" clrIdx="2">
    <p:extLst>
      <p:ext uri="{19B8F6BF-5375-455C-9EA6-DF929625EA0E}">
        <p15:presenceInfo xmlns:p15="http://schemas.microsoft.com/office/powerpoint/2012/main" userId="Staci Eckenroth" providerId="None"/>
      </p:ext>
    </p:extLst>
  </p:cmAuthor>
  <p:cmAuthor id="4" name="Jill West" initials="JW" lastIdx="5" clrIdx="3">
    <p:extLst>
      <p:ext uri="{19B8F6BF-5375-455C-9EA6-DF929625EA0E}">
        <p15:presenceInfo xmlns:p15="http://schemas.microsoft.com/office/powerpoint/2012/main" userId="Jill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01" autoAdjust="0"/>
  </p:normalViewPr>
  <p:slideViewPr>
    <p:cSldViewPr snapToGrid="0">
      <p:cViewPr varScale="1">
        <p:scale>
          <a:sx n="67" d="100"/>
          <a:sy n="67" d="100"/>
        </p:scale>
        <p:origin x="644" y="5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commentAuthors" Target="commentAuthor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lnar, Zenya" userId="d17daa46-33bc-45d8-ab7d-8dd45e08dac2" providerId="ADAL" clId="{C3ED1B8C-C8E1-4174-9C5F-3D620190B29A}"/>
    <pc:docChg chg="modSld">
      <pc:chgData name="Molnar, Zenya" userId="d17daa46-33bc-45d8-ab7d-8dd45e08dac2" providerId="ADAL" clId="{C3ED1B8C-C8E1-4174-9C5F-3D620190B29A}" dt="2020-04-03T18:51:18.692" v="3" actId="20577"/>
      <pc:docMkLst>
        <pc:docMk/>
      </pc:docMkLst>
      <pc:sldChg chg="modSp mod">
        <pc:chgData name="Molnar, Zenya" userId="d17daa46-33bc-45d8-ab7d-8dd45e08dac2" providerId="ADAL" clId="{C3ED1B8C-C8E1-4174-9C5F-3D620190B29A}" dt="2020-04-03T18:51:18.692" v="3" actId="20577"/>
        <pc:sldMkLst>
          <pc:docMk/>
          <pc:sldMk cId="1092450872" sldId="427"/>
        </pc:sldMkLst>
        <pc:spChg chg="mod">
          <ac:chgData name="Molnar, Zenya" userId="d17daa46-33bc-45d8-ab7d-8dd45e08dac2" providerId="ADAL" clId="{C3ED1B8C-C8E1-4174-9C5F-3D620190B29A}" dt="2020-04-03T18:51:18.692" v="3" actId="20577"/>
          <ac:spMkLst>
            <pc:docMk/>
            <pc:sldMk cId="1092450872" sldId="427"/>
            <ac:spMk id="10" creationId="{DFAD88B6-480D-46FC-BBE5-4AC11F5CD56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0D4A7-5E7A-4EF8-8C3E-D1B8787C7FFB}" type="datetimeFigureOut">
              <a:rPr lang="en-US" smtClean="0"/>
              <a:t>4/3/2020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CE3938-DD3A-4863-81AB-A7C0309FA74D}" type="slidenum">
              <a:rPr lang="en-US" smtClean="0"/>
              <a:t>‹#›</a:t>
            </a:fld>
            <a:endParaRPr lang="en-US" dirty="0"/>
          </a:p>
        </p:txBody>
      </p:sp>
    </p:spTree>
    <p:extLst>
      <p:ext uri="{BB962C8B-B14F-4D97-AF65-F5344CB8AC3E}">
        <p14:creationId xmlns:p14="http://schemas.microsoft.com/office/powerpoint/2010/main" val="219935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a:t>
            </a:fld>
            <a:endParaRPr lang="en-US" dirty="0"/>
          </a:p>
        </p:txBody>
      </p:sp>
    </p:spTree>
    <p:extLst>
      <p:ext uri="{BB962C8B-B14F-4D97-AF65-F5344CB8AC3E}">
        <p14:creationId xmlns:p14="http://schemas.microsoft.com/office/powerpoint/2010/main" val="2510088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AA3592-D5F1-C049-A75C-8C2FAAE2A5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452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4</a:t>
            </a:fld>
            <a:endParaRPr lang="en-US" dirty="0"/>
          </a:p>
        </p:txBody>
      </p:sp>
    </p:spTree>
    <p:extLst>
      <p:ext uri="{BB962C8B-B14F-4D97-AF65-F5344CB8AC3E}">
        <p14:creationId xmlns:p14="http://schemas.microsoft.com/office/powerpoint/2010/main" val="1225592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5</a:t>
            </a:fld>
            <a:endParaRPr lang="en-US" dirty="0"/>
          </a:p>
        </p:txBody>
      </p:sp>
    </p:spTree>
    <p:extLst>
      <p:ext uri="{BB962C8B-B14F-4D97-AF65-F5344CB8AC3E}">
        <p14:creationId xmlns:p14="http://schemas.microsoft.com/office/powerpoint/2010/main" val="4057936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6</a:t>
            </a:fld>
            <a:endParaRPr lang="en-US" dirty="0"/>
          </a:p>
        </p:txBody>
      </p:sp>
    </p:spTree>
    <p:extLst>
      <p:ext uri="{BB962C8B-B14F-4D97-AF65-F5344CB8AC3E}">
        <p14:creationId xmlns:p14="http://schemas.microsoft.com/office/powerpoint/2010/main" val="1399464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7</a:t>
            </a:fld>
            <a:endParaRPr lang="en-US" dirty="0"/>
          </a:p>
        </p:txBody>
      </p:sp>
    </p:spTree>
    <p:extLst>
      <p:ext uri="{BB962C8B-B14F-4D97-AF65-F5344CB8AC3E}">
        <p14:creationId xmlns:p14="http://schemas.microsoft.com/office/powerpoint/2010/main" val="2892411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8</a:t>
            </a:fld>
            <a:endParaRPr lang="en-US" dirty="0"/>
          </a:p>
        </p:txBody>
      </p:sp>
    </p:spTree>
    <p:extLst>
      <p:ext uri="{BB962C8B-B14F-4D97-AF65-F5344CB8AC3E}">
        <p14:creationId xmlns:p14="http://schemas.microsoft.com/office/powerpoint/2010/main" val="2090473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9</a:t>
            </a:fld>
            <a:endParaRPr lang="en-US" dirty="0"/>
          </a:p>
        </p:txBody>
      </p:sp>
    </p:spTree>
    <p:extLst>
      <p:ext uri="{BB962C8B-B14F-4D97-AF65-F5344CB8AC3E}">
        <p14:creationId xmlns:p14="http://schemas.microsoft.com/office/powerpoint/2010/main" val="1556338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10</a:t>
            </a:fld>
            <a:endParaRPr lang="en-US" dirty="0"/>
          </a:p>
        </p:txBody>
      </p:sp>
    </p:spTree>
    <p:extLst>
      <p:ext uri="{BB962C8B-B14F-4D97-AF65-F5344CB8AC3E}">
        <p14:creationId xmlns:p14="http://schemas.microsoft.com/office/powerpoint/2010/main" val="722015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11</a:t>
            </a:fld>
            <a:endParaRPr lang="en-US" dirty="0"/>
          </a:p>
        </p:txBody>
      </p:sp>
    </p:spTree>
    <p:extLst>
      <p:ext uri="{BB962C8B-B14F-4D97-AF65-F5344CB8AC3E}">
        <p14:creationId xmlns:p14="http://schemas.microsoft.com/office/powerpoint/2010/main" val="248926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12</a:t>
            </a:fld>
            <a:endParaRPr lang="en-US" dirty="0"/>
          </a:p>
        </p:txBody>
      </p:sp>
    </p:spTree>
    <p:extLst>
      <p:ext uri="{BB962C8B-B14F-4D97-AF65-F5344CB8AC3E}">
        <p14:creationId xmlns:p14="http://schemas.microsoft.com/office/powerpoint/2010/main" val="181250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13</a:t>
            </a:fld>
            <a:endParaRPr lang="en-US" dirty="0"/>
          </a:p>
        </p:txBody>
      </p:sp>
    </p:spTree>
    <p:extLst>
      <p:ext uri="{BB962C8B-B14F-4D97-AF65-F5344CB8AC3E}">
        <p14:creationId xmlns:p14="http://schemas.microsoft.com/office/powerpoint/2010/main" val="4068495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14</a:t>
            </a:fld>
            <a:endParaRPr lang="en-US" dirty="0"/>
          </a:p>
        </p:txBody>
      </p:sp>
    </p:spTree>
    <p:extLst>
      <p:ext uri="{BB962C8B-B14F-4D97-AF65-F5344CB8AC3E}">
        <p14:creationId xmlns:p14="http://schemas.microsoft.com/office/powerpoint/2010/main" val="3724831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15</a:t>
            </a:fld>
            <a:endParaRPr lang="en-US" dirty="0"/>
          </a:p>
        </p:txBody>
      </p:sp>
    </p:spTree>
    <p:extLst>
      <p:ext uri="{BB962C8B-B14F-4D97-AF65-F5344CB8AC3E}">
        <p14:creationId xmlns:p14="http://schemas.microsoft.com/office/powerpoint/2010/main" val="2247266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16</a:t>
            </a:fld>
            <a:endParaRPr lang="en-US" dirty="0"/>
          </a:p>
        </p:txBody>
      </p:sp>
    </p:spTree>
    <p:extLst>
      <p:ext uri="{BB962C8B-B14F-4D97-AF65-F5344CB8AC3E}">
        <p14:creationId xmlns:p14="http://schemas.microsoft.com/office/powerpoint/2010/main" val="501828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17</a:t>
            </a:fld>
            <a:endParaRPr lang="en-US" dirty="0"/>
          </a:p>
        </p:txBody>
      </p:sp>
    </p:spTree>
    <p:extLst>
      <p:ext uri="{BB962C8B-B14F-4D97-AF65-F5344CB8AC3E}">
        <p14:creationId xmlns:p14="http://schemas.microsoft.com/office/powerpoint/2010/main" val="2396485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18</a:t>
            </a:fld>
            <a:endParaRPr lang="en-US" dirty="0"/>
          </a:p>
        </p:txBody>
      </p:sp>
    </p:spTree>
    <p:extLst>
      <p:ext uri="{BB962C8B-B14F-4D97-AF65-F5344CB8AC3E}">
        <p14:creationId xmlns:p14="http://schemas.microsoft.com/office/powerpoint/2010/main" val="397466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19</a:t>
            </a:fld>
            <a:endParaRPr lang="en-US" dirty="0"/>
          </a:p>
        </p:txBody>
      </p:sp>
    </p:spTree>
    <p:extLst>
      <p:ext uri="{BB962C8B-B14F-4D97-AF65-F5344CB8AC3E}">
        <p14:creationId xmlns:p14="http://schemas.microsoft.com/office/powerpoint/2010/main" val="1921955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20</a:t>
            </a:fld>
            <a:endParaRPr lang="en-US" dirty="0"/>
          </a:p>
        </p:txBody>
      </p:sp>
    </p:spTree>
    <p:extLst>
      <p:ext uri="{BB962C8B-B14F-4D97-AF65-F5344CB8AC3E}">
        <p14:creationId xmlns:p14="http://schemas.microsoft.com/office/powerpoint/2010/main" val="3405179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21</a:t>
            </a:fld>
            <a:endParaRPr lang="en-US" dirty="0"/>
          </a:p>
        </p:txBody>
      </p:sp>
    </p:spTree>
    <p:extLst>
      <p:ext uri="{BB962C8B-B14F-4D97-AF65-F5344CB8AC3E}">
        <p14:creationId xmlns:p14="http://schemas.microsoft.com/office/powerpoint/2010/main" val="2645055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22</a:t>
            </a:fld>
            <a:endParaRPr lang="en-US" dirty="0"/>
          </a:p>
        </p:txBody>
      </p:sp>
    </p:spTree>
    <p:extLst>
      <p:ext uri="{BB962C8B-B14F-4D97-AF65-F5344CB8AC3E}">
        <p14:creationId xmlns:p14="http://schemas.microsoft.com/office/powerpoint/2010/main" val="3130968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23</a:t>
            </a:fld>
            <a:endParaRPr lang="en-US" dirty="0"/>
          </a:p>
        </p:txBody>
      </p:sp>
    </p:spTree>
    <p:extLst>
      <p:ext uri="{BB962C8B-B14F-4D97-AF65-F5344CB8AC3E}">
        <p14:creationId xmlns:p14="http://schemas.microsoft.com/office/powerpoint/2010/main" val="328934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B8DA-0067-4214-8A76-C8E85458A7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C85892-68C3-4CBB-ACE7-69D270906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BA571E-CF7C-4B8F-9787-7AFD5574B22A}"/>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67DDA9B6-D43C-438E-BAAF-C83DD83A57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B6BE8D-A929-44D4-875E-CA462CD56BF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44439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7762-6575-4E6F-94EB-5877C04A9D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F5704-3C06-4A5C-B16E-AA7332BC57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D194A3-9815-4F78-BFC5-C083B9F8E590}"/>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000D5DDF-4AB3-46C7-A537-1E22C22BCD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D086FB-9CED-4484-A751-A4DF609790C6}"/>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82135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7DEC-2DE4-4675-8617-650B031EA7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3E3DCD-E993-46D4-9CAE-E8B6162252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7E64943-F8C9-4A59-891D-B045C08BB0B0}"/>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CED39CEA-6078-4613-A599-75816B0BD6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C3FE69F-B267-46DD-8DC9-ED9311B203D1}"/>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96314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C3C1-E78A-4501-A725-5C6B038D0F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D8749-1933-4561-B696-D8971677274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F61EB1-EACA-4AE3-902B-87B3F8F04E0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3A58CC-0024-49C4-AEA7-44924DFA4B15}"/>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6" name="Footer Placeholder 5">
            <a:extLst>
              <a:ext uri="{FF2B5EF4-FFF2-40B4-BE49-F238E27FC236}">
                <a16:creationId xmlns:a16="http://schemas.microsoft.com/office/drawing/2014/main" id="{7D8A98F4-3A65-4E61-81BD-7750345EAF4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5413B7B-F059-4E7F-9B0C-2BDC0B024128}"/>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418846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ADD9C-E0CE-40D4-88D2-F451A6CA2D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B8A3BD-8898-44CE-8F6C-B7314C6D1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94D919-6B6B-47E5-B36A-873F6865D4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6A7586-F4B7-450C-81E1-FAA3E46B26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3EC58CE-BC7D-4C20-A075-0728E81A26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05AADA-15CE-4C70-A1A9-CBB18307E8E8}"/>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8" name="Footer Placeholder 7">
            <a:extLst>
              <a:ext uri="{FF2B5EF4-FFF2-40B4-BE49-F238E27FC236}">
                <a16:creationId xmlns:a16="http://schemas.microsoft.com/office/drawing/2014/main" id="{E6AEFFC6-47B9-4F2D-A8B6-DBE9C7E592C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866B6B4-1CF3-4A98-95F2-D1C72A1D435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72456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9DD9-3A0B-4E8D-A1A1-4CEEADEC12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55650D-1492-4E38-9BD8-F54D598A021C}"/>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4" name="Footer Placeholder 3">
            <a:extLst>
              <a:ext uri="{FF2B5EF4-FFF2-40B4-BE49-F238E27FC236}">
                <a16:creationId xmlns:a16="http://schemas.microsoft.com/office/drawing/2014/main" id="{DC4216C7-35AF-4547-A128-33548351B1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8910308-078F-4EC2-B0E4-08034D12FDCA}"/>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99582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FF7612-B810-40A0-B69C-BB9478BA3EFF}"/>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3" name="Footer Placeholder 2">
            <a:extLst>
              <a:ext uri="{FF2B5EF4-FFF2-40B4-BE49-F238E27FC236}">
                <a16:creationId xmlns:a16="http://schemas.microsoft.com/office/drawing/2014/main" id="{0C19D18E-B9A4-4484-B444-F49F2B07EE1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4DD3A5D-A55E-4DB2-BBB8-4997700A65FB}"/>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179495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400-6E6D-4710-A674-1A26054B1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F013B8-8995-41F1-8CA0-7CBD6776C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9E9D55-3CBD-41F6-B4AF-ADE9A66DA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B43C7E3-4C12-4668-B214-AA95BF8EED5E}"/>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6" name="Footer Placeholder 5">
            <a:extLst>
              <a:ext uri="{FF2B5EF4-FFF2-40B4-BE49-F238E27FC236}">
                <a16:creationId xmlns:a16="http://schemas.microsoft.com/office/drawing/2014/main" id="{372DC0BF-084D-438A-A6BF-2D87C2E07C1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3B04C70-C4A3-4A6E-BA7D-9A24B573BFF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85886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829F-BC17-4462-8FEB-C026A4486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628BBC-129A-4A64-B808-748780B79D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330E7A6-0BC0-419D-83C4-8E736B60A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DA9284-23CF-45C8-AAC8-81F3927A220D}"/>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6" name="Footer Placeholder 5">
            <a:extLst>
              <a:ext uri="{FF2B5EF4-FFF2-40B4-BE49-F238E27FC236}">
                <a16:creationId xmlns:a16="http://schemas.microsoft.com/office/drawing/2014/main" id="{EC251A9B-48D3-4D0E-9A3B-41A27C99A30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C20A9A-35BF-45E3-BAF4-BDD0AD3959AE}"/>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608327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F2D4-C767-4BCC-8274-5DF97AFC67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692D6-3175-473F-BF97-FC43859AC0E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CA825-EDF4-46D6-B982-B44C0FDBD36C}"/>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462C027B-0833-4741-8E25-8C12DC454A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310D7A-6D20-444F-8634-78808129DCF3}"/>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17159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1763D5-4921-4BE9-923B-C4FC18356E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4FAB31-265A-4C74-912E-6D31BC85EE4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0E0C6-D65C-4FF7-8A1B-41A66A0606C6}"/>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AC5F3AF1-7DFB-41FD-8877-5A8B60E87C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0435E4A-1829-4C94-B818-136FE3E96059}"/>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514082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3936646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865675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959471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797961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235958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507384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338844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5778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134461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2675175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106441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060122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352518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30369629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2701631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41713496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Top">
    <p:spTree>
      <p:nvGrpSpPr>
        <p:cNvPr id="1" name=""/>
        <p:cNvGrpSpPr/>
        <p:nvPr/>
      </p:nvGrpSpPr>
      <p:grpSpPr>
        <a:xfrm>
          <a:off x="0" y="0"/>
          <a:ext cx="0" cy="0"/>
          <a:chOff x="0" y="0"/>
          <a:chExt cx="0" cy="0"/>
        </a:xfrm>
      </p:grpSpPr>
      <p:sp>
        <p:nvSpPr>
          <p:cNvPr id="5"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6" name="Text Placeholder 4"/>
          <p:cNvSpPr>
            <a:spLocks noGrp="1"/>
          </p:cNvSpPr>
          <p:nvPr>
            <p:ph type="body" sz="quarter" idx="10" hasCustomPrompt="1"/>
          </p:nvPr>
        </p:nvSpPr>
        <p:spPr>
          <a:xfrm>
            <a:off x="792483" y="447919"/>
            <a:ext cx="10411884" cy="349251"/>
          </a:xfrm>
        </p:spPr>
        <p:txBody>
          <a:bodyPr lIns="134149" anchor="ctr">
            <a:noAutofit/>
          </a:bodyPr>
          <a:lstStyle>
            <a:lvl1pPr marL="0" indent="0">
              <a:buFontTx/>
              <a:buNone/>
              <a:defRPr sz="2099" kern="100" spc="0" baseline="0">
                <a:solidFill>
                  <a:schemeClr val="accent1">
                    <a:lumMod val="75000"/>
                  </a:schemeClr>
                </a:solidFill>
                <a:latin typeface="+mj-lt"/>
              </a:defRPr>
            </a:lvl1pPr>
            <a:lvl2pPr marL="609463" indent="0">
              <a:buFontTx/>
              <a:buNone/>
              <a:defRPr/>
            </a:lvl2pPr>
            <a:lvl3pPr marL="1218925" indent="0">
              <a:buFontTx/>
              <a:buNone/>
              <a:defRPr/>
            </a:lvl3pPr>
            <a:lvl4pPr marL="1828388" indent="0">
              <a:buFontTx/>
              <a:buNone/>
              <a:defRPr/>
            </a:lvl4pPr>
            <a:lvl5pPr marL="2437851" indent="0">
              <a:buFontTx/>
              <a:buNone/>
              <a:defRPr/>
            </a:lvl5pPr>
          </a:lstStyle>
          <a:p>
            <a:pPr lvl="0"/>
            <a:r>
              <a:rPr lang="en-JM" dirty="0"/>
              <a:t>Click to add text</a:t>
            </a:r>
          </a:p>
        </p:txBody>
      </p:sp>
    </p:spTree>
    <p:custDataLst>
      <p:tags r:id="rId1"/>
    </p:custDataLst>
    <p:extLst>
      <p:ext uri="{BB962C8B-B14F-4D97-AF65-F5344CB8AC3E}">
        <p14:creationId xmlns:p14="http://schemas.microsoft.com/office/powerpoint/2010/main" val="2717567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5DA4A-63ED-4520-8FB8-2F27800C20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66DC2A-6507-4DEC-8403-DC16A25A0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7EEE8-E68E-4D97-BC39-CF5F9FF43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1AB59C45-A2C2-4C51-BD9F-A37DF95B0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3D96C03-4524-4484-80D1-7E49E51C2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CE250-622A-4A81-8ABB-8F0DCB3D860B}" type="slidenum">
              <a:rPr lang="en-US" smtClean="0"/>
              <a:t>‹#›</a:t>
            </a:fld>
            <a:endParaRPr lang="en-US" dirty="0"/>
          </a:p>
        </p:txBody>
      </p:sp>
    </p:spTree>
    <p:extLst>
      <p:ext uri="{BB962C8B-B14F-4D97-AF65-F5344CB8AC3E}">
        <p14:creationId xmlns:p14="http://schemas.microsoft.com/office/powerpoint/2010/main" val="951127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4/3/2020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dirty="0"/>
          </a:p>
        </p:txBody>
      </p:sp>
    </p:spTree>
    <p:extLst>
      <p:ext uri="{BB962C8B-B14F-4D97-AF65-F5344CB8AC3E}">
        <p14:creationId xmlns:p14="http://schemas.microsoft.com/office/powerpoint/2010/main" val="142289428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svg"/><Relationship Id="rId2" Type="http://schemas.openxmlformats.org/officeDocument/2006/relationships/slideLayout" Target="../slideLayouts/slideLayout25.xml"/><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tags" Target="../tags/tag8.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slide" Target="slide12.xml"/></Relationships>
</file>

<file path=ppt/slides/_rels/slide10.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1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1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1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slide" Target="slide18.xml"/></Relationships>
</file>

<file path=ppt/slides/_rels/slide1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p:cNvSpPr txBox="1">
            <a:spLocks/>
          </p:cNvSpPr>
          <p:nvPr/>
        </p:nvSpPr>
        <p:spPr>
          <a:xfrm>
            <a:off x="1571987" y="2097243"/>
            <a:ext cx="3160713" cy="460375"/>
          </a:xfrm>
          <a:prstGeom prst="rect">
            <a:avLst/>
          </a:prstGeom>
        </p:spPr>
        <p:txBody>
          <a:bodyPr vert="horz" lIns="121954" tIns="60977" rIns="121954" bIns="60977" rtlCol="0">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Font typeface="Arial"/>
              <a:buNone/>
            </a:pPr>
            <a:r>
              <a:rPr lang="en-US" sz="2099" dirty="0">
                <a:solidFill>
                  <a:schemeClr val="bg1"/>
                </a:solidFill>
                <a:latin typeface="+mj-lt"/>
                <a:cs typeface="Titillium WebSemiBold"/>
              </a:rPr>
              <a:t>Hardware Concepts</a:t>
            </a:r>
          </a:p>
        </p:txBody>
      </p:sp>
      <p:sp>
        <p:nvSpPr>
          <p:cNvPr id="10" name="Rectangle 9"/>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8" name="Rectangle 7">
            <a:extLst>
              <a:ext uri="{FF2B5EF4-FFF2-40B4-BE49-F238E27FC236}">
                <a16:creationId xmlns:a16="http://schemas.microsoft.com/office/drawing/2014/main" id="{21676021-D745-4ED1-B363-7F2F1B112008}"/>
              </a:ext>
            </a:extLst>
          </p:cNvPr>
          <p:cNvSpPr/>
          <p:nvPr/>
        </p:nvSpPr>
        <p:spPr>
          <a:xfrm>
            <a:off x="104343" y="956492"/>
            <a:ext cx="6096000" cy="646331"/>
          </a:xfrm>
          <a:prstGeom prst="rect">
            <a:avLst/>
          </a:prstGeom>
        </p:spPr>
        <p:txBody>
          <a:bodyPr>
            <a:spAutoFit/>
          </a:bodyPr>
          <a:lstStyle/>
          <a:p>
            <a:r>
              <a:rPr lang="en-US" dirty="0">
                <a:solidFill>
                  <a:schemeClr val="bg1"/>
                </a:solidFill>
                <a:ea typeface="Calibri"/>
                <a:cs typeface="Calibri"/>
              </a:rPr>
              <a:t>Click the audio icon to narrate the contents of any screen.</a:t>
            </a:r>
            <a:endParaRPr lang="en-JM" dirty="0">
              <a:solidFill>
                <a:schemeClr val="bg1"/>
              </a:solidFill>
              <a:ea typeface="Calibri"/>
              <a:cs typeface="Calibri"/>
            </a:endParaRPr>
          </a:p>
          <a:p>
            <a:endParaRPr lang="en-US" dirty="0">
              <a:solidFill>
                <a:schemeClr val="tx2"/>
              </a:solidFill>
              <a:cs typeface="Calibri"/>
            </a:endParaRPr>
          </a:p>
        </p:txBody>
      </p:sp>
      <p:pic>
        <p:nvPicPr>
          <p:cNvPr id="14" name="Graphic 13" descr="Line Arrow: Counterclockwise curve">
            <a:extLst>
              <a:ext uri="{FF2B5EF4-FFF2-40B4-BE49-F238E27FC236}">
                <a16:creationId xmlns:a16="http://schemas.microsoft.com/office/drawing/2014/main" id="{9F167046-C41B-485D-89B4-7CEEBA04A2F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940850" flipH="1" flipV="1">
            <a:off x="19856" y="1390556"/>
            <a:ext cx="661798" cy="661798"/>
          </a:xfrm>
          <a:prstGeom prst="rect">
            <a:avLst/>
          </a:prstGeom>
        </p:spPr>
      </p:pic>
      <p:sp>
        <p:nvSpPr>
          <p:cNvPr id="16" name="Text Placeholder 1">
            <a:extLst>
              <a:ext uri="{FF2B5EF4-FFF2-40B4-BE49-F238E27FC236}">
                <a16:creationId xmlns:a16="http://schemas.microsoft.com/office/drawing/2014/main" id="{56D014FF-8A21-4898-9927-6B8A070A90FD}"/>
              </a:ext>
            </a:extLst>
          </p:cNvPr>
          <p:cNvSpPr txBox="1">
            <a:spLocks/>
          </p:cNvSpPr>
          <p:nvPr/>
        </p:nvSpPr>
        <p:spPr>
          <a:xfrm>
            <a:off x="9989902" y="4666578"/>
            <a:ext cx="2159068" cy="930685"/>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1800" dirty="0">
                <a:solidFill>
                  <a:schemeClr val="bg1"/>
                </a:solidFill>
                <a:ea typeface="Calibri"/>
                <a:cs typeface="Calibri"/>
              </a:rPr>
              <a:t>The navigation button advances to the next screen. Click now to start the course.</a:t>
            </a:r>
            <a:endParaRPr lang="en-JM" sz="1800" dirty="0">
              <a:solidFill>
                <a:schemeClr val="bg1"/>
              </a:solidFill>
              <a:ea typeface="Calibri"/>
              <a:cs typeface="Calibri"/>
            </a:endParaRPr>
          </a:p>
        </p:txBody>
      </p:sp>
      <p:pic>
        <p:nvPicPr>
          <p:cNvPr id="19" name="Graphic 18" descr="Back">
            <a:extLst>
              <a:ext uri="{FF2B5EF4-FFF2-40B4-BE49-F238E27FC236}">
                <a16:creationId xmlns:a16="http://schemas.microsoft.com/office/drawing/2014/main" id="{F06CCC2F-D75B-4C7A-B005-2007EE34F256}"/>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11326010" y="5938230"/>
            <a:ext cx="822960" cy="822960"/>
          </a:xfrm>
          <a:prstGeom prst="rect">
            <a:avLst/>
          </a:prstGeom>
        </p:spPr>
      </p:pic>
      <p:sp>
        <p:nvSpPr>
          <p:cNvPr id="6" name="Rectangle 5"/>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3" name="Rectangle 2">
            <a:extLst>
              <a:ext uri="{FF2B5EF4-FFF2-40B4-BE49-F238E27FC236}">
                <a16:creationId xmlns:a16="http://schemas.microsoft.com/office/drawing/2014/main" id="{F4346A4B-66B9-4C40-8C85-A63FEC479A07}"/>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817570" y="2280135"/>
            <a:ext cx="11022978" cy="4391254"/>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000" b="1" dirty="0">
                <a:solidFill>
                  <a:schemeClr val="tx1"/>
                </a:solidFill>
                <a:latin typeface="+mj-lt"/>
                <a:cs typeface="Titillium WebSemiBold"/>
              </a:rPr>
              <a:t>Module 12</a:t>
            </a:r>
            <a:r>
              <a:rPr lang="en-US" sz="2000" dirty="0">
                <a:solidFill>
                  <a:schemeClr val="tx1"/>
                </a:solidFill>
                <a:latin typeface="+mj-lt"/>
                <a:cs typeface="Titillium WebSemiBold"/>
              </a:rPr>
              <a:t>: Cloud Computing: AI, E-commerce, and the Cloud</a:t>
            </a:r>
          </a:p>
          <a:p>
            <a:pPr marL="0" indent="0">
              <a:buNone/>
            </a:pPr>
            <a:r>
              <a:rPr lang="en-US" sz="2000" b="1" dirty="0">
                <a:solidFill>
                  <a:schemeClr val="tx1"/>
                </a:solidFill>
                <a:latin typeface="+mj-lt"/>
                <a:cs typeface="Calibri Light"/>
              </a:rPr>
              <a:t>Lesson objective 12.1</a:t>
            </a:r>
            <a:r>
              <a:rPr lang="en-US" sz="2000" dirty="0">
                <a:solidFill>
                  <a:schemeClr val="tx1"/>
                </a:solidFill>
                <a:latin typeface="+mj-lt"/>
                <a:cs typeface="Calibri Light"/>
              </a:rPr>
              <a:t>: Explain the basic concepts of cloud computing.</a:t>
            </a:r>
          </a:p>
          <a:p>
            <a:pPr marL="0" indent="0">
              <a:buNone/>
            </a:pPr>
            <a:r>
              <a:rPr lang="en-US" sz="2000" b="1" i="1" dirty="0">
                <a:solidFill>
                  <a:schemeClr val="tx1"/>
                </a:solidFill>
                <a:latin typeface="+mj-lt"/>
                <a:cs typeface="Calibri Light"/>
              </a:rPr>
              <a:t>Learning objectives:</a:t>
            </a:r>
            <a:endParaRPr lang="en-US" sz="2000" dirty="0">
              <a:solidFill>
                <a:schemeClr val="tx1"/>
              </a:solidFill>
              <a:latin typeface="+mj-lt"/>
              <a:cs typeface="Calibri Light"/>
            </a:endParaRPr>
          </a:p>
          <a:p>
            <a:pPr marL="0" indent="0">
              <a:buNone/>
            </a:pPr>
            <a:r>
              <a:rPr lang="en-US" sz="2000" dirty="0">
                <a:solidFill>
                  <a:schemeClr val="tx1"/>
                </a:solidFill>
                <a:latin typeface="+mj-lt"/>
                <a:cs typeface="Calibri Light"/>
              </a:rPr>
              <a:t>12.1.2 Compare the three most common cloud computing models.</a:t>
            </a:r>
          </a:p>
          <a:p>
            <a:pPr marL="0" indent="0">
              <a:buNone/>
            </a:pPr>
            <a:r>
              <a:rPr lang="en-US" sz="2000" b="1" dirty="0">
                <a:solidFill>
                  <a:schemeClr val="tx1"/>
                </a:solidFill>
                <a:latin typeface="+mj-lt"/>
                <a:cs typeface="Calibri Light"/>
              </a:rPr>
              <a:t>Lesson objective 12.2: </a:t>
            </a:r>
            <a:r>
              <a:rPr lang="en-US" sz="2000" dirty="0">
                <a:solidFill>
                  <a:schemeClr val="tx1"/>
                </a:solidFill>
                <a:latin typeface="+mj-lt"/>
                <a:cs typeface="Calibri Light"/>
              </a:rPr>
              <a:t>Describe ways companies do business on the Internet.</a:t>
            </a:r>
          </a:p>
          <a:p>
            <a:pPr marL="0" indent="0">
              <a:buNone/>
            </a:pPr>
            <a:r>
              <a:rPr lang="en-US" sz="2000" b="1" i="1" dirty="0">
                <a:solidFill>
                  <a:schemeClr val="tx1"/>
                </a:solidFill>
                <a:latin typeface="+mj-lt"/>
                <a:cs typeface="Calibri Light"/>
              </a:rPr>
              <a:t>Learning objectives:</a:t>
            </a:r>
          </a:p>
          <a:p>
            <a:pPr marL="0" indent="0">
              <a:buNone/>
            </a:pPr>
            <a:r>
              <a:rPr lang="en-US" sz="2000" dirty="0">
                <a:solidFill>
                  <a:schemeClr val="tx1"/>
                </a:solidFill>
                <a:latin typeface="+mj-lt"/>
                <a:cs typeface="Calibri Light"/>
              </a:rPr>
              <a:t>12.2.2 Compare various e-commerce platform types.</a:t>
            </a:r>
          </a:p>
          <a:p>
            <a:pPr marL="0" indent="0">
              <a:buNone/>
            </a:pPr>
            <a:r>
              <a:rPr lang="en-US" sz="2000" dirty="0">
                <a:solidFill>
                  <a:schemeClr val="tx1"/>
                </a:solidFill>
                <a:latin typeface="+mj-lt"/>
                <a:cs typeface="Calibri Light"/>
              </a:rPr>
              <a:t>12.2.3 Describe high-growth job roles in the e-commerce industry.</a:t>
            </a:r>
          </a:p>
          <a:p>
            <a:pPr marL="0" indent="0">
              <a:buNone/>
            </a:pPr>
            <a:r>
              <a:rPr lang="en-US" sz="2000" dirty="0">
                <a:solidFill>
                  <a:schemeClr val="tx1"/>
                </a:solidFill>
                <a:latin typeface="+mj-lt"/>
                <a:cs typeface="Calibri Light"/>
              </a:rPr>
              <a:t>12.2.4 Identify ways to build customer trust through a good e-commerce website.</a:t>
            </a:r>
          </a:p>
          <a:p>
            <a:pPr marL="0" indent="0">
              <a:buNone/>
            </a:pPr>
            <a:r>
              <a:rPr lang="en-US" sz="2000" b="1" dirty="0">
                <a:solidFill>
                  <a:schemeClr val="tx1"/>
                </a:solidFill>
                <a:latin typeface="+mj-lt"/>
                <a:cs typeface="Calibri Light"/>
              </a:rPr>
              <a:t>Lesson objective 12.5: </a:t>
            </a:r>
            <a:r>
              <a:rPr lang="en-US" sz="2000" dirty="0">
                <a:solidFill>
                  <a:schemeClr val="tx1"/>
                </a:solidFill>
                <a:latin typeface="+mj-lt"/>
                <a:cs typeface="Calibri Light"/>
              </a:rPr>
              <a:t>Analyze ways to communicate more proficiently with AI systems.</a:t>
            </a:r>
          </a:p>
          <a:p>
            <a:pPr marL="0" indent="0">
              <a:buNone/>
            </a:pPr>
            <a:r>
              <a:rPr lang="en-US" sz="2000" b="1" i="1" dirty="0">
                <a:solidFill>
                  <a:schemeClr val="tx1"/>
                </a:solidFill>
                <a:latin typeface="+mj-lt"/>
                <a:cs typeface="Calibri Light"/>
              </a:rPr>
              <a:t>Learning objectives:</a:t>
            </a:r>
          </a:p>
          <a:p>
            <a:pPr marL="0" indent="0">
              <a:buNone/>
            </a:pPr>
            <a:r>
              <a:rPr lang="en-US" sz="2000" dirty="0">
                <a:solidFill>
                  <a:schemeClr val="tx1"/>
                </a:solidFill>
                <a:latin typeface="+mj-lt"/>
                <a:cs typeface="Calibri Light"/>
              </a:rPr>
              <a:t>12.5.1 Explain how to phrase effective AI commands.</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681351" y="570353"/>
            <a:ext cx="8246626" cy="1143000"/>
          </a:xfrm>
        </p:spPr>
        <p:txBody>
          <a:bodyPr>
            <a:normAutofit/>
          </a:bodyPr>
          <a:lstStyle/>
          <a:p>
            <a:pPr algn="ctr"/>
            <a:r>
              <a:rPr lang="en-US" sz="5400" dirty="0">
                <a:solidFill>
                  <a:schemeClr val="tx1"/>
                </a:solidFill>
                <a:cs typeface="Calibri Light"/>
              </a:rPr>
              <a:t>Upgrade a B2B Website</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3F6B-5FE2-4281-B46B-5EC62CB6D9BA}"/>
              </a:ext>
            </a:extLst>
          </p:cNvPr>
          <p:cNvSpPr>
            <a:spLocks noGrp="1"/>
          </p:cNvSpPr>
          <p:nvPr>
            <p:ph type="title" idx="4294967295"/>
          </p:nvPr>
        </p:nvSpPr>
        <p:spPr>
          <a:xfrm>
            <a:off x="838200" y="394623"/>
            <a:ext cx="10515600" cy="657430"/>
          </a:xfrm>
        </p:spPr>
        <p:txBody>
          <a:bodyPr>
            <a:normAutofit/>
          </a:bodyPr>
          <a:lstStyle/>
          <a:p>
            <a:r>
              <a:rPr lang="en-US" sz="3600" dirty="0"/>
              <a:t>Upgrade a B2B Website</a:t>
            </a:r>
          </a:p>
        </p:txBody>
      </p:sp>
      <p:sp>
        <p:nvSpPr>
          <p:cNvPr id="3" name="Text Placeholder 5">
            <a:extLst>
              <a:ext uri="{FF2B5EF4-FFF2-40B4-BE49-F238E27FC236}">
                <a16:creationId xmlns:a16="http://schemas.microsoft.com/office/drawing/2014/main" id="{46871617-65EA-4B19-B5EB-A1956DA0C6A1}"/>
              </a:ext>
            </a:extLst>
          </p:cNvPr>
          <p:cNvSpPr txBox="1">
            <a:spLocks/>
          </p:cNvSpPr>
          <p:nvPr/>
        </p:nvSpPr>
        <p:spPr>
          <a:xfrm>
            <a:off x="790835" y="1147666"/>
            <a:ext cx="10988209" cy="5262416"/>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choose business-appropriate updates to a website</a:t>
            </a:r>
          </a:p>
          <a:p>
            <a:pPr>
              <a:buNone/>
            </a:pPr>
            <a:r>
              <a:rPr lang="en-US" dirty="0">
                <a:solidFill>
                  <a:schemeClr val="tx2"/>
                </a:solidFill>
              </a:rPr>
              <a:t>•	How to build trust through an ecommerce website</a:t>
            </a:r>
          </a:p>
          <a:p>
            <a:pPr>
              <a:buNone/>
            </a:pPr>
            <a:r>
              <a:rPr lang="en-US" dirty="0">
                <a:solidFill>
                  <a:schemeClr val="tx2"/>
                </a:solidFill>
              </a:rPr>
              <a:t>•	How to interact effectively with AI</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make decisions about an upgrade to a business website used to sell products to other businesses. At each step, think carefully about what kinds of design changes are best for the business processes the website supports.</a:t>
            </a:r>
          </a:p>
          <a:p>
            <a:pPr>
              <a:buFont typeface="Wingdings" panose="05000000000000000000" pitchFamily="2" charset="2"/>
              <a:buChar char="ü"/>
            </a:pPr>
            <a:r>
              <a:rPr lang="en-US" dirty="0">
                <a:solidFill>
                  <a:schemeClr val="tx2"/>
                </a:solidFill>
              </a:rPr>
              <a:t>Consider how to use modern technology to make everyone’s work easier and more efficient.</a:t>
            </a:r>
          </a:p>
          <a:p>
            <a:pPr>
              <a:buFont typeface="Wingdings" panose="05000000000000000000" pitchFamily="2" charset="2"/>
              <a:buChar char="ü"/>
            </a:pPr>
            <a:r>
              <a:rPr lang="en-US" dirty="0">
                <a:solidFill>
                  <a:schemeClr val="tx2"/>
                </a:solidFill>
              </a:rPr>
              <a:t>Look for ways to save money by using pay-as-you-go services.</a:t>
            </a:r>
          </a:p>
          <a:p>
            <a:pPr>
              <a:buFont typeface="Wingdings" panose="05000000000000000000" pitchFamily="2" charset="2"/>
              <a:buChar char="ü"/>
            </a:pPr>
            <a:r>
              <a:rPr lang="en-US" dirty="0">
                <a:solidFill>
                  <a:schemeClr val="tx2"/>
                </a:solidFill>
              </a:rPr>
              <a:t>Choose upgrades to the website that support existing business processes and relationships rather than requiring those things to change to fit the website.</a:t>
            </a:r>
          </a:p>
        </p:txBody>
      </p:sp>
    </p:spTree>
    <p:extLst>
      <p:ext uri="{BB962C8B-B14F-4D97-AF65-F5344CB8AC3E}">
        <p14:creationId xmlns:p14="http://schemas.microsoft.com/office/powerpoint/2010/main" val="3511541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828001"/>
            <a:ext cx="11079729" cy="46473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spcBef>
                <a:spcPts val="0"/>
              </a:spcBef>
              <a:spcAft>
                <a:spcPts val="600"/>
              </a:spcAft>
              <a:buNone/>
              <a:defRPr/>
            </a:pPr>
            <a:r>
              <a:rPr lang="en-US" sz="2050" dirty="0">
                <a:solidFill>
                  <a:srgbClr val="44546A"/>
                </a:solidFill>
                <a:ea typeface="Calibri"/>
                <a:cs typeface="Calibri"/>
              </a:rPr>
              <a:t>You work for a company that produces custom fabrics for furniture manufacturers. Recently, the Sales Department convinced the CEO to consider converting the ordering system to a web hosted digital solution. The company currently uses a manual system consisting of paper order slips and Excel spreadsheets. The system is awkward and prone to errors.</a:t>
            </a:r>
          </a:p>
          <a:p>
            <a:pPr marL="0" lvl="0" indent="0">
              <a:spcBef>
                <a:spcPts val="0"/>
              </a:spcBef>
              <a:spcAft>
                <a:spcPts val="600"/>
              </a:spcAft>
              <a:buNone/>
              <a:defRPr/>
            </a:pPr>
            <a:r>
              <a:rPr lang="en-US" sz="2050" dirty="0">
                <a:solidFill>
                  <a:srgbClr val="44546A"/>
                </a:solidFill>
                <a:ea typeface="Calibri"/>
                <a:cs typeface="Calibri"/>
              </a:rPr>
              <a:t>While the CEO understands the potential benefits, she’s concerned that a digital system will be too complicated and won't support having a personal relationship with each customer-- the company prides itself on the sense of “family” it builds with customers, some of whom have been with the company for decades. However, the company’s growth has flatlined over the past several years and then started to decline. In order to save the business, the CEO has agreed to consider changes. She requests a thorough proposal, which she will present to department managers to ensure everyone agrees before moving forward. </a:t>
            </a: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60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600"/>
              </a:spcAft>
              <a:buClrTx/>
              <a:buSzTx/>
              <a:buFont typeface="Arial"/>
              <a:buNone/>
              <a:tabLst/>
              <a:defRPr/>
            </a:pPr>
            <a:endParaRPr kumimoji="0" lang="en-US" sz="2400" b="0"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sp>
        <p:nvSpPr>
          <p:cNvPr id="12" name="Text Placeholder 1"/>
          <p:cNvSpPr txBox="1">
            <a:spLocks/>
          </p:cNvSpPr>
          <p:nvPr/>
        </p:nvSpPr>
        <p:spPr>
          <a:xfrm>
            <a:off x="838200" y="5475339"/>
            <a:ext cx="3035710" cy="64032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hlinkClick r:id="rId4" action="ppaction://hlinksldjump"/>
              </a:rPr>
              <a:t>Continue</a:t>
            </a:r>
            <a:endParaRPr kumimoji="0" lang="en-US" sz="2050" b="1"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AD7318"/>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99" b="0" i="0" u="none" strike="noStrike" kern="1200" cap="none" spc="0" normalizeH="0" baseline="0" noProof="0" dirty="0">
              <a:ln>
                <a:noFill/>
              </a:ln>
              <a:solidFill>
                <a:srgbClr val="A5A5A5">
                  <a:lumMod val="75000"/>
                </a:srgbClr>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99" b="0" i="0" u="none" strike="noStrike" kern="1200" cap="none" spc="0" normalizeH="0" baseline="0" noProof="0" dirty="0">
              <a:ln>
                <a:noFill/>
              </a:ln>
              <a:solidFill>
                <a:srgbClr val="A5A5A5">
                  <a:lumMod val="75000"/>
                </a:srgbClr>
              </a:solidFill>
              <a:effectLst/>
              <a:uLnTx/>
              <a:uFillTx/>
              <a:latin typeface="Calibri" panose="020F0502020204030204"/>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838200" y="0"/>
            <a:ext cx="10515600" cy="752010"/>
          </a:xfrm>
        </p:spPr>
        <p:txBody>
          <a:bodyPr>
            <a:normAutofit/>
          </a:bodyPr>
          <a:lstStyle/>
          <a:p>
            <a:r>
              <a:rPr lang="en-US" sz="3600" dirty="0"/>
              <a:t>Introduction</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889691" y="612228"/>
            <a:ext cx="11230774" cy="377680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While </a:t>
            </a:r>
            <a:r>
              <a:rPr lang="en-US" dirty="0">
                <a:solidFill>
                  <a:srgbClr val="44546A"/>
                </a:solidFill>
                <a:latin typeface="Calibri" panose="020F0502020204030204"/>
              </a:rPr>
              <a:t>y</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our company currently has a website, it is outdated and not very well designed. Hardly anyone visits it, and it doesn’t provide services such as online ordering or browsing available products. Your idea is to update the website with a modern design and new functionality that will help customers and sales representatives. If this upgrade goes as planned, multiple departments and sales reps will use the website daily for many different tasks and allow the company to serve a wider customer base.</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lang="en-US" dirty="0">
                <a:solidFill>
                  <a:srgbClr val="44546A"/>
                </a:solidFill>
                <a:latin typeface="Calibri" panose="020F0502020204030204"/>
              </a:rPr>
              <a:t>First, you need to decide where you will host your website. The website is currently running from an old computer in the main office, which won’t be able to support the demands of the upgraded website. </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lang="en-US" dirty="0">
                <a:solidFill>
                  <a:srgbClr val="44546A"/>
                </a:solidFill>
                <a:latin typeface="Calibri" panose="020F0502020204030204"/>
              </a:rPr>
              <a:t>Should you purchase a new server and run the new website on-premises, or should you host the website on servers in the cloud?</a:t>
            </a: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4020573"/>
            <a:ext cx="8687229" cy="1394993"/>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Cloud</a:t>
            </a:r>
            <a:r>
              <a:rPr lang="en-US" dirty="0">
                <a:solidFill>
                  <a:srgbClr val="44546A"/>
                </a:solidFill>
                <a:latin typeface="Calibri" panose="020F0502020204030204"/>
                <a:hlinkClick r:id="rId3" action="ppaction://hlinksldjump"/>
              </a:rPr>
              <a:t> web servers</a:t>
            </a:r>
            <a:r>
              <a:rPr kumimoji="0" lang="en-US" sz="2050" b="0" i="0" u="none" strike="noStrike" kern="1200" cap="none" spc="0" normalizeH="0" baseline="0" noProof="0" dirty="0">
                <a:ln>
                  <a:noFill/>
                </a:ln>
                <a:solidFill>
                  <a:srgbClr val="44546A"/>
                </a:solidFill>
                <a:effectLst/>
                <a:uLnTx/>
                <a:uFillTx/>
                <a:latin typeface="Calibri" panose="020F0502020204030204"/>
                <a:hlinkClick r:id="rId3"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[Level1_Decision1_OptionA]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On-premises web servers.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[Level1_Decision1_OptionB]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400914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64694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Level1_Decision</a:t>
            </a:r>
            <a:r>
              <a:rPr lang="en-US" sz="3600" baseline="0" dirty="0"/>
              <a:t>1</a:t>
            </a:r>
            <a:endParaRPr lang="en-US" sz="3600" dirty="0"/>
          </a:p>
        </p:txBody>
      </p:sp>
      <p:sp>
        <p:nvSpPr>
          <p:cNvPr id="10" name="Arrow: Pentagon 9">
            <a:extLst>
              <a:ext uri="{FF2B5EF4-FFF2-40B4-BE49-F238E27FC236}">
                <a16:creationId xmlns:a16="http://schemas.microsoft.com/office/drawing/2014/main" id="{DCDE78F1-B914-47F0-8706-B356A5FB571C}"/>
              </a:ext>
            </a:extLst>
          </p:cNvPr>
          <p:cNvSpPr/>
          <p:nvPr/>
        </p:nvSpPr>
        <p:spPr>
          <a:xfrm>
            <a:off x="88641" y="407384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2" name="TextBox 11">
            <a:extLst>
              <a:ext uri="{FF2B5EF4-FFF2-40B4-BE49-F238E27FC236}">
                <a16:creationId xmlns:a16="http://schemas.microsoft.com/office/drawing/2014/main" id="{8217FFCB-2AF4-4E79-AB48-EC1124B67494}"/>
              </a:ext>
            </a:extLst>
          </p:cNvPr>
          <p:cNvSpPr txBox="1"/>
          <p:nvPr/>
        </p:nvSpPr>
        <p:spPr>
          <a:xfrm>
            <a:off x="795113" y="5504984"/>
            <a:ext cx="1041261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rgbClr val="C00000"/>
                </a:solidFill>
              </a:rPr>
              <a:t>Explanation:</a:t>
            </a:r>
          </a:p>
          <a:p>
            <a:r>
              <a:rPr lang="en-US" dirty="0">
                <a:solidFill>
                  <a:srgbClr val="C00000"/>
                </a:solidFill>
              </a:rPr>
              <a:t>Cloud servers will be cheaper while allowing flexibility for growth and future improvements.</a:t>
            </a:r>
          </a:p>
        </p:txBody>
      </p:sp>
      <p:sp>
        <p:nvSpPr>
          <p:cNvPr id="13" name="TextBox 12">
            <a:extLst>
              <a:ext uri="{FF2B5EF4-FFF2-40B4-BE49-F238E27FC236}">
                <a16:creationId xmlns:a16="http://schemas.microsoft.com/office/drawing/2014/main" id="{F180F967-5D26-4159-824E-2159BF380D7E}"/>
              </a:ext>
            </a:extLst>
          </p:cNvPr>
          <p:cNvSpPr txBox="1"/>
          <p:nvPr/>
        </p:nvSpPr>
        <p:spPr>
          <a:xfrm>
            <a:off x="795113" y="6297490"/>
            <a:ext cx="10433329"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ecommerce platform.</a:t>
            </a:r>
          </a:p>
        </p:txBody>
      </p:sp>
    </p:spTree>
    <p:extLst>
      <p:ext uri="{BB962C8B-B14F-4D97-AF65-F5344CB8AC3E}">
        <p14:creationId xmlns:p14="http://schemas.microsoft.com/office/powerpoint/2010/main" val="898138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923731"/>
            <a:ext cx="11396888" cy="3536301"/>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spcAft>
                <a:spcPts val="600"/>
              </a:spcAft>
              <a:defRPr/>
            </a:pPr>
            <a:r>
              <a:rPr lang="en-US" sz="1900" dirty="0">
                <a:solidFill>
                  <a:srgbClr val="44546A"/>
                </a:solidFill>
              </a:rPr>
              <a:t>You chose to contract with a cloud service provider to host the website. This is an affordable option because you pay only for services as you use them instead of buying new servers yourself. </a:t>
            </a:r>
          </a:p>
          <a:p>
            <a:pPr lvl="0">
              <a:spcAft>
                <a:spcPts val="600"/>
              </a:spcAft>
              <a:defRPr/>
            </a:pPr>
            <a:r>
              <a:rPr lang="en-US" sz="1900" dirty="0">
                <a:solidFill>
                  <a:srgbClr val="44546A"/>
                </a:solidFill>
              </a:rPr>
              <a:t>Customers will use your new website to browse available products and place orders. To support this kind of activity, you need an ecommerce platform. This ecommerce module of your website will allow customers to manage their orders and make payments. </a:t>
            </a:r>
          </a:p>
          <a:p>
            <a:pPr lvl="0">
              <a:spcAft>
                <a:spcPts val="600"/>
              </a:spcAft>
              <a:defRPr/>
            </a:pPr>
            <a:r>
              <a:rPr lang="en-US" sz="1900" dirty="0">
                <a:solidFill>
                  <a:srgbClr val="44546A"/>
                </a:solidFill>
              </a:rPr>
              <a:t>To help you narrow down your options, you need to choose a platform type. You have researched a few options that meet your budget. One is a storefront package, which enables you to provide accurate inventory on the website, but which has more upfront setup costs and maintenance. </a:t>
            </a:r>
            <a:r>
              <a:rPr lang="en-US" sz="1900" dirty="0"/>
              <a:t>The other is an online marketplace, a multi-seller sales platform you can join to post items for sale, which is easier and cheaper to use but overall gives you less control.</a:t>
            </a:r>
            <a:r>
              <a:rPr lang="en-US" sz="1900" dirty="0">
                <a:solidFill>
                  <a:srgbClr val="44546A"/>
                </a:solidFill>
              </a:rPr>
              <a:t> </a:t>
            </a:r>
          </a:p>
          <a:p>
            <a:pPr lvl="0">
              <a:spcAft>
                <a:spcPts val="600"/>
              </a:spcAft>
              <a:defRPr/>
            </a:pPr>
            <a:r>
              <a:rPr lang="en-US" sz="1900" dirty="0">
                <a:solidFill>
                  <a:srgbClr val="44546A"/>
                </a:solidFill>
              </a:rPr>
              <a:t>Which ecommerce platform type will best serve your company’s needs?</a:t>
            </a:r>
          </a:p>
        </p:txBody>
      </p:sp>
      <p:sp>
        <p:nvSpPr>
          <p:cNvPr id="7" name="TextBox 6">
            <a:extLst>
              <a:ext uri="{FF2B5EF4-FFF2-40B4-BE49-F238E27FC236}">
                <a16:creationId xmlns:a16="http://schemas.microsoft.com/office/drawing/2014/main" id="{40638D1B-4303-428C-B168-BC6714B92E66}"/>
              </a:ext>
            </a:extLst>
          </p:cNvPr>
          <p:cNvSpPr txBox="1"/>
          <p:nvPr/>
        </p:nvSpPr>
        <p:spPr>
          <a:xfrm>
            <a:off x="1626162" y="4425814"/>
            <a:ext cx="8687229" cy="1078952"/>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Online storefront.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2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Online marketplace.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314063" y="441205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317341" y="491921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Level2_Decision</a:t>
            </a:r>
            <a:r>
              <a:rPr lang="en-US" sz="3600" baseline="0" dirty="0"/>
              <a:t>1</a:t>
            </a:r>
            <a:endParaRPr lang="en-US" sz="3600" dirty="0"/>
          </a:p>
        </p:txBody>
      </p:sp>
      <p:sp>
        <p:nvSpPr>
          <p:cNvPr id="10" name="TextBox 9">
            <a:extLst>
              <a:ext uri="{FF2B5EF4-FFF2-40B4-BE49-F238E27FC236}">
                <a16:creationId xmlns:a16="http://schemas.microsoft.com/office/drawing/2014/main" id="{710F9B69-398C-4F2F-88AB-1495449AEF8A}"/>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scope of the website improvements requires the flexibility of the online storefront platform.</a:t>
            </a:r>
          </a:p>
        </p:txBody>
      </p:sp>
      <p:sp>
        <p:nvSpPr>
          <p:cNvPr id="12" name="Arrow: Pentagon 11">
            <a:extLst>
              <a:ext uri="{FF2B5EF4-FFF2-40B4-BE49-F238E27FC236}">
                <a16:creationId xmlns:a16="http://schemas.microsoft.com/office/drawing/2014/main" id="{D31257C5-60FF-441C-9E2C-5E3AE2FE3078}"/>
              </a:ext>
            </a:extLst>
          </p:cNvPr>
          <p:cNvSpPr/>
          <p:nvPr/>
        </p:nvSpPr>
        <p:spPr>
          <a:xfrm>
            <a:off x="91214" y="445286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1ECBDF85-94CF-4432-BA1D-F507D2D55615}"/>
              </a:ext>
            </a:extLst>
          </p:cNvPr>
          <p:cNvSpPr txBox="1"/>
          <p:nvPr/>
        </p:nvSpPr>
        <p:spPr>
          <a:xfrm>
            <a:off x="795113" y="6165105"/>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trust-building strategy for the new website</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Project is given to someone else.</a:t>
            </a:r>
          </a:p>
        </p:txBody>
      </p:sp>
      <p:sp>
        <p:nvSpPr>
          <p:cNvPr id="14" name="TextBox 13">
            <a:extLst>
              <a:ext uri="{FF2B5EF4-FFF2-40B4-BE49-F238E27FC236}">
                <a16:creationId xmlns:a16="http://schemas.microsoft.com/office/drawing/2014/main" id="{46E383CA-8F8B-4201-81BD-A2387F9129B5}"/>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cloud web servers.</a:t>
            </a:r>
          </a:p>
        </p:txBody>
      </p:sp>
    </p:spTree>
    <p:extLst>
      <p:ext uri="{BB962C8B-B14F-4D97-AF65-F5344CB8AC3E}">
        <p14:creationId xmlns:p14="http://schemas.microsoft.com/office/powerpoint/2010/main" val="2010367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2170" y="994324"/>
            <a:ext cx="11399829" cy="394093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spcAft>
                <a:spcPts val="600"/>
              </a:spcAft>
              <a:defRPr/>
            </a:pPr>
            <a:r>
              <a:rPr lang="en-US" sz="1900" dirty="0">
                <a:solidFill>
                  <a:srgbClr val="44546A"/>
                </a:solidFill>
              </a:rPr>
              <a:t>You chose to purchase new servers to replace your existing on-premises server to host the website. As it turns out, this is expensive, and you are concerned about running out of space as the website grows.</a:t>
            </a:r>
          </a:p>
          <a:p>
            <a:pPr>
              <a:spcAft>
                <a:spcPts val="600"/>
              </a:spcAft>
              <a:defRPr/>
            </a:pPr>
            <a:r>
              <a:rPr lang="en-US" sz="1900" dirty="0">
                <a:solidFill>
                  <a:srgbClr val="44546A"/>
                </a:solidFill>
              </a:rPr>
              <a:t>Customers will use your new website to browse available products and place orders. To support this kind of activity, you need an ecommerce platform. This ecommerce module of your website will allow customers to manage their orders and make payments. </a:t>
            </a:r>
          </a:p>
          <a:p>
            <a:pPr>
              <a:spcAft>
                <a:spcPts val="600"/>
              </a:spcAft>
              <a:defRPr/>
            </a:pPr>
            <a:r>
              <a:rPr lang="en-US" sz="1900" dirty="0">
                <a:solidFill>
                  <a:srgbClr val="44546A"/>
                </a:solidFill>
              </a:rPr>
              <a:t>To help you narrow down your options, you need to choose a platform type. You have researched a few options that meet your budget. One is a storefront package, which enables you to provide accurate inventory on the website, but which has more upfront setup costs and maintenance. The other is an online marketplace, a multi-seller sales platform you can join to post items for sale, which is easier and cheaper to use but overall gives you less control. </a:t>
            </a:r>
          </a:p>
          <a:p>
            <a:pPr>
              <a:spcAft>
                <a:spcPts val="600"/>
              </a:spcAft>
              <a:defRPr/>
            </a:pPr>
            <a:r>
              <a:rPr lang="en-US" sz="1900" dirty="0">
                <a:solidFill>
                  <a:srgbClr val="44546A"/>
                </a:solidFill>
              </a:rPr>
              <a:t>Which ecommerce platform type will best serve your company’s needs?</a:t>
            </a:r>
          </a:p>
        </p:txBody>
      </p:sp>
      <p:sp>
        <p:nvSpPr>
          <p:cNvPr id="7" name="TextBox 6">
            <a:extLst>
              <a:ext uri="{FF2B5EF4-FFF2-40B4-BE49-F238E27FC236}">
                <a16:creationId xmlns:a16="http://schemas.microsoft.com/office/drawing/2014/main" id="{40638D1B-4303-428C-B168-BC6714B92E66}"/>
              </a:ext>
            </a:extLst>
          </p:cNvPr>
          <p:cNvSpPr txBox="1"/>
          <p:nvPr/>
        </p:nvSpPr>
        <p:spPr>
          <a:xfrm>
            <a:off x="1528298" y="4493027"/>
            <a:ext cx="6057490" cy="102874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Online storefront.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Online marketplace.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09010" y="447227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12288" y="497010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22236"/>
            <a:ext cx="10515600" cy="640080"/>
          </a:xfrm>
        </p:spPr>
        <p:txBody>
          <a:bodyPr>
            <a:normAutofit/>
          </a:bodyPr>
          <a:lstStyle/>
          <a:p>
            <a:r>
              <a:rPr lang="en-US" sz="3600" dirty="0"/>
              <a:t>Level2_Decision2</a:t>
            </a:r>
          </a:p>
        </p:txBody>
      </p:sp>
      <p:sp>
        <p:nvSpPr>
          <p:cNvPr id="10" name="TextBox 9">
            <a:extLst>
              <a:ext uri="{FF2B5EF4-FFF2-40B4-BE49-F238E27FC236}">
                <a16:creationId xmlns:a16="http://schemas.microsoft.com/office/drawing/2014/main" id="{309E1A1D-3B3E-478B-9151-CF6E6EDD4E23}"/>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scope of the website improvements requires the flexibility of the online storefront platform.</a:t>
            </a:r>
          </a:p>
        </p:txBody>
      </p:sp>
      <p:sp>
        <p:nvSpPr>
          <p:cNvPr id="12" name="Arrow: Pentagon 11">
            <a:extLst>
              <a:ext uri="{FF2B5EF4-FFF2-40B4-BE49-F238E27FC236}">
                <a16:creationId xmlns:a16="http://schemas.microsoft.com/office/drawing/2014/main" id="{1AA48952-0C7C-4191-B917-701289BE2998}"/>
              </a:ext>
            </a:extLst>
          </p:cNvPr>
          <p:cNvSpPr/>
          <p:nvPr/>
        </p:nvSpPr>
        <p:spPr>
          <a:xfrm>
            <a:off x="91214" y="448086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B5A2398D-C370-4269-ABF2-4DA7BBF30791}"/>
              </a:ext>
            </a:extLst>
          </p:cNvPr>
          <p:cNvSpPr txBox="1"/>
          <p:nvPr/>
        </p:nvSpPr>
        <p:spPr>
          <a:xfrm>
            <a:off x="792171" y="6155683"/>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a trust-building strategy for the new website</a:t>
            </a:r>
            <a:r>
              <a:rPr lang="en-US" dirty="0"/>
              <a:t>.</a:t>
            </a:r>
          </a:p>
          <a:p>
            <a:pPr lvl="0">
              <a:defRPr/>
            </a:pPr>
            <a:r>
              <a:rPr lang="en-US" kern="0" dirty="0">
                <a:solidFill>
                  <a:prstClr val="black"/>
                </a:solidFill>
              </a:rPr>
              <a:t>If Option B: Project is given to someone else.</a:t>
            </a:r>
          </a:p>
        </p:txBody>
      </p:sp>
      <p:sp>
        <p:nvSpPr>
          <p:cNvPr id="14" name="TextBox 13">
            <a:extLst>
              <a:ext uri="{FF2B5EF4-FFF2-40B4-BE49-F238E27FC236}">
                <a16:creationId xmlns:a16="http://schemas.microsoft.com/office/drawing/2014/main" id="{AF38A5D9-A7F3-40D1-8265-C746362CF1C6}"/>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purchase new on-premises servers.</a:t>
            </a:r>
          </a:p>
        </p:txBody>
      </p:sp>
    </p:spTree>
    <p:extLst>
      <p:ext uri="{BB962C8B-B14F-4D97-AF65-F5344CB8AC3E}">
        <p14:creationId xmlns:p14="http://schemas.microsoft.com/office/powerpoint/2010/main" val="3301696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968613"/>
            <a:ext cx="11396889" cy="3147419"/>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spcAft>
                <a:spcPts val="600"/>
              </a:spcAft>
              <a:defRPr/>
            </a:pPr>
            <a:r>
              <a:rPr lang="en-US" dirty="0">
                <a:solidFill>
                  <a:srgbClr val="44546A"/>
                </a:solidFill>
              </a:rPr>
              <a:t>You chose to add an online storefront to your website. Although it is more expensive than a marketplace and takes longer to set up, the ecommerce platform you chose includes all the features you need at an affordable price. </a:t>
            </a:r>
          </a:p>
          <a:p>
            <a:pPr>
              <a:spcAft>
                <a:spcPts val="600"/>
              </a:spcAft>
              <a:defRPr/>
            </a:pPr>
            <a:r>
              <a:rPr lang="en-US" dirty="0">
                <a:solidFill>
                  <a:srgbClr val="44546A"/>
                </a:solidFill>
              </a:rPr>
              <a:t>After the rollout, you need to design features that help you attract new customers but ensure that your existing long-term customers, many of whom have special pricing due to the volume of purchases they have made over many years, remain satisfied. </a:t>
            </a:r>
          </a:p>
          <a:p>
            <a:pPr>
              <a:spcAft>
                <a:spcPts val="600"/>
              </a:spcAft>
              <a:defRPr/>
            </a:pPr>
            <a:r>
              <a:rPr lang="en-US" dirty="0">
                <a:solidFill>
                  <a:srgbClr val="44546A"/>
                </a:solidFill>
              </a:rPr>
              <a:t>Since the CEO’s primary concern is maintaining and fostering personal relationships based on trust, you need to think carefully. What is the best option to balance the two customer types in an effective and achievable way based on budget and other constraints?</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4060698"/>
            <a:ext cx="10617262" cy="167092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Increase available customer service hours to be more available for customer calls and online chats, and design the website to accommodate custom pricing tiers.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Standardize pricing tiers across all customer accounts and post this information online so no one gets special treatment.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404927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85813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1"/>
            <a:ext cx="10515600" cy="640080"/>
          </a:xfrm>
        </p:spPr>
        <p:txBody>
          <a:bodyPr>
            <a:normAutofit/>
          </a:bodyPr>
          <a:lstStyle/>
          <a:p>
            <a:r>
              <a:rPr lang="en-US" sz="3600" dirty="0"/>
              <a:t>Level3_Decision</a:t>
            </a:r>
            <a:r>
              <a:rPr lang="en-US" sz="3600" baseline="0" dirty="0"/>
              <a:t>1</a:t>
            </a:r>
            <a:endParaRPr lang="en-US" sz="3600" dirty="0"/>
          </a:p>
        </p:txBody>
      </p:sp>
      <p:sp>
        <p:nvSpPr>
          <p:cNvPr id="10" name="TextBox 9">
            <a:extLst>
              <a:ext uri="{FF2B5EF4-FFF2-40B4-BE49-F238E27FC236}">
                <a16:creationId xmlns:a16="http://schemas.microsoft.com/office/drawing/2014/main" id="{E52F1575-9DC7-4447-A0EE-44473ED84787}"/>
              </a:ext>
            </a:extLst>
          </p:cNvPr>
          <p:cNvSpPr txBox="1"/>
          <p:nvPr/>
        </p:nvSpPr>
        <p:spPr>
          <a:xfrm>
            <a:off x="795113" y="571876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Exemplary customer service is key to building and maintaining trust with customers.</a:t>
            </a:r>
          </a:p>
        </p:txBody>
      </p:sp>
      <p:sp>
        <p:nvSpPr>
          <p:cNvPr id="12" name="Arrow: Pentagon 11">
            <a:extLst>
              <a:ext uri="{FF2B5EF4-FFF2-40B4-BE49-F238E27FC236}">
                <a16:creationId xmlns:a16="http://schemas.microsoft.com/office/drawing/2014/main" id="{DCEF34AB-77F7-42F2-9D58-FBE9200F09C6}"/>
              </a:ext>
            </a:extLst>
          </p:cNvPr>
          <p:cNvSpPr/>
          <p:nvPr/>
        </p:nvSpPr>
        <p:spPr>
          <a:xfrm>
            <a:off x="91214" y="407031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ED873690-76DB-42E3-9C86-3E068C9E3689}"/>
              </a:ext>
            </a:extLst>
          </p:cNvPr>
          <p:cNvSpPr txBox="1"/>
          <p:nvPr/>
        </p:nvSpPr>
        <p:spPr>
          <a:xfrm>
            <a:off x="795115" y="6426878"/>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an ecommerce job role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7DEA45E1-9747-4DF4-A1D7-AEAFEFFCD1AC}"/>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add an online storefront to the website.</a:t>
            </a:r>
          </a:p>
        </p:txBody>
      </p:sp>
    </p:spTree>
    <p:extLst>
      <p:ext uri="{BB962C8B-B14F-4D97-AF65-F5344CB8AC3E}">
        <p14:creationId xmlns:p14="http://schemas.microsoft.com/office/powerpoint/2010/main" val="1855832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957188"/>
            <a:ext cx="11396890" cy="346829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spcAft>
                <a:spcPts val="600"/>
              </a:spcAft>
              <a:defRPr/>
            </a:pPr>
            <a:r>
              <a:rPr lang="en-US" sz="1900" dirty="0">
                <a:solidFill>
                  <a:srgbClr val="44546A"/>
                </a:solidFill>
              </a:rPr>
              <a:t>You chose to add an online storefront to your website. Although it is more expensive than a marketplace and takes longer to set up, the ecommerce platform you chose includes all the features you need at an affordable price. </a:t>
            </a:r>
          </a:p>
          <a:p>
            <a:pPr>
              <a:spcAft>
                <a:spcPts val="600"/>
              </a:spcAft>
              <a:defRPr/>
            </a:pPr>
            <a:r>
              <a:rPr lang="en-US" sz="1900" dirty="0">
                <a:solidFill>
                  <a:srgbClr val="44546A"/>
                </a:solidFill>
              </a:rPr>
              <a:t>After the rollout, you need to design features that help you attract new customers but ensure that your existing long-term customers, many of whom have special pricing due to the volume of purchases they have made over many years, remain satisfied. </a:t>
            </a:r>
          </a:p>
          <a:p>
            <a:pPr>
              <a:spcAft>
                <a:spcPts val="600"/>
              </a:spcAft>
              <a:defRPr/>
            </a:pPr>
            <a:r>
              <a:rPr lang="en-US" sz="1900" dirty="0">
                <a:solidFill>
                  <a:srgbClr val="44546A"/>
                </a:solidFill>
              </a:rPr>
              <a:t>Since the CEO’s primary concern is maintaining and fostering personal relationships based on trust, you need to think carefully. You consider how best to balance the two customer types in a way that is effective and achievable based on budget and other constraints. </a:t>
            </a:r>
          </a:p>
          <a:p>
            <a:pPr>
              <a:spcAft>
                <a:spcPts val="600"/>
              </a:spcAft>
              <a:defRPr/>
            </a:pPr>
            <a:r>
              <a:rPr lang="en-US" sz="1900" dirty="0">
                <a:solidFill>
                  <a:srgbClr val="44546A"/>
                </a:solidFill>
              </a:rPr>
              <a:t>What do you choose?</a:t>
            </a:r>
            <a:endParaRPr lang="en-US" sz="1900" dirty="0">
              <a:solidFill>
                <a:srgbClr val="44546A"/>
              </a:solidFill>
              <a:highlight>
                <a:srgbClr val="FFFF00"/>
              </a:highlight>
            </a:endParaRP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4104296"/>
            <a:ext cx="10617262" cy="159000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Increase available customer service hours to be more available for customer calls and online chats, and design the website to accommodate custom pricing tiers.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Standardize pricing tiers across all customer accounts and post this information online so no one gets special treatment.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409287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89240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Level3_Decision2</a:t>
            </a:r>
          </a:p>
        </p:txBody>
      </p:sp>
      <p:sp>
        <p:nvSpPr>
          <p:cNvPr id="10" name="TextBox 9">
            <a:extLst>
              <a:ext uri="{FF2B5EF4-FFF2-40B4-BE49-F238E27FC236}">
                <a16:creationId xmlns:a16="http://schemas.microsoft.com/office/drawing/2014/main" id="{9D7F61C1-1088-4C33-9CE1-A023839773F9}"/>
              </a:ext>
            </a:extLst>
          </p:cNvPr>
          <p:cNvSpPr txBox="1"/>
          <p:nvPr/>
        </p:nvSpPr>
        <p:spPr>
          <a:xfrm>
            <a:off x="795113" y="571876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Exemplary customer service is key to building and maintaining trust with customers.</a:t>
            </a:r>
          </a:p>
        </p:txBody>
      </p:sp>
      <p:sp>
        <p:nvSpPr>
          <p:cNvPr id="12" name="Arrow: Pentagon 11">
            <a:extLst>
              <a:ext uri="{FF2B5EF4-FFF2-40B4-BE49-F238E27FC236}">
                <a16:creationId xmlns:a16="http://schemas.microsoft.com/office/drawing/2014/main" id="{1AA0E75B-B447-4535-A3FB-93A733BC4CE8}"/>
              </a:ext>
            </a:extLst>
          </p:cNvPr>
          <p:cNvSpPr/>
          <p:nvPr/>
        </p:nvSpPr>
        <p:spPr>
          <a:xfrm>
            <a:off x="91214" y="413562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F0DBD5AB-4F44-48F9-9BC1-F2A1FA1106F8}"/>
              </a:ext>
            </a:extLst>
          </p:cNvPr>
          <p:cNvSpPr txBox="1"/>
          <p:nvPr/>
        </p:nvSpPr>
        <p:spPr>
          <a:xfrm>
            <a:off x="795115" y="6426878"/>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a:t>
            </a:r>
            <a:r>
              <a:rPr lang="en-US" kern="0" dirty="0">
                <a:solidFill>
                  <a:prstClr val="black"/>
                </a:solidFill>
              </a:rPr>
              <a:t>Student will need to choose an ecommerce job role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8C37EC0D-5907-42C6-87B2-B386B685392B}"/>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add an online storefront to the website.</a:t>
            </a:r>
          </a:p>
        </p:txBody>
      </p:sp>
    </p:spTree>
    <p:extLst>
      <p:ext uri="{BB962C8B-B14F-4D97-AF65-F5344CB8AC3E}">
        <p14:creationId xmlns:p14="http://schemas.microsoft.com/office/powerpoint/2010/main" val="85862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18457" y="951763"/>
            <a:ext cx="11473544" cy="352909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spcAft>
                <a:spcPts val="600"/>
              </a:spcAft>
              <a:defRPr/>
            </a:pPr>
            <a:r>
              <a:rPr lang="en-US" dirty="0">
                <a:solidFill>
                  <a:srgbClr val="44546A"/>
                </a:solidFill>
                <a:latin typeface="Calibri" panose="020F0502020204030204"/>
              </a:rPr>
              <a:t>The CEO is pleased with your choice to increase available customer service hours, add an online chat feature to support customers, and ensure that the tiered pricing structure will apply to specific customers. </a:t>
            </a:r>
          </a:p>
          <a:p>
            <a:pPr lvl="0">
              <a:spcAft>
                <a:spcPts val="600"/>
              </a:spcAft>
              <a:defRPr/>
            </a:pPr>
            <a:r>
              <a:rPr lang="en-US" dirty="0">
                <a:solidFill>
                  <a:srgbClr val="44546A"/>
                </a:solidFill>
                <a:latin typeface="Calibri" panose="020F0502020204030204"/>
              </a:rPr>
              <a:t>While you work to set up the online storefront and tie in these features, the CEO asks what impact these changes, along with the anticipated new business, will have on staffing requirements. You meet with her, and together you identify two possible staffing needs. </a:t>
            </a:r>
          </a:p>
          <a:p>
            <a:pPr lvl="0">
              <a:spcAft>
                <a:spcPts val="600"/>
              </a:spcAft>
              <a:defRPr/>
            </a:pPr>
            <a:r>
              <a:rPr lang="en-US" dirty="0">
                <a:solidFill>
                  <a:srgbClr val="44546A"/>
                </a:solidFill>
                <a:latin typeface="Calibri" panose="020F0502020204030204"/>
              </a:rPr>
              <a:t>Adding more customer service representatives to answer calls and participate in online chats will help answer customer questions and assist them in adjusting to the new web system. On the other hand, adding managers in the warehouse to oversee the potential new business will ensure that the increased sales volume is handled efficiently. </a:t>
            </a:r>
          </a:p>
          <a:p>
            <a:pPr lvl="0">
              <a:spcAft>
                <a:spcPts val="600"/>
              </a:spcAft>
              <a:defRPr/>
            </a:pPr>
            <a:r>
              <a:rPr lang="en-US" dirty="0">
                <a:solidFill>
                  <a:srgbClr val="44546A"/>
                </a:solidFill>
                <a:latin typeface="Calibri" panose="020F0502020204030204"/>
              </a:rPr>
              <a:t>Which do you suggest as the top priority?</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4508309"/>
            <a:ext cx="10617262" cy="1085283"/>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Hir</a:t>
            </a:r>
            <a:r>
              <a:rPr lang="en-US" dirty="0">
                <a:solidFill>
                  <a:srgbClr val="44546A"/>
                </a:solidFill>
                <a:latin typeface="Calibri" panose="020F0502020204030204"/>
                <a:hlinkClick r:id="rId3" action="ppaction://hlinksldjump"/>
              </a:rPr>
              <a:t>e more c</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ustomer service representatives.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Hire more warehouse managers.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449688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99057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16838"/>
            <a:ext cx="10515600" cy="640080"/>
          </a:xfrm>
        </p:spPr>
        <p:txBody>
          <a:bodyPr>
            <a:normAutofit/>
          </a:bodyPr>
          <a:lstStyle/>
          <a:p>
            <a:r>
              <a:rPr lang="en-US" sz="3600" dirty="0"/>
              <a:t>Level4_Decision</a:t>
            </a:r>
            <a:r>
              <a:rPr lang="en-US" sz="3600" baseline="0" dirty="0"/>
              <a:t>1</a:t>
            </a:r>
            <a:endParaRPr lang="en-US" sz="3600" dirty="0"/>
          </a:p>
        </p:txBody>
      </p:sp>
      <p:sp>
        <p:nvSpPr>
          <p:cNvPr id="10" name="TextBox 9">
            <a:extLst>
              <a:ext uri="{FF2B5EF4-FFF2-40B4-BE49-F238E27FC236}">
                <a16:creationId xmlns:a16="http://schemas.microsoft.com/office/drawing/2014/main" id="{14ECA94E-20E4-491E-8C57-0F60A16E6EA5}"/>
              </a:ext>
            </a:extLst>
          </p:cNvPr>
          <p:cNvSpPr txBox="1"/>
          <p:nvPr/>
        </p:nvSpPr>
        <p:spPr>
          <a:xfrm>
            <a:off x="795111" y="568178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Providing additional customer service staff will support customers through the transition with the new tools.</a:t>
            </a:r>
          </a:p>
        </p:txBody>
      </p:sp>
      <p:sp>
        <p:nvSpPr>
          <p:cNvPr id="12" name="Arrow: Pentagon 11">
            <a:extLst>
              <a:ext uri="{FF2B5EF4-FFF2-40B4-BE49-F238E27FC236}">
                <a16:creationId xmlns:a16="http://schemas.microsoft.com/office/drawing/2014/main" id="{9564D8B9-D730-4B52-BA57-CF79878D843B}"/>
              </a:ext>
            </a:extLst>
          </p:cNvPr>
          <p:cNvSpPr/>
          <p:nvPr/>
        </p:nvSpPr>
        <p:spPr>
          <a:xfrm>
            <a:off x="91214" y="452751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325CC97C-C623-49BE-B2A4-0E896AEB7252}"/>
              </a:ext>
            </a:extLst>
          </p:cNvPr>
          <p:cNvSpPr txBox="1"/>
          <p:nvPr/>
        </p:nvSpPr>
        <p:spPr>
          <a:xfrm>
            <a:off x="795115" y="6426878"/>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cloud service model</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7D1EF94B-493E-4CF9-B932-41518F358AC4}"/>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increase customer service hours.</a:t>
            </a:r>
          </a:p>
        </p:txBody>
      </p:sp>
    </p:spTree>
    <p:extLst>
      <p:ext uri="{BB962C8B-B14F-4D97-AF65-F5344CB8AC3E}">
        <p14:creationId xmlns:p14="http://schemas.microsoft.com/office/powerpoint/2010/main" val="4057178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957189"/>
            <a:ext cx="11396889" cy="346829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spcAft>
                <a:spcPts val="600"/>
              </a:spcAft>
              <a:defRPr/>
            </a:pPr>
            <a:r>
              <a:rPr lang="en-US" dirty="0">
                <a:solidFill>
                  <a:srgbClr val="44546A"/>
                </a:solidFill>
              </a:rPr>
              <a:t>You decided that standardizing prices will make the website design easier, as well as lessen the demand on customer service and sales representatives. </a:t>
            </a:r>
          </a:p>
          <a:p>
            <a:pPr>
              <a:spcAft>
                <a:spcPts val="600"/>
              </a:spcAft>
              <a:defRPr/>
            </a:pPr>
            <a:r>
              <a:rPr lang="en-US" dirty="0">
                <a:solidFill>
                  <a:srgbClr val="44546A"/>
                </a:solidFill>
              </a:rPr>
              <a:t>While you work to set up the online storefront and tie in these features, the CEO asks what impact these changes, along with the anticipated new business, will have on staffing requirements. You meet with her, and together you identify two possible staffing needs. </a:t>
            </a:r>
          </a:p>
          <a:p>
            <a:pPr lvl="0">
              <a:spcAft>
                <a:spcPts val="600"/>
              </a:spcAft>
              <a:defRPr/>
            </a:pPr>
            <a:r>
              <a:rPr lang="en-US" dirty="0">
                <a:solidFill>
                  <a:srgbClr val="44546A"/>
                </a:solidFill>
              </a:rPr>
              <a:t>Adding more customer service representatives to answer calls and participate in online chats will help answer customer questions and assist them in adjusting to the new web system. On the other hand, adding managers in the warehouse to oversee the potential new business will ensure that the increased sales volume is handled efficiently. </a:t>
            </a:r>
          </a:p>
          <a:p>
            <a:pPr lvl="0">
              <a:spcAft>
                <a:spcPts val="600"/>
              </a:spcAft>
              <a:defRPr/>
            </a:pPr>
            <a:r>
              <a:rPr lang="en-US" dirty="0">
                <a:solidFill>
                  <a:srgbClr val="44546A"/>
                </a:solidFill>
              </a:rPr>
              <a:t>Which do you suggest as the top priority?</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4411631"/>
            <a:ext cx="10617262" cy="1036541"/>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Hire more customer service representatives.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Hire more warehouse managers.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440020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89804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Level4_Decision2</a:t>
            </a:r>
          </a:p>
        </p:txBody>
      </p:sp>
      <p:sp>
        <p:nvSpPr>
          <p:cNvPr id="10" name="TextBox 9">
            <a:extLst>
              <a:ext uri="{FF2B5EF4-FFF2-40B4-BE49-F238E27FC236}">
                <a16:creationId xmlns:a16="http://schemas.microsoft.com/office/drawing/2014/main" id="{18644C52-6579-4965-AE1E-371443C70E2B}"/>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Providing additional customer service staff will support customers through the transition with the new tools.</a:t>
            </a:r>
          </a:p>
        </p:txBody>
      </p:sp>
      <p:sp>
        <p:nvSpPr>
          <p:cNvPr id="12" name="Arrow: Pentagon 11">
            <a:extLst>
              <a:ext uri="{FF2B5EF4-FFF2-40B4-BE49-F238E27FC236}">
                <a16:creationId xmlns:a16="http://schemas.microsoft.com/office/drawing/2014/main" id="{FB636CAB-9765-453E-873F-C81BA3EADFFB}"/>
              </a:ext>
            </a:extLst>
          </p:cNvPr>
          <p:cNvSpPr/>
          <p:nvPr/>
        </p:nvSpPr>
        <p:spPr>
          <a:xfrm>
            <a:off x="91214" y="444353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A087F5C4-057D-473A-B053-A887D938EC24}"/>
              </a:ext>
            </a:extLst>
          </p:cNvPr>
          <p:cNvSpPr txBox="1"/>
          <p:nvPr/>
        </p:nvSpPr>
        <p:spPr>
          <a:xfrm>
            <a:off x="795113" y="6147577"/>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a cloud service model</a:t>
            </a:r>
            <a:r>
              <a:rPr lang="en-US" dirty="0"/>
              <a:t>.</a:t>
            </a:r>
          </a:p>
          <a:p>
            <a:pPr lvl="0">
              <a:defRPr/>
            </a:pPr>
            <a:r>
              <a:rPr lang="en-US" kern="0" dirty="0">
                <a:solidFill>
                  <a:prstClr val="black"/>
                </a:solidFill>
              </a:rPr>
              <a:t>If Option B: Project is given to someone else.</a:t>
            </a:r>
          </a:p>
        </p:txBody>
      </p:sp>
      <p:sp>
        <p:nvSpPr>
          <p:cNvPr id="14" name="TextBox 13">
            <a:extLst>
              <a:ext uri="{FF2B5EF4-FFF2-40B4-BE49-F238E27FC236}">
                <a16:creationId xmlns:a16="http://schemas.microsoft.com/office/drawing/2014/main" id="{89FB8819-8FB2-4B50-BCB6-6A60C87D09C6}"/>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standardize prices.</a:t>
            </a:r>
          </a:p>
        </p:txBody>
      </p:sp>
    </p:spTree>
    <p:extLst>
      <p:ext uri="{BB962C8B-B14F-4D97-AF65-F5344CB8AC3E}">
        <p14:creationId xmlns:p14="http://schemas.microsoft.com/office/powerpoint/2010/main" val="550066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838200" y="957189"/>
            <a:ext cx="11353800" cy="356429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spcAft>
                <a:spcPts val="600"/>
              </a:spcAft>
              <a:defRPr/>
            </a:pPr>
            <a:r>
              <a:rPr lang="en-US" dirty="0"/>
              <a:t>Adding customer service representatives addresses the more immediate staffing need in supporting the chat feature and extending customer service hours. </a:t>
            </a:r>
            <a:r>
              <a:rPr lang="en-US" dirty="0">
                <a:solidFill>
                  <a:srgbClr val="44546A"/>
                </a:solidFill>
                <a:latin typeface="Calibri" panose="020F0502020204030204"/>
              </a:rPr>
              <a:t>In addition to requiring training for the customer service reps on the chat feature, you meet with the sales managers to discuss how these changes will affect the sales team.</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The sales representatives will use the website to manage their contact activity with customers. This will be done through customer relationship management (CRM) software. You have decided to use a cloud-hosted CRM solution so your sales reps can access information easily while they are traveling. </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To add this module to your website, you need to decide what kind of CRM software will be easiest to integrate with your website. What kind of cloud service model will be most simple to set up and connect to your website without having to manage additional servers yourself?</a:t>
            </a:r>
          </a:p>
        </p:txBody>
      </p:sp>
      <p:sp>
        <p:nvSpPr>
          <p:cNvPr id="7" name="TextBox 6">
            <a:extLst>
              <a:ext uri="{FF2B5EF4-FFF2-40B4-BE49-F238E27FC236}">
                <a16:creationId xmlns:a16="http://schemas.microsoft.com/office/drawing/2014/main" id="{40638D1B-4303-428C-B168-BC6714B92E66}"/>
              </a:ext>
            </a:extLst>
          </p:cNvPr>
          <p:cNvSpPr txBox="1"/>
          <p:nvPr/>
        </p:nvSpPr>
        <p:spPr>
          <a:xfrm>
            <a:off x="1583204" y="4333846"/>
            <a:ext cx="10608796" cy="97177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Software as a Service (SaaS).</a:t>
            </a:r>
            <a:r>
              <a:rPr lang="en-US" dirty="0">
                <a:solidFill>
                  <a:srgbClr val="44546A"/>
                </a:solidFill>
                <a:latin typeface="Calibri" panose="020F0502020204030204"/>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110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Infrastructure as a Service (IaaS).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63917" y="431309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67195" y="482958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Level5_Decision</a:t>
            </a:r>
            <a:r>
              <a:rPr lang="en-US" sz="3600" baseline="0" dirty="0"/>
              <a:t>1</a:t>
            </a:r>
            <a:endParaRPr lang="en-US" sz="3600" dirty="0"/>
          </a:p>
        </p:txBody>
      </p:sp>
      <p:sp>
        <p:nvSpPr>
          <p:cNvPr id="10" name="TextBox 9">
            <a:extLst>
              <a:ext uri="{FF2B5EF4-FFF2-40B4-BE49-F238E27FC236}">
                <a16:creationId xmlns:a16="http://schemas.microsoft.com/office/drawing/2014/main" id="{8DFFC668-2F59-4C8C-8B12-851BD6B61DB3}"/>
              </a:ext>
            </a:extLst>
          </p:cNvPr>
          <p:cNvSpPr txBox="1"/>
          <p:nvPr/>
        </p:nvSpPr>
        <p:spPr>
          <a:xfrm>
            <a:off x="795113" y="5401517"/>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SaaS CRM is simplest to set up without having to manage the underlying servers.</a:t>
            </a:r>
          </a:p>
        </p:txBody>
      </p:sp>
      <p:sp>
        <p:nvSpPr>
          <p:cNvPr id="12" name="Arrow: Pentagon 11">
            <a:extLst>
              <a:ext uri="{FF2B5EF4-FFF2-40B4-BE49-F238E27FC236}">
                <a16:creationId xmlns:a16="http://schemas.microsoft.com/office/drawing/2014/main" id="{8C0820A1-EF70-466A-82AA-4CACC4A94B14}"/>
              </a:ext>
            </a:extLst>
          </p:cNvPr>
          <p:cNvSpPr/>
          <p:nvPr/>
        </p:nvSpPr>
        <p:spPr>
          <a:xfrm>
            <a:off x="91214" y="435956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B2D14F03-77FE-4504-B325-1DD1403F47FF}"/>
              </a:ext>
            </a:extLst>
          </p:cNvPr>
          <p:cNvSpPr txBox="1"/>
          <p:nvPr/>
        </p:nvSpPr>
        <p:spPr>
          <a:xfrm>
            <a:off x="795113" y="614374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to use a chatbot or a live person for assistance</a:t>
            </a:r>
            <a:r>
              <a:rPr lang="en-US" dirty="0"/>
              <a:t>.</a:t>
            </a:r>
          </a:p>
          <a:p>
            <a:pPr lvl="0">
              <a:defRPr/>
            </a:pPr>
            <a:r>
              <a:rPr lang="en-US" kern="0" dirty="0">
                <a:solidFill>
                  <a:prstClr val="black"/>
                </a:solidFill>
              </a:rPr>
              <a:t>If Option B: Project is given to someone else.</a:t>
            </a:r>
          </a:p>
        </p:txBody>
      </p:sp>
      <p:sp>
        <p:nvSpPr>
          <p:cNvPr id="14" name="TextBox 13">
            <a:extLst>
              <a:ext uri="{FF2B5EF4-FFF2-40B4-BE49-F238E27FC236}">
                <a16:creationId xmlns:a16="http://schemas.microsoft.com/office/drawing/2014/main" id="{FB1A7107-2D2F-4FEB-87E8-C90EF008E624}"/>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hire new customer service reps.</a:t>
            </a:r>
          </a:p>
        </p:txBody>
      </p:sp>
    </p:spTree>
    <p:extLst>
      <p:ext uri="{BB962C8B-B14F-4D97-AF65-F5344CB8AC3E}">
        <p14:creationId xmlns:p14="http://schemas.microsoft.com/office/powerpoint/2010/main" val="2810493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968613"/>
            <a:ext cx="11396889" cy="2767932"/>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spcAft>
                <a:spcPts val="600"/>
              </a:spcAft>
              <a:defRPr/>
            </a:pPr>
            <a:r>
              <a:rPr lang="en-US" dirty="0">
                <a:solidFill>
                  <a:srgbClr val="44546A"/>
                </a:solidFill>
              </a:rPr>
              <a:t>Now that you have made your staffing recommendations to grow the team, you meet with the sales managers to discuss how the new website features will affect the sales team.</a:t>
            </a:r>
          </a:p>
          <a:p>
            <a:pPr lvl="0">
              <a:spcAft>
                <a:spcPts val="600"/>
              </a:spcAft>
              <a:defRPr/>
            </a:pPr>
            <a:r>
              <a:rPr lang="en-US" dirty="0">
                <a:solidFill>
                  <a:srgbClr val="44546A"/>
                </a:solidFill>
              </a:rPr>
              <a:t>The sales representatives will use the website to manage their contact activity with customers. This will be done through customer relationship management (CRM) software. You have decided to use a cloud-hosted CRM solution so your sales reps can access information easily while they are traveling. </a:t>
            </a:r>
          </a:p>
          <a:p>
            <a:pPr lvl="0">
              <a:spcAft>
                <a:spcPts val="600"/>
              </a:spcAft>
              <a:defRPr/>
            </a:pPr>
            <a:r>
              <a:rPr lang="en-US" dirty="0">
                <a:solidFill>
                  <a:srgbClr val="44546A"/>
                </a:solidFill>
              </a:rPr>
              <a:t>To add this module to your website, you need to decide what kind of CRM software will be easiest to integrate with your website. What kind of cloud service model will be most simple to set up and connect to your website without having to manage additional servers yourself?</a:t>
            </a:r>
          </a:p>
        </p:txBody>
      </p:sp>
      <p:sp>
        <p:nvSpPr>
          <p:cNvPr id="7" name="TextBox 6">
            <a:extLst>
              <a:ext uri="{FF2B5EF4-FFF2-40B4-BE49-F238E27FC236}">
                <a16:creationId xmlns:a16="http://schemas.microsoft.com/office/drawing/2014/main" id="{40638D1B-4303-428C-B168-BC6714B92E66}"/>
              </a:ext>
            </a:extLst>
          </p:cNvPr>
          <p:cNvSpPr txBox="1"/>
          <p:nvPr/>
        </p:nvSpPr>
        <p:spPr>
          <a:xfrm>
            <a:off x="1540871" y="3937984"/>
            <a:ext cx="10651129" cy="110987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3" action="ppaction://hlinksldjump"/>
              </a:rPr>
              <a:t>Software as a Service (SaaS).</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Infrastructure as a Service (IaaS).</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21584" y="392656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24862" y="456436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17037"/>
            <a:ext cx="10515600" cy="640080"/>
          </a:xfrm>
        </p:spPr>
        <p:txBody>
          <a:bodyPr>
            <a:normAutofit/>
          </a:bodyPr>
          <a:lstStyle/>
          <a:p>
            <a:r>
              <a:rPr lang="en-US" sz="3600" dirty="0"/>
              <a:t>Level5_Decision2</a:t>
            </a:r>
          </a:p>
        </p:txBody>
      </p:sp>
      <p:sp>
        <p:nvSpPr>
          <p:cNvPr id="10" name="TextBox 9">
            <a:extLst>
              <a:ext uri="{FF2B5EF4-FFF2-40B4-BE49-F238E27FC236}">
                <a16:creationId xmlns:a16="http://schemas.microsoft.com/office/drawing/2014/main" id="{5973CA65-EA4A-442D-B86A-2060C4C7589D}"/>
              </a:ext>
            </a:extLst>
          </p:cNvPr>
          <p:cNvSpPr txBox="1"/>
          <p:nvPr/>
        </p:nvSpPr>
        <p:spPr>
          <a:xfrm>
            <a:off x="795113" y="5420179"/>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SaaS CRM is simplest to set up without having to manage the underlying servers.</a:t>
            </a:r>
          </a:p>
        </p:txBody>
      </p:sp>
      <p:sp>
        <p:nvSpPr>
          <p:cNvPr id="12" name="Arrow: Pentagon 11">
            <a:extLst>
              <a:ext uri="{FF2B5EF4-FFF2-40B4-BE49-F238E27FC236}">
                <a16:creationId xmlns:a16="http://schemas.microsoft.com/office/drawing/2014/main" id="{C6605589-26B4-442F-AE39-80A65891FC56}"/>
              </a:ext>
            </a:extLst>
          </p:cNvPr>
          <p:cNvSpPr/>
          <p:nvPr/>
        </p:nvSpPr>
        <p:spPr>
          <a:xfrm>
            <a:off x="91214" y="395834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852C578F-69EC-4915-834E-27CF1E1260E9}"/>
              </a:ext>
            </a:extLst>
          </p:cNvPr>
          <p:cNvSpPr txBox="1"/>
          <p:nvPr/>
        </p:nvSpPr>
        <p:spPr>
          <a:xfrm>
            <a:off x="795111" y="6148768"/>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to use a chatbot or a live person for assistance</a:t>
            </a:r>
            <a:r>
              <a:rPr lang="en-US" dirty="0"/>
              <a:t>.</a:t>
            </a:r>
          </a:p>
          <a:p>
            <a:pPr lvl="0">
              <a:defRPr/>
            </a:pPr>
            <a:r>
              <a:rPr lang="en-US" kern="0" dirty="0">
                <a:solidFill>
                  <a:prstClr val="black"/>
                </a:solidFill>
              </a:rPr>
              <a:t>If Option B: Project is given to someone else.</a:t>
            </a:r>
          </a:p>
        </p:txBody>
      </p:sp>
      <p:sp>
        <p:nvSpPr>
          <p:cNvPr id="14" name="TextBox 13">
            <a:extLst>
              <a:ext uri="{FF2B5EF4-FFF2-40B4-BE49-F238E27FC236}">
                <a16:creationId xmlns:a16="http://schemas.microsoft.com/office/drawing/2014/main" id="{40AB1484-987D-4288-A83C-9A52AC7D8015}"/>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hire more warehouse managers.</a:t>
            </a:r>
          </a:p>
        </p:txBody>
      </p:sp>
    </p:spTree>
    <p:extLst>
      <p:ext uri="{BB962C8B-B14F-4D97-AF65-F5344CB8AC3E}">
        <p14:creationId xmlns:p14="http://schemas.microsoft.com/office/powerpoint/2010/main" val="3906725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968612"/>
            <a:ext cx="11396889" cy="276341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You chose to use a SaaS CRM solution, and that turns out to be a great idea. The CRM provider has a lot of experience with the type of website you are setting up, and their software will easily integrate with your website. </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As you </a:t>
            </a:r>
            <a:r>
              <a:rPr lang="en-US" dirty="0">
                <a:solidFill>
                  <a:srgbClr val="44546A"/>
                </a:solidFill>
                <a:latin typeface="Calibri" panose="020F0502020204030204"/>
              </a:rPr>
              <a:t>a</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re filling out the information in your proposal the night before it is due, you have a question about the pricing schedule. You go to the CRM provider’s website to find contact information and see two options on how to contact them: live chat with a chatbot, or the company’s customer service phone number. </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Which approach will you use?</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996766"/>
            <a:ext cx="10617262" cy="1163063"/>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Call the phone number.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Start a chat with the chatbot.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98534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62314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18241"/>
            <a:ext cx="10515600" cy="640080"/>
          </a:xfrm>
        </p:spPr>
        <p:txBody>
          <a:bodyPr>
            <a:normAutofit/>
          </a:bodyPr>
          <a:lstStyle/>
          <a:p>
            <a:r>
              <a:rPr lang="en-US" sz="3600" dirty="0"/>
              <a:t>Level6_Decision</a:t>
            </a:r>
            <a:r>
              <a:rPr lang="en-US" sz="3600" baseline="0" dirty="0"/>
              <a:t>1</a:t>
            </a:r>
            <a:endParaRPr lang="en-US" sz="3600" dirty="0"/>
          </a:p>
        </p:txBody>
      </p:sp>
      <p:sp>
        <p:nvSpPr>
          <p:cNvPr id="10" name="TextBox 9">
            <a:extLst>
              <a:ext uri="{FF2B5EF4-FFF2-40B4-BE49-F238E27FC236}">
                <a16:creationId xmlns:a16="http://schemas.microsoft.com/office/drawing/2014/main" id="{AB726FD0-1EFC-4869-9204-4ED3F03440CE}"/>
              </a:ext>
            </a:extLst>
          </p:cNvPr>
          <p:cNvSpPr txBox="1"/>
          <p:nvPr/>
        </p:nvSpPr>
        <p:spPr>
          <a:xfrm>
            <a:off x="795113" y="5354864"/>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Either option is a legitimate method of contacting customer service.</a:t>
            </a:r>
          </a:p>
        </p:txBody>
      </p:sp>
      <p:sp>
        <p:nvSpPr>
          <p:cNvPr id="12" name="Arrow: Pentagon 11">
            <a:extLst>
              <a:ext uri="{FF2B5EF4-FFF2-40B4-BE49-F238E27FC236}">
                <a16:creationId xmlns:a16="http://schemas.microsoft.com/office/drawing/2014/main" id="{BB750904-EA97-483C-904C-08284640B683}"/>
              </a:ext>
            </a:extLst>
          </p:cNvPr>
          <p:cNvSpPr/>
          <p:nvPr/>
        </p:nvSpPr>
        <p:spPr>
          <a:xfrm>
            <a:off x="91214" y="398633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CCC03592-7F27-4DE7-BE63-CCD56409A04E}"/>
              </a:ext>
            </a:extLst>
          </p:cNvPr>
          <p:cNvSpPr txBox="1"/>
          <p:nvPr/>
        </p:nvSpPr>
        <p:spPr>
          <a:xfrm>
            <a:off x="795113" y="6114848"/>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Sit on hold for a while, but eventually get a live person</a:t>
            </a:r>
            <a:r>
              <a:rPr lang="en-US" dirty="0"/>
              <a:t>.</a:t>
            </a:r>
          </a:p>
          <a:p>
            <a:pPr lvl="0">
              <a:defRPr/>
            </a:pPr>
            <a:r>
              <a:rPr lang="en-US" kern="0" dirty="0">
                <a:solidFill>
                  <a:prstClr val="black"/>
                </a:solidFill>
              </a:rPr>
              <a:t>If Option B: Student will need to choose an AI command.</a:t>
            </a:r>
          </a:p>
        </p:txBody>
      </p:sp>
      <p:sp>
        <p:nvSpPr>
          <p:cNvPr id="14" name="TextBox 13">
            <a:extLst>
              <a:ext uri="{FF2B5EF4-FFF2-40B4-BE49-F238E27FC236}">
                <a16:creationId xmlns:a16="http://schemas.microsoft.com/office/drawing/2014/main" id="{37B3A594-AE8A-4D42-BD8F-92A173756510}"/>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SaaS CRM.</a:t>
            </a:r>
          </a:p>
        </p:txBody>
      </p:sp>
      <p:sp>
        <p:nvSpPr>
          <p:cNvPr id="15" name="Arrow: Pentagon 14">
            <a:extLst>
              <a:ext uri="{FF2B5EF4-FFF2-40B4-BE49-F238E27FC236}">
                <a16:creationId xmlns:a16="http://schemas.microsoft.com/office/drawing/2014/main" id="{A90D167D-BE14-4A82-AF87-D4388918B330}"/>
              </a:ext>
            </a:extLst>
          </p:cNvPr>
          <p:cNvSpPr/>
          <p:nvPr/>
        </p:nvSpPr>
        <p:spPr>
          <a:xfrm>
            <a:off x="91214" y="462314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extLst>
      <p:ext uri="{BB962C8B-B14F-4D97-AF65-F5344CB8AC3E}">
        <p14:creationId xmlns:p14="http://schemas.microsoft.com/office/powerpoint/2010/main" val="1826469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957189"/>
            <a:ext cx="11396888" cy="2755302"/>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spcAft>
                <a:spcPts val="600"/>
              </a:spcAft>
              <a:defRPr/>
            </a:pPr>
            <a:r>
              <a:rPr lang="en-US" dirty="0">
                <a:solidFill>
                  <a:srgbClr val="44546A"/>
                </a:solidFill>
              </a:rPr>
              <a:t>You chose to use a SaaS CRM solution, and that turns out to be a great idea. The CRM provider has a lot of experience with the type of website you are setting up, and their software will easily integrate with your website. </a:t>
            </a:r>
          </a:p>
          <a:p>
            <a:pPr lvl="0">
              <a:spcAft>
                <a:spcPts val="600"/>
              </a:spcAft>
              <a:defRPr/>
            </a:pPr>
            <a:r>
              <a:rPr lang="en-US" dirty="0">
                <a:solidFill>
                  <a:srgbClr val="44546A"/>
                </a:solidFill>
              </a:rPr>
              <a:t>As you are filling out the information in your proposal the night before it is due, you have a question about the pricing schedule. You go to the CRM provider’s website to find contact information and see that you have an option on how to contact them: live chat with a chatbot, or the company’s customer service phone number. </a:t>
            </a:r>
          </a:p>
          <a:p>
            <a:pPr lvl="0">
              <a:spcAft>
                <a:spcPts val="600"/>
              </a:spcAft>
              <a:defRPr/>
            </a:pPr>
            <a:r>
              <a:rPr lang="en-US" dirty="0">
                <a:solidFill>
                  <a:srgbClr val="44546A"/>
                </a:solidFill>
              </a:rPr>
              <a:t>Which approach will you use?</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950118"/>
            <a:ext cx="10617262" cy="115372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Call the phone number.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Start a chat with the chatbot.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93869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57649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Level6_Decision2</a:t>
            </a:r>
          </a:p>
        </p:txBody>
      </p:sp>
      <p:sp>
        <p:nvSpPr>
          <p:cNvPr id="10" name="TextBox 9">
            <a:extLst>
              <a:ext uri="{FF2B5EF4-FFF2-40B4-BE49-F238E27FC236}">
                <a16:creationId xmlns:a16="http://schemas.microsoft.com/office/drawing/2014/main" id="{721FB349-F64C-415E-B2F1-4339FAAAB330}"/>
              </a:ext>
            </a:extLst>
          </p:cNvPr>
          <p:cNvSpPr txBox="1"/>
          <p:nvPr/>
        </p:nvSpPr>
        <p:spPr>
          <a:xfrm>
            <a:off x="795113" y="5410848"/>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Either option is a legitimate method of contacting customer service.</a:t>
            </a:r>
          </a:p>
        </p:txBody>
      </p:sp>
      <p:sp>
        <p:nvSpPr>
          <p:cNvPr id="12" name="Arrow: Pentagon 11">
            <a:extLst>
              <a:ext uri="{FF2B5EF4-FFF2-40B4-BE49-F238E27FC236}">
                <a16:creationId xmlns:a16="http://schemas.microsoft.com/office/drawing/2014/main" id="{35A1D0B3-D4D1-4633-837D-7592D547DCF1}"/>
              </a:ext>
            </a:extLst>
          </p:cNvPr>
          <p:cNvSpPr/>
          <p:nvPr/>
        </p:nvSpPr>
        <p:spPr>
          <a:xfrm>
            <a:off x="91214" y="394902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1182B41F-8F64-45F8-A0F0-637B344BF4DE}"/>
              </a:ext>
            </a:extLst>
          </p:cNvPr>
          <p:cNvSpPr txBox="1"/>
          <p:nvPr/>
        </p:nvSpPr>
        <p:spPr>
          <a:xfrm>
            <a:off x="795111" y="6135088"/>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Sit on hold for a while, but eventually get a live person</a:t>
            </a:r>
            <a:r>
              <a:rPr lang="en-US" dirty="0"/>
              <a:t>.</a:t>
            </a:r>
          </a:p>
          <a:p>
            <a:pPr lvl="0">
              <a:defRPr/>
            </a:pPr>
            <a:r>
              <a:rPr lang="en-US" kern="0" dirty="0">
                <a:solidFill>
                  <a:prstClr val="black"/>
                </a:solidFill>
              </a:rPr>
              <a:t>If Option B: Student will need to choose an AI command.</a:t>
            </a:r>
          </a:p>
        </p:txBody>
      </p:sp>
      <p:sp>
        <p:nvSpPr>
          <p:cNvPr id="14" name="TextBox 13">
            <a:extLst>
              <a:ext uri="{FF2B5EF4-FFF2-40B4-BE49-F238E27FC236}">
                <a16:creationId xmlns:a16="http://schemas.microsoft.com/office/drawing/2014/main" id="{CBFD6F61-2531-42CB-A64A-7C85549C624E}"/>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install a CRM solution on IaaS cloud services.</a:t>
            </a:r>
          </a:p>
        </p:txBody>
      </p:sp>
      <p:sp>
        <p:nvSpPr>
          <p:cNvPr id="15" name="Arrow: Pentagon 14">
            <a:extLst>
              <a:ext uri="{FF2B5EF4-FFF2-40B4-BE49-F238E27FC236}">
                <a16:creationId xmlns:a16="http://schemas.microsoft.com/office/drawing/2014/main" id="{B5F59B9D-5174-4790-8E7E-A9339B3650F5}"/>
              </a:ext>
            </a:extLst>
          </p:cNvPr>
          <p:cNvSpPr/>
          <p:nvPr/>
        </p:nvSpPr>
        <p:spPr>
          <a:xfrm>
            <a:off x="91214" y="457697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extLst>
      <p:ext uri="{BB962C8B-B14F-4D97-AF65-F5344CB8AC3E}">
        <p14:creationId xmlns:p14="http://schemas.microsoft.com/office/powerpoint/2010/main" val="2992254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889691" y="1071717"/>
            <a:ext cx="10412618" cy="270272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129513"/>
            <a:ext cx="4531395" cy="8195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Level6_Story1</a:t>
            </a:r>
          </a:p>
        </p:txBody>
      </p:sp>
      <p:sp>
        <p:nvSpPr>
          <p:cNvPr id="2" name="Rectangle 1">
            <a:extLst>
              <a:ext uri="{FF2B5EF4-FFF2-40B4-BE49-F238E27FC236}">
                <a16:creationId xmlns:a16="http://schemas.microsoft.com/office/drawing/2014/main" id="{D959EB22-42E4-449E-A98A-795F09C25FDD}"/>
              </a:ext>
            </a:extLst>
          </p:cNvPr>
          <p:cNvSpPr/>
          <p:nvPr/>
        </p:nvSpPr>
        <p:spPr>
          <a:xfrm>
            <a:off x="795111" y="1407622"/>
            <a:ext cx="10412615" cy="723275"/>
          </a:xfrm>
          <a:prstGeom prst="rect">
            <a:avLst/>
          </a:prstGeom>
        </p:spPr>
        <p:txBody>
          <a:bodyPr wrap="square">
            <a:spAutoFit/>
          </a:bodyPr>
          <a:lstStyle/>
          <a:p>
            <a:pPr lvl="0">
              <a:defRPr/>
            </a:pPr>
            <a:r>
              <a:rPr lang="en-US" sz="2050" dirty="0">
                <a:solidFill>
                  <a:srgbClr val="44546A"/>
                </a:solidFill>
                <a:cs typeface="Calibri"/>
              </a:rPr>
              <a:t>You sit on hold for a long time waiting for someone available to answer your questions. When you finally do connect with a person, he is able to answer all of your questions.</a:t>
            </a:r>
          </a:p>
        </p:txBody>
      </p:sp>
      <p:sp>
        <p:nvSpPr>
          <p:cNvPr id="8" name="TextBox 7">
            <a:extLst>
              <a:ext uri="{FF2B5EF4-FFF2-40B4-BE49-F238E27FC236}">
                <a16:creationId xmlns:a16="http://schemas.microsoft.com/office/drawing/2014/main" id="{1204608A-D7B0-4A26-AA26-BA6668101F4F}"/>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CEO is thrilled</a:t>
            </a:r>
            <a:r>
              <a:rPr lang="en-US" kern="0" dirty="0">
                <a:solidFill>
                  <a:prstClr val="black"/>
                </a:solidFill>
                <a:latin typeface="Calibri" panose="020F0502020204030204"/>
              </a:rPr>
              <a:t> with the proposal</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27F5414-3013-459C-8790-81176E053114}"/>
              </a:ext>
            </a:extLst>
          </p:cNvPr>
          <p:cNvSpPr txBox="1"/>
          <p:nvPr/>
        </p:nvSpPr>
        <p:spPr>
          <a:xfrm>
            <a:off x="795111" y="7091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call customer service.</a:t>
            </a:r>
          </a:p>
        </p:txBody>
      </p:sp>
    </p:spTree>
    <p:extLst>
      <p:ext uri="{BB962C8B-B14F-4D97-AF65-F5344CB8AC3E}">
        <p14:creationId xmlns:p14="http://schemas.microsoft.com/office/powerpoint/2010/main" val="4236368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1370303"/>
            <a:ext cx="10412615" cy="96235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defRPr/>
            </a:pPr>
            <a:r>
              <a:rPr lang="en-US" sz="2000" dirty="0">
                <a:solidFill>
                  <a:srgbClr val="44546A"/>
                </a:solidFill>
              </a:rPr>
              <a:t>You sit on hold for a long time waiting for someone available to answer your questions. When you finally do connect with a person, he is able to answer all of your questions.</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10677482" cy="8195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Level6_Story2</a:t>
            </a:r>
          </a:p>
        </p:txBody>
      </p:sp>
      <p:sp>
        <p:nvSpPr>
          <p:cNvPr id="5" name="TextBox 4">
            <a:extLst>
              <a:ext uri="{FF2B5EF4-FFF2-40B4-BE49-F238E27FC236}">
                <a16:creationId xmlns:a16="http://schemas.microsoft.com/office/drawing/2014/main" id="{2FCDD07D-D57D-462F-B5BF-AE143E9B2D4D}"/>
              </a:ext>
            </a:extLst>
          </p:cNvPr>
          <p:cNvSpPr txBox="1"/>
          <p:nvPr/>
        </p:nvSpPr>
        <p:spPr>
          <a:xfrm>
            <a:off x="795111" y="6270143"/>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The proposal is disorganized and needs more work</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05ED2BF-7A7A-4681-B000-17E33147E37A}"/>
              </a:ext>
            </a:extLst>
          </p:cNvPr>
          <p:cNvSpPr txBox="1"/>
          <p:nvPr/>
        </p:nvSpPr>
        <p:spPr>
          <a:xfrm>
            <a:off x="795111" y="69982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a:t>
            </a:r>
            <a:r>
              <a:rPr lang="en-US" dirty="0">
                <a:solidFill>
                  <a:prstClr val="black"/>
                </a:solidFill>
              </a:rPr>
              <a:t>chose to call customer service.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66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1087093"/>
            <a:ext cx="11396889" cy="77395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The chatbot immediately connects to your chat and asks what help you need. How should you respond?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97316" y="2252806"/>
            <a:ext cx="10075395" cy="192318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Ask for clarification on pricing for the product you are interested in.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Give a detailed explanation of how you are planning to use the CRM product, and then wait for the chatbot to explain the pricing options.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78029" y="22413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81307" y="318398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Level7_Decision</a:t>
            </a:r>
            <a:r>
              <a:rPr lang="en-US" sz="3600" baseline="0" dirty="0"/>
              <a:t>1</a:t>
            </a:r>
            <a:endParaRPr lang="en-US" sz="3600" dirty="0"/>
          </a:p>
        </p:txBody>
      </p:sp>
      <p:sp>
        <p:nvSpPr>
          <p:cNvPr id="10" name="TextBox 9">
            <a:extLst>
              <a:ext uri="{FF2B5EF4-FFF2-40B4-BE49-F238E27FC236}">
                <a16:creationId xmlns:a16="http://schemas.microsoft.com/office/drawing/2014/main" id="{8546D720-C46A-41AE-A968-31F7AD944C9E}"/>
              </a:ext>
            </a:extLst>
          </p:cNvPr>
          <p:cNvSpPr txBox="1"/>
          <p:nvPr/>
        </p:nvSpPr>
        <p:spPr>
          <a:xfrm>
            <a:off x="795113" y="5345531"/>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well-formed, efficient request is more easily understood by the AI-powered chatbot.</a:t>
            </a:r>
          </a:p>
        </p:txBody>
      </p:sp>
      <p:sp>
        <p:nvSpPr>
          <p:cNvPr id="12" name="Arrow: Pentagon 11">
            <a:extLst>
              <a:ext uri="{FF2B5EF4-FFF2-40B4-BE49-F238E27FC236}">
                <a16:creationId xmlns:a16="http://schemas.microsoft.com/office/drawing/2014/main" id="{2939C7DE-C598-491C-8D21-6DBE3186F2A8}"/>
              </a:ext>
            </a:extLst>
          </p:cNvPr>
          <p:cNvSpPr/>
          <p:nvPr/>
        </p:nvSpPr>
        <p:spPr>
          <a:xfrm>
            <a:off x="91214" y="227883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FBBA63A0-19F1-4EBE-8644-082E8B38D967}"/>
              </a:ext>
            </a:extLst>
          </p:cNvPr>
          <p:cNvSpPr txBox="1"/>
          <p:nvPr/>
        </p:nvSpPr>
        <p:spPr>
          <a:xfrm>
            <a:off x="795111" y="6121767"/>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CEO is thrilled with the proposal</a:t>
            </a:r>
            <a:r>
              <a:rPr lang="en-US" dirty="0"/>
              <a:t>.</a:t>
            </a:r>
          </a:p>
          <a:p>
            <a:pPr lvl="0">
              <a:defRPr/>
            </a:pPr>
            <a:r>
              <a:rPr lang="en-US" kern="0" dirty="0">
                <a:solidFill>
                  <a:prstClr val="black"/>
                </a:solidFill>
              </a:rPr>
              <a:t>If Option B: Chatbot doesn’t understand request.</a:t>
            </a:r>
          </a:p>
        </p:txBody>
      </p:sp>
      <p:sp>
        <p:nvSpPr>
          <p:cNvPr id="14" name="TextBox 13">
            <a:extLst>
              <a:ext uri="{FF2B5EF4-FFF2-40B4-BE49-F238E27FC236}">
                <a16:creationId xmlns:a16="http://schemas.microsoft.com/office/drawing/2014/main" id="{033B8743-6166-4E9F-A676-8BBC7DFDF231}"/>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chatbot.</a:t>
            </a:r>
          </a:p>
        </p:txBody>
      </p:sp>
    </p:spTree>
    <p:extLst>
      <p:ext uri="{BB962C8B-B14F-4D97-AF65-F5344CB8AC3E}">
        <p14:creationId xmlns:p14="http://schemas.microsoft.com/office/powerpoint/2010/main" val="1048957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1080581"/>
            <a:ext cx="11396889" cy="53176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The chatbot immediately connects to your chat and asks what help you need. How should you respond?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97316" y="2243474"/>
            <a:ext cx="10075395" cy="192318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Ask for clarification on pricing for the product you are interested in.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Give a detailed explanation of how you are planning to use the CRM product, and then wait for the chatbot to explain the pricing options.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[Level7_Decision2_OptionB]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78029" y="223205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81307" y="317465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Level7_Decision2</a:t>
            </a:r>
          </a:p>
        </p:txBody>
      </p:sp>
      <p:sp>
        <p:nvSpPr>
          <p:cNvPr id="10" name="TextBox 9">
            <a:extLst>
              <a:ext uri="{FF2B5EF4-FFF2-40B4-BE49-F238E27FC236}">
                <a16:creationId xmlns:a16="http://schemas.microsoft.com/office/drawing/2014/main" id="{DFAD88B6-480D-46FC-BBE5-4AC11F5CD56D}"/>
              </a:ext>
            </a:extLst>
          </p:cNvPr>
          <p:cNvSpPr txBox="1"/>
          <p:nvPr/>
        </p:nvSpPr>
        <p:spPr>
          <a:xfrm>
            <a:off x="795113" y="526156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well-formed, efficient request is more easily understood by the </a:t>
            </a:r>
            <a:r>
              <a:rPr lang="en-US">
                <a:solidFill>
                  <a:srgbClr val="C00000"/>
                </a:solidFill>
              </a:rPr>
              <a:t>AI-powered chatbot.</a:t>
            </a:r>
            <a:endParaRPr lang="en-US" dirty="0">
              <a:solidFill>
                <a:srgbClr val="C00000"/>
              </a:solidFill>
            </a:endParaRPr>
          </a:p>
        </p:txBody>
      </p:sp>
      <p:sp>
        <p:nvSpPr>
          <p:cNvPr id="12" name="Arrow: Pentagon 11">
            <a:extLst>
              <a:ext uri="{FF2B5EF4-FFF2-40B4-BE49-F238E27FC236}">
                <a16:creationId xmlns:a16="http://schemas.microsoft.com/office/drawing/2014/main" id="{3C9CCA87-AD79-43B3-AC75-94BCBB65F343}"/>
              </a:ext>
            </a:extLst>
          </p:cNvPr>
          <p:cNvSpPr/>
          <p:nvPr/>
        </p:nvSpPr>
        <p:spPr>
          <a:xfrm>
            <a:off x="91214" y="226949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42A6F4C8-32AA-4BBD-AAFB-5B526D94FC50}"/>
              </a:ext>
            </a:extLst>
          </p:cNvPr>
          <p:cNvSpPr txBox="1"/>
          <p:nvPr/>
        </p:nvSpPr>
        <p:spPr>
          <a:xfrm>
            <a:off x="795115" y="6090978"/>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The proposal is disorganized and needs more work</a:t>
            </a:r>
            <a:r>
              <a:rPr lang="en-US" dirty="0"/>
              <a:t>.</a:t>
            </a:r>
          </a:p>
          <a:p>
            <a:pPr lvl="0">
              <a:defRPr/>
            </a:pPr>
            <a:r>
              <a:rPr lang="en-US" kern="0" dirty="0">
                <a:solidFill>
                  <a:prstClr val="black"/>
                </a:solidFill>
              </a:rPr>
              <a:t>If Option B: Chatbot doesn’t understand request.</a:t>
            </a:r>
          </a:p>
        </p:txBody>
      </p:sp>
      <p:sp>
        <p:nvSpPr>
          <p:cNvPr id="14" name="TextBox 13">
            <a:extLst>
              <a:ext uri="{FF2B5EF4-FFF2-40B4-BE49-F238E27FC236}">
                <a16:creationId xmlns:a16="http://schemas.microsoft.com/office/drawing/2014/main" id="{3B9104DE-DF88-4298-8460-319282B967EA}"/>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chatbot.</a:t>
            </a:r>
          </a:p>
        </p:txBody>
      </p:sp>
    </p:spTree>
    <p:extLst>
      <p:ext uri="{BB962C8B-B14F-4D97-AF65-F5344CB8AC3E}">
        <p14:creationId xmlns:p14="http://schemas.microsoft.com/office/powerpoint/2010/main" val="1092450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1370299"/>
            <a:ext cx="11396888" cy="139156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defRPr/>
            </a:pPr>
            <a:r>
              <a:rPr lang="en-US" dirty="0">
                <a:solidFill>
                  <a:srgbClr val="44546A"/>
                </a:solidFill>
              </a:rPr>
              <a:t>The chatbot does not understand your question. You try to break it down into a series of simpler questions, but after a while you give up and ask to be transferred to a live person. You sit on hold for a long time waiting for someone available to answer your questions. When you finally do connect with a person, he is able to answer all of your questions.</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10677482" cy="8195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Level7_Story1</a:t>
            </a:r>
          </a:p>
        </p:txBody>
      </p:sp>
      <p:sp>
        <p:nvSpPr>
          <p:cNvPr id="5" name="TextBox 4">
            <a:extLst>
              <a:ext uri="{FF2B5EF4-FFF2-40B4-BE49-F238E27FC236}">
                <a16:creationId xmlns:a16="http://schemas.microsoft.com/office/drawing/2014/main" id="{7F691A3E-82B2-477F-B26D-37C69A524117}"/>
              </a:ext>
            </a:extLst>
          </p:cNvPr>
          <p:cNvSpPr txBox="1"/>
          <p:nvPr/>
        </p:nvSpPr>
        <p:spPr>
          <a:xfrm>
            <a:off x="795115" y="624026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CEO is thrilled with the proposal</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01F7BDF9-A997-4552-826C-3A7A3AD59BF5}"/>
              </a:ext>
            </a:extLst>
          </p:cNvPr>
          <p:cNvSpPr txBox="1"/>
          <p:nvPr/>
        </p:nvSpPr>
        <p:spPr>
          <a:xfrm>
            <a:off x="795111" y="70915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give a detailed explanation.</a:t>
            </a:r>
          </a:p>
        </p:txBody>
      </p:sp>
    </p:spTree>
    <p:extLst>
      <p:ext uri="{BB962C8B-B14F-4D97-AF65-F5344CB8AC3E}">
        <p14:creationId xmlns:p14="http://schemas.microsoft.com/office/powerpoint/2010/main" val="662962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1379450"/>
            <a:ext cx="11396888" cy="1503712"/>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defRPr/>
            </a:pPr>
            <a:r>
              <a:rPr lang="en-US" dirty="0">
                <a:solidFill>
                  <a:srgbClr val="44546A"/>
                </a:solidFill>
              </a:rPr>
              <a:t>The chatbot does not understand your question. You try to break it down into a series of simpler questions, but after a while you give up and ask to be transferred to a live person. You sit on hold for a long time waiting for someone to be available to answer your questions. When you finally do connect with a person, he is able to answer all of your questions.</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10677482" cy="8195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Level7_Story2</a:t>
            </a:r>
          </a:p>
        </p:txBody>
      </p:sp>
      <p:sp>
        <p:nvSpPr>
          <p:cNvPr id="5" name="TextBox 4">
            <a:extLst>
              <a:ext uri="{FF2B5EF4-FFF2-40B4-BE49-F238E27FC236}">
                <a16:creationId xmlns:a16="http://schemas.microsoft.com/office/drawing/2014/main" id="{86899879-9E01-42DF-B3D7-FB7A835271E9}"/>
              </a:ext>
            </a:extLst>
          </p:cNvPr>
          <p:cNvSpPr txBox="1"/>
          <p:nvPr/>
        </p:nvSpPr>
        <p:spPr>
          <a:xfrm>
            <a:off x="795115" y="6156293"/>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a:t>
            </a:r>
            <a:r>
              <a:rPr lang="en-US" kern="0" dirty="0">
                <a:solidFill>
                  <a:prstClr val="black"/>
                </a:solidFill>
              </a:rPr>
              <a:t>: The proposal is disorganized and needs more work</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21FAA30B-A549-4B4D-8F02-7A298218F8E8}"/>
              </a:ext>
            </a:extLst>
          </p:cNvPr>
          <p:cNvSpPr txBox="1"/>
          <p:nvPr/>
        </p:nvSpPr>
        <p:spPr>
          <a:xfrm>
            <a:off x="795111" y="70915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give a detailed explanation.</a:t>
            </a:r>
          </a:p>
        </p:txBody>
      </p:sp>
    </p:spTree>
    <p:extLst>
      <p:ext uri="{BB962C8B-B14F-4D97-AF65-F5344CB8AC3E}">
        <p14:creationId xmlns:p14="http://schemas.microsoft.com/office/powerpoint/2010/main" val="1619705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59D1C-5937-4C24-9BB7-1726603173CB}"/>
              </a:ext>
            </a:extLst>
          </p:cNvPr>
          <p:cNvSpPr txBox="1">
            <a:spLocks/>
          </p:cNvSpPr>
          <p:nvPr/>
        </p:nvSpPr>
        <p:spPr>
          <a:xfrm>
            <a:off x="838200" y="15246"/>
            <a:ext cx="10515600" cy="640080"/>
          </a:xfrm>
          <a:prstGeom prst="rect">
            <a:avLst/>
          </a:prstGeom>
        </p:spPr>
        <p:txBody>
          <a:bodyPr vert="horz" lIns="121954" tIns="60977" rIns="121954" bIns="60977" rtlCol="0" anchor="ctr">
            <a:normAutofit fontScale="97500" lnSpcReduction="1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1</a:t>
            </a:r>
          </a:p>
        </p:txBody>
      </p:sp>
      <p:sp>
        <p:nvSpPr>
          <p:cNvPr id="3" name="Title 1">
            <a:extLst>
              <a:ext uri="{FF2B5EF4-FFF2-40B4-BE49-F238E27FC236}">
                <a16:creationId xmlns:a16="http://schemas.microsoft.com/office/drawing/2014/main" id="{FD52055D-3EC8-4129-BB19-C393F14761A7}"/>
              </a:ext>
            </a:extLst>
          </p:cNvPr>
          <p:cNvSpPr txBox="1">
            <a:spLocks/>
          </p:cNvSpPr>
          <p:nvPr/>
        </p:nvSpPr>
        <p:spPr>
          <a:xfrm>
            <a:off x="696438" y="743034"/>
            <a:ext cx="11495562" cy="356770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defTabSz="457200">
              <a:lnSpc>
                <a:spcPct val="100000"/>
              </a:lnSpc>
              <a:spcBef>
                <a:spcPts val="0"/>
              </a:spcBef>
              <a:defRPr/>
            </a:pPr>
            <a:r>
              <a:rPr lang="en-US" sz="2800" b="1" dirty="0"/>
              <a:t>You get your final questions answered and put the finishing touches on the proposal. When you present it the next morning, the CEO is thrilled. Feedback from the department managers is also consistently positive, and everyone is excited about the coming changes. Long-term customers are happy with the new services they will be able to use, and you feel certain this will bring in new business as well. You made some difficult choices, but you did it well, and the final product will have a high-level of service and stability and will meet the needs of all of your customers.</a:t>
            </a:r>
          </a:p>
        </p:txBody>
      </p:sp>
      <p:sp>
        <p:nvSpPr>
          <p:cNvPr id="4" name="Text Placeholder 1">
            <a:extLst>
              <a:ext uri="{FF2B5EF4-FFF2-40B4-BE49-F238E27FC236}">
                <a16:creationId xmlns:a16="http://schemas.microsoft.com/office/drawing/2014/main" id="{46FF2412-E0EE-48D7-B842-13A35C5F8229}"/>
              </a:ext>
            </a:extLst>
          </p:cNvPr>
          <p:cNvSpPr txBox="1">
            <a:spLocks/>
          </p:cNvSpPr>
          <p:nvPr/>
        </p:nvSpPr>
        <p:spPr>
          <a:xfrm>
            <a:off x="795113" y="4526059"/>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Rectangle 4">
            <a:extLst>
              <a:ext uri="{FF2B5EF4-FFF2-40B4-BE49-F238E27FC236}">
                <a16:creationId xmlns:a16="http://schemas.microsoft.com/office/drawing/2014/main" id="{E041C561-8D65-4D8F-8183-684485C75470}"/>
              </a:ext>
            </a:extLst>
          </p:cNvPr>
          <p:cNvSpPr/>
          <p:nvPr/>
        </p:nvSpPr>
        <p:spPr>
          <a:xfrm>
            <a:off x="998352" y="5656612"/>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3903202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CFA8D-9B69-44B8-A3AD-F302114BD656}"/>
              </a:ext>
            </a:extLst>
          </p:cNvPr>
          <p:cNvSpPr txBox="1">
            <a:spLocks/>
          </p:cNvSpPr>
          <p:nvPr/>
        </p:nvSpPr>
        <p:spPr>
          <a:xfrm>
            <a:off x="838200" y="0"/>
            <a:ext cx="10515600" cy="640080"/>
          </a:xfrm>
          <a:prstGeom prst="rect">
            <a:avLst/>
          </a:prstGeom>
        </p:spPr>
        <p:txBody>
          <a:bodyPr vert="horz" lIns="121954" tIns="60977" rIns="121954" bIns="60977" rtlCol="0" anchor="ctr">
            <a:normAutofit fontScale="97500" lnSpcReduction="1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2</a:t>
            </a:r>
          </a:p>
        </p:txBody>
      </p:sp>
      <p:sp>
        <p:nvSpPr>
          <p:cNvPr id="5" name="Title 1">
            <a:extLst>
              <a:ext uri="{FF2B5EF4-FFF2-40B4-BE49-F238E27FC236}">
                <a16:creationId xmlns:a16="http://schemas.microsoft.com/office/drawing/2014/main" id="{AD4C8D4C-30B7-4E53-81AA-C112652A75F2}"/>
              </a:ext>
            </a:extLst>
          </p:cNvPr>
          <p:cNvSpPr txBox="1">
            <a:spLocks/>
          </p:cNvSpPr>
          <p:nvPr/>
        </p:nvSpPr>
        <p:spPr>
          <a:xfrm>
            <a:off x="589280" y="730686"/>
            <a:ext cx="11602720" cy="34844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You get your final questions answered and put the finishing touches on the proposal. When you present it the next morning, the CEO says that it seems disorganized, and the proposed budget is pricey, far beyond your earlier estimates. The CEO is skeptical but presents the proposal to department managers anyway for feedback. Their response is even more resistant, and everyone is concerned about the impact on customer service. She meets with you one-on-one to discuss the feedback. It seems you've got a lot more work to do to redesign this proposal in a way that will work for everyone.</a:t>
            </a:r>
            <a:endParaRPr lang="en-US" sz="2800" dirty="0">
              <a:cs typeface="Calibri Light"/>
            </a:endParaRPr>
          </a:p>
        </p:txBody>
      </p:sp>
      <p:sp>
        <p:nvSpPr>
          <p:cNvPr id="6" name="Text Placeholder 1">
            <a:extLst>
              <a:ext uri="{FF2B5EF4-FFF2-40B4-BE49-F238E27FC236}">
                <a16:creationId xmlns:a16="http://schemas.microsoft.com/office/drawing/2014/main" id="{FF739967-EBBD-48C6-8EA4-D45F871D043B}"/>
              </a:ext>
            </a:extLst>
          </p:cNvPr>
          <p:cNvSpPr txBox="1">
            <a:spLocks/>
          </p:cNvSpPr>
          <p:nvPr/>
        </p:nvSpPr>
        <p:spPr>
          <a:xfrm>
            <a:off x="589280" y="4427912"/>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7" name="Rectangle 6">
            <a:extLst>
              <a:ext uri="{FF2B5EF4-FFF2-40B4-BE49-F238E27FC236}">
                <a16:creationId xmlns:a16="http://schemas.microsoft.com/office/drawing/2014/main" id="{24A79E35-CC1C-498D-8256-18FC6410CB7E}"/>
              </a:ext>
            </a:extLst>
          </p:cNvPr>
          <p:cNvSpPr/>
          <p:nvPr/>
        </p:nvSpPr>
        <p:spPr>
          <a:xfrm>
            <a:off x="998352" y="5255398"/>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1461171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18920-F514-47A9-BBC0-CFA1DFFDE8DD}"/>
              </a:ext>
            </a:extLst>
          </p:cNvPr>
          <p:cNvSpPr txBox="1">
            <a:spLocks/>
          </p:cNvSpPr>
          <p:nvPr/>
        </p:nvSpPr>
        <p:spPr>
          <a:xfrm>
            <a:off x="838200" y="87047"/>
            <a:ext cx="10515600" cy="825910"/>
          </a:xfrm>
          <a:prstGeom prst="rect">
            <a:avLst/>
          </a:prstGeom>
        </p:spPr>
        <p:txBody>
          <a:bodyPr vert="horz" lIns="121954" tIns="60977" rIns="121954" bIns="60977" rtlCol="0" anchor="ctr">
            <a:normAutofit fontScale="975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0</a:t>
            </a:r>
          </a:p>
        </p:txBody>
      </p:sp>
      <p:sp>
        <p:nvSpPr>
          <p:cNvPr id="3" name="Title 1">
            <a:extLst>
              <a:ext uri="{FF2B5EF4-FFF2-40B4-BE49-F238E27FC236}">
                <a16:creationId xmlns:a16="http://schemas.microsoft.com/office/drawing/2014/main" id="{5C37C330-5EDD-4F80-9D17-0455CAA05F47}"/>
              </a:ext>
            </a:extLst>
          </p:cNvPr>
          <p:cNvSpPr txBox="1">
            <a:spLocks/>
          </p:cNvSpPr>
          <p:nvPr/>
        </p:nvSpPr>
        <p:spPr>
          <a:xfrm>
            <a:off x="795112" y="970448"/>
            <a:ext cx="11396887"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Your proposal isn't coming together very well. It seems like the pieces don't fit together, and the problems you're trying to solve aren't being adequately addressed. Some of your decisions were based on what is easier and less expensive but to the detriment of functionality and better customer service. Other decisions did not fit within your needs or budget. The CEO is disappointed with what you created and asks others to help rework the proposal.</a:t>
            </a:r>
            <a:endParaRPr lang="en-US" sz="2800" dirty="0">
              <a:cs typeface="Calibri Light"/>
            </a:endParaRPr>
          </a:p>
        </p:txBody>
      </p:sp>
      <p:sp>
        <p:nvSpPr>
          <p:cNvPr id="4" name="Text Placeholder 1">
            <a:extLst>
              <a:ext uri="{FF2B5EF4-FFF2-40B4-BE49-F238E27FC236}">
                <a16:creationId xmlns:a16="http://schemas.microsoft.com/office/drawing/2014/main" id="{7CAA011F-9583-4A3C-B4A9-DFDAB9F6178C}"/>
              </a:ext>
            </a:extLst>
          </p:cNvPr>
          <p:cNvSpPr txBox="1">
            <a:spLocks/>
          </p:cNvSpPr>
          <p:nvPr/>
        </p:nvSpPr>
        <p:spPr>
          <a:xfrm>
            <a:off x="795113" y="3989872"/>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Rectangle 4">
            <a:extLst>
              <a:ext uri="{FF2B5EF4-FFF2-40B4-BE49-F238E27FC236}">
                <a16:creationId xmlns:a16="http://schemas.microsoft.com/office/drawing/2014/main" id="{37AFDDC1-CA32-4DA0-AC78-E3EE085C6191}"/>
              </a:ext>
            </a:extLst>
          </p:cNvPr>
          <p:cNvSpPr/>
          <p:nvPr/>
        </p:nvSpPr>
        <p:spPr>
          <a:xfrm>
            <a:off x="998352" y="4835519"/>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35081635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890813-C34A-4E5A-9D5B-776D7C3440EA}">
  <ds:schemaRefs>
    <ds:schemaRef ds:uri="http://schemas.microsoft.com/sharepoint/v3/contenttype/forms"/>
  </ds:schemaRefs>
</ds:datastoreItem>
</file>

<file path=customXml/itemProps2.xml><?xml version="1.0" encoding="utf-8"?>
<ds:datastoreItem xmlns:ds="http://schemas.openxmlformats.org/officeDocument/2006/customXml" ds:itemID="{E381671D-5E88-46D8-9BD1-318341DE4C4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26DCBCA-3220-45F7-8E92-CE149A9252C9}"/>
</file>

<file path=docProps/app.xml><?xml version="1.0" encoding="utf-8"?>
<Properties xmlns="http://schemas.openxmlformats.org/officeDocument/2006/extended-properties" xmlns:vt="http://schemas.openxmlformats.org/officeDocument/2006/docPropsVTypes">
  <TotalTime>629</TotalTime>
  <Words>3956</Words>
  <Application>Microsoft Office PowerPoint</Application>
  <PresentationFormat>Widescreen</PresentationFormat>
  <Paragraphs>314</Paragraphs>
  <Slides>23</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Calibri</vt:lpstr>
      <vt:lpstr>Calibri Light</vt:lpstr>
      <vt:lpstr>Titillium Web</vt:lpstr>
      <vt:lpstr>Wingdings</vt:lpstr>
      <vt:lpstr>1_Office Theme</vt:lpstr>
      <vt:lpstr>Office Theme</vt:lpstr>
      <vt:lpstr>Upgrade a B2B Website</vt:lpstr>
      <vt:lpstr>Upgrade a B2B Website</vt:lpstr>
      <vt:lpstr>Introduction</vt:lpstr>
      <vt:lpstr>Level1_Decision1</vt:lpstr>
      <vt:lpstr>Level2_Decision1</vt:lpstr>
      <vt:lpstr>Level2_Decision2</vt:lpstr>
      <vt:lpstr>Level3_Decision1</vt:lpstr>
      <vt:lpstr>Level3_Decision2</vt:lpstr>
      <vt:lpstr>Level4_Decision1</vt:lpstr>
      <vt:lpstr>Level4_Decision2</vt:lpstr>
      <vt:lpstr>Level5_Decision1</vt:lpstr>
      <vt:lpstr>Level5_Decision2</vt:lpstr>
      <vt:lpstr>Level6_Decision1</vt:lpstr>
      <vt:lpstr>Level6_Decision2</vt:lpstr>
      <vt:lpstr>Level6_Story1</vt:lpstr>
      <vt:lpstr>Level6_Story2</vt:lpstr>
      <vt:lpstr>Level7_Decision1</vt:lpstr>
      <vt:lpstr>Level7_Decision2</vt:lpstr>
      <vt:lpstr>Level7_Story1</vt:lpstr>
      <vt:lpstr>Level7_Story2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West</dc:creator>
  <cp:lastModifiedBy>Molnar, Zenya</cp:lastModifiedBy>
  <cp:revision>39</cp:revision>
  <dcterms:created xsi:type="dcterms:W3CDTF">2020-01-29T23:57:56Z</dcterms:created>
  <dcterms:modified xsi:type="dcterms:W3CDTF">2020-04-03T18:51:19Z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