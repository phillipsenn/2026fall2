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notesSlides/notesSlide16.xml" ContentType="application/vnd.openxmlformats-officedocument.presentationml.notesSlide+xml"/>
  <Override PartName="/ppt/tags/tag23.xml" ContentType="application/vnd.openxmlformats-officedocument.presentationml.tags+xml"/>
  <Override PartName="/ppt/notesSlides/notesSlide17.xml" ContentType="application/vnd.openxmlformats-officedocument.presentationml.notesSlide+xml"/>
  <Override PartName="/ppt/tags/tag24.xml" ContentType="application/vnd.openxmlformats-officedocument.presentationml.tags+xml"/>
  <Override PartName="/ppt/notesSlides/notesSlide18.xml" ContentType="application/vnd.openxmlformats-officedocument.presentationml.notesSlide+xml"/>
  <Override PartName="/ppt/tags/tag25.xml" ContentType="application/vnd.openxmlformats-officedocument.presentationml.tags+xml"/>
  <Override PartName="/ppt/notesSlides/notesSlide19.xml" ContentType="application/vnd.openxmlformats-officedocument.presentationml.notesSlide+xml"/>
  <Override PartName="/ppt/theme/themeOverride1.xml" ContentType="application/vnd.openxmlformats-officedocument.themeOverride+xml"/>
  <Override PartName="/ppt/tags/tag26.xml" ContentType="application/vnd.openxmlformats-officedocument.presentationml.tags+xml"/>
  <Override PartName="/ppt/notesSlides/notesSlide20.xml" ContentType="application/vnd.openxmlformats-officedocument.presentationml.notesSlide+xml"/>
  <Override PartName="/ppt/theme/themeOverride2.xml" ContentType="application/vnd.openxmlformats-officedocument.themeOverride+xml"/>
  <Override PartName="/ppt/tags/tag27.xml" ContentType="application/vnd.openxmlformats-officedocument.presentationml.tags+xml"/>
  <Override PartName="/ppt/notesSlides/notesSlide21.xml" ContentType="application/vnd.openxmlformats-officedocument.presentationml.notesSlide+xml"/>
  <Override PartName="/ppt/theme/themeOverride3.xml" ContentType="application/vnd.openxmlformats-officedocument.themeOverride+xml"/>
  <Override PartName="/ppt/tags/tag28.xml" ContentType="application/vnd.openxmlformats-officedocument.presentationml.tags+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6"/>
    <p:sldMasterId id="2147483679" r:id="rId7"/>
  </p:sldMasterIdLst>
  <p:notesMasterIdLst>
    <p:notesMasterId r:id="rId30"/>
  </p:notesMasterIdLst>
  <p:sldIdLst>
    <p:sldId id="258" r:id="rId8"/>
    <p:sldId id="260" r:id="rId9"/>
    <p:sldId id="270" r:id="rId10"/>
    <p:sldId id="295" r:id="rId11"/>
    <p:sldId id="375" r:id="rId12"/>
    <p:sldId id="401" r:id="rId13"/>
    <p:sldId id="377" r:id="rId14"/>
    <p:sldId id="412" r:id="rId15"/>
    <p:sldId id="413" r:id="rId16"/>
    <p:sldId id="411" r:id="rId17"/>
    <p:sldId id="414" r:id="rId18"/>
    <p:sldId id="379" r:id="rId19"/>
    <p:sldId id="382" r:id="rId20"/>
    <p:sldId id="407" r:id="rId21"/>
    <p:sldId id="408" r:id="rId22"/>
    <p:sldId id="418" r:id="rId23"/>
    <p:sldId id="417" r:id="rId24"/>
    <p:sldId id="422" r:id="rId25"/>
    <p:sldId id="421" r:id="rId26"/>
    <p:sldId id="389" r:id="rId27"/>
    <p:sldId id="390" r:id="rId28"/>
    <p:sldId id="39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nnifer Campbell" initials="JC" lastIdx="23" clrIdx="0">
    <p:extLst>
      <p:ext uri="{19B8F6BF-5375-455C-9EA6-DF929625EA0E}">
        <p15:presenceInfo xmlns:p15="http://schemas.microsoft.com/office/powerpoint/2012/main" userId="9252b8fd17e1143e" providerId="Windows Live"/>
      </p:ext>
    </p:extLst>
  </p:cmAuthor>
  <p:cmAuthor id="2" name="Jill West" initials="JW" lastIdx="10" clrIdx="1">
    <p:extLst>
      <p:ext uri="{19B8F6BF-5375-455C-9EA6-DF929625EA0E}">
        <p15:presenceInfo xmlns:p15="http://schemas.microsoft.com/office/powerpoint/2012/main" userId="Jill West" providerId="None"/>
      </p:ext>
    </p:extLst>
  </p:cmAuthor>
  <p:cmAuthor id="3" name="Pope, Emily D" initials="PED" lastIdx="11" clrIdx="2">
    <p:extLst>
      <p:ext uri="{19B8F6BF-5375-455C-9EA6-DF929625EA0E}">
        <p15:presenceInfo xmlns:p15="http://schemas.microsoft.com/office/powerpoint/2012/main" userId="S-1-5-21-4027829005-1107895287-290554039-212238" providerId="AD"/>
      </p:ext>
    </p:extLst>
  </p:cmAuthor>
  <p:cmAuthor id="4" name="Jessica West" initials="JW" lastIdx="2" clrIdx="3">
    <p:extLst>
      <p:ext uri="{19B8F6BF-5375-455C-9EA6-DF929625EA0E}">
        <p15:presenceInfo xmlns:p15="http://schemas.microsoft.com/office/powerpoint/2012/main" userId="Jessica Wes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0BBCB1-4695-41A2-8910-F3800E2938BF}" v="58" dt="2020-02-16T04:11:23.2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5" autoAdjust="0"/>
    <p:restoredTop sz="95226" autoAdjust="0"/>
  </p:normalViewPr>
  <p:slideViewPr>
    <p:cSldViewPr snapToGrid="0">
      <p:cViewPr varScale="1">
        <p:scale>
          <a:sx n="78" d="100"/>
          <a:sy n="78" d="100"/>
        </p:scale>
        <p:origin x="5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andJill West" userId="0caeac936585bbb7" providerId="LiveId" clId="{6D63D84A-F3B6-46A4-AC16-965576E6B1D1}"/>
    <pc:docChg chg="custSel modSld">
      <pc:chgData name="MikeandJill West" userId="0caeac936585bbb7" providerId="LiveId" clId="{6D63D84A-F3B6-46A4-AC16-965576E6B1D1}" dt="2020-02-17T02:09:04.216" v="3" actId="1592"/>
      <pc:docMkLst>
        <pc:docMk/>
      </pc:docMkLst>
      <pc:sldChg chg="modSp">
        <pc:chgData name="MikeandJill West" userId="0caeac936585bbb7" providerId="LiveId" clId="{6D63D84A-F3B6-46A4-AC16-965576E6B1D1}" dt="2020-02-17T02:07:39.037" v="1" actId="122"/>
        <pc:sldMkLst>
          <pc:docMk/>
          <pc:sldMk cId="987616076" sldId="258"/>
        </pc:sldMkLst>
        <pc:spChg chg="mod">
          <ac:chgData name="MikeandJill West" userId="0caeac936585bbb7" providerId="LiveId" clId="{6D63D84A-F3B6-46A4-AC16-965576E6B1D1}" dt="2020-02-17T02:07:39.037" v="1" actId="122"/>
          <ac:spMkLst>
            <pc:docMk/>
            <pc:sldMk cId="987616076" sldId="258"/>
            <ac:spMk id="26" creationId="{40184B40-508E-4CC0-A6B8-3111CAA042DC}"/>
          </ac:spMkLst>
        </pc:spChg>
      </pc:sldChg>
      <pc:sldChg chg="addCm delCm">
        <pc:chgData name="MikeandJill West" userId="0caeac936585bbb7" providerId="LiveId" clId="{6D63D84A-F3B6-46A4-AC16-965576E6B1D1}" dt="2020-02-17T02:09:04.216" v="3" actId="1592"/>
        <pc:sldMkLst>
          <pc:docMk/>
          <pc:sldMk cId="2793273946" sldId="3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ED681-2264-4772-96D9-571C19ED82FB}" type="datetimeFigureOut">
              <a:rPr lang="en-US" smtClean="0"/>
              <a:t>2/16/2020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A19FE-9A12-437D-A6C3-5DD612832ED6}" type="slidenum">
              <a:rPr lang="en-US" smtClean="0"/>
              <a:t>‹#›</a:t>
            </a:fld>
            <a:endParaRPr lang="en-US"/>
          </a:p>
        </p:txBody>
      </p:sp>
    </p:spTree>
    <p:extLst>
      <p:ext uri="{BB962C8B-B14F-4D97-AF65-F5344CB8AC3E}">
        <p14:creationId xmlns:p14="http://schemas.microsoft.com/office/powerpoint/2010/main" val="1588205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a:t>
            </a:fld>
            <a:endParaRPr lang="en-US" dirty="0"/>
          </a:p>
        </p:txBody>
      </p:sp>
    </p:spTree>
    <p:extLst>
      <p:ext uri="{BB962C8B-B14F-4D97-AF65-F5344CB8AC3E}">
        <p14:creationId xmlns:p14="http://schemas.microsoft.com/office/powerpoint/2010/main" val="4029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a:t>
            </a:fld>
            <a:endParaRPr lang="en-US" dirty="0"/>
          </a:p>
        </p:txBody>
      </p:sp>
    </p:spTree>
    <p:extLst>
      <p:ext uri="{BB962C8B-B14F-4D97-AF65-F5344CB8AC3E}">
        <p14:creationId xmlns:p14="http://schemas.microsoft.com/office/powerpoint/2010/main" val="855768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a:t>
            </a:fld>
            <a:endParaRPr lang="en-US" dirty="0"/>
          </a:p>
        </p:txBody>
      </p:sp>
    </p:spTree>
    <p:extLst>
      <p:ext uri="{BB962C8B-B14F-4D97-AF65-F5344CB8AC3E}">
        <p14:creationId xmlns:p14="http://schemas.microsoft.com/office/powerpoint/2010/main" val="547479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4</a:t>
            </a:fld>
            <a:endParaRPr lang="en-US" dirty="0"/>
          </a:p>
        </p:txBody>
      </p:sp>
    </p:spTree>
    <p:extLst>
      <p:ext uri="{BB962C8B-B14F-4D97-AF65-F5344CB8AC3E}">
        <p14:creationId xmlns:p14="http://schemas.microsoft.com/office/powerpoint/2010/main" val="1104528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5</a:t>
            </a:fld>
            <a:endParaRPr lang="en-US" dirty="0"/>
          </a:p>
        </p:txBody>
      </p:sp>
    </p:spTree>
    <p:extLst>
      <p:ext uri="{BB962C8B-B14F-4D97-AF65-F5344CB8AC3E}">
        <p14:creationId xmlns:p14="http://schemas.microsoft.com/office/powerpoint/2010/main" val="1547457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6</a:t>
            </a:fld>
            <a:endParaRPr lang="en-US" dirty="0"/>
          </a:p>
        </p:txBody>
      </p:sp>
    </p:spTree>
    <p:extLst>
      <p:ext uri="{BB962C8B-B14F-4D97-AF65-F5344CB8AC3E}">
        <p14:creationId xmlns:p14="http://schemas.microsoft.com/office/powerpoint/2010/main" val="2634937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7</a:t>
            </a:fld>
            <a:endParaRPr lang="en-US" dirty="0"/>
          </a:p>
        </p:txBody>
      </p:sp>
    </p:spTree>
    <p:extLst>
      <p:ext uri="{BB962C8B-B14F-4D97-AF65-F5344CB8AC3E}">
        <p14:creationId xmlns:p14="http://schemas.microsoft.com/office/powerpoint/2010/main" val="39782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8</a:t>
            </a:fld>
            <a:endParaRPr lang="en-US" dirty="0"/>
          </a:p>
        </p:txBody>
      </p:sp>
    </p:spTree>
    <p:extLst>
      <p:ext uri="{BB962C8B-B14F-4D97-AF65-F5344CB8AC3E}">
        <p14:creationId xmlns:p14="http://schemas.microsoft.com/office/powerpoint/2010/main" val="1070447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9</a:t>
            </a:fld>
            <a:endParaRPr lang="en-US" dirty="0"/>
          </a:p>
        </p:txBody>
      </p:sp>
    </p:spTree>
    <p:extLst>
      <p:ext uri="{BB962C8B-B14F-4D97-AF65-F5344CB8AC3E}">
        <p14:creationId xmlns:p14="http://schemas.microsoft.com/office/powerpoint/2010/main" val="2252055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10</a:t>
            </a:fld>
            <a:endParaRPr lang="en-US" dirty="0"/>
          </a:p>
        </p:txBody>
      </p:sp>
    </p:spTree>
    <p:extLst>
      <p:ext uri="{BB962C8B-B14F-4D97-AF65-F5344CB8AC3E}">
        <p14:creationId xmlns:p14="http://schemas.microsoft.com/office/powerpoint/2010/main" val="1715456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11</a:t>
            </a:fld>
            <a:endParaRPr lang="en-US" dirty="0"/>
          </a:p>
        </p:txBody>
      </p:sp>
    </p:spTree>
    <p:extLst>
      <p:ext uri="{BB962C8B-B14F-4D97-AF65-F5344CB8AC3E}">
        <p14:creationId xmlns:p14="http://schemas.microsoft.com/office/powerpoint/2010/main" val="4270627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12</a:t>
            </a:fld>
            <a:endParaRPr lang="en-US" dirty="0"/>
          </a:p>
        </p:txBody>
      </p:sp>
    </p:spTree>
    <p:extLst>
      <p:ext uri="{BB962C8B-B14F-4D97-AF65-F5344CB8AC3E}">
        <p14:creationId xmlns:p14="http://schemas.microsoft.com/office/powerpoint/2010/main" val="3517945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13</a:t>
            </a:fld>
            <a:endParaRPr lang="en-US" dirty="0"/>
          </a:p>
        </p:txBody>
      </p:sp>
    </p:spTree>
    <p:extLst>
      <p:ext uri="{BB962C8B-B14F-4D97-AF65-F5344CB8AC3E}">
        <p14:creationId xmlns:p14="http://schemas.microsoft.com/office/powerpoint/2010/main" val="3417350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14</a:t>
            </a:fld>
            <a:endParaRPr lang="en-US" dirty="0"/>
          </a:p>
        </p:txBody>
      </p:sp>
    </p:spTree>
    <p:extLst>
      <p:ext uri="{BB962C8B-B14F-4D97-AF65-F5344CB8AC3E}">
        <p14:creationId xmlns:p14="http://schemas.microsoft.com/office/powerpoint/2010/main" val="1596250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15</a:t>
            </a:fld>
            <a:endParaRPr lang="en-US" dirty="0"/>
          </a:p>
        </p:txBody>
      </p:sp>
    </p:spTree>
    <p:extLst>
      <p:ext uri="{BB962C8B-B14F-4D97-AF65-F5344CB8AC3E}">
        <p14:creationId xmlns:p14="http://schemas.microsoft.com/office/powerpoint/2010/main" val="3186866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16</a:t>
            </a:fld>
            <a:endParaRPr lang="en-US" dirty="0"/>
          </a:p>
        </p:txBody>
      </p:sp>
    </p:spTree>
    <p:extLst>
      <p:ext uri="{BB962C8B-B14F-4D97-AF65-F5344CB8AC3E}">
        <p14:creationId xmlns:p14="http://schemas.microsoft.com/office/powerpoint/2010/main" val="3991019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17</a:t>
            </a:fld>
            <a:endParaRPr lang="en-US" dirty="0"/>
          </a:p>
        </p:txBody>
      </p:sp>
    </p:spTree>
    <p:extLst>
      <p:ext uri="{BB962C8B-B14F-4D97-AF65-F5344CB8AC3E}">
        <p14:creationId xmlns:p14="http://schemas.microsoft.com/office/powerpoint/2010/main" val="2039469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18</a:t>
            </a:fld>
            <a:endParaRPr lang="en-US" dirty="0"/>
          </a:p>
        </p:txBody>
      </p:sp>
    </p:spTree>
    <p:extLst>
      <p:ext uri="{BB962C8B-B14F-4D97-AF65-F5344CB8AC3E}">
        <p14:creationId xmlns:p14="http://schemas.microsoft.com/office/powerpoint/2010/main" val="3374190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19</a:t>
            </a:fld>
            <a:endParaRPr lang="en-US" dirty="0"/>
          </a:p>
        </p:txBody>
      </p:sp>
    </p:spTree>
    <p:extLst>
      <p:ext uri="{BB962C8B-B14F-4D97-AF65-F5344CB8AC3E}">
        <p14:creationId xmlns:p14="http://schemas.microsoft.com/office/powerpoint/2010/main" val="42398038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20</a:t>
            </a:fld>
            <a:endParaRPr lang="en-US" dirty="0"/>
          </a:p>
        </p:txBody>
      </p:sp>
    </p:spTree>
    <p:extLst>
      <p:ext uri="{BB962C8B-B14F-4D97-AF65-F5344CB8AC3E}">
        <p14:creationId xmlns:p14="http://schemas.microsoft.com/office/powerpoint/2010/main" val="3427364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21</a:t>
            </a:fld>
            <a:endParaRPr lang="en-US" dirty="0"/>
          </a:p>
        </p:txBody>
      </p:sp>
    </p:spTree>
    <p:extLst>
      <p:ext uri="{BB962C8B-B14F-4D97-AF65-F5344CB8AC3E}">
        <p14:creationId xmlns:p14="http://schemas.microsoft.com/office/powerpoint/2010/main" val="7376485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22</a:t>
            </a:fld>
            <a:endParaRPr lang="en-US" dirty="0"/>
          </a:p>
        </p:txBody>
      </p:sp>
    </p:spTree>
    <p:extLst>
      <p:ext uri="{BB962C8B-B14F-4D97-AF65-F5344CB8AC3E}">
        <p14:creationId xmlns:p14="http://schemas.microsoft.com/office/powerpoint/2010/main" val="1963120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26790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947285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790670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173476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2/16/2020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821110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2/16/2020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762513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2/16/2020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86248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28647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935963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4093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83702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103901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7" name="Slide Number Placeholder 2"/>
          <p:cNvSpPr>
            <a:spLocks noGrp="1"/>
          </p:cNvSpPr>
          <p:nvPr>
            <p:ph type="sldNum" sz="quarter" idx="12"/>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2562263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3" name="Slide Number Placeholder 2"/>
          <p:cNvSpPr>
            <a:spLocks noGrp="1"/>
          </p:cNvSpPr>
          <p:nvPr>
            <p:ph type="sldNum" sz="quarter" idx="13"/>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147453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4293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41324754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0485343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40370561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2/16/2020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8748943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2/16/2020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5467568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2/16/2020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6366303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989225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7426531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8596289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0704438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6" name="Rectangle 5"/>
          <p:cNvSpPr/>
          <p:nvPr/>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3" name="Slide Number Placeholder 2"/>
          <p:cNvSpPr>
            <a:spLocks noGrp="1"/>
          </p:cNvSpPr>
          <p:nvPr>
            <p:ph type="sldNum" sz="quarter" idx="13"/>
          </p:nvPr>
        </p:nvSpPr>
        <p:spPr>
          <a:xfrm>
            <a:off x="312" y="487606"/>
            <a:ext cx="611681" cy="365125"/>
          </a:xfrm>
        </p:spPr>
        <p:txBody>
          <a:bodyPr/>
          <a:lstStyle/>
          <a:p>
            <a:fld id="{2760AF0F-E753-4DD9-B8E5-577C039A067C}" type="slidenum">
              <a:rPr lang="en-JM" smtClean="0"/>
              <a:t>‹#›</a:t>
            </a:fld>
            <a:endParaRPr lang="en-JM" dirty="0"/>
          </a:p>
        </p:txBody>
      </p:sp>
      <p:sp>
        <p:nvSpPr>
          <p:cNvPr id="9" name="Rectangle 8"/>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Tree>
    <p:custDataLst>
      <p:tags r:id="rId1"/>
    </p:custDataLst>
    <p:extLst>
      <p:ext uri="{BB962C8B-B14F-4D97-AF65-F5344CB8AC3E}">
        <p14:creationId xmlns:p14="http://schemas.microsoft.com/office/powerpoint/2010/main" val="26645365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6697623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7" name="Slide Number Placeholder 2"/>
          <p:cNvSpPr>
            <a:spLocks noGrp="1"/>
          </p:cNvSpPr>
          <p:nvPr>
            <p:ph type="sldNum" sz="quarter" idx="12"/>
          </p:nvPr>
        </p:nvSpPr>
        <p:spPr>
          <a:xfrm>
            <a:off x="312" y="487606"/>
            <a:ext cx="611681" cy="365125"/>
          </a:xfrm>
        </p:spPr>
        <p:txBody>
          <a:bodyPr/>
          <a:lstStyle/>
          <a:p>
            <a:fld id="{2760AF0F-E753-4DD9-B8E5-577C039A067C}" type="slidenum">
              <a:rPr lang="en-JM" smtClean="0"/>
              <a:t>‹#›</a:t>
            </a:fld>
            <a:endParaRPr lang="en-JM" dirty="0"/>
          </a:p>
        </p:txBody>
      </p:sp>
      <p:sp>
        <p:nvSpPr>
          <p:cNvPr id="8" name="Rectangle 7"/>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Tree>
    <p:custDataLst>
      <p:tags r:id="rId1"/>
    </p:custDataLst>
    <p:extLst>
      <p:ext uri="{BB962C8B-B14F-4D97-AF65-F5344CB8AC3E}">
        <p14:creationId xmlns:p14="http://schemas.microsoft.com/office/powerpoint/2010/main" val="141410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2/16/2020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78108080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2/16/2020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283775677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9.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10.xml"/><Relationship Id="rId5" Type="http://schemas.openxmlformats.org/officeDocument/2006/relationships/slide" Target="slide6.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11.xml"/><Relationship Id="rId5" Type="http://schemas.openxmlformats.org/officeDocument/2006/relationships/slide" Target="slide7.xml"/><Relationship Id="rId4" Type="http://schemas.openxmlformats.org/officeDocument/2006/relationships/slide" Target="slide2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12.xml"/><Relationship Id="rId5" Type="http://schemas.openxmlformats.org/officeDocument/2006/relationships/slide" Target="slide9.xml"/><Relationship Id="rId4" Type="http://schemas.openxmlformats.org/officeDocument/2006/relationships/slide" Target="slide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13.xml"/><Relationship Id="rId5" Type="http://schemas.openxmlformats.org/officeDocument/2006/relationships/slide" Target="slide12.xml"/><Relationship Id="rId4" Type="http://schemas.openxmlformats.org/officeDocument/2006/relationships/slide" Target="slide2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14.xml"/><Relationship Id="rId5" Type="http://schemas.openxmlformats.org/officeDocument/2006/relationships/slide" Target="slide12.xml"/><Relationship Id="rId4" Type="http://schemas.openxmlformats.org/officeDocument/2006/relationships/slide" Target="slide2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tags" Target="../tags/tag15.xml"/><Relationship Id="rId5" Type="http://schemas.openxmlformats.org/officeDocument/2006/relationships/slide" Target="slide11.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16.xml"/><Relationship Id="rId4" Type="http://schemas.openxmlformats.org/officeDocument/2006/relationships/slide" Target="slide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ags" Target="../tags/tag17.xml"/><Relationship Id="rId4" Type="http://schemas.openxmlformats.org/officeDocument/2006/relationships/slide" Target="slide2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ags" Target="../tags/tag18.xml"/><Relationship Id="rId5" Type="http://schemas.openxmlformats.org/officeDocument/2006/relationships/slide" Target="slide14.xml"/><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9.xml"/><Relationship Id="rId5" Type="http://schemas.openxmlformats.org/officeDocument/2006/relationships/slide" Target="slide16.xml"/><Relationship Id="rId4" Type="http://schemas.openxmlformats.org/officeDocument/2006/relationships/slide" Target="slide1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20.xml"/><Relationship Id="rId5" Type="http://schemas.openxmlformats.org/officeDocument/2006/relationships/slide" Target="slide21.xml"/><Relationship Id="rId4" Type="http://schemas.openxmlformats.org/officeDocument/2006/relationships/slide" Target="slide1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21.xml"/><Relationship Id="rId5" Type="http://schemas.openxmlformats.org/officeDocument/2006/relationships/slide" Target="slide18.xml"/><Relationship Id="rId4" Type="http://schemas.openxmlformats.org/officeDocument/2006/relationships/slide" Target="slide1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22.xml"/><Relationship Id="rId5" Type="http://schemas.openxmlformats.org/officeDocument/2006/relationships/slide" Target="slide18.xml"/><Relationship Id="rId4" Type="http://schemas.openxmlformats.org/officeDocument/2006/relationships/slide" Target="slide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tags" Target="../tags/tag23.xml"/><Relationship Id="rId5" Type="http://schemas.openxmlformats.org/officeDocument/2006/relationships/slide" Target="slide22.xml"/><Relationship Id="rId4" Type="http://schemas.openxmlformats.org/officeDocument/2006/relationships/slide" Target="slide1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tags" Target="../tags/tag24.xml"/><Relationship Id="rId5" Type="http://schemas.openxmlformats.org/officeDocument/2006/relationships/slide" Target="slide22.xml"/><Relationship Id="rId4" Type="http://schemas.openxmlformats.org/officeDocument/2006/relationships/slide" Target="slide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4.xml"/><Relationship Id="rId1" Type="http://schemas.openxmlformats.org/officeDocument/2006/relationships/tags" Target="../tags/tag25.xml"/><Relationship Id="rId4" Type="http://schemas.openxmlformats.org/officeDocument/2006/relationships/slide" Target="slide20.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26.xml"/><Relationship Id="rId1" Type="http://schemas.openxmlformats.org/officeDocument/2006/relationships/themeOverride" Target="../theme/themeOverride1.xml"/><Relationship Id="rId5" Type="http://schemas.openxmlformats.org/officeDocument/2006/relationships/slide" Target="slide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27.xml"/><Relationship Id="rId1" Type="http://schemas.openxmlformats.org/officeDocument/2006/relationships/themeOverride" Target="../theme/themeOverride2.xml"/><Relationship Id="rId5" Type="http://schemas.openxmlformats.org/officeDocument/2006/relationships/slide" Target="slide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28.xml"/><Relationship Id="rId1" Type="http://schemas.openxmlformats.org/officeDocument/2006/relationships/themeOverride" Target="../theme/themeOverride3.xml"/><Relationship Id="rId5" Type="http://schemas.openxmlformats.org/officeDocument/2006/relationships/slide" Target="slide3.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C4D763D-7B5D-4C9A-AB7E-A68C25242342}"/>
              </a:ext>
            </a:extLst>
          </p:cNvPr>
          <p:cNvSpPr/>
          <p:nvPr/>
        </p:nvSpPr>
        <p:spPr>
          <a:xfrm>
            <a:off x="0" y="3572"/>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dirty="0">
              <a:cs typeface="Calibri"/>
            </a:endParaRPr>
          </a:p>
          <a:p>
            <a:pPr algn="ctr"/>
            <a:endParaRPr lang="en-US" sz="2350" dirty="0">
              <a:cs typeface="Calibri"/>
            </a:endParaRPr>
          </a:p>
        </p:txBody>
      </p:sp>
      <p:sp>
        <p:nvSpPr>
          <p:cNvPr id="12" name="Rectangle 11">
            <a:extLst>
              <a:ext uri="{FF2B5EF4-FFF2-40B4-BE49-F238E27FC236}">
                <a16:creationId xmlns:a16="http://schemas.microsoft.com/office/drawing/2014/main" id="{380C06DA-DC15-404F-A627-5E2C61AD0470}"/>
              </a:ext>
            </a:extLst>
          </p:cNvPr>
          <p:cNvSpPr/>
          <p:nvPr/>
        </p:nvSpPr>
        <p:spPr>
          <a:xfrm>
            <a:off x="0" y="2172064"/>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6" name="Title 2">
            <a:extLst>
              <a:ext uri="{FF2B5EF4-FFF2-40B4-BE49-F238E27FC236}">
                <a16:creationId xmlns:a16="http://schemas.microsoft.com/office/drawing/2014/main" id="{40184B40-508E-4CC0-A6B8-3111CAA042DC}"/>
              </a:ext>
            </a:extLst>
          </p:cNvPr>
          <p:cNvSpPr>
            <a:spLocks noGrp="1"/>
          </p:cNvSpPr>
          <p:nvPr>
            <p:ph type="title"/>
          </p:nvPr>
        </p:nvSpPr>
        <p:spPr>
          <a:xfrm>
            <a:off x="1092252" y="516318"/>
            <a:ext cx="10007497" cy="1143000"/>
          </a:xfrm>
        </p:spPr>
        <p:txBody>
          <a:bodyPr>
            <a:noAutofit/>
          </a:bodyPr>
          <a:lstStyle/>
          <a:p>
            <a:pPr algn="ctr"/>
            <a:r>
              <a:rPr lang="en-US" sz="5400" dirty="0">
                <a:solidFill>
                  <a:schemeClr val="tx1"/>
                </a:solidFill>
              </a:rPr>
              <a:t>Renovating Your Company Website</a:t>
            </a:r>
          </a:p>
        </p:txBody>
      </p:sp>
      <p:sp>
        <p:nvSpPr>
          <p:cNvPr id="27" name="Content Placeholder 3">
            <a:extLst>
              <a:ext uri="{FF2B5EF4-FFF2-40B4-BE49-F238E27FC236}">
                <a16:creationId xmlns:a16="http://schemas.microsoft.com/office/drawing/2014/main" id="{578918F1-B05F-4C66-87EE-3C54FF84F74A}"/>
              </a:ext>
            </a:extLst>
          </p:cNvPr>
          <p:cNvSpPr txBox="1">
            <a:spLocks/>
          </p:cNvSpPr>
          <p:nvPr/>
        </p:nvSpPr>
        <p:spPr>
          <a:xfrm>
            <a:off x="1085376" y="2277075"/>
            <a:ext cx="10470354" cy="3911454"/>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400" b="1" dirty="0">
                <a:solidFill>
                  <a:schemeClr val="tx1"/>
                </a:solidFill>
                <a:latin typeface="+mj-lt"/>
              </a:rPr>
              <a:t>Module 9:</a:t>
            </a:r>
            <a:r>
              <a:rPr lang="en-US" sz="2400" dirty="0">
                <a:solidFill>
                  <a:schemeClr val="tx1"/>
                </a:solidFill>
                <a:latin typeface="+mj-lt"/>
              </a:rPr>
              <a:t> Web Development</a:t>
            </a:r>
            <a:endParaRPr lang="en-US" sz="2400" b="1" dirty="0">
              <a:solidFill>
                <a:schemeClr val="tx1"/>
              </a:solidFill>
              <a:latin typeface="+mj-lt"/>
            </a:endParaRPr>
          </a:p>
          <a:p>
            <a:pPr marL="0" indent="0">
              <a:buNone/>
            </a:pPr>
            <a:r>
              <a:rPr lang="en-US" sz="2400" b="1" dirty="0">
                <a:solidFill>
                  <a:schemeClr val="tx1"/>
                </a:solidFill>
                <a:latin typeface="+mj-lt"/>
              </a:rPr>
              <a:t>Lesson objective 9.2:</a:t>
            </a:r>
            <a:r>
              <a:rPr lang="en-US" sz="2050" dirty="0">
                <a:solidFill>
                  <a:schemeClr val="tx1"/>
                </a:solidFill>
                <a:latin typeface="+mj-lt"/>
                <a:cs typeface="Calibri Light"/>
              </a:rPr>
              <a:t> </a:t>
            </a:r>
            <a:r>
              <a:rPr lang="en-US" sz="2400" dirty="0">
                <a:solidFill>
                  <a:schemeClr val="tx1"/>
                </a:solidFill>
                <a:latin typeface="+mj-lt"/>
              </a:rPr>
              <a:t>Explain strategies for creating and publishing websites.</a:t>
            </a:r>
          </a:p>
          <a:p>
            <a:pPr marL="0" indent="0">
              <a:buNone/>
            </a:pPr>
            <a:r>
              <a:rPr lang="en-US" sz="2400" b="1" i="1" dirty="0">
                <a:solidFill>
                  <a:prstClr val="black"/>
                </a:solidFill>
                <a:latin typeface="Calibri Light" panose="020F0302020204030204"/>
              </a:rPr>
              <a:t>Learning objectives:</a:t>
            </a:r>
            <a:r>
              <a:rPr lang="en-US" sz="2400" dirty="0">
                <a:solidFill>
                  <a:prstClr val="black"/>
                </a:solidFill>
                <a:latin typeface="Calibri Light" panose="020F0302020204030204"/>
              </a:rPr>
              <a:t> </a:t>
            </a:r>
          </a:p>
          <a:p>
            <a:pPr marL="0" indent="0">
              <a:buNone/>
            </a:pPr>
            <a:r>
              <a:rPr lang="en-US" sz="2400" dirty="0">
                <a:solidFill>
                  <a:prstClr val="black"/>
                </a:solidFill>
                <a:latin typeface="Calibri Light" panose="020F0302020204030204"/>
              </a:rPr>
              <a:t>9.2.3 Describe tools for creating websites.</a:t>
            </a:r>
          </a:p>
          <a:p>
            <a:pPr marL="0" indent="0">
              <a:buNone/>
            </a:pPr>
            <a:r>
              <a:rPr lang="en-US" sz="2400" dirty="0">
                <a:solidFill>
                  <a:prstClr val="black"/>
                </a:solidFill>
                <a:latin typeface="Calibri Light" panose="020F0302020204030204"/>
              </a:rPr>
              <a:t>9.2.4 Use text editors and IDEs.</a:t>
            </a:r>
          </a:p>
          <a:p>
            <a:pPr marL="0" lvl="0" indent="0" defTabSz="914400">
              <a:spcBef>
                <a:spcPts val="0"/>
              </a:spcBef>
              <a:buNone/>
            </a:pPr>
            <a:r>
              <a:rPr lang="en-US" sz="2400" b="1" dirty="0">
                <a:solidFill>
                  <a:prstClr val="black"/>
                </a:solidFill>
                <a:latin typeface="Calibri Light" panose="020F0302020204030204"/>
              </a:rPr>
              <a:t>Lesson objective 9.4:</a:t>
            </a:r>
            <a:r>
              <a:rPr lang="en-US" sz="2050" dirty="0">
                <a:solidFill>
                  <a:prstClr val="black"/>
                </a:solidFill>
                <a:latin typeface="Calibri Light" panose="020F0302020204030204"/>
                <a:cs typeface="Calibri Light"/>
              </a:rPr>
              <a:t> </a:t>
            </a:r>
            <a:r>
              <a:rPr lang="en-US" sz="2400" dirty="0">
                <a:solidFill>
                  <a:prstClr val="black"/>
                </a:solidFill>
                <a:latin typeface="Calibri Light" panose="020F0302020204030204"/>
              </a:rPr>
              <a:t>Code and publish a website.</a:t>
            </a:r>
          </a:p>
          <a:p>
            <a:pPr marL="0" lvl="0" indent="0" defTabSz="914400">
              <a:spcBef>
                <a:spcPts val="0"/>
              </a:spcBef>
              <a:buNone/>
            </a:pPr>
            <a:r>
              <a:rPr lang="en-US" sz="2400" b="1" i="1" dirty="0">
                <a:solidFill>
                  <a:prstClr val="black"/>
                </a:solidFill>
                <a:latin typeface="Calibri Light" panose="020F0302020204030204"/>
              </a:rPr>
              <a:t>Learning objectives:</a:t>
            </a:r>
            <a:r>
              <a:rPr lang="en-US" sz="2400" dirty="0">
                <a:solidFill>
                  <a:prstClr val="black"/>
                </a:solidFill>
                <a:latin typeface="Calibri Light" panose="020F0302020204030204"/>
              </a:rPr>
              <a:t> </a:t>
            </a:r>
          </a:p>
          <a:p>
            <a:pPr marL="0" lvl="0" indent="0" defTabSz="914400">
              <a:spcBef>
                <a:spcPts val="0"/>
              </a:spcBef>
              <a:buNone/>
            </a:pPr>
            <a:r>
              <a:rPr lang="en-US" sz="2400" dirty="0">
                <a:solidFill>
                  <a:prstClr val="black"/>
                </a:solidFill>
                <a:latin typeface="Calibri Light" panose="020F0302020204030204"/>
              </a:rPr>
              <a:t>9.4.2 Code a website.</a:t>
            </a:r>
          </a:p>
        </p:txBody>
      </p:sp>
    </p:spTree>
    <p:custDataLst>
      <p:tags r:id="rId1"/>
    </p:custDataLst>
    <p:extLst>
      <p:ext uri="{BB962C8B-B14F-4D97-AF65-F5344CB8AC3E}">
        <p14:creationId xmlns:p14="http://schemas.microsoft.com/office/powerpoint/2010/main" val="98761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836" y="308610"/>
            <a:ext cx="10412618" cy="697230"/>
          </a:xfrm>
        </p:spPr>
        <p:txBody>
          <a:bodyPr>
            <a:normAutofit/>
          </a:bodyPr>
          <a:lstStyle/>
          <a:p>
            <a:r>
              <a:rPr lang="en-US" sz="3650" dirty="0"/>
              <a:t>Learning Objectives</a:t>
            </a:r>
            <a:endParaRPr lang="en-JM" dirty="0"/>
          </a:p>
        </p:txBody>
      </p:sp>
      <p:sp>
        <p:nvSpPr>
          <p:cNvPr id="18" name="Text Placeholder 5">
            <a:extLst>
              <a:ext uri="{FF2B5EF4-FFF2-40B4-BE49-F238E27FC236}">
                <a16:creationId xmlns:a16="http://schemas.microsoft.com/office/drawing/2014/main" id="{1819095B-6C30-4E08-B315-113A7D18F97F}"/>
              </a:ext>
            </a:extLst>
          </p:cNvPr>
          <p:cNvSpPr txBox="1">
            <a:spLocks/>
          </p:cNvSpPr>
          <p:nvPr/>
        </p:nvSpPr>
        <p:spPr>
          <a:xfrm>
            <a:off x="790835" y="1590650"/>
            <a:ext cx="10988209" cy="4819431"/>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Whether to hire a web designer or use DIY tools to renovate the website</a:t>
            </a:r>
          </a:p>
          <a:p>
            <a:pPr>
              <a:buNone/>
            </a:pPr>
            <a:r>
              <a:rPr lang="en-US" dirty="0">
                <a:solidFill>
                  <a:schemeClr val="tx2"/>
                </a:solidFill>
              </a:rPr>
              <a:t>•	What features to include</a:t>
            </a:r>
          </a:p>
          <a:p>
            <a:pPr>
              <a:buNone/>
            </a:pPr>
            <a:r>
              <a:rPr lang="en-US" dirty="0">
                <a:solidFill>
                  <a:schemeClr val="tx2"/>
                </a:solidFill>
              </a:rPr>
              <a:t>•	Whether to use a template or to build the site of scratch</a:t>
            </a:r>
          </a:p>
          <a:p>
            <a:pPr>
              <a:buNone/>
            </a:pPr>
            <a:r>
              <a:rPr lang="en-US" dirty="0">
                <a:solidFill>
                  <a:schemeClr val="tx2"/>
                </a:solidFill>
              </a:rPr>
              <a:t>•	Which html tag to use to fix a problem</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decide what kinds of changes are appropriate for a website update. At each step, think carefully about how best to make professional looking changes.</a:t>
            </a:r>
          </a:p>
          <a:p>
            <a:pPr>
              <a:buFont typeface="Wingdings" panose="05000000000000000000" pitchFamily="2" charset="2"/>
              <a:buChar char="ü"/>
            </a:pPr>
            <a:r>
              <a:rPr lang="en-US" dirty="0">
                <a:solidFill>
                  <a:schemeClr val="tx2"/>
                </a:solidFill>
              </a:rPr>
              <a:t>Consider what style is most appropriate for this particular company.</a:t>
            </a:r>
          </a:p>
          <a:p>
            <a:pPr>
              <a:buFont typeface="Wingdings" panose="05000000000000000000" pitchFamily="2" charset="2"/>
              <a:buChar char="ü"/>
            </a:pPr>
            <a:r>
              <a:rPr lang="en-US" dirty="0">
                <a:solidFill>
                  <a:schemeClr val="tx2"/>
                </a:solidFill>
              </a:rPr>
              <a:t>Consider what tools will work best for the job to accomplish your goals.</a:t>
            </a:r>
          </a:p>
          <a:p>
            <a:pPr>
              <a:buFont typeface="Wingdings" panose="05000000000000000000" pitchFamily="2" charset="2"/>
              <a:buChar char="ü"/>
            </a:pPr>
            <a:r>
              <a:rPr lang="en-US" dirty="0">
                <a:solidFill>
                  <a:schemeClr val="tx2"/>
                </a:solidFill>
              </a:rPr>
              <a:t>Think about the technical side, such as HTML tags and components of the website design.</a:t>
            </a:r>
            <a:endParaRPr lang="en-JM" dirty="0">
              <a:solidFill>
                <a:schemeClr val="tx2"/>
              </a:solidFill>
            </a:endParaRPr>
          </a:p>
          <a:p>
            <a:pPr>
              <a:buNone/>
            </a:pPr>
            <a:endParaRPr lang="en-US" dirty="0">
              <a:solidFill>
                <a:schemeClr val="tx2"/>
              </a:solidFill>
            </a:endParaRPr>
          </a:p>
        </p:txBody>
      </p:sp>
    </p:spTree>
    <p:custDataLst>
      <p:tags r:id="rId1"/>
    </p:custDataLst>
    <p:extLst>
      <p:ext uri="{BB962C8B-B14F-4D97-AF65-F5344CB8AC3E}">
        <p14:creationId xmlns:p14="http://schemas.microsoft.com/office/powerpoint/2010/main" val="1413706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91824" y="117144"/>
            <a:ext cx="10412618" cy="1143000"/>
          </a:xfrm>
        </p:spPr>
        <p:txBody>
          <a:bodyPr/>
          <a:lstStyle/>
          <a:p>
            <a:r>
              <a:rPr lang="en-US" sz="3650" dirty="0"/>
              <a:t>Introduction</a:t>
            </a: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887558" y="1140217"/>
            <a:ext cx="10588161" cy="2585323"/>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You manage the daily operations for Beeman &amp; Riddle Investments. The company helps clients manage their investments. The owners ask you to make suggestions for the website and present them with a plan that includes implementation costs. The main goal of the website renovation is to g</a:t>
            </a:r>
            <a:r>
              <a:rPr lang="en-US" sz="2400" dirty="0">
                <a:cs typeface="Calibri"/>
              </a:rPr>
              <a:t>row the business by attracting new customers using the website. You will decide what features should be added, and how to make the revisions.</a:t>
            </a:r>
          </a:p>
          <a:p>
            <a:pPr marL="285750" indent="-285750">
              <a:buFont typeface="Arial" panose="020B0604020202020204" pitchFamily="34" charset="0"/>
              <a:buChar char="•"/>
            </a:pPr>
            <a:endParaRPr lang="en-US" dirty="0">
              <a:cs typeface="Calibri"/>
            </a:endParaRPr>
          </a:p>
        </p:txBody>
      </p:sp>
      <p:sp>
        <p:nvSpPr>
          <p:cNvPr id="5" name="Text Placeholder 1"/>
          <p:cNvSpPr txBox="1">
            <a:spLocks/>
          </p:cNvSpPr>
          <p:nvPr/>
        </p:nvSpPr>
        <p:spPr>
          <a:xfrm>
            <a:off x="891824" y="4832236"/>
            <a:ext cx="6263357" cy="53176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buNone/>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Tree>
    <p:custDataLst>
      <p:tags r:id="rId1"/>
    </p:custDataLst>
    <p:extLst>
      <p:ext uri="{BB962C8B-B14F-4D97-AF65-F5344CB8AC3E}">
        <p14:creationId xmlns:p14="http://schemas.microsoft.com/office/powerpoint/2010/main" val="361845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61631" y="1157899"/>
            <a:ext cx="11216194" cy="206059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have explored the existing website. While it is informative, it looks dated. The analytics show that the website doesn’t get many visits or generate new business. </a:t>
            </a:r>
          </a:p>
          <a:p>
            <a:pPr marL="0" indent="0">
              <a:buNone/>
            </a:pPr>
            <a:r>
              <a:rPr lang="en-US" sz="2050" dirty="0">
                <a:solidFill>
                  <a:srgbClr val="44546A"/>
                </a:solidFill>
                <a:latin typeface="Calibri" panose="020F0502020204030204"/>
              </a:rPr>
              <a:t>You tell the owners that the website needs to be renovated. There are benefits to hiring a web designer as well as to using tools to update the website yourself. </a:t>
            </a:r>
          </a:p>
          <a:p>
            <a:pPr marL="0" indent="0">
              <a:buNone/>
            </a:pPr>
            <a:r>
              <a:rPr lang="en-US" sz="2050" dirty="0">
                <a:solidFill>
                  <a:srgbClr val="44546A"/>
                </a:solidFill>
                <a:latin typeface="Calibri" panose="020F0502020204030204"/>
              </a:rPr>
              <a:t>Which do you propose? </a:t>
            </a:r>
          </a:p>
        </p:txBody>
      </p:sp>
      <p:sp>
        <p:nvSpPr>
          <p:cNvPr id="12" name="Text Placeholder 1"/>
          <p:cNvSpPr txBox="1">
            <a:spLocks/>
          </p:cNvSpPr>
          <p:nvPr/>
        </p:nvSpPr>
        <p:spPr>
          <a:xfrm>
            <a:off x="1725930" y="3313862"/>
            <a:ext cx="9281161" cy="116065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00" dirty="0">
                <a:solidFill>
                  <a:schemeClr val="tx2"/>
                </a:solidFill>
                <a:ea typeface="Calibri"/>
                <a:cs typeface="Calibri"/>
                <a:hlinkClick r:id="rId4" action="ppaction://hlinksldjump"/>
              </a:rPr>
              <a:t>Hire a website designer. </a:t>
            </a:r>
            <a:r>
              <a:rPr lang="en-US" sz="2000" dirty="0">
                <a:solidFill>
                  <a:srgbClr val="44546A"/>
                </a:solidFill>
                <a:latin typeface="Calibri" panose="020F0502020204030204"/>
              </a:rPr>
              <a:t>[Level1_Dec1_OptA]</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r>
              <a:rPr lang="en-US" sz="2000" dirty="0">
                <a:solidFill>
                  <a:schemeClr val="tx2"/>
                </a:solidFill>
                <a:ea typeface="Calibri"/>
                <a:cs typeface="Calibri"/>
                <a:hlinkClick r:id="rId5" action="ppaction://hlinksldjump"/>
              </a:rPr>
              <a:t>Use web development tools to update the website yourself. </a:t>
            </a:r>
            <a:r>
              <a:rPr lang="en-US" sz="2000" dirty="0">
                <a:solidFill>
                  <a:srgbClr val="44546A"/>
                </a:solidFill>
                <a:latin typeface="Calibri" panose="020F0502020204030204"/>
              </a:rPr>
              <a:t>[Level1_Dec1_OptB]</a:t>
            </a:r>
          </a:p>
          <a:p>
            <a:pPr marL="0" indent="0">
              <a:spcBef>
                <a:spcPts val="0"/>
              </a:spcBef>
              <a:buNone/>
              <a:defRPr/>
            </a:pPr>
            <a:endParaRPr lang="en-US" sz="2000" dirty="0">
              <a:solidFill>
                <a:srgbClr val="44546A"/>
              </a:solidFill>
              <a:latin typeface="Calibri" panose="020F0502020204030204"/>
            </a:endParaRP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44930" y="3312706"/>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51074" y="393868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13413E1A-7A50-4C08-A5DE-740E39202B91}"/>
              </a:ext>
            </a:extLst>
          </p:cNvPr>
          <p:cNvSpPr/>
          <p:nvPr/>
        </p:nvSpPr>
        <p:spPr>
          <a:xfrm>
            <a:off x="761631" y="142703"/>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Level1_Decision1</a:t>
            </a:r>
          </a:p>
        </p:txBody>
      </p:sp>
      <p:sp>
        <p:nvSpPr>
          <p:cNvPr id="14" name="TextBox 13">
            <a:extLst>
              <a:ext uri="{FF2B5EF4-FFF2-40B4-BE49-F238E27FC236}">
                <a16:creationId xmlns:a16="http://schemas.microsoft.com/office/drawing/2014/main" id="{729D2F35-5D14-4CAD-88C8-DC11654E7C9E}"/>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the level of detail in the proposal.</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need to choose a DIY tool.</a:t>
            </a:r>
          </a:p>
        </p:txBody>
      </p:sp>
      <p:sp>
        <p:nvSpPr>
          <p:cNvPr id="16" name="TextBox 15">
            <a:extLst>
              <a:ext uri="{FF2B5EF4-FFF2-40B4-BE49-F238E27FC236}">
                <a16:creationId xmlns:a16="http://schemas.microsoft.com/office/drawing/2014/main" id="{DC04DDA5-41F2-4BF8-85E6-C251842C0B2F}"/>
              </a:ext>
            </a:extLst>
          </p:cNvPr>
          <p:cNvSpPr txBox="1"/>
          <p:nvPr/>
        </p:nvSpPr>
        <p:spPr>
          <a:xfrm>
            <a:off x="1036320" y="4892794"/>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Either option here is acceptable.</a:t>
            </a:r>
          </a:p>
        </p:txBody>
      </p:sp>
      <p:sp>
        <p:nvSpPr>
          <p:cNvPr id="17" name="Arrow: Pentagon 16">
            <a:extLst>
              <a:ext uri="{FF2B5EF4-FFF2-40B4-BE49-F238E27FC236}">
                <a16:creationId xmlns:a16="http://schemas.microsoft.com/office/drawing/2014/main" id="{C8B0E896-C11D-4A97-A972-361F47A9E5FA}"/>
              </a:ext>
            </a:extLst>
          </p:cNvPr>
          <p:cNvSpPr/>
          <p:nvPr/>
        </p:nvSpPr>
        <p:spPr>
          <a:xfrm>
            <a:off x="188651" y="3970200"/>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8" name="Arrow: Pentagon 17">
            <a:extLst>
              <a:ext uri="{FF2B5EF4-FFF2-40B4-BE49-F238E27FC236}">
                <a16:creationId xmlns:a16="http://schemas.microsoft.com/office/drawing/2014/main" id="{3A08E022-8D32-468D-85CB-DA1C58C62980}"/>
              </a:ext>
            </a:extLst>
          </p:cNvPr>
          <p:cNvSpPr/>
          <p:nvPr/>
        </p:nvSpPr>
        <p:spPr>
          <a:xfrm>
            <a:off x="188651" y="338258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136002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128123"/>
            <a:ext cx="11155680" cy="23355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600"/>
              </a:spcAft>
              <a:buNone/>
            </a:pPr>
            <a:r>
              <a:rPr lang="en-US" sz="2050" dirty="0">
                <a:solidFill>
                  <a:srgbClr val="44546A"/>
                </a:solidFill>
                <a:latin typeface="Calibri" panose="020F0502020204030204"/>
              </a:rPr>
              <a:t>The owners ask you to meet with several web designers to get a sense of the costs, timeframe, and scope of the renovation. In order to compare the designers’ proposals, you should decide what format the suggestions should take. You could ask them to think creatively to give you a broad vision of what the new website should look like, or require them to give a specific list of improvements you’d like to see and ask them to come up with suggestions for each.</a:t>
            </a:r>
          </a:p>
          <a:p>
            <a:pPr marL="0" indent="0">
              <a:buNone/>
            </a:pPr>
            <a:r>
              <a:rPr lang="en-US" sz="2050" dirty="0">
                <a:solidFill>
                  <a:srgbClr val="44546A"/>
                </a:solidFill>
                <a:latin typeface="Calibri" panose="020F0502020204030204"/>
              </a:rPr>
              <a:t>What will you say when approaching web designers?</a:t>
            </a:r>
          </a:p>
        </p:txBody>
      </p:sp>
      <p:sp>
        <p:nvSpPr>
          <p:cNvPr id="12" name="Text Placeholder 1"/>
          <p:cNvSpPr txBox="1">
            <a:spLocks/>
          </p:cNvSpPr>
          <p:nvPr/>
        </p:nvSpPr>
        <p:spPr>
          <a:xfrm>
            <a:off x="1666868" y="3432479"/>
            <a:ext cx="10292963" cy="127417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600"/>
              </a:spcAft>
              <a:buNone/>
              <a:defRPr/>
            </a:pPr>
            <a:r>
              <a:rPr lang="en-US" sz="2000" dirty="0">
                <a:solidFill>
                  <a:schemeClr val="tx2"/>
                </a:solidFill>
                <a:ea typeface="Calibri"/>
                <a:cs typeface="Calibri"/>
                <a:hlinkClick r:id="rId4" action="ppaction://hlinksldjump"/>
              </a:rPr>
              <a:t>You’re the creative genius – tell me what would make our website awesome. </a:t>
            </a:r>
            <a:r>
              <a:rPr lang="en-US" sz="2000" dirty="0">
                <a:solidFill>
                  <a:srgbClr val="44546A"/>
                </a:solidFill>
                <a:latin typeface="Calibri" panose="020F0502020204030204"/>
              </a:rPr>
              <a:t>[Level2_Dec1_OptA]</a:t>
            </a:r>
            <a:endParaRPr lang="en-US" sz="2000" dirty="0">
              <a:solidFill>
                <a:schemeClr val="tx2"/>
              </a:solidFill>
              <a:ea typeface="Calibri"/>
              <a:cs typeface="Calibri"/>
            </a:endParaRPr>
          </a:p>
          <a:p>
            <a:pPr marL="0" indent="0">
              <a:spcBef>
                <a:spcPts val="0"/>
              </a:spcBef>
              <a:spcAft>
                <a:spcPts val="600"/>
              </a:spcAft>
              <a:buNone/>
              <a:defRPr/>
            </a:pPr>
            <a:r>
              <a:rPr lang="en-US" sz="2000" dirty="0">
                <a:solidFill>
                  <a:schemeClr val="tx2"/>
                </a:solidFill>
                <a:ea typeface="Calibri"/>
                <a:cs typeface="Calibri"/>
                <a:hlinkClick r:id="rId5" action="ppaction://hlinksldjump"/>
              </a:rPr>
              <a:t>We need to rethink navigation, data gathering, and integration with social media. What do you suggest? </a:t>
            </a:r>
            <a:r>
              <a:rPr lang="en-US" sz="2000" dirty="0">
                <a:solidFill>
                  <a:srgbClr val="44546A"/>
                </a:solidFill>
                <a:latin typeface="Calibri" panose="020F0502020204030204"/>
              </a:rPr>
              <a:t>[Level2_Dec1_OptB]</a:t>
            </a:r>
          </a:p>
          <a:p>
            <a:pPr marL="0" indent="0">
              <a:spcBef>
                <a:spcPts val="0"/>
              </a:spcBef>
              <a:spcAft>
                <a:spcPts val="600"/>
              </a:spcAft>
              <a:buNone/>
              <a:defRPr/>
            </a:pPr>
            <a:endParaRPr lang="en-US" sz="2000" dirty="0">
              <a:solidFill>
                <a:schemeClr val="tx2"/>
              </a:solidFill>
              <a:ea typeface="Calibri"/>
              <a:cs typeface="Calibri"/>
            </a:endParaRPr>
          </a:p>
          <a:p>
            <a:pPr marL="0" indent="0">
              <a:spcBef>
                <a:spcPts val="0"/>
              </a:spcBef>
              <a:spcAft>
                <a:spcPts val="600"/>
              </a:spcAft>
              <a:buNone/>
              <a:defRPr/>
            </a:pPr>
            <a:endParaRPr lang="en-US" sz="2000" dirty="0">
              <a:solidFill>
                <a:schemeClr val="tx2"/>
              </a:solidFill>
              <a:ea typeface="Calibri"/>
              <a:cs typeface="Calibri"/>
            </a:endParaRPr>
          </a:p>
          <a:p>
            <a:pPr marL="0" indent="0">
              <a:spcBef>
                <a:spcPts val="0"/>
              </a:spcBef>
              <a:spcAft>
                <a:spcPts val="600"/>
              </a:spcAft>
              <a:buNone/>
              <a:defRPr/>
            </a:pPr>
            <a:endParaRPr lang="en-US" sz="2000" dirty="0">
              <a:solidFill>
                <a:schemeClr val="accent3">
                  <a:lumMod val="75000"/>
                </a:schemeClr>
              </a:solidFill>
              <a:ea typeface="Calibri"/>
              <a:cs typeface="Calibri"/>
            </a:endParaRPr>
          </a:p>
          <a:p>
            <a:pPr marL="0" indent="0">
              <a:spcBef>
                <a:spcPts val="0"/>
              </a:spcBef>
              <a:spcAft>
                <a:spcPts val="600"/>
              </a:spcAft>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276667" y="3432479"/>
            <a:ext cx="646671"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277753" y="3807643"/>
            <a:ext cx="661566"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6AE89651-6853-401E-B59B-CC21C52434E1}"/>
              </a:ext>
            </a:extLst>
          </p:cNvPr>
          <p:cNvSpPr/>
          <p:nvPr/>
        </p:nvSpPr>
        <p:spPr>
          <a:xfrm>
            <a:off x="795114" y="16713"/>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Level2_Decision1</a:t>
            </a:r>
          </a:p>
        </p:txBody>
      </p:sp>
      <p:sp>
        <p:nvSpPr>
          <p:cNvPr id="13" name="TextBox 12">
            <a:extLst>
              <a:ext uri="{FF2B5EF4-FFF2-40B4-BE49-F238E27FC236}">
                <a16:creationId xmlns:a16="http://schemas.microsoft.com/office/drawing/2014/main" id="{449F2735-89C4-43F8-B10F-8184F87BC39A}"/>
              </a:ext>
            </a:extLst>
          </p:cNvPr>
          <p:cNvSpPr txBox="1"/>
          <p:nvPr/>
        </p:nvSpPr>
        <p:spPr>
          <a:xfrm>
            <a:off x="1036320" y="74720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hire a website designer.</a:t>
            </a:r>
          </a:p>
        </p:txBody>
      </p:sp>
      <p:sp>
        <p:nvSpPr>
          <p:cNvPr id="17" name="TextBox 16">
            <a:extLst>
              <a:ext uri="{FF2B5EF4-FFF2-40B4-BE49-F238E27FC236}">
                <a16:creationId xmlns:a16="http://schemas.microsoft.com/office/drawing/2014/main" id="{AFE05544-861C-4012-9841-767D33603614}"/>
              </a:ext>
            </a:extLst>
          </p:cNvPr>
          <p:cNvSpPr txBox="1"/>
          <p:nvPr/>
        </p:nvSpPr>
        <p:spPr>
          <a:xfrm>
            <a:off x="1036320" y="5007898"/>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Website designers need guidance from their customers on what’s wanted. A more detailed response here is optimal.</a:t>
            </a:r>
          </a:p>
        </p:txBody>
      </p:sp>
      <p:sp>
        <p:nvSpPr>
          <p:cNvPr id="18" name="Arrow: Pentagon 17">
            <a:extLst>
              <a:ext uri="{FF2B5EF4-FFF2-40B4-BE49-F238E27FC236}">
                <a16:creationId xmlns:a16="http://schemas.microsoft.com/office/drawing/2014/main" id="{A326BB7E-BC1D-46E8-96BB-687F81431EDE}"/>
              </a:ext>
            </a:extLst>
          </p:cNvPr>
          <p:cNvSpPr/>
          <p:nvPr/>
        </p:nvSpPr>
        <p:spPr>
          <a:xfrm>
            <a:off x="232169" y="3811585"/>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9" name="TextBox 18">
            <a:extLst>
              <a:ext uri="{FF2B5EF4-FFF2-40B4-BE49-F238E27FC236}">
                <a16:creationId xmlns:a16="http://schemas.microsoft.com/office/drawing/2014/main" id="{E5EB87D7-F7F9-4399-A522-436C63D80CC4}"/>
              </a:ext>
            </a:extLst>
          </p:cNvPr>
          <p:cNvSpPr txBox="1"/>
          <p:nvPr/>
        </p:nvSpPr>
        <p:spPr>
          <a:xfrm>
            <a:off x="1036320" y="6064676"/>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The website update is canceled.</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need to choose feature types.</a:t>
            </a:r>
          </a:p>
        </p:txBody>
      </p:sp>
    </p:spTree>
    <p:custDataLst>
      <p:tags r:id="rId1"/>
    </p:custDataLst>
    <p:extLst>
      <p:ext uri="{BB962C8B-B14F-4D97-AF65-F5344CB8AC3E}">
        <p14:creationId xmlns:p14="http://schemas.microsoft.com/office/powerpoint/2010/main" val="243139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287354"/>
            <a:ext cx="11155680" cy="186023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are excited to begin working on the website—you have a lot of ideas and are ready to get going. Next, you need to decide how you are going to create the new website. You’re not familiar with any current web development tools, so you’d have to research and learn how to use one. On the other hand, you know that you can use any text editor, such as Word, to add content and save the document in HTML format. Which method do you choose? </a:t>
            </a:r>
          </a:p>
        </p:txBody>
      </p:sp>
      <p:sp>
        <p:nvSpPr>
          <p:cNvPr id="12" name="Text Placeholder 1"/>
          <p:cNvSpPr txBox="1">
            <a:spLocks/>
          </p:cNvSpPr>
          <p:nvPr/>
        </p:nvSpPr>
        <p:spPr>
          <a:xfrm>
            <a:off x="1706138" y="3265590"/>
            <a:ext cx="10473732" cy="186023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Choose a website building tool, and download a free tutorial so that you can teach yourself how to use it.</a:t>
            </a:r>
            <a:r>
              <a:rPr lang="en-US" sz="2000" dirty="0">
                <a:solidFill>
                  <a:schemeClr val="tx2"/>
                </a:solidFill>
                <a:ea typeface="Calibri"/>
                <a:cs typeface="Calibri"/>
              </a:rPr>
              <a:t> </a:t>
            </a:r>
            <a:r>
              <a:rPr lang="en-US" sz="2000" dirty="0">
                <a:solidFill>
                  <a:srgbClr val="44546A"/>
                </a:solidFill>
                <a:latin typeface="Calibri" panose="020F0502020204030204"/>
              </a:rPr>
              <a:t>[Level2_Dec2_OptA]</a:t>
            </a:r>
          </a:p>
          <a:p>
            <a:pPr marL="0" indent="0">
              <a:spcBef>
                <a:spcPts val="0"/>
              </a:spcBef>
              <a:buNone/>
              <a:defRPr/>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Create the website in Microsoft Word, and save the file in HTML format. </a:t>
            </a:r>
            <a:r>
              <a:rPr lang="en-US" sz="2000" dirty="0">
                <a:solidFill>
                  <a:srgbClr val="44546A"/>
                </a:solidFill>
                <a:latin typeface="Calibri" panose="020F0502020204030204"/>
              </a:rPr>
              <a:t>[Level2_Dec2_OptB]</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09584" y="326559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295207" y="424004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9D008399-D7D8-497B-95D0-02C0D89149EF}"/>
              </a:ext>
            </a:extLst>
          </p:cNvPr>
          <p:cNvSpPr/>
          <p:nvPr/>
        </p:nvSpPr>
        <p:spPr>
          <a:xfrm>
            <a:off x="696945" y="-4594"/>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Level2_Decision2</a:t>
            </a:r>
          </a:p>
        </p:txBody>
      </p:sp>
      <p:sp>
        <p:nvSpPr>
          <p:cNvPr id="13" name="TextBox 12">
            <a:extLst>
              <a:ext uri="{FF2B5EF4-FFF2-40B4-BE49-F238E27FC236}">
                <a16:creationId xmlns:a16="http://schemas.microsoft.com/office/drawing/2014/main" id="{B6A50CC7-ADBF-46D2-ACB3-EBB585F1D157}"/>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a:t>
            </a:r>
            <a:r>
              <a:rPr lang="en-US" kern="0" dirty="0">
                <a:solidFill>
                  <a:prstClr val="black"/>
                </a:solidFill>
              </a:rPr>
              <a:t>to use a DIY tool.</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B92EB38-D625-481C-A9E2-F1215EFDF5BA}"/>
              </a:ext>
            </a:extLst>
          </p:cNvPr>
          <p:cNvSpPr txBox="1"/>
          <p:nvPr/>
        </p:nvSpPr>
        <p:spPr>
          <a:xfrm>
            <a:off x="1036320" y="6218280"/>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feature types.</a:t>
            </a:r>
          </a:p>
        </p:txBody>
      </p:sp>
      <p:sp>
        <p:nvSpPr>
          <p:cNvPr id="16" name="TextBox 15">
            <a:extLst>
              <a:ext uri="{FF2B5EF4-FFF2-40B4-BE49-F238E27FC236}">
                <a16:creationId xmlns:a16="http://schemas.microsoft.com/office/drawing/2014/main" id="{7CCC44A8-6148-497F-85E8-664ED195E861}"/>
              </a:ext>
            </a:extLst>
          </p:cNvPr>
          <p:cNvSpPr txBox="1"/>
          <p:nvPr/>
        </p:nvSpPr>
        <p:spPr>
          <a:xfrm>
            <a:off x="1036320" y="5059552"/>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The website building tool will be faster to learn than coding and will provide significant support in making attractive edits to the website.</a:t>
            </a:r>
          </a:p>
        </p:txBody>
      </p:sp>
      <p:sp>
        <p:nvSpPr>
          <p:cNvPr id="17" name="Arrow: Pentagon 16">
            <a:extLst>
              <a:ext uri="{FF2B5EF4-FFF2-40B4-BE49-F238E27FC236}">
                <a16:creationId xmlns:a16="http://schemas.microsoft.com/office/drawing/2014/main" id="{BE5CC112-E4DD-4E8D-BC5B-90740EFF43BC}"/>
              </a:ext>
            </a:extLst>
          </p:cNvPr>
          <p:cNvSpPr/>
          <p:nvPr/>
        </p:nvSpPr>
        <p:spPr>
          <a:xfrm>
            <a:off x="228407" y="329003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388619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13282" y="1287354"/>
            <a:ext cx="11178718"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The initial meetings with web designers went well, and you have chosen someone to redesign the website. Your bosses have asked you to make attracting new customers the first order of business. Now you need to tell the designer which feature of the website is the main priority and should be handled first. </a:t>
            </a:r>
          </a:p>
        </p:txBody>
      </p:sp>
      <p:sp>
        <p:nvSpPr>
          <p:cNvPr id="12" name="Text Placeholder 1"/>
          <p:cNvSpPr txBox="1">
            <a:spLocks/>
          </p:cNvSpPr>
          <p:nvPr/>
        </p:nvSpPr>
        <p:spPr>
          <a:xfrm>
            <a:off x="1594625" y="2634850"/>
            <a:ext cx="10501502" cy="186023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Create a series of videos that show how to use the various website features and that promote your company. </a:t>
            </a:r>
            <a:r>
              <a:rPr lang="en-US" sz="2000" dirty="0">
                <a:solidFill>
                  <a:srgbClr val="44546A"/>
                </a:solidFill>
                <a:latin typeface="Calibri" panose="020F0502020204030204"/>
              </a:rPr>
              <a:t>[Level3_Dec1_OptA]</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Apply Search Engine Optimization (SEO) techniques, create a blog that links to your social media, and revise the navigation. </a:t>
            </a:r>
            <a:r>
              <a:rPr lang="en-US" sz="2000" dirty="0">
                <a:solidFill>
                  <a:srgbClr val="44546A"/>
                </a:solidFill>
                <a:latin typeface="Calibri" panose="020F0502020204030204"/>
              </a:rPr>
              <a:t>[Level3_Dec1_OptB]</a:t>
            </a:r>
          </a:p>
          <a:p>
            <a:pPr marL="0" indent="0">
              <a:buNone/>
              <a:defRPr/>
            </a:pPr>
            <a:endParaRPr lang="en-US" sz="2000" dirty="0">
              <a:solidFill>
                <a:srgbClr val="44546A"/>
              </a:solidFill>
              <a:latin typeface="Calibri" panose="020F0502020204030204"/>
            </a:endParaRP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225841" y="267557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211464" y="365003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61E7C521-2EA2-40F5-A180-DE9FB2562F10}"/>
              </a:ext>
            </a:extLst>
          </p:cNvPr>
          <p:cNvSpPr/>
          <p:nvPr/>
        </p:nvSpPr>
        <p:spPr>
          <a:xfrm>
            <a:off x="1013282" y="19861"/>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Level3_Decision1</a:t>
            </a:r>
          </a:p>
        </p:txBody>
      </p:sp>
      <p:sp>
        <p:nvSpPr>
          <p:cNvPr id="14" name="TextBox 13">
            <a:extLst>
              <a:ext uri="{FF2B5EF4-FFF2-40B4-BE49-F238E27FC236}">
                <a16:creationId xmlns:a16="http://schemas.microsoft.com/office/drawing/2014/main" id="{D8F22867-AFC2-42CF-AA75-26363D9DED24}"/>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give a specific list of desired improvements.</a:t>
            </a:r>
          </a:p>
        </p:txBody>
      </p:sp>
      <p:sp>
        <p:nvSpPr>
          <p:cNvPr id="16" name="TextBox 15">
            <a:extLst>
              <a:ext uri="{FF2B5EF4-FFF2-40B4-BE49-F238E27FC236}">
                <a16:creationId xmlns:a16="http://schemas.microsoft.com/office/drawing/2014/main" id="{1636D86E-882B-4343-BE4A-4C1B3327530C}"/>
              </a:ext>
            </a:extLst>
          </p:cNvPr>
          <p:cNvSpPr txBox="1"/>
          <p:nvPr/>
        </p:nvSpPr>
        <p:spPr>
          <a:xfrm>
            <a:off x="1036320" y="5946699"/>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a:t>
            </a:r>
            <a:r>
              <a:rPr lang="en-US" kern="0" dirty="0">
                <a:solidFill>
                  <a:prstClr val="black"/>
                </a:solidFill>
              </a:rPr>
              <a:t>The website update is canceled.</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need to choose a redesign strategy.</a:t>
            </a:r>
          </a:p>
        </p:txBody>
      </p:sp>
      <p:sp>
        <p:nvSpPr>
          <p:cNvPr id="18" name="TextBox 17">
            <a:extLst>
              <a:ext uri="{FF2B5EF4-FFF2-40B4-BE49-F238E27FC236}">
                <a16:creationId xmlns:a16="http://schemas.microsoft.com/office/drawing/2014/main" id="{481B1645-E247-4229-8FED-A983655C355D}"/>
              </a:ext>
            </a:extLst>
          </p:cNvPr>
          <p:cNvSpPr txBox="1"/>
          <p:nvPr/>
        </p:nvSpPr>
        <p:spPr>
          <a:xfrm>
            <a:off x="1036320" y="4787971"/>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Linking the website to other resources, such as search engines and social media, will attract more customers than navigation and promotional videos.</a:t>
            </a:r>
          </a:p>
        </p:txBody>
      </p:sp>
      <p:sp>
        <p:nvSpPr>
          <p:cNvPr id="19" name="Arrow: Pentagon 18">
            <a:extLst>
              <a:ext uri="{FF2B5EF4-FFF2-40B4-BE49-F238E27FC236}">
                <a16:creationId xmlns:a16="http://schemas.microsoft.com/office/drawing/2014/main" id="{3280E510-F441-4DA8-9CB5-85C262506957}"/>
              </a:ext>
            </a:extLst>
          </p:cNvPr>
          <p:cNvSpPr/>
          <p:nvPr/>
        </p:nvSpPr>
        <p:spPr>
          <a:xfrm>
            <a:off x="188651" y="365003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098433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46542" y="1365565"/>
            <a:ext cx="11145458" cy="128943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have chosen a website tool and taught yourself the basics.  Your bosses have asked you to make attracting new customers the first order of business. Now you need to decide which feature of the website is the main priority and should be handled first. </a:t>
            </a:r>
          </a:p>
        </p:txBody>
      </p:sp>
      <p:sp>
        <p:nvSpPr>
          <p:cNvPr id="12" name="Text Placeholder 1"/>
          <p:cNvSpPr txBox="1">
            <a:spLocks/>
          </p:cNvSpPr>
          <p:nvPr/>
        </p:nvSpPr>
        <p:spPr>
          <a:xfrm>
            <a:off x="1750741" y="2614277"/>
            <a:ext cx="10441259" cy="186023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Create a series of videos that show how to use the various website features and that promote your company.</a:t>
            </a:r>
            <a:r>
              <a:rPr lang="en-US" sz="2000" dirty="0">
                <a:solidFill>
                  <a:schemeClr val="tx2"/>
                </a:solidFill>
                <a:ea typeface="Calibri"/>
                <a:cs typeface="Calibri"/>
              </a:rPr>
              <a:t> </a:t>
            </a:r>
            <a:r>
              <a:rPr lang="en-US" sz="2000" dirty="0">
                <a:solidFill>
                  <a:srgbClr val="44546A"/>
                </a:solidFill>
                <a:latin typeface="Calibri" panose="020F0502020204030204"/>
              </a:rPr>
              <a:t>[Level3_Dec2_OptA]</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Apply Search Engine Optimization (SEO) techniques, create a blog that links to your social media, and revise the navigation.</a:t>
            </a:r>
            <a:r>
              <a:rPr lang="en-US" sz="2000" dirty="0">
                <a:solidFill>
                  <a:schemeClr val="tx2"/>
                </a:solidFill>
                <a:ea typeface="Calibri"/>
                <a:cs typeface="Calibri"/>
              </a:rPr>
              <a:t> </a:t>
            </a:r>
            <a:r>
              <a:rPr lang="en-US" sz="2000" dirty="0">
                <a:solidFill>
                  <a:srgbClr val="44546A"/>
                </a:solidFill>
                <a:latin typeface="Calibri" panose="020F0502020204030204"/>
              </a:rPr>
              <a:t>[Level3_Dec2_OptB]</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21715" y="265500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07338" y="362945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0145B507-0CF7-4128-91B4-075B8C4ECA58}"/>
              </a:ext>
            </a:extLst>
          </p:cNvPr>
          <p:cNvSpPr/>
          <p:nvPr/>
        </p:nvSpPr>
        <p:spPr>
          <a:xfrm>
            <a:off x="1016232" y="-872"/>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Level3_Decision2</a:t>
            </a:r>
          </a:p>
        </p:txBody>
      </p:sp>
      <p:sp>
        <p:nvSpPr>
          <p:cNvPr id="14" name="TextBox 13">
            <a:extLst>
              <a:ext uri="{FF2B5EF4-FFF2-40B4-BE49-F238E27FC236}">
                <a16:creationId xmlns:a16="http://schemas.microsoft.com/office/drawing/2014/main" id="{39975204-4E4D-445D-A891-A0E3C916F2C7}"/>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website builder tool.</a:t>
            </a:r>
          </a:p>
        </p:txBody>
      </p:sp>
      <p:sp>
        <p:nvSpPr>
          <p:cNvPr id="17" name="TextBox 16">
            <a:extLst>
              <a:ext uri="{FF2B5EF4-FFF2-40B4-BE49-F238E27FC236}">
                <a16:creationId xmlns:a16="http://schemas.microsoft.com/office/drawing/2014/main" id="{0E365032-9FBC-413A-A3FD-415A6DC765CF}"/>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a:defRPr/>
            </a:pPr>
            <a:r>
              <a:rPr lang="en-US" kern="0" dirty="0">
                <a:solidFill>
                  <a:prstClr val="black"/>
                </a:solidFill>
              </a:rPr>
              <a:t>If Option A: The website update is canceled.</a:t>
            </a:r>
          </a:p>
          <a:p>
            <a:pPr lvl="0">
              <a:defRPr/>
            </a:pPr>
            <a:r>
              <a:rPr lang="en-US" kern="0" dirty="0">
                <a:solidFill>
                  <a:prstClr val="black"/>
                </a:solidFill>
              </a:rPr>
              <a:t>If Option B: Student will need to choose a redesign strategy.</a:t>
            </a:r>
          </a:p>
        </p:txBody>
      </p:sp>
      <p:sp>
        <p:nvSpPr>
          <p:cNvPr id="18" name="TextBox 17">
            <a:extLst>
              <a:ext uri="{FF2B5EF4-FFF2-40B4-BE49-F238E27FC236}">
                <a16:creationId xmlns:a16="http://schemas.microsoft.com/office/drawing/2014/main" id="{FC05B1A0-697C-48EF-B4DD-00E9FE2BAF05}"/>
              </a:ext>
            </a:extLst>
          </p:cNvPr>
          <p:cNvSpPr txBox="1"/>
          <p:nvPr/>
        </p:nvSpPr>
        <p:spPr>
          <a:xfrm>
            <a:off x="1046542" y="4709914"/>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Linking the website to other resources, such as search engines and social media, will attract more customers than navigation and promotional videos.</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9" name="Arrow: Pentagon 18">
            <a:extLst>
              <a:ext uri="{FF2B5EF4-FFF2-40B4-BE49-F238E27FC236}">
                <a16:creationId xmlns:a16="http://schemas.microsoft.com/office/drawing/2014/main" id="{F9BAB728-E1D3-406D-A8A4-C22A7ABE68A0}"/>
              </a:ext>
            </a:extLst>
          </p:cNvPr>
          <p:cNvSpPr/>
          <p:nvPr/>
        </p:nvSpPr>
        <p:spPr>
          <a:xfrm>
            <a:off x="198873" y="364562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997761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46542" y="1376207"/>
            <a:ext cx="11145458" cy="135576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are glad that you decided to work in Word since you are familiar with the program. Your bosses have asked you to make attracting new customers the first order of business. You are ready to get started. Which website feature should you focus on first?</a:t>
            </a:r>
          </a:p>
        </p:txBody>
      </p:sp>
      <p:sp>
        <p:nvSpPr>
          <p:cNvPr id="12" name="Text Placeholder 1"/>
          <p:cNvSpPr txBox="1">
            <a:spLocks/>
          </p:cNvSpPr>
          <p:nvPr/>
        </p:nvSpPr>
        <p:spPr>
          <a:xfrm>
            <a:off x="1937256" y="2731976"/>
            <a:ext cx="10399725" cy="186023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Apply Search Engine Optimization (SEO) techniques, create a blog that links to your social media, and revise the navigation.</a:t>
            </a:r>
            <a:r>
              <a:rPr lang="en-US" sz="2000" dirty="0">
                <a:solidFill>
                  <a:schemeClr val="tx2"/>
                </a:solidFill>
                <a:ea typeface="Calibri"/>
                <a:cs typeface="Calibri"/>
              </a:rPr>
              <a:t> </a:t>
            </a:r>
            <a:r>
              <a:rPr lang="en-US" sz="2000" dirty="0">
                <a:solidFill>
                  <a:srgbClr val="44546A"/>
                </a:solidFill>
                <a:latin typeface="Calibri" panose="020F0502020204030204"/>
              </a:rPr>
              <a:t>[Level3_Dec3_OptA]</a:t>
            </a:r>
          </a:p>
          <a:p>
            <a:pPr marL="0" indent="0">
              <a:spcBef>
                <a:spcPts val="0"/>
              </a:spcBef>
              <a:buNone/>
              <a:defRPr/>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Update the logo, revise the content, and add a few links to articles that you think your customers will be interested in.</a:t>
            </a:r>
            <a:r>
              <a:rPr lang="en-US" sz="2000" dirty="0">
                <a:solidFill>
                  <a:schemeClr val="tx2"/>
                </a:solidFill>
                <a:ea typeface="Calibri"/>
                <a:cs typeface="Calibri"/>
              </a:rPr>
              <a:t> </a:t>
            </a:r>
            <a:r>
              <a:rPr lang="en-US" sz="2000" dirty="0">
                <a:solidFill>
                  <a:srgbClr val="44546A"/>
                </a:solidFill>
                <a:latin typeface="Calibri" panose="020F0502020204030204"/>
              </a:rPr>
              <a:t>[Level3_Dec3_OptB]</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466696" y="277270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452319" y="374715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3CB059FF-D36B-49F5-93A8-31A348D0DA30}"/>
              </a:ext>
            </a:extLst>
          </p:cNvPr>
          <p:cNvSpPr/>
          <p:nvPr/>
        </p:nvSpPr>
        <p:spPr>
          <a:xfrm>
            <a:off x="1016232" y="-4594"/>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Level3_Decision3</a:t>
            </a:r>
          </a:p>
        </p:txBody>
      </p:sp>
      <p:sp>
        <p:nvSpPr>
          <p:cNvPr id="13" name="TextBox 12">
            <a:extLst>
              <a:ext uri="{FF2B5EF4-FFF2-40B4-BE49-F238E27FC236}">
                <a16:creationId xmlns:a16="http://schemas.microsoft.com/office/drawing/2014/main" id="{CC3E154F-8C5D-4B12-A341-EDC8509DD8A2}"/>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HTML in Word.</a:t>
            </a:r>
          </a:p>
        </p:txBody>
      </p:sp>
      <p:sp>
        <p:nvSpPr>
          <p:cNvPr id="16" name="TextBox 15">
            <a:extLst>
              <a:ext uri="{FF2B5EF4-FFF2-40B4-BE49-F238E27FC236}">
                <a16:creationId xmlns:a16="http://schemas.microsoft.com/office/drawing/2014/main" id="{66BA5DF0-26B2-4B9B-AFE1-C9ACAB782C92}"/>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Student will need to choose a redesign strategy.</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The owners aren’t very happy with the changes but will accept them for now.</a:t>
            </a:r>
          </a:p>
        </p:txBody>
      </p:sp>
      <p:sp>
        <p:nvSpPr>
          <p:cNvPr id="17" name="TextBox 16">
            <a:extLst>
              <a:ext uri="{FF2B5EF4-FFF2-40B4-BE49-F238E27FC236}">
                <a16:creationId xmlns:a16="http://schemas.microsoft.com/office/drawing/2014/main" id="{6A106E48-56F9-4DBF-9652-86F80A556355}"/>
              </a:ext>
            </a:extLst>
          </p:cNvPr>
          <p:cNvSpPr txBox="1"/>
          <p:nvPr/>
        </p:nvSpPr>
        <p:spPr>
          <a:xfrm>
            <a:off x="1046542" y="4709914"/>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Linking the website to other resources, such as search engines and social media, will attract more customers than a new logo, text, and links.</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8" name="Arrow: Pentagon 17">
            <a:extLst>
              <a:ext uri="{FF2B5EF4-FFF2-40B4-BE49-F238E27FC236}">
                <a16:creationId xmlns:a16="http://schemas.microsoft.com/office/drawing/2014/main" id="{6841EABF-2396-47EB-B5B2-B3CAE50BA347}"/>
              </a:ext>
            </a:extLst>
          </p:cNvPr>
          <p:cNvSpPr/>
          <p:nvPr/>
        </p:nvSpPr>
        <p:spPr>
          <a:xfrm>
            <a:off x="198873" y="2772703"/>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2241126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87596"/>
            <a:ext cx="9570720" cy="175740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As you dig into the renovation, you realize that Word doesn’t have the tools you need to do everything  you want to accomplish. Instead, you decide to switch to a website building tool. After a few days of learning how to use the tool, you’re ready to get to work.</a:t>
            </a:r>
          </a:p>
        </p:txBody>
      </p:sp>
      <p:sp>
        <p:nvSpPr>
          <p:cNvPr id="12" name="Text Placeholder 1"/>
          <p:cNvSpPr txBox="1">
            <a:spLocks/>
          </p:cNvSpPr>
          <p:nvPr/>
        </p:nvSpPr>
        <p:spPr>
          <a:xfrm>
            <a:off x="1036320" y="4352303"/>
            <a:ext cx="5788227" cy="67689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Rectangle 1">
            <a:extLst>
              <a:ext uri="{FF2B5EF4-FFF2-40B4-BE49-F238E27FC236}">
                <a16:creationId xmlns:a16="http://schemas.microsoft.com/office/drawing/2014/main" id="{BB0C6C43-873B-4352-B475-C8D107FECF8C}"/>
              </a:ext>
            </a:extLst>
          </p:cNvPr>
          <p:cNvSpPr/>
          <p:nvPr/>
        </p:nvSpPr>
        <p:spPr>
          <a:xfrm>
            <a:off x="795113" y="0"/>
            <a:ext cx="2791790"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Level3_Story1</a:t>
            </a:r>
          </a:p>
        </p:txBody>
      </p:sp>
      <p:sp>
        <p:nvSpPr>
          <p:cNvPr id="10" name="TextBox 9">
            <a:extLst>
              <a:ext uri="{FF2B5EF4-FFF2-40B4-BE49-F238E27FC236}">
                <a16:creationId xmlns:a16="http://schemas.microsoft.com/office/drawing/2014/main" id="{E8ED9A97-300E-4839-9364-CA1ED0630E99}"/>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add a blog and SEO, and revise navigation.</a:t>
            </a:r>
          </a:p>
        </p:txBody>
      </p:sp>
      <p:sp>
        <p:nvSpPr>
          <p:cNvPr id="14" name="TextBox 13">
            <a:extLst>
              <a:ext uri="{FF2B5EF4-FFF2-40B4-BE49-F238E27FC236}">
                <a16:creationId xmlns:a16="http://schemas.microsoft.com/office/drawing/2014/main" id="{F75955CD-1F06-46D4-81F4-A6B1E3A8A720}"/>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choose a redesign strategy.</a:t>
            </a:r>
          </a:p>
        </p:txBody>
      </p:sp>
    </p:spTree>
    <p:custDataLst>
      <p:tags r:id="rId1"/>
    </p:custDataLst>
    <p:extLst>
      <p:ext uri="{BB962C8B-B14F-4D97-AF65-F5344CB8AC3E}">
        <p14:creationId xmlns:p14="http://schemas.microsoft.com/office/powerpoint/2010/main" val="1743057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61093"/>
            <a:ext cx="9570720" cy="19679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As you dig into the renovation, you realize that Word doesn’t have the tools you need to do everything  you want to accomplish.  But you can at least update the website content in Word and publish it to the website using the existing website host service. You reveal what you were able to accomplish to the owners and are anxious to see their reactions.</a:t>
            </a:r>
          </a:p>
        </p:txBody>
      </p:sp>
      <p:sp>
        <p:nvSpPr>
          <p:cNvPr id="12" name="Text Placeholder 1"/>
          <p:cNvSpPr txBox="1">
            <a:spLocks/>
          </p:cNvSpPr>
          <p:nvPr/>
        </p:nvSpPr>
        <p:spPr>
          <a:xfrm>
            <a:off x="1036320" y="4352303"/>
            <a:ext cx="6145065" cy="69920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Rectangle 1">
            <a:extLst>
              <a:ext uri="{FF2B5EF4-FFF2-40B4-BE49-F238E27FC236}">
                <a16:creationId xmlns:a16="http://schemas.microsoft.com/office/drawing/2014/main" id="{1C5ACF12-68DC-4EEF-B6E8-B38B381CFA48}"/>
              </a:ext>
            </a:extLst>
          </p:cNvPr>
          <p:cNvSpPr/>
          <p:nvPr/>
        </p:nvSpPr>
        <p:spPr>
          <a:xfrm>
            <a:off x="795113" y="-872"/>
            <a:ext cx="2791790"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Level3_Story2</a:t>
            </a:r>
          </a:p>
        </p:txBody>
      </p:sp>
      <p:sp>
        <p:nvSpPr>
          <p:cNvPr id="10" name="TextBox 9">
            <a:extLst>
              <a:ext uri="{FF2B5EF4-FFF2-40B4-BE49-F238E27FC236}">
                <a16:creationId xmlns:a16="http://schemas.microsoft.com/office/drawing/2014/main" id="{762FE651-7E6E-4BD4-BFD5-0A966CA41274}"/>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update the logo, text, and links.</a:t>
            </a:r>
          </a:p>
        </p:txBody>
      </p:sp>
      <p:sp>
        <p:nvSpPr>
          <p:cNvPr id="14" name="TextBox 13">
            <a:extLst>
              <a:ext uri="{FF2B5EF4-FFF2-40B4-BE49-F238E27FC236}">
                <a16:creationId xmlns:a16="http://schemas.microsoft.com/office/drawing/2014/main" id="{3CD7D5C2-5F06-47B0-8D81-3C96A5DDC47E}"/>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The owners aren’t very happy with the changes but will accept them for now.</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651128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89246" y="1294211"/>
            <a:ext cx="11202754" cy="219416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The owners are excited about the traffic optimizing your content for SEO will bring, and like your plan to add a blog. You create a content calendar for the blog posts and assign topics to various employees. Next you will decide whether to build your website from scratch, which will give you flexibility to customize it to your needs, or to use a template as a starting point to save time and money. What should you do?</a:t>
            </a:r>
          </a:p>
        </p:txBody>
      </p:sp>
      <p:sp>
        <p:nvSpPr>
          <p:cNvPr id="12" name="Text Placeholder 1"/>
          <p:cNvSpPr txBox="1">
            <a:spLocks/>
          </p:cNvSpPr>
          <p:nvPr/>
        </p:nvSpPr>
        <p:spPr>
          <a:xfrm>
            <a:off x="1739591" y="3123877"/>
            <a:ext cx="10253536" cy="198126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Fully custom works best for your project. It will take longer, but you work from scratch. </a:t>
            </a:r>
            <a:r>
              <a:rPr lang="en-US" sz="2000" dirty="0">
                <a:solidFill>
                  <a:srgbClr val="44546A"/>
                </a:solidFill>
                <a:latin typeface="Calibri" panose="020F0502020204030204"/>
              </a:rPr>
              <a:t>[Level4_Dec1_OptA]</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Select a professional looking template that you can add content and insert your own graphics. </a:t>
            </a:r>
            <a:r>
              <a:rPr lang="en-US" sz="2000" dirty="0">
                <a:solidFill>
                  <a:srgbClr val="44546A"/>
                </a:solidFill>
                <a:latin typeface="Calibri" panose="020F0502020204030204"/>
              </a:rPr>
              <a:t>[Level4_Dec1_OptB]</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07338" y="312387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07338" y="423318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AutoShape 2" descr="Image result for cafe with people on wif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cafe with people on wif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Image result for cafe with people on wif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6F64096A-DDF4-4197-8FFA-486ED9A2CC15}"/>
              </a:ext>
            </a:extLst>
          </p:cNvPr>
          <p:cNvSpPr/>
          <p:nvPr/>
        </p:nvSpPr>
        <p:spPr>
          <a:xfrm>
            <a:off x="795113" y="70333"/>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Level4_Decision1</a:t>
            </a:r>
          </a:p>
        </p:txBody>
      </p:sp>
      <p:sp>
        <p:nvSpPr>
          <p:cNvPr id="14" name="TextBox 13">
            <a:extLst>
              <a:ext uri="{FF2B5EF4-FFF2-40B4-BE49-F238E27FC236}">
                <a16:creationId xmlns:a16="http://schemas.microsoft.com/office/drawing/2014/main" id="{135E40E4-D0B2-46A3-B36D-018CDAF35241}"/>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a:t>
            </a:r>
            <a:r>
              <a:rPr lang="en-US" kern="0" dirty="0">
                <a:solidFill>
                  <a:prstClr val="black"/>
                </a:solidFill>
              </a:rPr>
              <a:t>to add a blog and SEO, and revise navigation.</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6F8DE7BE-7633-4926-9CC3-D3442D939D7F}"/>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design style.</a:t>
            </a:r>
          </a:p>
        </p:txBody>
      </p:sp>
      <p:sp>
        <p:nvSpPr>
          <p:cNvPr id="17" name="TextBox 16">
            <a:extLst>
              <a:ext uri="{FF2B5EF4-FFF2-40B4-BE49-F238E27FC236}">
                <a16:creationId xmlns:a16="http://schemas.microsoft.com/office/drawing/2014/main" id="{25877C9D-CD09-45DF-85FA-07A8D8714198}"/>
              </a:ext>
            </a:extLst>
          </p:cNvPr>
          <p:cNvSpPr txBox="1"/>
          <p:nvPr/>
        </p:nvSpPr>
        <p:spPr>
          <a:xfrm>
            <a:off x="1046542" y="5190977"/>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Starting from a template gives a head start on a professional-looking design.</a:t>
            </a:r>
          </a:p>
        </p:txBody>
      </p:sp>
      <p:sp>
        <p:nvSpPr>
          <p:cNvPr id="18" name="Arrow: Pentagon 17">
            <a:extLst>
              <a:ext uri="{FF2B5EF4-FFF2-40B4-BE49-F238E27FC236}">
                <a16:creationId xmlns:a16="http://schemas.microsoft.com/office/drawing/2014/main" id="{3017BD28-389E-45F4-A7A2-DA560BE285D9}"/>
              </a:ext>
            </a:extLst>
          </p:cNvPr>
          <p:cNvSpPr/>
          <p:nvPr/>
        </p:nvSpPr>
        <p:spPr>
          <a:xfrm>
            <a:off x="198873" y="4210666"/>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950180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01855" y="1404283"/>
            <a:ext cx="11190145" cy="127353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It’s been a lot of work, but the structure and content of the website are coming along well. Now you can decide on a new look and feel for the website. Which approach would be the best for your current customers and help you attract new business? </a:t>
            </a:r>
          </a:p>
          <a:p>
            <a:pPr marL="0" indent="0">
              <a:buNone/>
            </a:pPr>
            <a:endParaRPr lang="en-US" sz="1800" dirty="0"/>
          </a:p>
        </p:txBody>
      </p:sp>
      <p:sp>
        <p:nvSpPr>
          <p:cNvPr id="12" name="Text Placeholder 1"/>
          <p:cNvSpPr txBox="1">
            <a:spLocks/>
          </p:cNvSpPr>
          <p:nvPr/>
        </p:nvSpPr>
        <p:spPr>
          <a:xfrm>
            <a:off x="1839953" y="3045077"/>
            <a:ext cx="8106937" cy="148580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A playful and highly interactive website. </a:t>
            </a:r>
            <a:r>
              <a:rPr lang="en-US" sz="2000" dirty="0">
                <a:solidFill>
                  <a:srgbClr val="44546A"/>
                </a:solidFill>
                <a:latin typeface="Calibri" panose="020F0502020204030204"/>
              </a:rPr>
              <a:t>[Level5_Dec1_OptA]</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A sophisticated and clean layout. </a:t>
            </a:r>
            <a:r>
              <a:rPr lang="en-US" sz="2000" dirty="0">
                <a:solidFill>
                  <a:srgbClr val="44546A"/>
                </a:solidFill>
                <a:latin typeface="Calibri" panose="020F0502020204030204"/>
              </a:rPr>
              <a:t>[Level5_Dec1_OptB]</a:t>
            </a: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85169" y="304507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92358" y="379496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91D41994-D062-4DA2-9299-7EE52DEB1E7E}"/>
              </a:ext>
            </a:extLst>
          </p:cNvPr>
          <p:cNvSpPr/>
          <p:nvPr/>
        </p:nvSpPr>
        <p:spPr>
          <a:xfrm>
            <a:off x="1001855"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Level5_Decision1</a:t>
            </a:r>
          </a:p>
        </p:txBody>
      </p:sp>
      <p:sp>
        <p:nvSpPr>
          <p:cNvPr id="13" name="TextBox 12">
            <a:extLst>
              <a:ext uri="{FF2B5EF4-FFF2-40B4-BE49-F238E27FC236}">
                <a16:creationId xmlns:a16="http://schemas.microsoft.com/office/drawing/2014/main" id="{8C128E00-7254-4540-A666-DE286338FEA9}"/>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build the new design from scratch.</a:t>
            </a:r>
          </a:p>
        </p:txBody>
      </p:sp>
      <p:sp>
        <p:nvSpPr>
          <p:cNvPr id="14" name="TextBox 13">
            <a:extLst>
              <a:ext uri="{FF2B5EF4-FFF2-40B4-BE49-F238E27FC236}">
                <a16:creationId xmlns:a16="http://schemas.microsoft.com/office/drawing/2014/main" id="{937BDC66-C55F-430D-8D81-D0FDE329761E}"/>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which component to fix.</a:t>
            </a:r>
          </a:p>
        </p:txBody>
      </p:sp>
      <p:sp>
        <p:nvSpPr>
          <p:cNvPr id="16" name="TextBox 15">
            <a:extLst>
              <a:ext uri="{FF2B5EF4-FFF2-40B4-BE49-F238E27FC236}">
                <a16:creationId xmlns:a16="http://schemas.microsoft.com/office/drawing/2014/main" id="{CF4D202C-49CB-486D-88B1-0A536ED53242}"/>
              </a:ext>
            </a:extLst>
          </p:cNvPr>
          <p:cNvSpPr txBox="1"/>
          <p:nvPr/>
        </p:nvSpPr>
        <p:spPr>
          <a:xfrm>
            <a:off x="1046542" y="4978486"/>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srgbClr val="C00000"/>
                </a:solidFill>
                <a:latin typeface="Calibri" panose="020F0502020204030204"/>
              </a:rPr>
              <a:t>A clean and sophisticated design will be a better look for an investment company.</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7" name="Arrow: Pentagon 16">
            <a:extLst>
              <a:ext uri="{FF2B5EF4-FFF2-40B4-BE49-F238E27FC236}">
                <a16:creationId xmlns:a16="http://schemas.microsoft.com/office/drawing/2014/main" id="{B2697C92-9A8C-4DCA-8C47-842AA744F4D6}"/>
              </a:ext>
            </a:extLst>
          </p:cNvPr>
          <p:cNvSpPr/>
          <p:nvPr/>
        </p:nvSpPr>
        <p:spPr>
          <a:xfrm>
            <a:off x="198873" y="3792569"/>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239628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09043" y="1377077"/>
            <a:ext cx="11182957" cy="146387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The template has streamlined the creation of the structure and content of the website. Now you can decide on a new look and feel for the website. Which approach would be the best for your current customers and help you attract new business? </a:t>
            </a:r>
          </a:p>
          <a:p>
            <a:pPr marL="0" indent="0">
              <a:buNone/>
            </a:pPr>
            <a:endParaRPr lang="en-US" sz="1800" dirty="0"/>
          </a:p>
        </p:txBody>
      </p:sp>
      <p:sp>
        <p:nvSpPr>
          <p:cNvPr id="12" name="Text Placeholder 1"/>
          <p:cNvSpPr txBox="1">
            <a:spLocks/>
          </p:cNvSpPr>
          <p:nvPr/>
        </p:nvSpPr>
        <p:spPr>
          <a:xfrm>
            <a:off x="2220502" y="3166567"/>
            <a:ext cx="8562727" cy="130507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A sophisticated and clean layout</a:t>
            </a:r>
            <a:r>
              <a:rPr lang="en-US" sz="2000" dirty="0">
                <a:solidFill>
                  <a:schemeClr val="tx2"/>
                </a:solidFill>
                <a:ea typeface="Calibri"/>
                <a:cs typeface="Calibri"/>
              </a:rPr>
              <a:t>. </a:t>
            </a:r>
            <a:r>
              <a:rPr lang="en-US" sz="2000" dirty="0">
                <a:solidFill>
                  <a:srgbClr val="44546A"/>
                </a:solidFill>
                <a:latin typeface="Calibri" panose="020F0502020204030204"/>
              </a:rPr>
              <a:t>[Level5_Dec2_OptA]</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Plain and easy to work with. </a:t>
            </a:r>
            <a:r>
              <a:rPr lang="en-US" sz="2000" dirty="0">
                <a:solidFill>
                  <a:srgbClr val="44546A"/>
                </a:solidFill>
                <a:latin typeface="Calibri" panose="020F0502020204030204"/>
              </a:rPr>
              <a:t>[Level5_Dec2_OptB]</a:t>
            </a: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574738" y="316656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574738" y="3898266"/>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09BA4509-935D-48D1-A6E1-FCC7A4E70A6C}"/>
              </a:ext>
            </a:extLst>
          </p:cNvPr>
          <p:cNvSpPr/>
          <p:nvPr/>
        </p:nvSpPr>
        <p:spPr>
          <a:xfrm>
            <a:off x="1009043" y="41002"/>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Level5_Decision2</a:t>
            </a:r>
          </a:p>
        </p:txBody>
      </p:sp>
      <p:sp>
        <p:nvSpPr>
          <p:cNvPr id="13" name="TextBox 12">
            <a:extLst>
              <a:ext uri="{FF2B5EF4-FFF2-40B4-BE49-F238E27FC236}">
                <a16:creationId xmlns:a16="http://schemas.microsoft.com/office/drawing/2014/main" id="{A98151DC-8529-433C-842F-7E3D0C8107F8}"/>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start from a template.</a:t>
            </a:r>
          </a:p>
        </p:txBody>
      </p:sp>
      <p:sp>
        <p:nvSpPr>
          <p:cNvPr id="14" name="TextBox 13">
            <a:extLst>
              <a:ext uri="{FF2B5EF4-FFF2-40B4-BE49-F238E27FC236}">
                <a16:creationId xmlns:a16="http://schemas.microsoft.com/office/drawing/2014/main" id="{B8927B74-AF76-4E37-88BD-B2344EBE0FCD}"/>
              </a:ext>
            </a:extLst>
          </p:cNvPr>
          <p:cNvSpPr txBox="1"/>
          <p:nvPr/>
        </p:nvSpPr>
        <p:spPr>
          <a:xfrm>
            <a:off x="1046542" y="6000777"/>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which component to fix.</a:t>
            </a:r>
          </a:p>
          <a:p>
            <a:pPr lvl="0">
              <a:defRPr/>
            </a:pPr>
            <a:r>
              <a:rPr lang="en-US" kern="0" dirty="0">
                <a:solidFill>
                  <a:prstClr val="black"/>
                </a:solidFill>
                <a:latin typeface="Calibri" panose="020F0502020204030204"/>
              </a:rPr>
              <a:t>If Option B: </a:t>
            </a:r>
            <a:r>
              <a:rPr lang="en-US" kern="0" dirty="0">
                <a:solidFill>
                  <a:prstClr val="black"/>
                </a:solidFill>
              </a:rPr>
              <a:t>The owners aren’t very happy with the changes but will accept them for now.</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AB699091-C17B-439D-A1FE-6E0BCAD1E422}"/>
              </a:ext>
            </a:extLst>
          </p:cNvPr>
          <p:cNvSpPr txBox="1"/>
          <p:nvPr/>
        </p:nvSpPr>
        <p:spPr>
          <a:xfrm>
            <a:off x="1046542" y="4978486"/>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A clean and sophisticated design will be a better look for an investment company.</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7" name="Arrow: Pentagon 16">
            <a:extLst>
              <a:ext uri="{FF2B5EF4-FFF2-40B4-BE49-F238E27FC236}">
                <a16:creationId xmlns:a16="http://schemas.microsoft.com/office/drawing/2014/main" id="{956C6F39-5723-4F3D-9A74-54C36069E9B5}"/>
              </a:ext>
            </a:extLst>
          </p:cNvPr>
          <p:cNvSpPr/>
          <p:nvPr/>
        </p:nvSpPr>
        <p:spPr>
          <a:xfrm>
            <a:off x="198873" y="321691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2967888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27635" y="1339437"/>
            <a:ext cx="9689627" cy="249868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rgbClr val="44546A"/>
                </a:solidFill>
                <a:latin typeface="Calibri" panose="020F0502020204030204"/>
              </a:rPr>
              <a:t>As the draft of the website is developed, a problem emerges. It’s very difficult to read the text on the page. Which element of the design should be changed to fix this problem? </a:t>
            </a:r>
          </a:p>
          <a:p>
            <a:pPr marL="0" indent="0">
              <a:spcBef>
                <a:spcPts val="0"/>
              </a:spcBef>
              <a:buNone/>
              <a:defRPr/>
            </a:pPr>
            <a:endParaRPr lang="en-US" sz="2050" dirty="0">
              <a:solidFill>
                <a:srgbClr val="44546A"/>
              </a:solidFill>
              <a:latin typeface="Calibri" panose="020F0502020204030204"/>
            </a:endParaRPr>
          </a:p>
          <a:p>
            <a:pPr marL="0" indent="0">
              <a:buNone/>
            </a:pPr>
            <a:endParaRPr lang="en-US" sz="1800" dirty="0"/>
          </a:p>
        </p:txBody>
      </p:sp>
      <p:sp>
        <p:nvSpPr>
          <p:cNvPr id="12" name="Text Placeholder 1"/>
          <p:cNvSpPr txBox="1">
            <a:spLocks/>
          </p:cNvSpPr>
          <p:nvPr/>
        </p:nvSpPr>
        <p:spPr>
          <a:xfrm>
            <a:off x="1839952" y="2785257"/>
            <a:ext cx="5631370" cy="129205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The website banner</a:t>
            </a:r>
            <a:r>
              <a:rPr lang="en-US" sz="2000" dirty="0">
                <a:solidFill>
                  <a:srgbClr val="44546A"/>
                </a:solidFill>
                <a:latin typeface="Calibri" panose="020F0502020204030204"/>
                <a:hlinkClick r:id="rId4" action="ppaction://hlinksldjump">
                  <a:extLst>
                    <a:ext uri="{A12FA001-AC4F-418D-AE19-62706E023703}">
                      <ahyp:hlinkClr xmlns:ahyp="http://schemas.microsoft.com/office/drawing/2018/hyperlinkcolor" val="tx"/>
                    </a:ext>
                  </a:extLst>
                </a:hlinkClick>
              </a:rPr>
              <a:t>.</a:t>
            </a:r>
            <a:r>
              <a:rPr lang="en-US" sz="2000" dirty="0">
                <a:solidFill>
                  <a:srgbClr val="44546A"/>
                </a:solidFill>
                <a:latin typeface="Calibri" panose="020F0502020204030204"/>
              </a:rPr>
              <a:t>[Level6_Dec1_OptA]</a:t>
            </a:r>
          </a:p>
          <a:p>
            <a:pPr marL="0" indent="0">
              <a:buNone/>
            </a:pPr>
            <a:endParaRPr lang="en-US" sz="2000" dirty="0">
              <a:solidFill>
                <a:srgbClr val="44546A"/>
              </a:solidFill>
              <a:latin typeface="Calibri" panose="020F0502020204030204"/>
            </a:endParaRPr>
          </a:p>
          <a:p>
            <a:pPr marL="0" indent="0">
              <a:buNone/>
            </a:pPr>
            <a:r>
              <a:rPr lang="en-US" sz="2000" dirty="0">
                <a:solidFill>
                  <a:schemeClr val="tx2"/>
                </a:solidFill>
                <a:ea typeface="Calibri"/>
                <a:cs typeface="Calibri"/>
                <a:hlinkClick r:id="rId5" action="ppaction://hlinksldjump"/>
              </a:rPr>
              <a:t>The page background. </a:t>
            </a:r>
            <a:r>
              <a:rPr lang="en-US" sz="2000" dirty="0">
                <a:solidFill>
                  <a:srgbClr val="44546A"/>
                </a:solidFill>
                <a:latin typeface="Calibri" panose="020F0502020204030204"/>
              </a:rPr>
              <a:t>[Level6_Dec1_OptB]</a:t>
            </a: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96322" y="278525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96322" y="360095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3282DF84-0366-42DD-9A58-0B69FD94EDB5}"/>
              </a:ext>
            </a:extLst>
          </p:cNvPr>
          <p:cNvSpPr/>
          <p:nvPr/>
        </p:nvSpPr>
        <p:spPr>
          <a:xfrm>
            <a:off x="795113" y="85929"/>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Level6_Decision1</a:t>
            </a:r>
          </a:p>
        </p:txBody>
      </p:sp>
      <p:sp>
        <p:nvSpPr>
          <p:cNvPr id="10" name="TextBox 9">
            <a:extLst>
              <a:ext uri="{FF2B5EF4-FFF2-40B4-BE49-F238E27FC236}">
                <a16:creationId xmlns:a16="http://schemas.microsoft.com/office/drawing/2014/main" id="{E68833F2-562B-4D52-9451-BE0FCB098DD2}"/>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playful design.</a:t>
            </a:r>
          </a:p>
        </p:txBody>
      </p:sp>
      <p:sp>
        <p:nvSpPr>
          <p:cNvPr id="13" name="TextBox 12">
            <a:extLst>
              <a:ext uri="{FF2B5EF4-FFF2-40B4-BE49-F238E27FC236}">
                <a16:creationId xmlns:a16="http://schemas.microsoft.com/office/drawing/2014/main" id="{973BB1DD-F929-44B5-986E-18F9FE5473D1}"/>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an HTML tag.</a:t>
            </a:r>
          </a:p>
        </p:txBody>
      </p:sp>
      <p:sp>
        <p:nvSpPr>
          <p:cNvPr id="14" name="TextBox 13">
            <a:extLst>
              <a:ext uri="{FF2B5EF4-FFF2-40B4-BE49-F238E27FC236}">
                <a16:creationId xmlns:a16="http://schemas.microsoft.com/office/drawing/2014/main" id="{D0E0848B-FBD4-4DF6-88B3-8DC792AA6ACE}"/>
              </a:ext>
            </a:extLst>
          </p:cNvPr>
          <p:cNvSpPr txBox="1"/>
          <p:nvPr/>
        </p:nvSpPr>
        <p:spPr>
          <a:xfrm>
            <a:off x="1046542" y="4978486"/>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Low contrast between the text color and the background color can make the text difficult to read.</a:t>
            </a:r>
          </a:p>
        </p:txBody>
      </p:sp>
      <p:sp>
        <p:nvSpPr>
          <p:cNvPr id="16" name="Arrow: Pentagon 15">
            <a:extLst>
              <a:ext uri="{FF2B5EF4-FFF2-40B4-BE49-F238E27FC236}">
                <a16:creationId xmlns:a16="http://schemas.microsoft.com/office/drawing/2014/main" id="{616D85C4-1775-4F62-B4EC-9BE8767C899B}"/>
              </a:ext>
            </a:extLst>
          </p:cNvPr>
          <p:cNvSpPr/>
          <p:nvPr/>
        </p:nvSpPr>
        <p:spPr>
          <a:xfrm>
            <a:off x="198873" y="360095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635369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285205"/>
            <a:ext cx="9580942" cy="136650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rgbClr val="44546A"/>
                </a:solidFill>
                <a:latin typeface="Calibri" panose="020F0502020204030204"/>
              </a:rPr>
              <a:t>As the draft of the website is developed, a problem emerges. It’s very difficult to read the text on the page. Which element of the design should be changed to fix this problem? </a:t>
            </a:r>
          </a:p>
          <a:p>
            <a:pPr marL="0" indent="0">
              <a:spcBef>
                <a:spcPts val="0"/>
              </a:spcBef>
              <a:buNone/>
              <a:defRPr/>
            </a:pPr>
            <a:endParaRPr lang="en-US" sz="2050" dirty="0">
              <a:solidFill>
                <a:srgbClr val="44546A"/>
              </a:solidFill>
              <a:latin typeface="Calibri" panose="020F0502020204030204"/>
            </a:endParaRPr>
          </a:p>
          <a:p>
            <a:pPr marL="0" indent="0">
              <a:buNone/>
            </a:pPr>
            <a:endParaRPr lang="en-US" sz="1800" dirty="0"/>
          </a:p>
        </p:txBody>
      </p:sp>
      <p:sp>
        <p:nvSpPr>
          <p:cNvPr id="12" name="Text Placeholder 1"/>
          <p:cNvSpPr txBox="1">
            <a:spLocks/>
          </p:cNvSpPr>
          <p:nvPr/>
        </p:nvSpPr>
        <p:spPr>
          <a:xfrm>
            <a:off x="2108693" y="2758458"/>
            <a:ext cx="5964791" cy="136650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The website banner</a:t>
            </a:r>
            <a:r>
              <a:rPr lang="en-US" sz="2000" dirty="0">
                <a:solidFill>
                  <a:srgbClr val="44546A"/>
                </a:solidFill>
                <a:latin typeface="Calibri" panose="020F0502020204030204"/>
                <a:hlinkClick r:id="rId4" action="ppaction://hlinksldjump">
                  <a:extLst>
                    <a:ext uri="{A12FA001-AC4F-418D-AE19-62706E023703}">
                      <ahyp:hlinkClr xmlns:ahyp="http://schemas.microsoft.com/office/drawing/2018/hyperlinkcolor" val="tx"/>
                    </a:ext>
                  </a:extLst>
                </a:hlinkClick>
              </a:rPr>
              <a:t>.</a:t>
            </a:r>
            <a:r>
              <a:rPr lang="en-US" sz="2000" dirty="0">
                <a:solidFill>
                  <a:srgbClr val="44546A"/>
                </a:solidFill>
                <a:latin typeface="Calibri" panose="020F0502020204030204"/>
              </a:rPr>
              <a:t>[Level6_Dec2_OptA]</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The page background. </a:t>
            </a:r>
            <a:r>
              <a:rPr lang="en-US" sz="2000" dirty="0">
                <a:solidFill>
                  <a:srgbClr val="44546A"/>
                </a:solidFill>
                <a:latin typeface="Calibri" panose="020F0502020204030204"/>
              </a:rPr>
              <a:t>[Level6_Dec2_OptB]</a:t>
            </a: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484495" y="275845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484495" y="350780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2D645839-F348-43EC-9078-329D839BF7C4}"/>
              </a:ext>
            </a:extLst>
          </p:cNvPr>
          <p:cNvSpPr/>
          <p:nvPr/>
        </p:nvSpPr>
        <p:spPr>
          <a:xfrm>
            <a:off x="795113" y="85929"/>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Level6_Decision2</a:t>
            </a:r>
          </a:p>
        </p:txBody>
      </p:sp>
      <p:sp>
        <p:nvSpPr>
          <p:cNvPr id="14" name="TextBox 13">
            <a:extLst>
              <a:ext uri="{FF2B5EF4-FFF2-40B4-BE49-F238E27FC236}">
                <a16:creationId xmlns:a16="http://schemas.microsoft.com/office/drawing/2014/main" id="{083B2B00-D0EB-4ED3-9580-270BF8FD0EB0}"/>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sophisticated design.</a:t>
            </a:r>
          </a:p>
        </p:txBody>
      </p:sp>
      <p:sp>
        <p:nvSpPr>
          <p:cNvPr id="16" name="TextBox 15">
            <a:extLst>
              <a:ext uri="{FF2B5EF4-FFF2-40B4-BE49-F238E27FC236}">
                <a16:creationId xmlns:a16="http://schemas.microsoft.com/office/drawing/2014/main" id="{C237FF99-B891-44B4-B37F-A1E44D1E0A73}"/>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an HTML tag.</a:t>
            </a:r>
          </a:p>
        </p:txBody>
      </p:sp>
      <p:sp>
        <p:nvSpPr>
          <p:cNvPr id="17" name="TextBox 16">
            <a:extLst>
              <a:ext uri="{FF2B5EF4-FFF2-40B4-BE49-F238E27FC236}">
                <a16:creationId xmlns:a16="http://schemas.microsoft.com/office/drawing/2014/main" id="{123DF802-6B8F-469B-92B7-6848CE498667}"/>
              </a:ext>
            </a:extLst>
          </p:cNvPr>
          <p:cNvSpPr txBox="1"/>
          <p:nvPr/>
        </p:nvSpPr>
        <p:spPr>
          <a:xfrm>
            <a:off x="1046542" y="4978486"/>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Low contrast between the text color and the background color can make the text difficult to read.</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8" name="Arrow: Pentagon 17">
            <a:extLst>
              <a:ext uri="{FF2B5EF4-FFF2-40B4-BE49-F238E27FC236}">
                <a16:creationId xmlns:a16="http://schemas.microsoft.com/office/drawing/2014/main" id="{00F896A5-882E-4115-87E3-1C2A2105859A}"/>
              </a:ext>
            </a:extLst>
          </p:cNvPr>
          <p:cNvSpPr/>
          <p:nvPr/>
        </p:nvSpPr>
        <p:spPr>
          <a:xfrm>
            <a:off x="198873" y="350780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429322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3290" y="1048613"/>
            <a:ext cx="11158710" cy="189957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Changing the banner changed the graphics at the top of the page, but the main content of the website is still difficult to read. You figure out that changing the background color of the webpages will solve the issue. It works! As you are checking the website before launching it, you notice that the paragraphs of text seem squeezed together. You think that adding some space between paragraphs will help make the content more readable. Which HTML tag should you use to insert blank lines between paragraphs? </a:t>
            </a:r>
          </a:p>
        </p:txBody>
      </p:sp>
      <p:sp>
        <p:nvSpPr>
          <p:cNvPr id="12" name="Text Placeholder 1"/>
          <p:cNvSpPr txBox="1">
            <a:spLocks/>
          </p:cNvSpPr>
          <p:nvPr/>
        </p:nvSpPr>
        <p:spPr>
          <a:xfrm>
            <a:off x="1851376" y="2888381"/>
            <a:ext cx="6460223" cy="188729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pPr>
            <a:r>
              <a:rPr lang="en-US" sz="2000" dirty="0">
                <a:solidFill>
                  <a:schemeClr val="tx2"/>
                </a:solidFill>
                <a:ea typeface="Calibri"/>
                <a:cs typeface="Calibri"/>
                <a:hlinkClick r:id="rId4" action="ppaction://hlinksldjump"/>
              </a:rPr>
              <a:t>&lt;h&gt; and &lt;/h&gt; </a:t>
            </a:r>
            <a:r>
              <a:rPr lang="en-US" sz="2000" dirty="0">
                <a:solidFill>
                  <a:srgbClr val="44546A"/>
                </a:solidFill>
                <a:latin typeface="Calibri" panose="020F0502020204030204"/>
              </a:rPr>
              <a:t>[Level7_Dec1_OptA]</a:t>
            </a:r>
          </a:p>
          <a:p>
            <a:pPr marL="0" indent="0">
              <a:spcBef>
                <a:spcPts val="0"/>
              </a:spcBef>
              <a:buNone/>
            </a:pPr>
            <a:endParaRPr lang="en-US" sz="2000" dirty="0">
              <a:solidFill>
                <a:srgbClr val="44546A"/>
              </a:solidFill>
              <a:latin typeface="Calibri" panose="020F0502020204030204"/>
            </a:endParaRPr>
          </a:p>
          <a:p>
            <a:pPr marL="0" indent="0">
              <a:spcBef>
                <a:spcPts val="0"/>
              </a:spcBef>
              <a:buNone/>
            </a:pPr>
            <a:r>
              <a:rPr lang="en-US" sz="2000" dirty="0">
                <a:solidFill>
                  <a:schemeClr val="tx2"/>
                </a:solidFill>
                <a:ea typeface="Calibri"/>
                <a:cs typeface="Calibri"/>
                <a:hlinkClick r:id="rId5" action="ppaction://hlinksldjump"/>
              </a:rPr>
              <a:t>&lt;p&gt; and &lt;/p&gt;</a:t>
            </a:r>
            <a:r>
              <a:rPr lang="en-US" sz="2000" dirty="0">
                <a:solidFill>
                  <a:schemeClr val="tx2"/>
                </a:solidFill>
                <a:ea typeface="Calibri"/>
                <a:cs typeface="Calibri"/>
              </a:rPr>
              <a:t> </a:t>
            </a:r>
            <a:r>
              <a:rPr lang="en-US" sz="2000" dirty="0">
                <a:solidFill>
                  <a:srgbClr val="44546A"/>
                </a:solidFill>
                <a:latin typeface="Calibri" panose="020F0502020204030204"/>
              </a:rPr>
              <a:t>[Level7_Dec1_OptB]</a:t>
            </a:r>
          </a:p>
          <a:p>
            <a:pPr marL="0" indent="0">
              <a:spcBef>
                <a:spcPts val="0"/>
              </a:spcBef>
              <a:buNone/>
            </a:pPr>
            <a:endParaRPr lang="en-US" sz="2000" dirty="0">
              <a:solidFill>
                <a:srgbClr val="44546A"/>
              </a:solidFill>
              <a:latin typeface="Calibri" panose="020F0502020204030204"/>
            </a:endParaRPr>
          </a:p>
          <a:p>
            <a:pPr marL="0" indent="0">
              <a:spcBef>
                <a:spcPts val="0"/>
              </a:spcBef>
              <a:buNone/>
            </a:pPr>
            <a:r>
              <a:rPr lang="en-US" sz="2000" dirty="0">
                <a:solidFill>
                  <a:schemeClr val="tx2"/>
                </a:solidFill>
                <a:ea typeface="Calibri"/>
                <a:cs typeface="Calibri"/>
                <a:hlinkClick r:id="rId5" action="ppaction://hlinksldjump"/>
              </a:rPr>
              <a:t>&lt;</a:t>
            </a:r>
            <a:r>
              <a:rPr lang="en-US" sz="2000" dirty="0" err="1">
                <a:solidFill>
                  <a:schemeClr val="tx2"/>
                </a:solidFill>
                <a:ea typeface="Calibri"/>
                <a:cs typeface="Calibri"/>
                <a:hlinkClick r:id="rId5" action="ppaction://hlinksldjump"/>
              </a:rPr>
              <a:t>br</a:t>
            </a:r>
            <a:r>
              <a:rPr lang="en-US" sz="2000" dirty="0">
                <a:solidFill>
                  <a:schemeClr val="tx2"/>
                </a:solidFill>
                <a:ea typeface="Calibri"/>
                <a:cs typeface="Calibri"/>
                <a:hlinkClick r:id="rId5" action="ppaction://hlinksldjump"/>
              </a:rPr>
              <a:t>&gt; </a:t>
            </a:r>
            <a:r>
              <a:rPr lang="en-US" sz="2000" dirty="0">
                <a:solidFill>
                  <a:srgbClr val="44546A"/>
                </a:solidFill>
                <a:latin typeface="Calibri" panose="020F0502020204030204"/>
              </a:rPr>
              <a:t>[Level7_Dec1_OptC]</a:t>
            </a:r>
          </a:p>
          <a:p>
            <a:pPr marL="0" indent="0">
              <a:spcBef>
                <a:spcPts val="0"/>
              </a:spcBef>
              <a:buNone/>
            </a:pPr>
            <a:endParaRPr lang="en-US" sz="2000" dirty="0">
              <a:solidFill>
                <a:srgbClr val="44546A"/>
              </a:solidFill>
              <a:latin typeface="Calibri" panose="020F0502020204030204"/>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419601" y="288015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419601" y="352323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9" name="Text Placeholder 3">
            <a:extLst>
              <a:ext uri="{FF2B5EF4-FFF2-40B4-BE49-F238E27FC236}">
                <a16:creationId xmlns:a16="http://schemas.microsoft.com/office/drawing/2014/main" id="{D92B13BD-67EA-49B6-943A-C99A7D8A961E}"/>
              </a:ext>
            </a:extLst>
          </p:cNvPr>
          <p:cNvSpPr txBox="1">
            <a:spLocks/>
          </p:cNvSpPr>
          <p:nvPr/>
        </p:nvSpPr>
        <p:spPr>
          <a:xfrm>
            <a:off x="1431728" y="415515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C</a:t>
            </a:r>
          </a:p>
        </p:txBody>
      </p:sp>
      <p:sp>
        <p:nvSpPr>
          <p:cNvPr id="3" name="Rectangle 2">
            <a:extLst>
              <a:ext uri="{FF2B5EF4-FFF2-40B4-BE49-F238E27FC236}">
                <a16:creationId xmlns:a16="http://schemas.microsoft.com/office/drawing/2014/main" id="{16916F25-E34B-4555-8AF5-36FFD29A21F3}"/>
              </a:ext>
            </a:extLst>
          </p:cNvPr>
          <p:cNvSpPr/>
          <p:nvPr/>
        </p:nvSpPr>
        <p:spPr>
          <a:xfrm>
            <a:off x="827770" y="20094"/>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Level7_Decision1</a:t>
            </a:r>
          </a:p>
        </p:txBody>
      </p:sp>
      <p:sp>
        <p:nvSpPr>
          <p:cNvPr id="13" name="TextBox 12">
            <a:extLst>
              <a:ext uri="{FF2B5EF4-FFF2-40B4-BE49-F238E27FC236}">
                <a16:creationId xmlns:a16="http://schemas.microsoft.com/office/drawing/2014/main" id="{AB582372-CB6B-4798-9216-60E00644AF80}"/>
              </a:ext>
            </a:extLst>
          </p:cNvPr>
          <p:cNvSpPr txBox="1"/>
          <p:nvPr/>
        </p:nvSpPr>
        <p:spPr>
          <a:xfrm>
            <a:off x="1046542" y="66769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edit the banner.</a:t>
            </a:r>
          </a:p>
        </p:txBody>
      </p:sp>
      <p:sp>
        <p:nvSpPr>
          <p:cNvPr id="14" name="TextBox 13">
            <a:extLst>
              <a:ext uri="{FF2B5EF4-FFF2-40B4-BE49-F238E27FC236}">
                <a16:creationId xmlns:a16="http://schemas.microsoft.com/office/drawing/2014/main" id="{793273BE-C292-415F-B9B0-9CDE19CB7B82}"/>
              </a:ext>
            </a:extLst>
          </p:cNvPr>
          <p:cNvSpPr txBox="1"/>
          <p:nvPr/>
        </p:nvSpPr>
        <p:spPr>
          <a:xfrm>
            <a:off x="1036320" y="6035907"/>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a:t>
            </a:r>
            <a:r>
              <a:rPr lang="en-US" kern="0" dirty="0">
                <a:solidFill>
                  <a:prstClr val="black"/>
                </a:solidFill>
              </a:rPr>
              <a:t>The website update is canceled.</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lvl="0">
              <a:defRPr/>
            </a:pPr>
            <a:r>
              <a:rPr lang="en-US" kern="0" dirty="0">
                <a:solidFill>
                  <a:prstClr val="black"/>
                </a:solidFill>
              </a:rPr>
              <a:t>If Option B or C: The owners love the proposed renovation.</a:t>
            </a:r>
          </a:p>
        </p:txBody>
      </p:sp>
      <p:sp>
        <p:nvSpPr>
          <p:cNvPr id="16" name="TextBox 15">
            <a:extLst>
              <a:ext uri="{FF2B5EF4-FFF2-40B4-BE49-F238E27FC236}">
                <a16:creationId xmlns:a16="http://schemas.microsoft.com/office/drawing/2014/main" id="{8CC118A4-9289-450E-AA91-FF76CD8DA501}"/>
              </a:ext>
            </a:extLst>
          </p:cNvPr>
          <p:cNvSpPr txBox="1"/>
          <p:nvPr/>
        </p:nvSpPr>
        <p:spPr>
          <a:xfrm>
            <a:off x="1033290" y="4908694"/>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The &lt;h&gt; tags are heading tags and will change the font formatting. The &lt;p&gt; tags or the &lt;</a:t>
            </a:r>
            <a:r>
              <a:rPr kumimoji="0" lang="en-US" sz="1800" b="0" i="0" u="none" strike="noStrike" kern="0" cap="none" spc="0" normalizeH="0" baseline="0" noProof="0" dirty="0" err="1">
                <a:ln>
                  <a:noFill/>
                </a:ln>
                <a:solidFill>
                  <a:srgbClr val="C00000"/>
                </a:solidFill>
                <a:effectLst/>
                <a:uLnTx/>
                <a:uFillTx/>
                <a:latin typeface="Calibri" panose="020F0502020204030204"/>
                <a:ea typeface="+mn-ea"/>
                <a:cs typeface="+mn-cs"/>
              </a:rPr>
              <a:t>br</a:t>
            </a: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&gt; tag will add space between paragraphs.</a:t>
            </a:r>
          </a:p>
        </p:txBody>
      </p:sp>
      <p:sp>
        <p:nvSpPr>
          <p:cNvPr id="17" name="Arrow: Pentagon 16">
            <a:extLst>
              <a:ext uri="{FF2B5EF4-FFF2-40B4-BE49-F238E27FC236}">
                <a16:creationId xmlns:a16="http://schemas.microsoft.com/office/drawing/2014/main" id="{25DE1BD8-F006-4EB0-AC9A-B587502FAE6A}"/>
              </a:ext>
            </a:extLst>
          </p:cNvPr>
          <p:cNvSpPr/>
          <p:nvPr/>
        </p:nvSpPr>
        <p:spPr>
          <a:xfrm>
            <a:off x="198873" y="418861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8" name="Arrow: Pentagon 17">
            <a:extLst>
              <a:ext uri="{FF2B5EF4-FFF2-40B4-BE49-F238E27FC236}">
                <a16:creationId xmlns:a16="http://schemas.microsoft.com/office/drawing/2014/main" id="{020221A7-BA28-489F-80E8-AB5129681376}"/>
              </a:ext>
            </a:extLst>
          </p:cNvPr>
          <p:cNvSpPr/>
          <p:nvPr/>
        </p:nvSpPr>
        <p:spPr>
          <a:xfrm>
            <a:off x="205501" y="3544425"/>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082146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008855"/>
            <a:ext cx="11155679" cy="157894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The website content is much easier to read after you changed the page background. As you are checking the website before launching it, you notice that the paragraphs of text seem squeezed together. You think that adding some space between paragraphs will help make the content more readable. Which HTML tag should you use to insert blank lines between paragraphs? </a:t>
            </a:r>
          </a:p>
        </p:txBody>
      </p:sp>
      <p:sp>
        <p:nvSpPr>
          <p:cNvPr id="12" name="Text Placeholder 1"/>
          <p:cNvSpPr txBox="1">
            <a:spLocks/>
          </p:cNvSpPr>
          <p:nvPr/>
        </p:nvSpPr>
        <p:spPr>
          <a:xfrm>
            <a:off x="1949667" y="2644780"/>
            <a:ext cx="5889644" cy="19246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pPr>
            <a:r>
              <a:rPr lang="en-US" sz="2000" dirty="0">
                <a:solidFill>
                  <a:schemeClr val="tx2"/>
                </a:solidFill>
                <a:ea typeface="Calibri"/>
                <a:cs typeface="Calibri"/>
                <a:hlinkClick r:id="rId4" action="ppaction://hlinksldjump"/>
              </a:rPr>
              <a:t>&lt;h&gt; and &lt;/h&gt; </a:t>
            </a:r>
            <a:r>
              <a:rPr lang="en-US" sz="2000" dirty="0">
                <a:solidFill>
                  <a:srgbClr val="44546A"/>
                </a:solidFill>
                <a:latin typeface="Calibri" panose="020F0502020204030204"/>
              </a:rPr>
              <a:t>[Level7_Dec2_OptA]</a:t>
            </a:r>
          </a:p>
          <a:p>
            <a:pPr marL="0" indent="0">
              <a:spcBef>
                <a:spcPts val="0"/>
              </a:spcBef>
              <a:buNone/>
            </a:pPr>
            <a:endParaRPr lang="en-US" sz="2000" dirty="0">
              <a:solidFill>
                <a:schemeClr val="tx2"/>
              </a:solidFill>
              <a:ea typeface="Calibri"/>
              <a:cs typeface="Calibri"/>
            </a:endParaRPr>
          </a:p>
          <a:p>
            <a:pPr marL="0" indent="0">
              <a:spcBef>
                <a:spcPts val="0"/>
              </a:spcBef>
              <a:buNone/>
            </a:pPr>
            <a:r>
              <a:rPr lang="en-US" sz="2000" dirty="0">
                <a:solidFill>
                  <a:schemeClr val="tx2"/>
                </a:solidFill>
                <a:ea typeface="Calibri"/>
                <a:cs typeface="Calibri"/>
                <a:hlinkClick r:id="rId5" action="ppaction://hlinksldjump"/>
              </a:rPr>
              <a:t>&lt;p&gt; and &lt;/p&gt;</a:t>
            </a:r>
            <a:r>
              <a:rPr lang="en-US" sz="2000" dirty="0">
                <a:solidFill>
                  <a:schemeClr val="tx2"/>
                </a:solidFill>
                <a:ea typeface="Calibri"/>
                <a:cs typeface="Calibri"/>
              </a:rPr>
              <a:t> </a:t>
            </a:r>
            <a:r>
              <a:rPr lang="en-US" sz="2000" dirty="0">
                <a:solidFill>
                  <a:srgbClr val="44546A"/>
                </a:solidFill>
                <a:latin typeface="Calibri" panose="020F0502020204030204"/>
              </a:rPr>
              <a:t>[Level7_Dec2_OptB]</a:t>
            </a:r>
          </a:p>
          <a:p>
            <a:pPr marL="0" indent="0">
              <a:spcBef>
                <a:spcPts val="0"/>
              </a:spcBef>
              <a:buNone/>
            </a:pPr>
            <a:endParaRPr lang="en-US" sz="2000" dirty="0">
              <a:solidFill>
                <a:schemeClr val="tx2"/>
              </a:solidFill>
              <a:ea typeface="Calibri"/>
              <a:cs typeface="Calibri"/>
            </a:endParaRPr>
          </a:p>
          <a:p>
            <a:pPr marL="0" indent="0">
              <a:spcBef>
                <a:spcPts val="0"/>
              </a:spcBef>
              <a:buNone/>
            </a:pPr>
            <a:r>
              <a:rPr lang="en-US" sz="2000" dirty="0">
                <a:solidFill>
                  <a:schemeClr val="tx2"/>
                </a:solidFill>
                <a:ea typeface="Calibri"/>
                <a:cs typeface="Calibri"/>
                <a:hlinkClick r:id="rId5" action="ppaction://hlinksldjump"/>
              </a:rPr>
              <a:t>&lt;</a:t>
            </a:r>
            <a:r>
              <a:rPr lang="en-US" sz="2000" dirty="0" err="1">
                <a:solidFill>
                  <a:schemeClr val="tx2"/>
                </a:solidFill>
                <a:ea typeface="Calibri"/>
                <a:cs typeface="Calibri"/>
                <a:hlinkClick r:id="rId5" action="ppaction://hlinksldjump"/>
              </a:rPr>
              <a:t>br</a:t>
            </a:r>
            <a:r>
              <a:rPr lang="en-US" sz="2000" dirty="0">
                <a:solidFill>
                  <a:schemeClr val="tx2"/>
                </a:solidFill>
                <a:ea typeface="Calibri"/>
                <a:cs typeface="Calibri"/>
                <a:hlinkClick r:id="rId5" action="ppaction://hlinksldjump"/>
              </a:rPr>
              <a:t>&gt; </a:t>
            </a:r>
            <a:r>
              <a:rPr lang="en-US" sz="2000" dirty="0">
                <a:solidFill>
                  <a:srgbClr val="44546A"/>
                </a:solidFill>
                <a:latin typeface="Calibri" panose="020F0502020204030204"/>
              </a:rPr>
              <a:t>[Level7_Dec2_OptC]</a:t>
            </a:r>
          </a:p>
          <a:p>
            <a:pPr marL="0" indent="0">
              <a:spcBef>
                <a:spcPts val="0"/>
              </a:spcBef>
              <a:buNone/>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507354" y="266708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521580" y="327813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9" name="Text Placeholder 3">
            <a:extLst>
              <a:ext uri="{FF2B5EF4-FFF2-40B4-BE49-F238E27FC236}">
                <a16:creationId xmlns:a16="http://schemas.microsoft.com/office/drawing/2014/main" id="{D92B13BD-67EA-49B6-943A-C99A7D8A961E}"/>
              </a:ext>
            </a:extLst>
          </p:cNvPr>
          <p:cNvSpPr txBox="1">
            <a:spLocks/>
          </p:cNvSpPr>
          <p:nvPr/>
        </p:nvSpPr>
        <p:spPr>
          <a:xfrm>
            <a:off x="1521580" y="391061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C</a:t>
            </a:r>
          </a:p>
        </p:txBody>
      </p:sp>
      <p:sp>
        <p:nvSpPr>
          <p:cNvPr id="2" name="Rectangle 1">
            <a:extLst>
              <a:ext uri="{FF2B5EF4-FFF2-40B4-BE49-F238E27FC236}">
                <a16:creationId xmlns:a16="http://schemas.microsoft.com/office/drawing/2014/main" id="{9BF2AFAB-27FB-40C0-BE20-372A366BC86A}"/>
              </a:ext>
            </a:extLst>
          </p:cNvPr>
          <p:cNvSpPr/>
          <p:nvPr/>
        </p:nvSpPr>
        <p:spPr>
          <a:xfrm>
            <a:off x="808383" y="-4888"/>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Level7_Decision2</a:t>
            </a:r>
          </a:p>
        </p:txBody>
      </p:sp>
      <p:sp>
        <p:nvSpPr>
          <p:cNvPr id="14" name="TextBox 13">
            <a:extLst>
              <a:ext uri="{FF2B5EF4-FFF2-40B4-BE49-F238E27FC236}">
                <a16:creationId xmlns:a16="http://schemas.microsoft.com/office/drawing/2014/main" id="{BBE117E7-6339-4BE7-8814-0109943F21D1}"/>
              </a:ext>
            </a:extLst>
          </p:cNvPr>
          <p:cNvSpPr txBox="1"/>
          <p:nvPr/>
        </p:nvSpPr>
        <p:spPr>
          <a:xfrm>
            <a:off x="1046542" y="626521"/>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edit the background.</a:t>
            </a:r>
          </a:p>
        </p:txBody>
      </p:sp>
      <p:sp>
        <p:nvSpPr>
          <p:cNvPr id="16" name="TextBox 15">
            <a:extLst>
              <a:ext uri="{FF2B5EF4-FFF2-40B4-BE49-F238E27FC236}">
                <a16:creationId xmlns:a16="http://schemas.microsoft.com/office/drawing/2014/main" id="{198373DD-E303-473B-B9D5-71FBC9BDFAF8}"/>
              </a:ext>
            </a:extLst>
          </p:cNvPr>
          <p:cNvSpPr txBox="1"/>
          <p:nvPr/>
        </p:nvSpPr>
        <p:spPr>
          <a:xfrm>
            <a:off x="1036320" y="6035908"/>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The website update is canceled.</a:t>
            </a:r>
          </a:p>
          <a:p>
            <a:pPr lvl="0">
              <a:defRPr/>
            </a:pPr>
            <a:r>
              <a:rPr lang="en-US" kern="0" dirty="0">
                <a:solidFill>
                  <a:prstClr val="black"/>
                </a:solidFill>
              </a:rPr>
              <a:t>If Option B or C: The owners love the proposed renovation.</a:t>
            </a:r>
          </a:p>
        </p:txBody>
      </p:sp>
      <p:sp>
        <p:nvSpPr>
          <p:cNvPr id="17" name="TextBox 16">
            <a:extLst>
              <a:ext uri="{FF2B5EF4-FFF2-40B4-BE49-F238E27FC236}">
                <a16:creationId xmlns:a16="http://schemas.microsoft.com/office/drawing/2014/main" id="{5B800CDE-0974-46D7-BA9B-E8E0B9462DDA}"/>
              </a:ext>
            </a:extLst>
          </p:cNvPr>
          <p:cNvSpPr txBox="1"/>
          <p:nvPr/>
        </p:nvSpPr>
        <p:spPr>
          <a:xfrm>
            <a:off x="1046542" y="4888332"/>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The &lt;h&gt; tags are heading tags and will change the font formatting. The &lt;p&gt; tags or the &lt;</a:t>
            </a:r>
            <a:r>
              <a:rPr lang="en-US" kern="0" dirty="0" err="1">
                <a:solidFill>
                  <a:srgbClr val="C00000"/>
                </a:solidFill>
              </a:rPr>
              <a:t>br</a:t>
            </a:r>
            <a:r>
              <a:rPr lang="en-US" kern="0" dirty="0">
                <a:solidFill>
                  <a:srgbClr val="C00000"/>
                </a:solidFill>
              </a:rPr>
              <a:t>&gt; tag will add space between paragraphs.</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8" name="Arrow: Pentagon 17">
            <a:extLst>
              <a:ext uri="{FF2B5EF4-FFF2-40B4-BE49-F238E27FC236}">
                <a16:creationId xmlns:a16="http://schemas.microsoft.com/office/drawing/2014/main" id="{A751500D-492A-4D78-B4C4-BB3939946C4C}"/>
              </a:ext>
            </a:extLst>
          </p:cNvPr>
          <p:cNvSpPr/>
          <p:nvPr/>
        </p:nvSpPr>
        <p:spPr>
          <a:xfrm>
            <a:off x="274983" y="393291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9" name="Arrow: Pentagon 18">
            <a:extLst>
              <a:ext uri="{FF2B5EF4-FFF2-40B4-BE49-F238E27FC236}">
                <a16:creationId xmlns:a16="http://schemas.microsoft.com/office/drawing/2014/main" id="{84F4AD7C-52D5-4722-AC66-A8ABB01412FB}"/>
              </a:ext>
            </a:extLst>
          </p:cNvPr>
          <p:cNvSpPr/>
          <p:nvPr/>
        </p:nvSpPr>
        <p:spPr>
          <a:xfrm>
            <a:off x="274983" y="330043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265191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16512"/>
            <a:ext cx="9570720"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didn’t seem to solve the problem. In fact, you created new problems! Perhaps it’s time to expand your website redesign team and hire someone else. </a:t>
            </a:r>
          </a:p>
        </p:txBody>
      </p:sp>
      <p:sp>
        <p:nvSpPr>
          <p:cNvPr id="12" name="Text Placeholder 1"/>
          <p:cNvSpPr txBox="1">
            <a:spLocks/>
          </p:cNvSpPr>
          <p:nvPr/>
        </p:nvSpPr>
        <p:spPr>
          <a:xfrm>
            <a:off x="1036321" y="4352302"/>
            <a:ext cx="6167368" cy="79956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Rectangle 1">
            <a:extLst>
              <a:ext uri="{FF2B5EF4-FFF2-40B4-BE49-F238E27FC236}">
                <a16:creationId xmlns:a16="http://schemas.microsoft.com/office/drawing/2014/main" id="{F3B8D9D2-E3EE-43A4-BD8A-B72E5FCA60A3}"/>
              </a:ext>
            </a:extLst>
          </p:cNvPr>
          <p:cNvSpPr/>
          <p:nvPr/>
        </p:nvSpPr>
        <p:spPr>
          <a:xfrm>
            <a:off x="795113" y="0"/>
            <a:ext cx="2791790"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Level7_Story1</a:t>
            </a:r>
          </a:p>
        </p:txBody>
      </p:sp>
      <p:sp>
        <p:nvSpPr>
          <p:cNvPr id="10" name="TextBox 9">
            <a:extLst>
              <a:ext uri="{FF2B5EF4-FFF2-40B4-BE49-F238E27FC236}">
                <a16:creationId xmlns:a16="http://schemas.microsoft.com/office/drawing/2014/main" id="{14ACE5F2-B477-452B-B908-CBA3FAAC7115}"/>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add &lt;h&gt; tags.</a:t>
            </a:r>
          </a:p>
        </p:txBody>
      </p:sp>
      <p:sp>
        <p:nvSpPr>
          <p:cNvPr id="14" name="TextBox 13">
            <a:extLst>
              <a:ext uri="{FF2B5EF4-FFF2-40B4-BE49-F238E27FC236}">
                <a16:creationId xmlns:a16="http://schemas.microsoft.com/office/drawing/2014/main" id="{F8392AD0-94FB-4F79-85FB-43A1EE7B649D}"/>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The website update is canceled.</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941608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3" y="863082"/>
            <a:ext cx="10672361" cy="304916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3300" dirty="0">
                <a:solidFill>
                  <a:schemeClr val="tx1"/>
                </a:solidFill>
                <a:latin typeface="+mj-lt"/>
              </a:rPr>
              <a:t>Outcome 0</a:t>
            </a:r>
          </a:p>
          <a:p>
            <a:pPr marL="0" indent="0">
              <a:spcBef>
                <a:spcPts val="0"/>
              </a:spcBef>
              <a:buNone/>
              <a:defRPr/>
            </a:pPr>
            <a:endParaRPr lang="en-US" sz="3300" dirty="0">
              <a:solidFill>
                <a:schemeClr val="tx1"/>
              </a:solidFill>
              <a:latin typeface="+mj-lt"/>
            </a:endParaRPr>
          </a:p>
          <a:p>
            <a:pPr marL="0" indent="0">
              <a:spcBef>
                <a:spcPts val="0"/>
              </a:spcBef>
              <a:buNone/>
              <a:defRPr/>
            </a:pPr>
            <a:r>
              <a:rPr lang="en-US" sz="2800" b="1" dirty="0">
                <a:solidFill>
                  <a:schemeClr val="tx1"/>
                </a:solidFill>
                <a:latin typeface="+mj-lt"/>
                <a:ea typeface="+mj-ea"/>
                <a:cs typeface="+mj-cs"/>
              </a:rPr>
              <a:t>The owners say the website redesign you have suggested is too expensive and far-reaching. It doesn’t include specific methods for increasing website traffic, or to generate new business. They decide not to make any changes at this time, and assign the project to another employee.</a:t>
            </a:r>
          </a:p>
        </p:txBody>
      </p:sp>
      <p:sp>
        <p:nvSpPr>
          <p:cNvPr id="12" name="Text Placeholder 1"/>
          <p:cNvSpPr txBox="1">
            <a:spLocks/>
          </p:cNvSpPr>
          <p:nvPr/>
        </p:nvSpPr>
        <p:spPr>
          <a:xfrm>
            <a:off x="795113" y="5328719"/>
            <a:ext cx="4045696" cy="74869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5" action="ppaction://hlinksldjump"/>
              </a:rPr>
              <a:t>Start over</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4" name="Text Placeholder 1">
            <a:extLst>
              <a:ext uri="{FF2B5EF4-FFF2-40B4-BE49-F238E27FC236}">
                <a16:creationId xmlns:a16="http://schemas.microsoft.com/office/drawing/2014/main" id="{0B93A283-A274-43AC-B18F-D53C09089F88}"/>
              </a:ext>
            </a:extLst>
          </p:cNvPr>
          <p:cNvSpPr txBox="1">
            <a:spLocks/>
          </p:cNvSpPr>
          <p:nvPr/>
        </p:nvSpPr>
        <p:spPr>
          <a:xfrm>
            <a:off x="795113" y="4074788"/>
            <a:ext cx="8598269" cy="5060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2"/>
    </p:custDataLst>
    <p:extLst>
      <p:ext uri="{BB962C8B-B14F-4D97-AF65-F5344CB8AC3E}">
        <p14:creationId xmlns:p14="http://schemas.microsoft.com/office/powerpoint/2010/main" val="141551121"/>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3" y="863082"/>
            <a:ext cx="10402539" cy="304916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3300" dirty="0">
                <a:solidFill>
                  <a:schemeClr val="tx1"/>
                </a:solidFill>
                <a:latin typeface="+mj-lt"/>
              </a:rPr>
              <a:t>Outcome 1</a:t>
            </a:r>
          </a:p>
          <a:p>
            <a:pPr marL="0" indent="0">
              <a:spcBef>
                <a:spcPts val="0"/>
              </a:spcBef>
              <a:buNone/>
              <a:defRPr/>
            </a:pPr>
            <a:endParaRPr lang="en-US" sz="2050" b="1" dirty="0">
              <a:solidFill>
                <a:schemeClr val="accent1"/>
              </a:solidFill>
              <a:ea typeface="Calibri"/>
              <a:cs typeface="Calibri"/>
            </a:endParaRPr>
          </a:p>
          <a:p>
            <a:pPr marL="0" indent="0">
              <a:spcBef>
                <a:spcPts val="0"/>
              </a:spcBef>
              <a:buNone/>
              <a:defRPr/>
            </a:pPr>
            <a:r>
              <a:rPr lang="en-US" sz="2800" b="1" dirty="0">
                <a:solidFill>
                  <a:schemeClr val="tx1"/>
                </a:solidFill>
                <a:latin typeface="+mj-lt"/>
                <a:ea typeface="+mj-ea"/>
                <a:cs typeface="+mj-cs"/>
              </a:rPr>
              <a:t>The owners say that your changes don’t seem like they will make much of an impact, but the budget was very low and it seems like a step in the right direction for now. They’ll look at more extensive renovations to the website next year.</a:t>
            </a:r>
          </a:p>
          <a:p>
            <a:pPr marL="0" indent="0">
              <a:spcBef>
                <a:spcPts val="0"/>
              </a:spcBef>
              <a:buNone/>
              <a:defRPr/>
            </a:pPr>
            <a:endParaRPr lang="en-US" sz="2050" dirty="0">
              <a:solidFill>
                <a:schemeClr val="tx2"/>
              </a:solidFill>
              <a:cs typeface="Calibri"/>
            </a:endParaRPr>
          </a:p>
        </p:txBody>
      </p:sp>
      <p:sp>
        <p:nvSpPr>
          <p:cNvPr id="12" name="Text Placeholder 1"/>
          <p:cNvSpPr txBox="1">
            <a:spLocks/>
          </p:cNvSpPr>
          <p:nvPr/>
        </p:nvSpPr>
        <p:spPr>
          <a:xfrm>
            <a:off x="795113" y="5268308"/>
            <a:ext cx="2914831" cy="72661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5" action="ppaction://hlinksldjump"/>
              </a:rPr>
              <a:t>Start over</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4" name="Text Placeholder 1">
            <a:extLst>
              <a:ext uri="{FF2B5EF4-FFF2-40B4-BE49-F238E27FC236}">
                <a16:creationId xmlns:a16="http://schemas.microsoft.com/office/drawing/2014/main" id="{659B0302-E191-44BB-810D-F5C5F96E583F}"/>
              </a:ext>
            </a:extLst>
          </p:cNvPr>
          <p:cNvSpPr txBox="1">
            <a:spLocks/>
          </p:cNvSpPr>
          <p:nvPr/>
        </p:nvSpPr>
        <p:spPr>
          <a:xfrm>
            <a:off x="795113" y="4074788"/>
            <a:ext cx="8598269" cy="5060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2"/>
    </p:custDataLst>
    <p:extLst>
      <p:ext uri="{BB962C8B-B14F-4D97-AF65-F5344CB8AC3E}">
        <p14:creationId xmlns:p14="http://schemas.microsoft.com/office/powerpoint/2010/main" val="3816988108"/>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3" y="863082"/>
            <a:ext cx="10625555"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3300" dirty="0">
                <a:solidFill>
                  <a:schemeClr val="tx1"/>
                </a:solidFill>
                <a:latin typeface="+mj-lt"/>
              </a:rPr>
              <a:t>Outcome 2</a:t>
            </a:r>
          </a:p>
          <a:p>
            <a:pPr marL="0" indent="0">
              <a:spcBef>
                <a:spcPts val="0"/>
              </a:spcBef>
              <a:buNone/>
              <a:defRPr/>
            </a:pPr>
            <a:endParaRPr lang="en-US" sz="3300" dirty="0">
              <a:solidFill>
                <a:schemeClr val="tx1"/>
              </a:solidFill>
              <a:latin typeface="+mj-lt"/>
            </a:endParaRPr>
          </a:p>
          <a:p>
            <a:pPr marL="0" indent="0">
              <a:spcBef>
                <a:spcPts val="0"/>
              </a:spcBef>
              <a:buNone/>
              <a:defRPr/>
            </a:pPr>
            <a:r>
              <a:rPr lang="en-US" sz="2800" b="1" dirty="0">
                <a:solidFill>
                  <a:schemeClr val="tx1"/>
                </a:solidFill>
                <a:latin typeface="+mj-lt"/>
                <a:ea typeface="+mj-ea"/>
                <a:cs typeface="+mj-cs"/>
              </a:rPr>
              <a:t>The owners are impressed with your progress. The renovations are impressive, and you have managed to stay within your budget. Already new customers are finding your website and signing up for services. You get the green light to continue with the project and finish the renovation.</a:t>
            </a:r>
          </a:p>
        </p:txBody>
      </p:sp>
      <p:sp>
        <p:nvSpPr>
          <p:cNvPr id="4" name="Text Placeholder 1">
            <a:extLst>
              <a:ext uri="{FF2B5EF4-FFF2-40B4-BE49-F238E27FC236}">
                <a16:creationId xmlns:a16="http://schemas.microsoft.com/office/drawing/2014/main" id="{B179ADD6-E837-463D-A46B-94D678887FC0}"/>
              </a:ext>
            </a:extLst>
          </p:cNvPr>
          <p:cNvSpPr txBox="1">
            <a:spLocks/>
          </p:cNvSpPr>
          <p:nvPr/>
        </p:nvSpPr>
        <p:spPr>
          <a:xfrm>
            <a:off x="795113" y="4498534"/>
            <a:ext cx="8598269" cy="5060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5" name="Text Placeholder 1">
            <a:extLst>
              <a:ext uri="{FF2B5EF4-FFF2-40B4-BE49-F238E27FC236}">
                <a16:creationId xmlns:a16="http://schemas.microsoft.com/office/drawing/2014/main" id="{6CFAE64A-D957-429B-9E99-8B97E62B389F}"/>
              </a:ext>
            </a:extLst>
          </p:cNvPr>
          <p:cNvSpPr txBox="1">
            <a:spLocks/>
          </p:cNvSpPr>
          <p:nvPr/>
        </p:nvSpPr>
        <p:spPr>
          <a:xfrm>
            <a:off x="795113" y="5469030"/>
            <a:ext cx="2914831" cy="72661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5" action="ppaction://hlinksldjump"/>
              </a:rPr>
              <a:t>Start over</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Tree>
    <p:custDataLst>
      <p:tags r:id="rId2"/>
    </p:custDataLst>
    <p:extLst>
      <p:ext uri="{BB962C8B-B14F-4D97-AF65-F5344CB8AC3E}">
        <p14:creationId xmlns:p14="http://schemas.microsoft.com/office/powerpoint/2010/main" val="2793273946"/>
      </p:ext>
    </p:extLst>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58"/>
  <p:tag name="ARTICULATE_USED_LAYOUT" val="3"/>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60"/>
  <p:tag name="ARTICULATE_USED_LAYOUT"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ontrol xmlns="http://schemas.microsoft.com/VisualStudio/2011/storyboarding/control">
  <Id Name="1fd42469-89aa-4a08-b532-3332bc5f5ec1" Revision="1" Stencil="System.MyShapes" StencilVersion="1.0"/>
</Control>
</file>

<file path=customXml/item2.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ontrol xmlns="http://schemas.microsoft.com/VisualStudio/2011/storyboarding/control">
  <Id Name="1fd42469-89aa-4a08-b532-3332bc5f5ec1" Revision="1" Stencil="System.MyShapes" StencilVersion="1.0"/>
</Control>
</file>

<file path=customXml/itemProps1.xml><?xml version="1.0" encoding="utf-8"?>
<ds:datastoreItem xmlns:ds="http://schemas.openxmlformats.org/officeDocument/2006/customXml" ds:itemID="{3C5AA1C0-2736-4C35-9D36-1790D98FE524}">
  <ds:schemaRefs>
    <ds:schemaRef ds:uri="http://schemas.microsoft.com/VisualStudio/2011/storyboarding/control"/>
  </ds:schemaRefs>
</ds:datastoreItem>
</file>

<file path=customXml/itemProps2.xml><?xml version="1.0" encoding="utf-8"?>
<ds:datastoreItem xmlns:ds="http://schemas.openxmlformats.org/officeDocument/2006/customXml" ds:itemID="{60B98538-67CA-489B-8ACE-F0682A9A9526}">
  <ds:schemaRefs>
    <ds:schemaRef ds:uri="http://schemas.microsoft.com/office/2006/metadata/properties"/>
    <ds:schemaRef ds:uri="http://schemas.microsoft.com/office/infopath/2007/PartnerControls"/>
    <ds:schemaRef ds:uri="eeab3f26-09e2-49ed-a80d-9bb89f29cea5"/>
  </ds:schemaRefs>
</ds:datastoreItem>
</file>

<file path=customXml/itemProps3.xml><?xml version="1.0" encoding="utf-8"?>
<ds:datastoreItem xmlns:ds="http://schemas.openxmlformats.org/officeDocument/2006/customXml" ds:itemID="{A84C0C2B-7E36-4F6D-811E-78A3C8B08786}"/>
</file>

<file path=customXml/itemProps4.xml><?xml version="1.0" encoding="utf-8"?>
<ds:datastoreItem xmlns:ds="http://schemas.openxmlformats.org/officeDocument/2006/customXml" ds:itemID="{AD92EAD0-DA55-4F7D-BD93-5513A29DFF63}">
  <ds:schemaRefs>
    <ds:schemaRef ds:uri="http://schemas.microsoft.com/sharepoint/v3/contenttype/forms"/>
  </ds:schemaRefs>
</ds:datastoreItem>
</file>

<file path=customXml/itemProps5.xml><?xml version="1.0" encoding="utf-8"?>
<ds:datastoreItem xmlns:ds="http://schemas.openxmlformats.org/officeDocument/2006/customXml" ds:itemID="{7F546FF6-DD59-47E7-8627-1821B46FD2F1}">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Office Theme</Template>
  <TotalTime>3999</TotalTime>
  <Words>2771</Words>
  <Application>Microsoft Office PowerPoint</Application>
  <PresentationFormat>Widescreen</PresentationFormat>
  <Paragraphs>267</Paragraphs>
  <Slides>22</Slides>
  <Notes>22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22</vt:i4>
      </vt:variant>
    </vt:vector>
  </HeadingPairs>
  <TitlesOfParts>
    <vt:vector size="29" baseType="lpstr">
      <vt:lpstr>Arial</vt:lpstr>
      <vt:lpstr>Calibri</vt:lpstr>
      <vt:lpstr>Calibri Light</vt:lpstr>
      <vt:lpstr>Titillium Web</vt:lpstr>
      <vt:lpstr>Wingdings</vt:lpstr>
      <vt:lpstr>Office Theme</vt:lpstr>
      <vt:lpstr>1_Office Theme</vt:lpstr>
      <vt:lpstr>Renovating Your Company Website</vt:lpstr>
      <vt:lpstr>Learning Objectives</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Hoisington, Corinne</dc:creator>
  <cp:lastModifiedBy>Jill West</cp:lastModifiedBy>
  <cp:revision>2073</cp:revision>
  <dcterms:created xsi:type="dcterms:W3CDTF">2018-06-14T17:50:20Z</dcterms:created>
  <dcterms:modified xsi:type="dcterms:W3CDTF">2020-02-17T02:09:11Z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ContentTypeId">
    <vt:lpwstr>0x010100CC237A0CA6CD2A4D8CE02E9AA9870115</vt:lpwstr>
  </property>
</Properties>
</file>