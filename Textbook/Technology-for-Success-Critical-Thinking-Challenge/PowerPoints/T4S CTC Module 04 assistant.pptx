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Lst>
  <p:notesMasterIdLst>
    <p:notesMasterId r:id="rId24"/>
  </p:notesMasterIdLst>
  <p:sldIdLst>
    <p:sldId id="258" r:id="rId5"/>
    <p:sldId id="260" r:id="rId6"/>
    <p:sldId id="295" r:id="rId7"/>
    <p:sldId id="390" r:id="rId8"/>
    <p:sldId id="374" r:id="rId9"/>
    <p:sldId id="377" r:id="rId10"/>
    <p:sldId id="375" r:id="rId11"/>
    <p:sldId id="379" r:id="rId12"/>
    <p:sldId id="380" r:id="rId13"/>
    <p:sldId id="378" r:id="rId14"/>
    <p:sldId id="382" r:id="rId15"/>
    <p:sldId id="381" r:id="rId16"/>
    <p:sldId id="384" r:id="rId17"/>
    <p:sldId id="385" r:id="rId18"/>
    <p:sldId id="383" r:id="rId19"/>
    <p:sldId id="386" r:id="rId20"/>
    <p:sldId id="389" r:id="rId21"/>
    <p:sldId id="286" r:id="rId22"/>
    <p:sldId id="35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9D8A47-5A93-4DEB-AFB8-8554CB1F1CA0}">
          <p14:sldIdLst>
            <p14:sldId id="258"/>
            <p14:sldId id="260"/>
            <p14:sldId id="295"/>
            <p14:sldId id="390"/>
            <p14:sldId id="374"/>
            <p14:sldId id="377"/>
            <p14:sldId id="375"/>
            <p14:sldId id="379"/>
            <p14:sldId id="380"/>
            <p14:sldId id="378"/>
            <p14:sldId id="382"/>
            <p14:sldId id="381"/>
            <p14:sldId id="384"/>
            <p14:sldId id="385"/>
            <p14:sldId id="383"/>
            <p14:sldId id="386"/>
            <p14:sldId id="389"/>
            <p14:sldId id="286"/>
            <p14:sldId id="35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Campbell" initials="JC" lastIdx="15" clrIdx="0">
    <p:extLst>
      <p:ext uri="{19B8F6BF-5375-455C-9EA6-DF929625EA0E}">
        <p15:presenceInfo xmlns:p15="http://schemas.microsoft.com/office/powerpoint/2012/main" userId="9252b8fd17e1143e" providerId="Windows Live"/>
      </p:ext>
    </p:extLst>
  </p:cmAuthor>
  <p:cmAuthor id="2" name="Jill West" initials="JW" lastIdx="13" clrIdx="1">
    <p:extLst>
      <p:ext uri="{19B8F6BF-5375-455C-9EA6-DF929625EA0E}">
        <p15:presenceInfo xmlns:p15="http://schemas.microsoft.com/office/powerpoint/2012/main" userId="Jill West" providerId="None"/>
      </p:ext>
    </p:extLst>
  </p:cmAuthor>
  <p:cmAuthor id="3" name="Pope, Emily D" initials="PED" lastIdx="2" clrIdx="2">
    <p:extLst>
      <p:ext uri="{19B8F6BF-5375-455C-9EA6-DF929625EA0E}">
        <p15:presenceInfo xmlns:p15="http://schemas.microsoft.com/office/powerpoint/2012/main" userId="S-1-5-21-4027829005-1107895287-290554039-21223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75EBA0-07E4-416B-98B9-824F071A6710}" v="23" dt="2020-02-16T18:53:49.5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5226" autoAdjust="0"/>
  </p:normalViewPr>
  <p:slideViewPr>
    <p:cSldViewPr snapToGrid="0">
      <p:cViewPr varScale="1">
        <p:scale>
          <a:sx n="82" d="100"/>
          <a:sy n="82" d="100"/>
        </p:scale>
        <p:origin x="394" y="9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66D5394A-330E-4F42-AA76-3BE5AE85CD0D}"/>
    <pc:docChg chg="custSel modSld">
      <pc:chgData name="MikeandJill West" userId="0caeac936585bbb7" providerId="LiveId" clId="{66D5394A-330E-4F42-AA76-3BE5AE85CD0D}" dt="2020-02-17T15:26:21.595" v="2" actId="113"/>
      <pc:docMkLst>
        <pc:docMk/>
      </pc:docMkLst>
      <pc:sldChg chg="modSp addCm delCm">
        <pc:chgData name="MikeandJill West" userId="0caeac936585bbb7" providerId="LiveId" clId="{66D5394A-330E-4F42-AA76-3BE5AE85CD0D}" dt="2020-02-17T15:26:21.595" v="2" actId="113"/>
        <pc:sldMkLst>
          <pc:docMk/>
          <pc:sldMk cId="987616076" sldId="258"/>
        </pc:sldMkLst>
        <pc:spChg chg="mod">
          <ac:chgData name="MikeandJill West" userId="0caeac936585bbb7" providerId="LiveId" clId="{66D5394A-330E-4F42-AA76-3BE5AE85CD0D}" dt="2020-02-17T15:26:21.595" v="2" actId="113"/>
          <ac:spMkLst>
            <pc:docMk/>
            <pc:sldMk cId="987616076" sldId="258"/>
            <ac:spMk id="26" creationId="{40184B40-508E-4CC0-A6B8-3111CAA042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2/17/2020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2632976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520502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1223458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4112525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662181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2618975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3110607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1894368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3789537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153291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3569950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4150611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263916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24628906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19859773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361186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2/17/2020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2/17/2020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2/17/2020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7.xml"/><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8.xml"/><Relationship Id="rId5" Type="http://schemas.openxmlformats.org/officeDocument/2006/relationships/slide" Target="slide8.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9.xml"/><Relationship Id="rId5" Type="http://schemas.openxmlformats.org/officeDocument/2006/relationships/slide" Target="slide8.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0.xml"/><Relationship Id="rId4" Type="http://schemas.openxmlformats.org/officeDocument/2006/relationships/slide" Target="slide1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1.xml"/><Relationship Id="rId5" Type="http://schemas.openxmlformats.org/officeDocument/2006/relationships/slide" Target="slide10.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2.xml"/><Relationship Id="rId5" Type="http://schemas.openxmlformats.org/officeDocument/2006/relationships/slide" Target="slide10.xml"/><Relationship Id="rId4" Type="http://schemas.openxmlformats.org/officeDocument/2006/relationships/slide" Target="slide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3.xml"/><Relationship Id="rId5" Type="http://schemas.openxmlformats.org/officeDocument/2006/relationships/slide" Target="slide12.xml"/><Relationship Id="rId4" Type="http://schemas.openxmlformats.org/officeDocument/2006/relationships/slide" Target="slide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4.xml"/><Relationship Id="rId5" Type="http://schemas.openxmlformats.org/officeDocument/2006/relationships/slide" Target="slide14.xml"/><Relationship Id="rId4" Type="http://schemas.openxmlformats.org/officeDocument/2006/relationships/slide" Target="slide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slide" Target="slide15.xml"/><Relationship Id="rId4" Type="http://schemas.openxmlformats.org/officeDocument/2006/relationships/slide" Target="slide1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6.xml"/><Relationship Id="rId5" Type="http://schemas.openxmlformats.org/officeDocument/2006/relationships/slide" Target="slide15.xml"/><Relationship Id="rId4" Type="http://schemas.openxmlformats.org/officeDocument/2006/relationships/slide" Target="slide1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17.xml"/><Relationship Id="rId5" Type="http://schemas.openxmlformats.org/officeDocument/2006/relationships/slide" Target="slide15.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8.xml"/><Relationship Id="rId5" Type="http://schemas.openxmlformats.org/officeDocument/2006/relationships/slide" Target="slide17.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19.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0.xml"/><Relationship Id="rId5" Type="http://schemas.openxmlformats.org/officeDocument/2006/relationships/slide" Target="slide18.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tags" Target="../tags/tag21.xml"/><Relationship Id="rId4" Type="http://schemas.openxmlformats.org/officeDocument/2006/relationships/slide" Target="slide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tags" Target="../tags/tag22.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0173DC-B357-4E12-B430-459CA2FB180D}"/>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17" name="Rectangle 16">
            <a:extLst>
              <a:ext uri="{FF2B5EF4-FFF2-40B4-BE49-F238E27FC236}">
                <a16:creationId xmlns:a16="http://schemas.microsoft.com/office/drawing/2014/main" id="{A3488126-8171-4041-9F9B-1111EA40EEA1}"/>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936737" y="2327274"/>
            <a:ext cx="9257538" cy="4157502"/>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050" b="1" dirty="0">
                <a:solidFill>
                  <a:schemeClr val="tx1"/>
                </a:solidFill>
                <a:latin typeface="+mj-lt"/>
                <a:cs typeface="Titillium WebSemiBold"/>
              </a:rPr>
              <a:t>Module 4</a:t>
            </a:r>
            <a:r>
              <a:rPr lang="en-US" sz="2050" dirty="0">
                <a:solidFill>
                  <a:schemeClr val="tx1"/>
                </a:solidFill>
                <a:latin typeface="+mj-lt"/>
                <a:cs typeface="Titillium WebSemiBold"/>
              </a:rPr>
              <a:t>: Operating Systems and File Management</a:t>
            </a:r>
          </a:p>
          <a:p>
            <a:pPr marL="0" indent="0">
              <a:buNone/>
            </a:pPr>
            <a:r>
              <a:rPr lang="en-US" sz="2050" b="1" dirty="0">
                <a:solidFill>
                  <a:schemeClr val="tx1"/>
                </a:solidFill>
                <a:latin typeface="+mj-lt"/>
                <a:cs typeface="Calibri Light"/>
              </a:rPr>
              <a:t>Lesson objective 4.4</a:t>
            </a:r>
            <a:r>
              <a:rPr lang="en-US" sz="2050" dirty="0">
                <a:solidFill>
                  <a:schemeClr val="tx1"/>
                </a:solidFill>
                <a:latin typeface="+mj-lt"/>
                <a:cs typeface="Calibri Light"/>
              </a:rPr>
              <a:t>:  Manage files and folders.</a:t>
            </a:r>
          </a:p>
          <a:p>
            <a:pPr marL="0" indent="0">
              <a:buNone/>
            </a:pPr>
            <a:r>
              <a:rPr lang="en-US" sz="2050" b="1" i="1" dirty="0">
                <a:solidFill>
                  <a:schemeClr val="tx1"/>
                </a:solidFill>
                <a:latin typeface="+mj-lt"/>
                <a:cs typeface="Calibri Light"/>
              </a:rPr>
              <a:t>Learning objectives:</a:t>
            </a:r>
          </a:p>
          <a:p>
            <a:pPr marL="0" indent="0">
              <a:buNone/>
            </a:pPr>
            <a:r>
              <a:rPr lang="en-US" sz="2050" dirty="0">
                <a:solidFill>
                  <a:schemeClr val="tx1"/>
                </a:solidFill>
                <a:latin typeface="+mj-lt"/>
                <a:cs typeface="Calibri Light"/>
              </a:rPr>
              <a:t>4.4.2 Save files to folders and filing systems.</a:t>
            </a:r>
          </a:p>
          <a:p>
            <a:pPr marL="0" indent="0">
              <a:buNone/>
            </a:pPr>
            <a:r>
              <a:rPr lang="en-US" sz="2050" dirty="0">
                <a:solidFill>
                  <a:schemeClr val="tx1"/>
                </a:solidFill>
                <a:latin typeface="+mj-lt"/>
                <a:cs typeface="Calibri Light"/>
              </a:rPr>
              <a:t>4.4.4 Manage file names and file placement.</a:t>
            </a:r>
          </a:p>
          <a:p>
            <a:pPr marL="0" indent="0">
              <a:buNone/>
            </a:pPr>
            <a:r>
              <a:rPr lang="en-US" sz="2050" dirty="0">
                <a:solidFill>
                  <a:schemeClr val="tx1"/>
                </a:solidFill>
                <a:latin typeface="+mj-lt"/>
                <a:cs typeface="Calibri Light"/>
              </a:rPr>
              <a:t>4.4.6 Organize files using file management tools.</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997722" y="468069"/>
            <a:ext cx="8196553" cy="1143000"/>
          </a:xfrm>
        </p:spPr>
        <p:txBody>
          <a:bodyPr>
            <a:noAutofit/>
          </a:bodyPr>
          <a:lstStyle/>
          <a:p>
            <a:pPr algn="ctr"/>
            <a:r>
              <a:rPr lang="en-US" sz="5400" dirty="0">
                <a:solidFill>
                  <a:schemeClr val="tx1"/>
                </a:solidFill>
                <a:cs typeface="Calibri Light"/>
              </a:rPr>
              <a:t>Working with OneDrive Files</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36" y="363894"/>
            <a:ext cx="10412618" cy="681135"/>
          </a:xfrm>
        </p:spPr>
        <p:txBody>
          <a:bodyPr/>
          <a:lstStyle/>
          <a:p>
            <a:r>
              <a:rPr lang="en-US" sz="3650" dirty="0"/>
              <a:t>Working with OneDrive Files</a:t>
            </a:r>
            <a:endParaRPr lang="en-JM" dirty="0"/>
          </a:p>
        </p:txBody>
      </p:sp>
      <p:sp>
        <p:nvSpPr>
          <p:cNvPr id="14" name="Text Placeholder 5">
            <a:extLst>
              <a:ext uri="{FF2B5EF4-FFF2-40B4-BE49-F238E27FC236}">
                <a16:creationId xmlns:a16="http://schemas.microsoft.com/office/drawing/2014/main" id="{9695F16E-9C26-471C-9A27-D5876B315CA0}"/>
              </a:ext>
            </a:extLst>
          </p:cNvPr>
          <p:cNvSpPr txBox="1">
            <a:spLocks/>
          </p:cNvSpPr>
          <p:nvPr/>
        </p:nvSpPr>
        <p:spPr>
          <a:xfrm>
            <a:off x="790835" y="1147666"/>
            <a:ext cx="10988209" cy="5262416"/>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best save and organize files</a:t>
            </a:r>
          </a:p>
          <a:p>
            <a:pPr>
              <a:buNone/>
            </a:pPr>
            <a:r>
              <a:rPr lang="en-US" dirty="0">
                <a:solidFill>
                  <a:schemeClr val="tx2"/>
                </a:solidFill>
              </a:rPr>
              <a:t>•	How to share local and online files</a:t>
            </a:r>
          </a:p>
          <a:p>
            <a:pPr>
              <a:buNone/>
            </a:pPr>
            <a:r>
              <a:rPr lang="en-US" dirty="0">
                <a:solidFill>
                  <a:schemeClr val="tx2"/>
                </a:solidFill>
              </a:rPr>
              <a:t>•	How to most effectively name files </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practice working with different versions of a file. At each step, think carefully about which file you need, whether that file exists online or on your local computer, and what other versions of the file other people might be able to see at any given time.</a:t>
            </a:r>
          </a:p>
          <a:p>
            <a:pPr>
              <a:buFont typeface="Wingdings" panose="05000000000000000000" pitchFamily="2" charset="2"/>
              <a:buChar char="ü"/>
            </a:pPr>
            <a:r>
              <a:rPr lang="en-US" dirty="0">
                <a:solidFill>
                  <a:schemeClr val="tx2"/>
                </a:solidFill>
              </a:rPr>
              <a:t>Consider which tool will do what you need it to do.</a:t>
            </a:r>
          </a:p>
          <a:p>
            <a:pPr>
              <a:buFont typeface="Wingdings" panose="05000000000000000000" pitchFamily="2" charset="2"/>
              <a:buChar char="ü"/>
            </a:pPr>
            <a:r>
              <a:rPr lang="en-US" dirty="0">
                <a:solidFill>
                  <a:schemeClr val="tx2"/>
                </a:solidFill>
              </a:rPr>
              <a:t>Think very carefully about where a file is located—both its folder location and its device location.</a:t>
            </a:r>
          </a:p>
          <a:p>
            <a:pPr>
              <a:buFont typeface="Wingdings" panose="05000000000000000000" pitchFamily="2" charset="2"/>
              <a:buChar char="ü"/>
            </a:pPr>
            <a:r>
              <a:rPr lang="en-JM" dirty="0">
                <a:solidFill>
                  <a:schemeClr val="tx2"/>
                </a:solidFill>
              </a:rPr>
              <a:t>Try to choose the right operation to minimize the chances of mistakes </a:t>
            </a:r>
            <a:r>
              <a:rPr lang="en-JM">
                <a:solidFill>
                  <a:schemeClr val="tx2"/>
                </a:solidFill>
              </a:rPr>
              <a:t>or misunderstandings.</a:t>
            </a:r>
            <a:endParaRPr lang="en-JM" dirty="0">
              <a:solidFill>
                <a:schemeClr val="tx2"/>
              </a:solidFill>
            </a:endParaRPr>
          </a:p>
          <a:p>
            <a:pPr>
              <a:buFont typeface="Wingdings" panose="05000000000000000000" pitchFamily="2" charset="2"/>
              <a:buChar char="ü"/>
            </a:pPr>
            <a:r>
              <a:rPr lang="en-JM" dirty="0">
                <a:solidFill>
                  <a:schemeClr val="tx2"/>
                </a:solidFill>
              </a:rPr>
              <a:t>Make sure you’re communicating accurate information to others in the scenario.</a:t>
            </a: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818926" y="695061"/>
            <a:ext cx="10388806" cy="287910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You’re working as an office assistant on a college campus, and you’ve been asked to help finalize a poster to advertise an upcoming annual fundraising event. The event is being sponsored by a local business, Atwater Industries. In addition to a social media campaign, the sponsor will be printing posters to display in local businesses. You’ve been instructed to coordinate with Atwater Industries’ contact person, Liam, to make sure the poster is updated with the latest information before he can send it to the printing company.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818926" y="3569496"/>
            <a:ext cx="10677482" cy="13399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hlinkClick r:id="rId4" action="ppaction://hlinksldjump"/>
              </a:rPr>
              <a:t>Continue</a:t>
            </a:r>
            <a:endParaRPr lang="en-US" sz="2050" dirty="0">
              <a:solidFill>
                <a:schemeClr val="tx2"/>
              </a:solidFill>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sz="3650" dirty="0"/>
              <a:t>Introduction</a:t>
            </a:r>
            <a:endParaRPr lang="en-US" dirty="0"/>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382950"/>
            <a:ext cx="10412618" cy="435547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Your boss, Indie, says that the final time for the event and a couple of other details have recently changed. She says Liam has already updated the time on a draft of the poster, which is a Microsoft Word document saved in a OneDrive folder called </a:t>
            </a:r>
            <a:r>
              <a:rPr lang="en-US" sz="2050" dirty="0" err="1">
                <a:solidFill>
                  <a:schemeClr val="tx2"/>
                </a:solidFill>
                <a:ea typeface="Calibri"/>
                <a:cs typeface="Calibri"/>
              </a:rPr>
              <a:t>AtwaterEvents</a:t>
            </a:r>
            <a:r>
              <a:rPr lang="en-US" sz="2050" dirty="0">
                <a:solidFill>
                  <a:schemeClr val="tx2"/>
                </a:solidFill>
                <a:ea typeface="Calibri"/>
                <a:cs typeface="Calibri"/>
              </a:rPr>
              <a:t>. She also has a few more changes she wants you to make to the poster.</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Workstations at your campus offer two operating system options: Windows 10 and Ubuntu Linux. As you sit down to begin your work, which operating system will you choose?</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86724" y="3588367"/>
            <a:ext cx="7128295" cy="13399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Ubuntu Linux </a:t>
            </a:r>
            <a:r>
              <a:rPr lang="en-US" sz="2050" b="1" dirty="0">
                <a:solidFill>
                  <a:schemeClr val="tx2"/>
                </a:solidFill>
                <a:ea typeface="Calibri"/>
                <a:cs typeface="Calibri"/>
                <a:hlinkClick r:id="rId4" action="ppaction://hlinksldjump"/>
              </a:rPr>
              <a:t>[Level1_Decision1_OptionA]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Windows 10 </a:t>
            </a:r>
            <a:r>
              <a:rPr lang="en-US" sz="2050" b="1" dirty="0">
                <a:solidFill>
                  <a:schemeClr val="tx2"/>
                </a:solidFill>
                <a:ea typeface="Calibri"/>
                <a:cs typeface="Calibri"/>
                <a:hlinkClick r:id="rId5" action="ppaction://hlinksldjump"/>
              </a:rPr>
              <a:t>[Level1_Decision1_OptionB]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214312" y="358836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214312" y="421254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Level1_Decision1</a:t>
            </a:r>
          </a:p>
        </p:txBody>
      </p:sp>
      <p:sp>
        <p:nvSpPr>
          <p:cNvPr id="8" name="Arrow: Pentagon 7">
            <a:extLst>
              <a:ext uri="{FF2B5EF4-FFF2-40B4-BE49-F238E27FC236}">
                <a16:creationId xmlns:a16="http://schemas.microsoft.com/office/drawing/2014/main" id="{200C219B-15D4-491D-B16C-56CBE938F747}"/>
              </a:ext>
            </a:extLst>
          </p:cNvPr>
          <p:cNvSpPr/>
          <p:nvPr/>
        </p:nvSpPr>
        <p:spPr>
          <a:xfrm>
            <a:off x="127061" y="3588367"/>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Arrow: Pentagon 8">
            <a:extLst>
              <a:ext uri="{FF2B5EF4-FFF2-40B4-BE49-F238E27FC236}">
                <a16:creationId xmlns:a16="http://schemas.microsoft.com/office/drawing/2014/main" id="{32A12935-95DA-4E8E-B8C8-D23A91FBBCF1}"/>
              </a:ext>
            </a:extLst>
          </p:cNvPr>
          <p:cNvSpPr/>
          <p:nvPr/>
        </p:nvSpPr>
        <p:spPr>
          <a:xfrm>
            <a:off x="127061" y="421831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D368DAEF-1B1A-4372-AD6F-ECB221D05BCE}"/>
              </a:ext>
            </a:extLst>
          </p:cNvPr>
          <p:cNvSpPr txBox="1"/>
          <p:nvPr/>
        </p:nvSpPr>
        <p:spPr>
          <a:xfrm>
            <a:off x="1036320" y="6137214"/>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file manager app.</a:t>
            </a:r>
          </a:p>
        </p:txBody>
      </p:sp>
      <p:sp>
        <p:nvSpPr>
          <p:cNvPr id="16" name="TextBox 15">
            <a:extLst>
              <a:ext uri="{FF2B5EF4-FFF2-40B4-BE49-F238E27FC236}">
                <a16:creationId xmlns:a16="http://schemas.microsoft.com/office/drawing/2014/main" id="{1A22FB9D-87ED-4B31-AD70-42FB29FCD738}"/>
              </a:ext>
            </a:extLst>
          </p:cNvPr>
          <p:cNvSpPr txBox="1"/>
          <p:nvPr/>
        </p:nvSpPr>
        <p:spPr>
          <a:xfrm>
            <a:off x="1036320" y="5172900"/>
            <a:ext cx="957072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tasks for this scenario can be accomplished using either of these operating systems.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84569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select the Ubuntu Linux operating system and then sign into your workstation. Now that you’re signed into your desktop, you need to access the file Liam posted. Which operating system utility will you use?</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493321" y="2375811"/>
            <a:ext cx="4622672" cy="87256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Nautilus </a:t>
            </a:r>
            <a:r>
              <a:rPr lang="en-US" sz="2050" b="1" dirty="0">
                <a:solidFill>
                  <a:schemeClr val="tx2"/>
                </a:solidFill>
                <a:ea typeface="Calibri"/>
                <a:cs typeface="Calibri"/>
                <a:hlinkClick r:id="rId4" action="ppaction://hlinksldjump"/>
              </a:rPr>
              <a:t>[Level2_Decision1_OptionA]</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Level2_Decision1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81222" y="237581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81222" y="307041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 Placeholder 1">
            <a:extLst>
              <a:ext uri="{FF2B5EF4-FFF2-40B4-BE49-F238E27FC236}">
                <a16:creationId xmlns:a16="http://schemas.microsoft.com/office/drawing/2014/main" id="{A0B76AA2-D394-4759-A241-5993FD436420}"/>
              </a:ext>
            </a:extLst>
          </p:cNvPr>
          <p:cNvSpPr txBox="1">
            <a:spLocks/>
          </p:cNvSpPr>
          <p:nvPr/>
        </p:nvSpPr>
        <p:spPr>
          <a:xfrm>
            <a:off x="1500509" y="3070410"/>
            <a:ext cx="6350161" cy="94958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Firefox </a:t>
            </a:r>
            <a:r>
              <a:rPr lang="en-US" sz="2050" b="1" dirty="0">
                <a:solidFill>
                  <a:schemeClr val="tx2"/>
                </a:solidFill>
                <a:ea typeface="Calibri"/>
                <a:cs typeface="Calibri"/>
                <a:hlinkClick r:id="rId5" action="ppaction://hlinksldjump"/>
              </a:rPr>
              <a:t>[Level2_Decision1_OptionB]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Arrow: Pentagon 14">
            <a:extLst>
              <a:ext uri="{FF2B5EF4-FFF2-40B4-BE49-F238E27FC236}">
                <a16:creationId xmlns:a16="http://schemas.microsoft.com/office/drawing/2014/main" id="{890C3D50-B7C4-405D-9360-0B1E5B3946D1}"/>
              </a:ext>
            </a:extLst>
          </p:cNvPr>
          <p:cNvSpPr/>
          <p:nvPr/>
        </p:nvSpPr>
        <p:spPr>
          <a:xfrm>
            <a:off x="114422" y="3107417"/>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TextBox 17">
            <a:extLst>
              <a:ext uri="{FF2B5EF4-FFF2-40B4-BE49-F238E27FC236}">
                <a16:creationId xmlns:a16="http://schemas.microsoft.com/office/drawing/2014/main" id="{F16CE85C-1C15-4322-BDE1-A05AACA21038}"/>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file path.</a:t>
            </a:r>
          </a:p>
        </p:txBody>
      </p:sp>
      <p:sp>
        <p:nvSpPr>
          <p:cNvPr id="19" name="TextBox 18">
            <a:extLst>
              <a:ext uri="{FF2B5EF4-FFF2-40B4-BE49-F238E27FC236}">
                <a16:creationId xmlns:a16="http://schemas.microsoft.com/office/drawing/2014/main" id="{2F748CBA-BCC7-47AD-8A57-F4D83C0B28DC}"/>
              </a:ext>
            </a:extLst>
          </p:cNvPr>
          <p:cNvSpPr txBox="1"/>
          <p:nvPr/>
        </p:nvSpPr>
        <p:spPr>
          <a:xfrm>
            <a:off x="1036320" y="4799250"/>
            <a:ext cx="1017141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Nautilus file manager in Ubuntu cannot be connected to OneDrive. However, the Firefox browser can access OneDrive online.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0888C8B5-BBB9-41D2-AA7E-4206FC12DE19}"/>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Ubuntu Linux operating system.</a:t>
            </a:r>
          </a:p>
        </p:txBody>
      </p:sp>
    </p:spTree>
    <p:custDataLst>
      <p:tags r:id="rId1"/>
    </p:custDataLst>
    <p:extLst>
      <p:ext uri="{BB962C8B-B14F-4D97-AF65-F5344CB8AC3E}">
        <p14:creationId xmlns:p14="http://schemas.microsoft.com/office/powerpoint/2010/main" val="370392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7"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select the Windows 10 operating system and then sign into your workstation. Now that you’re signed into your desktop, you need to access the file Liam posted. Which operating system utility will you use?</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80684" y="2636120"/>
            <a:ext cx="4719977" cy="87256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File Explorer </a:t>
            </a:r>
            <a:r>
              <a:rPr lang="en-US" sz="2050" b="1" dirty="0">
                <a:solidFill>
                  <a:schemeClr val="tx2"/>
                </a:solidFill>
                <a:ea typeface="Calibri"/>
                <a:cs typeface="Calibri"/>
                <a:hlinkClick r:id="rId4" action="ppaction://hlinksldjump"/>
              </a:rPr>
              <a:t>[Level2_Decision2_OptionA]</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Level2_Decision2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68586" y="263612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68586" y="339018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 Placeholder 1">
            <a:extLst>
              <a:ext uri="{FF2B5EF4-FFF2-40B4-BE49-F238E27FC236}">
                <a16:creationId xmlns:a16="http://schemas.microsoft.com/office/drawing/2014/main" id="{A0B76AA2-D394-4759-A241-5993FD436420}"/>
              </a:ext>
            </a:extLst>
          </p:cNvPr>
          <p:cNvSpPr txBox="1">
            <a:spLocks/>
          </p:cNvSpPr>
          <p:nvPr/>
        </p:nvSpPr>
        <p:spPr>
          <a:xfrm>
            <a:off x="1587873" y="3390181"/>
            <a:ext cx="5780583" cy="5317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Edge </a:t>
            </a:r>
            <a:r>
              <a:rPr lang="en-US" sz="2050" b="1" dirty="0">
                <a:solidFill>
                  <a:schemeClr val="tx2"/>
                </a:solidFill>
                <a:ea typeface="Calibri"/>
                <a:cs typeface="Calibri"/>
                <a:hlinkClick r:id="rId5" action="ppaction://hlinksldjump"/>
              </a:rPr>
              <a:t>[Level2_Decision2_OptionB]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4" name="Arrow: Pentagon 13">
            <a:extLst>
              <a:ext uri="{FF2B5EF4-FFF2-40B4-BE49-F238E27FC236}">
                <a16:creationId xmlns:a16="http://schemas.microsoft.com/office/drawing/2014/main" id="{A207024A-BECF-4950-961A-69485F3F7631}"/>
              </a:ext>
            </a:extLst>
          </p:cNvPr>
          <p:cNvSpPr/>
          <p:nvPr/>
        </p:nvSpPr>
        <p:spPr>
          <a:xfrm>
            <a:off x="160928" y="339018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Arrow: Pentagon 14">
            <a:extLst>
              <a:ext uri="{FF2B5EF4-FFF2-40B4-BE49-F238E27FC236}">
                <a16:creationId xmlns:a16="http://schemas.microsoft.com/office/drawing/2014/main" id="{B3F9AB84-44E9-425A-B5C9-E6E07D086BEA}"/>
              </a:ext>
            </a:extLst>
          </p:cNvPr>
          <p:cNvSpPr/>
          <p:nvPr/>
        </p:nvSpPr>
        <p:spPr>
          <a:xfrm>
            <a:off x="160928" y="270081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TextBox 17">
            <a:extLst>
              <a:ext uri="{FF2B5EF4-FFF2-40B4-BE49-F238E27FC236}">
                <a16:creationId xmlns:a16="http://schemas.microsoft.com/office/drawing/2014/main" id="{102C50BF-B5C4-4E0A-9FEB-25F316B0CB59}"/>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file path.</a:t>
            </a:r>
          </a:p>
        </p:txBody>
      </p:sp>
      <p:sp>
        <p:nvSpPr>
          <p:cNvPr id="19" name="TextBox 18">
            <a:extLst>
              <a:ext uri="{FF2B5EF4-FFF2-40B4-BE49-F238E27FC236}">
                <a16:creationId xmlns:a16="http://schemas.microsoft.com/office/drawing/2014/main" id="{F3D6B9C3-7D45-4A1B-B038-E2CAAA4DE3D2}"/>
              </a:ext>
            </a:extLst>
          </p:cNvPr>
          <p:cNvSpPr txBox="1"/>
          <p:nvPr/>
        </p:nvSpPr>
        <p:spPr>
          <a:xfrm>
            <a:off x="1036320" y="4978486"/>
            <a:ext cx="1017141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Either File Explorer or the Edge browser can be used to access OneDrive on a Windows computer.</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4F53B80-FA6B-427C-B675-BA0A0B47BF34}"/>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Windows 10 operating system.</a:t>
            </a:r>
          </a:p>
        </p:txBody>
      </p:sp>
    </p:spTree>
    <p:custDataLst>
      <p:tags r:id="rId1"/>
    </p:custDataLst>
    <p:extLst>
      <p:ext uri="{BB962C8B-B14F-4D97-AF65-F5344CB8AC3E}">
        <p14:creationId xmlns:p14="http://schemas.microsoft.com/office/powerpoint/2010/main" val="74741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open the Nautilus file manager on your computer. Now you need to find the poster from Liam so you can make the changes Indie gave you. Which file do you need?</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167525" y="2165199"/>
            <a:ext cx="9001703"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Documents/</a:t>
            </a:r>
            <a:r>
              <a:rPr lang="en-US" sz="2050" dirty="0" err="1">
                <a:solidFill>
                  <a:schemeClr val="tx2"/>
                </a:solidFill>
                <a:ea typeface="Calibri"/>
                <a:cs typeface="Calibri"/>
                <a:hlinkClick r:id="rId4" action="ppaction://hlinksldjump"/>
              </a:rPr>
              <a:t>AtwaterEvents</a:t>
            </a:r>
            <a:r>
              <a:rPr lang="en-US" sz="2050" dirty="0">
                <a:solidFill>
                  <a:schemeClr val="tx2"/>
                </a:solidFill>
                <a:ea typeface="Calibri"/>
                <a:cs typeface="Calibri"/>
                <a:hlinkClick r:id="rId4" action="ppaction://hlinksldjump"/>
              </a:rPr>
              <a:t>/FundraiserPoster.docx </a:t>
            </a:r>
            <a:r>
              <a:rPr lang="en-US" sz="2050" b="1" dirty="0">
                <a:solidFill>
                  <a:schemeClr val="tx2"/>
                </a:solidFill>
                <a:ea typeface="Calibri"/>
                <a:cs typeface="Calibri"/>
                <a:hlinkClick r:id="rId4" action="ppaction://hlinksldjump"/>
              </a:rPr>
              <a:t>[Level3_Decision1_OptionA]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Downloads/FundraiserPoster.docx </a:t>
            </a:r>
            <a:r>
              <a:rPr lang="en-US" sz="2050" b="1" dirty="0">
                <a:solidFill>
                  <a:schemeClr val="tx2"/>
                </a:solidFill>
                <a:ea typeface="Calibri"/>
                <a:cs typeface="Calibri"/>
                <a:hlinkClick r:id="rId4" action="ppaction://hlinksldjump"/>
              </a:rPr>
              <a:t>[Level3_Decision1_OptionB]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795113" y="215272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795113" y="308551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4" name="TextBox 13">
            <a:extLst>
              <a:ext uri="{FF2B5EF4-FFF2-40B4-BE49-F238E27FC236}">
                <a16:creationId xmlns:a16="http://schemas.microsoft.com/office/drawing/2014/main" id="{9F265F4F-32DE-419D-86AA-47ED18FE3AD4}"/>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to cut or copy a file.</a:t>
            </a:r>
          </a:p>
        </p:txBody>
      </p:sp>
      <p:sp>
        <p:nvSpPr>
          <p:cNvPr id="15" name="TextBox 14">
            <a:extLst>
              <a:ext uri="{FF2B5EF4-FFF2-40B4-BE49-F238E27FC236}">
                <a16:creationId xmlns:a16="http://schemas.microsoft.com/office/drawing/2014/main" id="{6AE12D7B-61A3-4A41-B637-5EB094C645E3}"/>
              </a:ext>
            </a:extLst>
          </p:cNvPr>
          <p:cNvSpPr txBox="1"/>
          <p:nvPr/>
        </p:nvSpPr>
        <p:spPr>
          <a:xfrm>
            <a:off x="1036320" y="4978486"/>
            <a:ext cx="1017141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Neither of these options will provide access to the file on OneDrive.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6A60F5AA-EC1F-40C6-BF54-F0A4521E9990}"/>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Nautilus on Ubuntu.</a:t>
            </a:r>
          </a:p>
        </p:txBody>
      </p:sp>
    </p:spTree>
    <p:custDataLst>
      <p:tags r:id="rId1"/>
    </p:custDataLst>
    <p:extLst>
      <p:ext uri="{BB962C8B-B14F-4D97-AF65-F5344CB8AC3E}">
        <p14:creationId xmlns:p14="http://schemas.microsoft.com/office/powerpoint/2010/main" val="207866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open your browser and sign into the OneDrive website. Now you need to find the poster from Liam so you can make the changes Indie gave you. Which file do you need?</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77221" y="2306573"/>
            <a:ext cx="9190239"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Files &gt; Documents &gt; </a:t>
            </a:r>
            <a:r>
              <a:rPr lang="en-US" sz="2050" dirty="0" err="1">
                <a:solidFill>
                  <a:schemeClr val="tx2"/>
                </a:solidFill>
                <a:ea typeface="Calibri"/>
                <a:cs typeface="Calibri"/>
                <a:hlinkClick r:id="rId4" action="ppaction://hlinksldjump"/>
              </a:rPr>
              <a:t>AtwaterEvents</a:t>
            </a:r>
            <a:r>
              <a:rPr lang="en-US" sz="2050" dirty="0">
                <a:solidFill>
                  <a:schemeClr val="tx2"/>
                </a:solidFill>
                <a:ea typeface="Calibri"/>
                <a:cs typeface="Calibri"/>
                <a:hlinkClick r:id="rId4" action="ppaction://hlinksldjump"/>
              </a:rPr>
              <a:t> &gt; FundraiserPoster.docx </a:t>
            </a:r>
            <a:r>
              <a:rPr lang="en-US" sz="2050" b="1" dirty="0">
                <a:solidFill>
                  <a:schemeClr val="tx2"/>
                </a:solidFill>
                <a:ea typeface="Calibri"/>
                <a:cs typeface="Calibri"/>
                <a:hlinkClick r:id="rId4" action="ppaction://hlinksldjump"/>
              </a:rPr>
              <a:t>[Level3_Decision2_OptionA]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err="1">
                <a:solidFill>
                  <a:schemeClr val="tx2"/>
                </a:solidFill>
                <a:ea typeface="Calibri"/>
                <a:cs typeface="Calibri"/>
                <a:hlinkClick r:id="rId5" action="ppaction://hlinksldjump"/>
              </a:rPr>
              <a:t>WorkPC</a:t>
            </a:r>
            <a:r>
              <a:rPr lang="en-US" sz="2050" dirty="0">
                <a:solidFill>
                  <a:schemeClr val="tx2"/>
                </a:solidFill>
                <a:ea typeface="Calibri"/>
                <a:cs typeface="Calibri"/>
                <a:hlinkClick r:id="rId5" action="ppaction://hlinksldjump"/>
              </a:rPr>
              <a:t> &gt; Downloads &gt; </a:t>
            </a:r>
            <a:r>
              <a:rPr lang="en-US" sz="2050" dirty="0" err="1">
                <a:solidFill>
                  <a:schemeClr val="tx2"/>
                </a:solidFill>
                <a:ea typeface="Calibri"/>
                <a:cs typeface="Calibri"/>
                <a:hlinkClick r:id="rId5" action="ppaction://hlinksldjump"/>
              </a:rPr>
              <a:t>AtwaterEvents</a:t>
            </a:r>
            <a:r>
              <a:rPr lang="en-US" sz="2050" dirty="0">
                <a:solidFill>
                  <a:schemeClr val="tx2"/>
                </a:solidFill>
                <a:ea typeface="Calibri"/>
                <a:cs typeface="Calibri"/>
                <a:hlinkClick r:id="rId5" action="ppaction://hlinksldjump"/>
              </a:rPr>
              <a:t> &gt; FundraiserPoster.docx </a:t>
            </a:r>
            <a:r>
              <a:rPr lang="en-US" sz="2050" b="1" dirty="0">
                <a:solidFill>
                  <a:schemeClr val="tx2"/>
                </a:solidFill>
                <a:ea typeface="Calibri"/>
                <a:cs typeface="Calibri"/>
                <a:hlinkClick r:id="rId5" action="ppaction://hlinksldjump"/>
              </a:rPr>
              <a:t>[Level3_Decision2_OptionB]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04809" y="229410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04809" y="357684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3960F9D3-9DC2-468E-B9D0-6124591599F2}"/>
              </a:ext>
            </a:extLst>
          </p:cNvPr>
          <p:cNvSpPr/>
          <p:nvPr/>
        </p:nvSpPr>
        <p:spPr>
          <a:xfrm>
            <a:off x="138009" y="230657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B2289A7C-0DC2-4E35-B1B7-1A667C4ABC3F}"/>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to cut or copy a file.</a:t>
            </a:r>
          </a:p>
        </p:txBody>
      </p:sp>
      <p:sp>
        <p:nvSpPr>
          <p:cNvPr id="16" name="TextBox 15">
            <a:extLst>
              <a:ext uri="{FF2B5EF4-FFF2-40B4-BE49-F238E27FC236}">
                <a16:creationId xmlns:a16="http://schemas.microsoft.com/office/drawing/2014/main" id="{815665A7-9D1C-4A59-98B7-4D8CF62BD3B5}"/>
              </a:ext>
            </a:extLst>
          </p:cNvPr>
          <p:cNvSpPr txBox="1"/>
          <p:nvPr/>
        </p:nvSpPr>
        <p:spPr>
          <a:xfrm>
            <a:off x="1036320" y="4978486"/>
            <a:ext cx="1017141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In OneDrive in a browser, the file will be located in the </a:t>
            </a:r>
            <a:r>
              <a:rPr lang="en-US" dirty="0" err="1">
                <a:solidFill>
                  <a:srgbClr val="C00000"/>
                </a:solidFill>
                <a:latin typeface="Calibri" panose="020F0502020204030204"/>
              </a:rPr>
              <a:t>AtwaterEvents</a:t>
            </a:r>
            <a:r>
              <a:rPr lang="en-US" dirty="0">
                <a:solidFill>
                  <a:srgbClr val="C00000"/>
                </a:solidFill>
                <a:latin typeface="Calibri" panose="020F0502020204030204"/>
              </a:rPr>
              <a:t> folder in the Documents folder. The </a:t>
            </a:r>
            <a:r>
              <a:rPr lang="en-US" dirty="0" err="1">
                <a:solidFill>
                  <a:srgbClr val="C00000"/>
                </a:solidFill>
                <a:latin typeface="Calibri" panose="020F0502020204030204"/>
              </a:rPr>
              <a:t>WorkPC</a:t>
            </a:r>
            <a:r>
              <a:rPr lang="en-US" dirty="0">
                <a:solidFill>
                  <a:srgbClr val="C00000"/>
                </a:solidFill>
                <a:latin typeface="Calibri" panose="020F0502020204030204"/>
              </a:rPr>
              <a:t> option leads to files saved on the local computer, not files in a shared OneDrive folder.</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0003542C-E76D-4EFD-9412-2FA8B6271E46}"/>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browser app.</a:t>
            </a:r>
          </a:p>
        </p:txBody>
      </p:sp>
    </p:spTree>
    <p:custDataLst>
      <p:tags r:id="rId1"/>
    </p:custDataLst>
    <p:extLst>
      <p:ext uri="{BB962C8B-B14F-4D97-AF65-F5344CB8AC3E}">
        <p14:creationId xmlns:p14="http://schemas.microsoft.com/office/powerpoint/2010/main" val="331369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7"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open File Explorer on your computer. Now you need to find the poster from Liam so you can make the changes Indie gave you. Which file do you need?</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56009" y="2355909"/>
            <a:ext cx="8794313" cy="211764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OneDrive\Documents\</a:t>
            </a:r>
            <a:r>
              <a:rPr lang="en-US" sz="2050" dirty="0" err="1">
                <a:solidFill>
                  <a:schemeClr val="tx2"/>
                </a:solidFill>
                <a:ea typeface="Calibri"/>
                <a:cs typeface="Calibri"/>
                <a:hlinkClick r:id="rId4" action="ppaction://hlinksldjump"/>
              </a:rPr>
              <a:t>AtwaterEvents</a:t>
            </a:r>
            <a:r>
              <a:rPr lang="en-US" sz="2050" dirty="0">
                <a:solidFill>
                  <a:schemeClr val="tx2"/>
                </a:solidFill>
                <a:ea typeface="Calibri"/>
                <a:cs typeface="Calibri"/>
                <a:hlinkClick r:id="rId4" action="ppaction://hlinksldjump"/>
              </a:rPr>
              <a:t>\FundraiserPoster.docx </a:t>
            </a:r>
            <a:r>
              <a:rPr lang="en-US" sz="2050" b="1" dirty="0">
                <a:solidFill>
                  <a:schemeClr val="tx2"/>
                </a:solidFill>
                <a:ea typeface="Calibri"/>
                <a:cs typeface="Calibri"/>
                <a:hlinkClick r:id="rId4" action="ppaction://hlinksldjump"/>
              </a:rPr>
              <a:t>[Level3_Decision3_OptionA]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This PC\Downloads\</a:t>
            </a:r>
            <a:r>
              <a:rPr lang="en-US" sz="2050" dirty="0" err="1">
                <a:solidFill>
                  <a:schemeClr val="tx2"/>
                </a:solidFill>
                <a:ea typeface="Calibri"/>
                <a:cs typeface="Calibri"/>
                <a:hlinkClick r:id="rId5" action="ppaction://hlinksldjump"/>
              </a:rPr>
              <a:t>AtwaterEvents</a:t>
            </a:r>
            <a:r>
              <a:rPr lang="en-US" sz="2050" dirty="0">
                <a:solidFill>
                  <a:schemeClr val="tx2"/>
                </a:solidFill>
                <a:ea typeface="Calibri"/>
                <a:cs typeface="Calibri"/>
                <a:hlinkClick r:id="rId5" action="ppaction://hlinksldjump"/>
              </a:rPr>
              <a:t>\FundraiserPoster.docx </a:t>
            </a:r>
            <a:r>
              <a:rPr lang="en-US" sz="2050" b="1" dirty="0">
                <a:solidFill>
                  <a:schemeClr val="tx2"/>
                </a:solidFill>
                <a:ea typeface="Calibri"/>
                <a:cs typeface="Calibri"/>
                <a:hlinkClick r:id="rId5" action="ppaction://hlinksldjump"/>
              </a:rPr>
              <a:t>[Level3_Decision3_OptionB]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Level3_Decision3</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83597" y="234343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83597" y="362618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DE2DE760-8775-4B8A-B271-5D1461ED2B97}"/>
              </a:ext>
            </a:extLst>
          </p:cNvPr>
          <p:cNvSpPr/>
          <p:nvPr/>
        </p:nvSpPr>
        <p:spPr>
          <a:xfrm>
            <a:off x="116797" y="2343436"/>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F88585C7-B4B7-495B-8502-245A5EF2445D}"/>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to cut or copy a file.</a:t>
            </a:r>
          </a:p>
        </p:txBody>
      </p:sp>
      <p:sp>
        <p:nvSpPr>
          <p:cNvPr id="16" name="TextBox 15">
            <a:extLst>
              <a:ext uri="{FF2B5EF4-FFF2-40B4-BE49-F238E27FC236}">
                <a16:creationId xmlns:a16="http://schemas.microsoft.com/office/drawing/2014/main" id="{9215BFAB-2AF3-40ED-A021-D5FAA8D92E86}"/>
              </a:ext>
            </a:extLst>
          </p:cNvPr>
          <p:cNvSpPr txBox="1"/>
          <p:nvPr/>
        </p:nvSpPr>
        <p:spPr>
          <a:xfrm>
            <a:off x="1036320" y="4978486"/>
            <a:ext cx="1017141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needed file is stored on OneDrive, not the local computer’s Downloads folder.</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F6602F5B-A2DD-48FE-B38F-2CBC4B2B40B5}"/>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File Explorer on a Windows 10 computer.</a:t>
            </a:r>
          </a:p>
        </p:txBody>
      </p:sp>
    </p:spTree>
    <p:custDataLst>
      <p:tags r:id="rId1"/>
    </p:custDataLst>
    <p:extLst>
      <p:ext uri="{BB962C8B-B14F-4D97-AF65-F5344CB8AC3E}">
        <p14:creationId xmlns:p14="http://schemas.microsoft.com/office/powerpoint/2010/main" val="695337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1327616"/>
            <a:ext cx="10412618" cy="205244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found the file you’ll be working with. Next, you decide to move the file to your Desktop so it will be easier to get to it again if your work is interrupted. You know you’re the only person who should be working on this file now, and you want to make sure others don’t make any additional changes to the file so that your version will be the final file. What functions do you perform next?</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29855" y="3085512"/>
            <a:ext cx="8963996"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Copy and paste to the Desktop folder </a:t>
            </a:r>
            <a:r>
              <a:rPr lang="en-US" sz="2050" b="1" dirty="0">
                <a:solidFill>
                  <a:schemeClr val="tx2"/>
                </a:solidFill>
                <a:ea typeface="Calibri"/>
                <a:cs typeface="Calibri"/>
                <a:hlinkClick r:id="rId4" action="ppaction://hlinksldjump"/>
              </a:rPr>
              <a:t>[Level4_Decision1_OptionA]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Cut and paste to the Desktop folder </a:t>
            </a:r>
            <a:r>
              <a:rPr lang="en-US" sz="2050" b="1" dirty="0">
                <a:solidFill>
                  <a:schemeClr val="tx2"/>
                </a:solidFill>
                <a:ea typeface="Calibri"/>
                <a:cs typeface="Calibri"/>
                <a:hlinkClick r:id="rId5" action="ppaction://hlinksldjump"/>
              </a:rPr>
              <a:t>[Level4_Decision1_OptionB]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57443" y="307303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57443" y="400582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934517E2-C137-4587-8D67-9CB779965897}"/>
              </a:ext>
            </a:extLst>
          </p:cNvPr>
          <p:cNvSpPr/>
          <p:nvPr/>
        </p:nvSpPr>
        <p:spPr>
          <a:xfrm>
            <a:off x="125311" y="404136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7050CE38-7807-488D-9BAE-D827D91B5288}"/>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which operation to perform on the file.</a:t>
            </a:r>
          </a:p>
        </p:txBody>
      </p:sp>
      <p:sp>
        <p:nvSpPr>
          <p:cNvPr id="16" name="TextBox 15">
            <a:extLst>
              <a:ext uri="{FF2B5EF4-FFF2-40B4-BE49-F238E27FC236}">
                <a16:creationId xmlns:a16="http://schemas.microsoft.com/office/drawing/2014/main" id="{937D247D-363D-4D9F-A14A-F94A17886180}"/>
              </a:ext>
            </a:extLst>
          </p:cNvPr>
          <p:cNvSpPr txBox="1"/>
          <p:nvPr/>
        </p:nvSpPr>
        <p:spPr>
          <a:xfrm>
            <a:off x="1036320" y="4978486"/>
            <a:ext cx="1017141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Copy and paste leaves an outdated version of the file in its original location. Cut and paste removes that outdated version while placing the file in a more convenient location.</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B197A0C3-836B-4E87-9AF2-AA4F67AC0DA8}"/>
              </a:ext>
            </a:extLst>
          </p:cNvPr>
          <p:cNvSpPr txBox="1"/>
          <p:nvPr/>
        </p:nvSpPr>
        <p:spPr>
          <a:xfrm>
            <a:off x="917963" y="510636"/>
            <a:ext cx="1028976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access a file in the wrong location, which means the student is working with an outdated file.</a:t>
            </a:r>
          </a:p>
        </p:txBody>
      </p:sp>
    </p:spTree>
    <p:custDataLst>
      <p:tags r:id="rId1"/>
    </p:custDataLst>
    <p:extLst>
      <p:ext uri="{BB962C8B-B14F-4D97-AF65-F5344CB8AC3E}">
        <p14:creationId xmlns:p14="http://schemas.microsoft.com/office/powerpoint/2010/main" val="4159072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found the file you’ll be working with. Next, you decide to move the file to your Desktop so it will be easier to get to it again if your work is interrupted. You know you’re the only person who should be working on this file now, and you want to make sure others don’t make any additional changes to the file so that your version will be the final file. What functions do you perform next?</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80543" y="3017778"/>
            <a:ext cx="8926289"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Copy and paste to the Desktop folder </a:t>
            </a:r>
            <a:r>
              <a:rPr lang="en-US" sz="2050" b="1" dirty="0">
                <a:solidFill>
                  <a:schemeClr val="tx2"/>
                </a:solidFill>
                <a:ea typeface="Calibri"/>
                <a:cs typeface="Calibri"/>
                <a:hlinkClick r:id="rId4" action="ppaction://hlinksldjump"/>
              </a:rPr>
              <a:t>[Level4_Decision2_OptionA]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Cut and paste to the Desktop folder </a:t>
            </a:r>
            <a:r>
              <a:rPr lang="en-US" sz="2050" b="1" dirty="0">
                <a:solidFill>
                  <a:schemeClr val="tx2"/>
                </a:solidFill>
                <a:ea typeface="Calibri"/>
                <a:cs typeface="Calibri"/>
                <a:hlinkClick r:id="rId5" action="ppaction://hlinksldjump"/>
              </a:rPr>
              <a:t>[Level4_Decision2_OptionB]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08131" y="300530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08131" y="393809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24A2F38D-A276-45EE-B7AB-8E012EE14651}"/>
              </a:ext>
            </a:extLst>
          </p:cNvPr>
          <p:cNvSpPr/>
          <p:nvPr/>
        </p:nvSpPr>
        <p:spPr>
          <a:xfrm>
            <a:off x="117773" y="393809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B7C3C65B-D345-4EF2-9E3A-CE7020FD15B5}"/>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dirty="0">
                <a:solidFill>
                  <a:prstClr val="black"/>
                </a:solidFill>
              </a:rPr>
              <a:t>choose which operation to perform on the file.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16777900-7B0B-4F86-B161-4CABBEFB8900}"/>
              </a:ext>
            </a:extLst>
          </p:cNvPr>
          <p:cNvSpPr txBox="1"/>
          <p:nvPr/>
        </p:nvSpPr>
        <p:spPr>
          <a:xfrm>
            <a:off x="1036320" y="4978486"/>
            <a:ext cx="1017141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Copy and paste leaves an outdated version of the file in its original location. Cut and paste removes that outdated version while placing the file in a more convenient location.</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55425B7D-ACEA-43DD-9D34-EBC66AB08FD7}"/>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access the file from OneDrive.</a:t>
            </a:r>
          </a:p>
        </p:txBody>
      </p:sp>
    </p:spTree>
    <p:custDataLst>
      <p:tags r:id="rId1"/>
    </p:custDataLst>
    <p:extLst>
      <p:ext uri="{BB962C8B-B14F-4D97-AF65-F5344CB8AC3E}">
        <p14:creationId xmlns:p14="http://schemas.microsoft.com/office/powerpoint/2010/main" val="1809871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30672" y="788658"/>
            <a:ext cx="11261327" cy="319785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1900" dirty="0">
                <a:solidFill>
                  <a:schemeClr val="tx2"/>
                </a:solidFill>
                <a:ea typeface="Calibri"/>
                <a:cs typeface="Calibri"/>
              </a:rPr>
              <a:t>You’ve moved the file to your Desktop, opened it, and made the changes requested by your boss. While you have the file open, you ask your boss to take a look at it and make sure it looks right. When she checks the file on your computer screen, she notices that it’s showing the wrong time for the fundraiser event. As the two of you discuss how this happened, you realize you’ve been working on the wrong draft file. </a:t>
            </a:r>
          </a:p>
          <a:p>
            <a:pPr marL="0" indent="0">
              <a:spcBef>
                <a:spcPts val="0"/>
              </a:spcBef>
              <a:spcAft>
                <a:spcPts val="600"/>
              </a:spcAft>
              <a:buNone/>
              <a:defRPr/>
            </a:pPr>
            <a:r>
              <a:rPr lang="en-US" sz="1900" dirty="0">
                <a:solidFill>
                  <a:schemeClr val="tx2"/>
                </a:solidFill>
                <a:ea typeface="Calibri"/>
                <a:cs typeface="Calibri"/>
              </a:rPr>
              <a:t>You update the time to the correct information, and you and your boss check over the rest of the file very carefully. Everything else looks correct. She also reminds you that Liam is expecting the file back to him in the PDF file format, which is an image file that will prevent accidental changes to the information or formatting of the poster.</a:t>
            </a:r>
          </a:p>
          <a:p>
            <a:pPr marL="0" indent="0">
              <a:spcBef>
                <a:spcPts val="0"/>
              </a:spcBef>
              <a:spcAft>
                <a:spcPts val="600"/>
              </a:spcAft>
              <a:buNone/>
              <a:defRPr/>
            </a:pPr>
            <a:r>
              <a:rPr lang="en-US" sz="1900" dirty="0">
                <a:solidFill>
                  <a:schemeClr val="tx2"/>
                </a:solidFill>
                <a:ea typeface="Calibri"/>
                <a:cs typeface="Calibri"/>
              </a:rPr>
              <a:t>Now you’re ready to save the changes you’ve made. Then you need to save the file in the PDF file format requested by the printing company. How do you do this?</a:t>
            </a:r>
          </a:p>
          <a:p>
            <a:pPr marL="0" indent="0">
              <a:spcBef>
                <a:spcPts val="0"/>
              </a:spcBef>
              <a:spcAft>
                <a:spcPts val="600"/>
              </a:spcAft>
              <a:buNone/>
              <a:defRPr/>
            </a:pPr>
            <a:endParaRPr lang="en-US" sz="1900" dirty="0">
              <a:solidFill>
                <a:schemeClr val="tx2"/>
              </a:solidFill>
              <a:cs typeface="Calibri"/>
            </a:endParaRPr>
          </a:p>
          <a:p>
            <a:pPr marL="0" indent="0">
              <a:spcBef>
                <a:spcPts val="0"/>
              </a:spcBef>
              <a:spcAft>
                <a:spcPts val="600"/>
              </a:spcAft>
              <a:buNone/>
              <a:defRPr/>
            </a:pPr>
            <a:endParaRPr lang="en-US" sz="1900" dirty="0">
              <a:solidFill>
                <a:schemeClr val="tx2"/>
              </a:solidFill>
            </a:endParaRPr>
          </a:p>
        </p:txBody>
      </p:sp>
      <p:sp>
        <p:nvSpPr>
          <p:cNvPr id="12" name="Text Placeholder 1"/>
          <p:cNvSpPr txBox="1">
            <a:spLocks/>
          </p:cNvSpPr>
          <p:nvPr/>
        </p:nvSpPr>
        <p:spPr>
          <a:xfrm>
            <a:off x="1539937" y="3900822"/>
            <a:ext cx="10437574" cy="13509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Click File and then click Save </a:t>
            </a:r>
            <a:r>
              <a:rPr lang="en-US" sz="2050" b="1" dirty="0">
                <a:solidFill>
                  <a:schemeClr val="tx2"/>
                </a:solidFill>
                <a:ea typeface="Calibri"/>
                <a:cs typeface="Calibri"/>
                <a:hlinkClick r:id="rId4" action="ppaction://hlinksldjump"/>
              </a:rPr>
              <a:t>[Level5_Decision1_OptionA]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Click Save, click File, and then click Save As </a:t>
            </a:r>
            <a:r>
              <a:rPr lang="en-US" sz="2050" b="1" dirty="0">
                <a:solidFill>
                  <a:schemeClr val="tx2"/>
                </a:solidFill>
                <a:ea typeface="Calibri"/>
                <a:cs typeface="Calibri"/>
                <a:hlinkClick r:id="rId5" action="ppaction://hlinksldjump"/>
              </a:rPr>
              <a:t>[Level5_Decision1_OptionB]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48671" y="390082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48671" y="451357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13E7B487-2564-438B-B606-967191FD57C6}"/>
              </a:ext>
            </a:extLst>
          </p:cNvPr>
          <p:cNvSpPr/>
          <p:nvPr/>
        </p:nvSpPr>
        <p:spPr>
          <a:xfrm>
            <a:off x="81871" y="4544239"/>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C703839D-2DB2-4C43-9B32-B797F8BD2E0D}"/>
              </a:ext>
            </a:extLst>
          </p:cNvPr>
          <p:cNvSpPr txBox="1"/>
          <p:nvPr/>
        </p:nvSpPr>
        <p:spPr>
          <a:xfrm>
            <a:off x="1081342" y="6163398"/>
            <a:ext cx="1012638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a message to Liam.</a:t>
            </a:r>
          </a:p>
          <a:p>
            <a:r>
              <a:rPr lang="en-US" dirty="0">
                <a:solidFill>
                  <a:prstClr val="black"/>
                </a:solidFill>
              </a:rPr>
              <a:t>If Option B: Student will need to choose a save location.</a:t>
            </a:r>
          </a:p>
        </p:txBody>
      </p:sp>
      <p:sp>
        <p:nvSpPr>
          <p:cNvPr id="17" name="TextBox 16">
            <a:extLst>
              <a:ext uri="{FF2B5EF4-FFF2-40B4-BE49-F238E27FC236}">
                <a16:creationId xmlns:a16="http://schemas.microsoft.com/office/drawing/2014/main" id="{93D6FD05-83DF-4022-811D-19A33A5F8F95}"/>
              </a:ext>
            </a:extLst>
          </p:cNvPr>
          <p:cNvSpPr txBox="1"/>
          <p:nvPr/>
        </p:nvSpPr>
        <p:spPr>
          <a:xfrm>
            <a:off x="1081342" y="5115613"/>
            <a:ext cx="1012638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Saving first saves the changes to the file. Then click File to access the Backstage View, and click Save As to export the file as a PDF.</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285F07B9-255F-4DB1-A039-6B4D547136FF}"/>
              </a:ext>
            </a:extLst>
          </p:cNvPr>
          <p:cNvSpPr txBox="1"/>
          <p:nvPr/>
        </p:nvSpPr>
        <p:spPr>
          <a:xfrm>
            <a:off x="930673" y="472054"/>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cut and paste the file.</a:t>
            </a:r>
          </a:p>
        </p:txBody>
      </p:sp>
    </p:spTree>
    <p:custDataLst>
      <p:tags r:id="rId1"/>
    </p:custDataLst>
    <p:extLst>
      <p:ext uri="{BB962C8B-B14F-4D97-AF65-F5344CB8AC3E}">
        <p14:creationId xmlns:p14="http://schemas.microsoft.com/office/powerpoint/2010/main" val="348708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17964" y="709629"/>
            <a:ext cx="10956878" cy="338991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spcAft>
                <a:spcPts val="600"/>
              </a:spcAft>
              <a:buNone/>
              <a:defRPr/>
            </a:pPr>
            <a:r>
              <a:rPr lang="en-US" sz="1900" dirty="0">
                <a:solidFill>
                  <a:schemeClr val="tx2"/>
                </a:solidFill>
                <a:ea typeface="Calibri"/>
                <a:cs typeface="Calibri"/>
              </a:rPr>
              <a:t>You’ve copied the file to your Desktop, opened it, and made the changes requested by your boss. You save your changes, and then ask your boss to take one last look at the file to make sure it looks right. She opens the </a:t>
            </a:r>
            <a:r>
              <a:rPr lang="en-US" sz="1900" dirty="0" err="1">
                <a:solidFill>
                  <a:schemeClr val="tx2"/>
                </a:solidFill>
                <a:ea typeface="Calibri"/>
                <a:cs typeface="Calibri"/>
              </a:rPr>
              <a:t>FundraiserPoster</a:t>
            </a:r>
            <a:r>
              <a:rPr lang="en-US" sz="1900" dirty="0">
                <a:solidFill>
                  <a:schemeClr val="tx2"/>
                </a:solidFill>
                <a:ea typeface="Calibri"/>
                <a:cs typeface="Calibri"/>
              </a:rPr>
              <a:t> file from OneDrive and says that she doesn’t see any of the changes she requested that you make. </a:t>
            </a:r>
          </a:p>
          <a:p>
            <a:pPr marL="0" indent="0">
              <a:spcBef>
                <a:spcPts val="0"/>
              </a:spcBef>
              <a:spcAft>
                <a:spcPts val="600"/>
              </a:spcAft>
              <a:buNone/>
              <a:defRPr/>
            </a:pPr>
            <a:r>
              <a:rPr lang="en-US" sz="1900" dirty="0">
                <a:solidFill>
                  <a:schemeClr val="tx2"/>
                </a:solidFill>
                <a:ea typeface="Calibri"/>
                <a:cs typeface="Calibri"/>
              </a:rPr>
              <a:t>To fix this problem, your boss decides to email you the draft file she wants you to work with, and asks you to make the requested changes again. You download the file from your email to your Desktop and make the changes. Your boss also reminds you that Liam is expecting the file back to him in the PDF file format, which is an image file that will prevent accidental changes to the information or formatting of the poster.</a:t>
            </a:r>
          </a:p>
          <a:p>
            <a:pPr marL="0" indent="0">
              <a:spcBef>
                <a:spcPts val="0"/>
              </a:spcBef>
              <a:spcAft>
                <a:spcPts val="600"/>
              </a:spcAft>
              <a:buNone/>
              <a:defRPr/>
            </a:pPr>
            <a:r>
              <a:rPr lang="en-US" sz="1900" dirty="0">
                <a:solidFill>
                  <a:schemeClr val="tx2"/>
                </a:solidFill>
                <a:ea typeface="Calibri"/>
                <a:cs typeface="Calibri"/>
              </a:rPr>
              <a:t>Now you’re ready to save the changes you’ve made. Then you need to save the file in the PDF file format requested by the printing company. How do you do this?</a:t>
            </a:r>
          </a:p>
          <a:p>
            <a:pPr marL="0" indent="0">
              <a:spcBef>
                <a:spcPts val="0"/>
              </a:spcBef>
              <a:spcAft>
                <a:spcPts val="600"/>
              </a:spcAft>
              <a:buNone/>
              <a:defRPr/>
            </a:pPr>
            <a:endParaRPr lang="en-US" sz="1900" dirty="0">
              <a:solidFill>
                <a:schemeClr val="tx2"/>
              </a:solidFill>
              <a:cs typeface="Calibri"/>
            </a:endParaRPr>
          </a:p>
          <a:p>
            <a:pPr marL="0" indent="0">
              <a:spcBef>
                <a:spcPts val="0"/>
              </a:spcBef>
              <a:spcAft>
                <a:spcPts val="600"/>
              </a:spcAft>
              <a:buNone/>
              <a:defRPr/>
            </a:pPr>
            <a:endParaRPr lang="en-US" sz="1900" dirty="0">
              <a:solidFill>
                <a:schemeClr val="tx2"/>
              </a:solidFill>
            </a:endParaRPr>
          </a:p>
        </p:txBody>
      </p:sp>
      <p:sp>
        <p:nvSpPr>
          <p:cNvPr id="12" name="Text Placeholder 1"/>
          <p:cNvSpPr txBox="1">
            <a:spLocks/>
          </p:cNvSpPr>
          <p:nvPr/>
        </p:nvSpPr>
        <p:spPr>
          <a:xfrm>
            <a:off x="1575474" y="3918872"/>
            <a:ext cx="9798835" cy="120628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Click File and then click Save </a:t>
            </a:r>
            <a:r>
              <a:rPr lang="en-US" sz="2050" b="1" dirty="0">
                <a:solidFill>
                  <a:schemeClr val="tx2"/>
                </a:solidFill>
                <a:ea typeface="Calibri"/>
                <a:cs typeface="Calibri"/>
                <a:hlinkClick r:id="rId4" action="ppaction://hlinksldjump"/>
              </a:rPr>
              <a:t>[Level5_Decision2_OptionA]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Click Save, click File, and then click Save As </a:t>
            </a:r>
            <a:r>
              <a:rPr lang="en-US" sz="2050" b="1" dirty="0">
                <a:solidFill>
                  <a:schemeClr val="tx2"/>
                </a:solidFill>
                <a:ea typeface="Calibri"/>
                <a:cs typeface="Calibri"/>
                <a:hlinkClick r:id="rId5" action="ppaction://hlinksldjump"/>
              </a:rPr>
              <a:t>[Level5_Decision2_OptionB]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03062" y="390674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03062" y="451949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66CB5CBE-2511-4205-9C9C-7177F517E432}"/>
              </a:ext>
            </a:extLst>
          </p:cNvPr>
          <p:cNvSpPr/>
          <p:nvPr/>
        </p:nvSpPr>
        <p:spPr>
          <a:xfrm>
            <a:off x="136262" y="452891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4A036D56-39E4-413D-AD5D-5662662F8D8D}"/>
              </a:ext>
            </a:extLst>
          </p:cNvPr>
          <p:cNvSpPr txBox="1"/>
          <p:nvPr/>
        </p:nvSpPr>
        <p:spPr>
          <a:xfrm>
            <a:off x="1090814" y="6124755"/>
            <a:ext cx="10010371"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Student will need to choose a message to Liam.</a:t>
            </a:r>
          </a:p>
          <a:p>
            <a:r>
              <a:rPr lang="en-US" dirty="0">
                <a:solidFill>
                  <a:prstClr val="black"/>
                </a:solidFill>
              </a:rPr>
              <a:t>If Option B: Student will need to choose a save location.</a:t>
            </a:r>
          </a:p>
        </p:txBody>
      </p:sp>
      <p:sp>
        <p:nvSpPr>
          <p:cNvPr id="14" name="TextBox 13">
            <a:extLst>
              <a:ext uri="{FF2B5EF4-FFF2-40B4-BE49-F238E27FC236}">
                <a16:creationId xmlns:a16="http://schemas.microsoft.com/office/drawing/2014/main" id="{4B424948-7BD0-44EE-9809-0ADD46B88388}"/>
              </a:ext>
            </a:extLst>
          </p:cNvPr>
          <p:cNvSpPr txBox="1"/>
          <p:nvPr/>
        </p:nvSpPr>
        <p:spPr>
          <a:xfrm>
            <a:off x="1090814" y="5125153"/>
            <a:ext cx="10010371"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Saving first saves the changes to the file. Then click File to access the Backstage View, and click Save As to export the file as a PDF.</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6701CD5-961B-4FC1-B426-65B27B6AB40D}"/>
              </a:ext>
            </a:extLst>
          </p:cNvPr>
          <p:cNvSpPr txBox="1"/>
          <p:nvPr/>
        </p:nvSpPr>
        <p:spPr>
          <a:xfrm>
            <a:off x="917964" y="405559"/>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copy and paste.</a:t>
            </a:r>
          </a:p>
        </p:txBody>
      </p:sp>
    </p:spTree>
    <p:custDataLst>
      <p:tags r:id="rId1"/>
    </p:custDataLst>
    <p:extLst>
      <p:ext uri="{BB962C8B-B14F-4D97-AF65-F5344CB8AC3E}">
        <p14:creationId xmlns:p14="http://schemas.microsoft.com/office/powerpoint/2010/main" val="181639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17962" y="911662"/>
            <a:ext cx="10289769" cy="323250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You’ve moved the file to your Desktop, opened it, and made the changes requested by your boss. While you have the file open, you ask your boss to take a look at it and make sure it looks right. She glances over the file, says everything looks good, and gives the okay to finish up the poster project. She reminds you that Liam is expecting the file back to him in the PDF file format, which is an image file that will prevent accidental changes to the information or formatting of the poster.</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Next, save the changes you’ve made, and then save the file in the PDF file format requested by the printing company. How do you do this?</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54168" y="3865143"/>
            <a:ext cx="10040204" cy="123743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Click File and then click Save </a:t>
            </a:r>
            <a:r>
              <a:rPr lang="en-US" sz="2050" b="1" dirty="0">
                <a:solidFill>
                  <a:schemeClr val="tx2"/>
                </a:solidFill>
                <a:ea typeface="Calibri"/>
                <a:cs typeface="Calibri"/>
                <a:hlinkClick r:id="rId4" action="ppaction://hlinksldjump"/>
              </a:rPr>
              <a:t>[Level5_Decision3_OptionA]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Click Save, click File, and then click Save As </a:t>
            </a:r>
            <a:r>
              <a:rPr lang="en-US" sz="2050" b="1" dirty="0">
                <a:solidFill>
                  <a:schemeClr val="tx2"/>
                </a:solidFill>
                <a:ea typeface="Calibri"/>
                <a:cs typeface="Calibri"/>
                <a:hlinkClick r:id="rId5" action="ppaction://hlinksldjump"/>
              </a:rPr>
              <a:t>[Level5_Decision3_OptionB]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Level5_Decision3</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81756" y="386382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81756" y="450309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BBAE5B7B-F6E7-4582-8F8F-0ABEB09FB0F5}"/>
              </a:ext>
            </a:extLst>
          </p:cNvPr>
          <p:cNvSpPr/>
          <p:nvPr/>
        </p:nvSpPr>
        <p:spPr>
          <a:xfrm>
            <a:off x="114956" y="453056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7" name="TextBox 16">
            <a:extLst>
              <a:ext uri="{FF2B5EF4-FFF2-40B4-BE49-F238E27FC236}">
                <a16:creationId xmlns:a16="http://schemas.microsoft.com/office/drawing/2014/main" id="{896A362F-E215-4F3F-8E9B-308946899D49}"/>
              </a:ext>
            </a:extLst>
          </p:cNvPr>
          <p:cNvSpPr txBox="1"/>
          <p:nvPr/>
        </p:nvSpPr>
        <p:spPr>
          <a:xfrm>
            <a:off x="1083454" y="6181736"/>
            <a:ext cx="10124276"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Student will need to choose a message to Liam.</a:t>
            </a:r>
          </a:p>
          <a:p>
            <a:r>
              <a:rPr lang="en-US" dirty="0">
                <a:solidFill>
                  <a:prstClr val="black"/>
                </a:solidFill>
              </a:rPr>
              <a:t>If Option B: Student will need to choose a save location.</a:t>
            </a:r>
          </a:p>
        </p:txBody>
      </p:sp>
      <p:sp>
        <p:nvSpPr>
          <p:cNvPr id="18" name="TextBox 17">
            <a:extLst>
              <a:ext uri="{FF2B5EF4-FFF2-40B4-BE49-F238E27FC236}">
                <a16:creationId xmlns:a16="http://schemas.microsoft.com/office/drawing/2014/main" id="{D123AB6D-57D3-4C7A-A6F9-E8A5E06E245E}"/>
              </a:ext>
            </a:extLst>
          </p:cNvPr>
          <p:cNvSpPr txBox="1"/>
          <p:nvPr/>
        </p:nvSpPr>
        <p:spPr>
          <a:xfrm>
            <a:off x="1083454" y="5183536"/>
            <a:ext cx="10124276"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Saving first saves the changes to the file. Then click File to access the Backstage View, and click Save As to export the file as a PDF.</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A001C067-A70C-4881-B2EF-4FEAB9D4F034}"/>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cut and paste.</a:t>
            </a:r>
          </a:p>
        </p:txBody>
      </p:sp>
    </p:spTree>
    <p:custDataLst>
      <p:tags r:id="rId1"/>
    </p:custDataLst>
    <p:extLst>
      <p:ext uri="{BB962C8B-B14F-4D97-AF65-F5344CB8AC3E}">
        <p14:creationId xmlns:p14="http://schemas.microsoft.com/office/powerpoint/2010/main" val="467173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911662"/>
            <a:ext cx="10412617"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 name the new copy of the poster file </a:t>
            </a:r>
            <a:r>
              <a:rPr lang="en-US" sz="2050" dirty="0" err="1">
                <a:solidFill>
                  <a:schemeClr val="tx2"/>
                </a:solidFill>
                <a:ea typeface="Calibri"/>
                <a:cs typeface="Calibri"/>
              </a:rPr>
              <a:t>FundraiserPoster_FINAL</a:t>
            </a:r>
            <a:r>
              <a:rPr lang="en-US" sz="2050" dirty="0">
                <a:solidFill>
                  <a:schemeClr val="tx2"/>
                </a:solidFill>
                <a:ea typeface="Calibri"/>
                <a:cs typeface="Calibri"/>
              </a:rPr>
              <a:t>, and you save it as a PDF file to discourage any accidental changes to the information or the formatting. Next, choose a location to save the final version of the poster.</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654968" y="2803287"/>
            <a:ext cx="6992321" cy="158809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Desktop </a:t>
            </a:r>
            <a:r>
              <a:rPr lang="en-US" sz="2050" b="1" dirty="0">
                <a:solidFill>
                  <a:schemeClr val="tx2"/>
                </a:solidFill>
                <a:ea typeface="Calibri"/>
                <a:cs typeface="Calibri"/>
                <a:hlinkClick r:id="rId4" action="ppaction://hlinksldjump"/>
              </a:rPr>
              <a:t>[Level6_Decision1_OptionA]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OneDrive </a:t>
            </a:r>
            <a:r>
              <a:rPr lang="en-US" sz="2050" b="1" dirty="0">
                <a:solidFill>
                  <a:schemeClr val="tx2"/>
                </a:solidFill>
                <a:ea typeface="Calibri"/>
                <a:cs typeface="Calibri"/>
                <a:hlinkClick r:id="rId5" action="ppaction://hlinksldjump"/>
              </a:rPr>
              <a:t>[Level6_Decision1_OptionB]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Level6_Decision1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82556" y="279081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82556" y="372360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E465A5BA-1279-42F9-8C91-54927C26B3C2}"/>
              </a:ext>
            </a:extLst>
          </p:cNvPr>
          <p:cNvSpPr/>
          <p:nvPr/>
        </p:nvSpPr>
        <p:spPr>
          <a:xfrm>
            <a:off x="140358" y="3723604"/>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5AF4D37C-2C3B-4153-9A1B-3E62EE6CE1F2}"/>
              </a:ext>
            </a:extLst>
          </p:cNvPr>
          <p:cNvSpPr txBox="1"/>
          <p:nvPr/>
        </p:nvSpPr>
        <p:spPr>
          <a:xfrm>
            <a:off x="1036320" y="6137214"/>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message to Liam.</a:t>
            </a:r>
          </a:p>
        </p:txBody>
      </p:sp>
      <p:sp>
        <p:nvSpPr>
          <p:cNvPr id="16" name="TextBox 15">
            <a:extLst>
              <a:ext uri="{FF2B5EF4-FFF2-40B4-BE49-F238E27FC236}">
                <a16:creationId xmlns:a16="http://schemas.microsoft.com/office/drawing/2014/main" id="{AFADA0ED-C429-4324-A803-58C3D7361495}"/>
              </a:ext>
            </a:extLst>
          </p:cNvPr>
          <p:cNvSpPr txBox="1"/>
          <p:nvPr/>
        </p:nvSpPr>
        <p:spPr>
          <a:xfrm>
            <a:off x="1036320" y="4978486"/>
            <a:ext cx="1017141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file must be saved to OneDrive so it’s accessible to Liam and others.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60BE6854-FCE6-4835-870C-AE3CE0DE2357}"/>
              </a:ext>
            </a:extLst>
          </p:cNvPr>
          <p:cNvSpPr txBox="1"/>
          <p:nvPr/>
        </p:nvSpPr>
        <p:spPr>
          <a:xfrm>
            <a:off x="917963" y="510636"/>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Save As operation.</a:t>
            </a:r>
          </a:p>
        </p:txBody>
      </p:sp>
    </p:spTree>
    <p:custDataLst>
      <p:tags r:id="rId1"/>
    </p:custDataLst>
    <p:extLst>
      <p:ext uri="{BB962C8B-B14F-4D97-AF65-F5344CB8AC3E}">
        <p14:creationId xmlns:p14="http://schemas.microsoft.com/office/powerpoint/2010/main" val="545091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15716" y="1047130"/>
            <a:ext cx="10292015" cy="123152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You’re now ready to email Liam letting him know the poster is ready. Which of the following email messages will you send him?</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06192" y="2330426"/>
            <a:ext cx="9701538" cy="219714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Hi Liam. The poster file is updated and ready to go. You can get it from OneDrive. </a:t>
            </a:r>
            <a:r>
              <a:rPr lang="en-US" sz="2050" b="1" dirty="0">
                <a:solidFill>
                  <a:schemeClr val="tx2"/>
                </a:solidFill>
                <a:ea typeface="Calibri"/>
                <a:cs typeface="Calibri"/>
                <a:hlinkClick r:id="rId4" action="ppaction://hlinksldjump"/>
              </a:rPr>
              <a:t>[Level7_Decision1_OptionA]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4" action="ppaction://hlinksldjump"/>
              </a:rPr>
              <a:t>Hi Liam. The poster file is updated and ready to go. You can get it from the Desktop. </a:t>
            </a:r>
            <a:r>
              <a:rPr lang="en-US" sz="2050" b="1" dirty="0">
                <a:solidFill>
                  <a:schemeClr val="tx2"/>
                </a:solidFill>
                <a:ea typeface="Calibri"/>
                <a:cs typeface="Calibri"/>
                <a:hlinkClick r:id="rId4" action="ppaction://hlinksldjump"/>
              </a:rPr>
              <a:t>[Level7_Decision1_OptionB]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Level7_Decision1</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133780" y="231795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133780" y="359364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4" name="TextBox 13">
            <a:extLst>
              <a:ext uri="{FF2B5EF4-FFF2-40B4-BE49-F238E27FC236}">
                <a16:creationId xmlns:a16="http://schemas.microsoft.com/office/drawing/2014/main" id="{FF7F2D55-486E-4464-937A-22FEEFD432E3}"/>
              </a:ext>
            </a:extLst>
          </p:cNvPr>
          <p:cNvSpPr txBox="1"/>
          <p:nvPr/>
        </p:nvSpPr>
        <p:spPr>
          <a:xfrm>
            <a:off x="917963" y="589659"/>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Save operation or chose to save the file to their Desktop.</a:t>
            </a:r>
          </a:p>
        </p:txBody>
      </p:sp>
      <p:sp>
        <p:nvSpPr>
          <p:cNvPr id="10" name="TextBox 9">
            <a:extLst>
              <a:ext uri="{FF2B5EF4-FFF2-40B4-BE49-F238E27FC236}">
                <a16:creationId xmlns:a16="http://schemas.microsoft.com/office/drawing/2014/main" id="{D0D9C296-D138-48A2-8683-F40EB610B051}"/>
              </a:ext>
            </a:extLst>
          </p:cNvPr>
          <p:cNvSpPr txBox="1"/>
          <p:nvPr/>
        </p:nvSpPr>
        <p:spPr>
          <a:xfrm>
            <a:off x="915717" y="5978032"/>
            <a:ext cx="1017141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Liam gets the wrong file.</a:t>
            </a:r>
          </a:p>
        </p:txBody>
      </p:sp>
      <p:sp>
        <p:nvSpPr>
          <p:cNvPr id="13" name="TextBox 12">
            <a:extLst>
              <a:ext uri="{FF2B5EF4-FFF2-40B4-BE49-F238E27FC236}">
                <a16:creationId xmlns:a16="http://schemas.microsoft.com/office/drawing/2014/main" id="{563605EE-AE82-44C5-81EE-6772BE152174}"/>
              </a:ext>
            </a:extLst>
          </p:cNvPr>
          <p:cNvSpPr txBox="1"/>
          <p:nvPr/>
        </p:nvSpPr>
        <p:spPr>
          <a:xfrm>
            <a:off x="915716" y="4948333"/>
            <a:ext cx="1017141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Neither of these options will provide Liam with access to the correct file.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76004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15716" y="1001974"/>
            <a:ext cx="10292016" cy="94751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You’re now ready to email Liam letting him know the poster is ready. Which of the following email messages will you send him?</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87471" y="2247096"/>
            <a:ext cx="9852996" cy="255068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Hi Liam. The poster file is updated and ready to go. You can get it from OneDrive. </a:t>
            </a:r>
            <a:r>
              <a:rPr lang="en-US" sz="2050" b="1" dirty="0">
                <a:solidFill>
                  <a:schemeClr val="tx2"/>
                </a:solidFill>
                <a:ea typeface="Calibri"/>
                <a:cs typeface="Calibri"/>
                <a:hlinkClick r:id="rId4" action="ppaction://hlinksldjump"/>
              </a:rPr>
              <a:t>[Level7_Decision2_OptionA]</a:t>
            </a:r>
            <a:endParaRPr lang="en-US" sz="2050" b="1" dirty="0">
              <a:solidFill>
                <a:schemeClr val="tx2"/>
              </a:solidFill>
              <a:ea typeface="Calibri"/>
              <a:cs typeface="Calibri"/>
            </a:endParaRP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Hi Liam. The poster file is updated and ready to go. You can get it from the Desktop. </a:t>
            </a:r>
            <a:r>
              <a:rPr lang="en-US" sz="2050" b="1" dirty="0">
                <a:solidFill>
                  <a:schemeClr val="tx2"/>
                </a:solidFill>
                <a:ea typeface="Calibri"/>
                <a:cs typeface="Calibri"/>
                <a:hlinkClick r:id="rId5" action="ppaction://hlinksldjump"/>
              </a:rPr>
              <a:t>[Level7_Decision2_OptionB]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Level7_Decision2</a:t>
            </a:r>
          </a:p>
        </p:txBody>
      </p:sp>
      <p:sp>
        <p:nvSpPr>
          <p:cNvPr id="8" name="Text Placeholder 3">
            <a:extLst>
              <a:ext uri="{FF2B5EF4-FFF2-40B4-BE49-F238E27FC236}">
                <a16:creationId xmlns:a16="http://schemas.microsoft.com/office/drawing/2014/main" id="{B5CE21A4-EFBD-4B90-ACD8-0159F888003A}"/>
              </a:ext>
            </a:extLst>
          </p:cNvPr>
          <p:cNvSpPr txBox="1">
            <a:spLocks/>
          </p:cNvSpPr>
          <p:nvPr/>
        </p:nvSpPr>
        <p:spPr>
          <a:xfrm>
            <a:off x="1215059" y="223462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9" name="Text Placeholder 3">
            <a:extLst>
              <a:ext uri="{FF2B5EF4-FFF2-40B4-BE49-F238E27FC236}">
                <a16:creationId xmlns:a16="http://schemas.microsoft.com/office/drawing/2014/main" id="{7BA7EB68-7706-476E-A698-BCA0BD7BA336}"/>
              </a:ext>
            </a:extLst>
          </p:cNvPr>
          <p:cNvSpPr txBox="1">
            <a:spLocks/>
          </p:cNvSpPr>
          <p:nvPr/>
        </p:nvSpPr>
        <p:spPr>
          <a:xfrm>
            <a:off x="1215059" y="351031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Arrow: Pentagon 9">
            <a:extLst>
              <a:ext uri="{FF2B5EF4-FFF2-40B4-BE49-F238E27FC236}">
                <a16:creationId xmlns:a16="http://schemas.microsoft.com/office/drawing/2014/main" id="{7BD4BCF5-4563-4409-B547-07E9DE26D9FA}"/>
              </a:ext>
            </a:extLst>
          </p:cNvPr>
          <p:cNvSpPr/>
          <p:nvPr/>
        </p:nvSpPr>
        <p:spPr>
          <a:xfrm>
            <a:off x="148259" y="223462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7" name="TextBox 16">
            <a:extLst>
              <a:ext uri="{FF2B5EF4-FFF2-40B4-BE49-F238E27FC236}">
                <a16:creationId xmlns:a16="http://schemas.microsoft.com/office/drawing/2014/main" id="{295C5DF6-0FA3-4731-A30C-0A82AB40E0F8}"/>
              </a:ext>
            </a:extLst>
          </p:cNvPr>
          <p:cNvSpPr txBox="1"/>
          <p:nvPr/>
        </p:nvSpPr>
        <p:spPr>
          <a:xfrm>
            <a:off x="917963" y="544503"/>
            <a:ext cx="1028976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save the file to OneDrive.</a:t>
            </a:r>
          </a:p>
        </p:txBody>
      </p:sp>
      <p:sp>
        <p:nvSpPr>
          <p:cNvPr id="13" name="TextBox 12">
            <a:extLst>
              <a:ext uri="{FF2B5EF4-FFF2-40B4-BE49-F238E27FC236}">
                <a16:creationId xmlns:a16="http://schemas.microsoft.com/office/drawing/2014/main" id="{CE3A779F-493F-4835-9BF4-2B04089C1BD3}"/>
              </a:ext>
            </a:extLst>
          </p:cNvPr>
          <p:cNvSpPr txBox="1"/>
          <p:nvPr/>
        </p:nvSpPr>
        <p:spPr>
          <a:xfrm>
            <a:off x="915717" y="5978032"/>
            <a:ext cx="1017141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Liam gets the right file and it’s good to go.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B: Liam gets the wrong file.</a:t>
            </a:r>
          </a:p>
        </p:txBody>
      </p:sp>
      <p:sp>
        <p:nvSpPr>
          <p:cNvPr id="14" name="TextBox 13">
            <a:extLst>
              <a:ext uri="{FF2B5EF4-FFF2-40B4-BE49-F238E27FC236}">
                <a16:creationId xmlns:a16="http://schemas.microsoft.com/office/drawing/2014/main" id="{2C4BFC2E-D379-4597-908C-0AD2C6625B7B}"/>
              </a:ext>
            </a:extLst>
          </p:cNvPr>
          <p:cNvSpPr txBox="1"/>
          <p:nvPr/>
        </p:nvSpPr>
        <p:spPr>
          <a:xfrm>
            <a:off x="915716" y="4948333"/>
            <a:ext cx="10171410"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The file is saved to OneDrive, so that’s the information the email should communicate.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122942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1156803" y="3802108"/>
            <a:ext cx="9834016" cy="1136622"/>
          </a:xfrm>
          <a:prstGeom prst="rect">
            <a:avLst/>
          </a:prstGeom>
          <a:noFill/>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 </a:t>
            </a:r>
            <a:endParaRPr lang="en-US" sz="2050" dirty="0">
              <a:solidFill>
                <a:schemeClr val="tx1"/>
              </a:solidFill>
              <a:ea typeface="Calibri"/>
              <a:cs typeface="Calibri"/>
            </a:endParaRPr>
          </a:p>
        </p:txBody>
      </p:sp>
      <p:sp>
        <p:nvSpPr>
          <p:cNvPr id="23" name="Rectangle 22"/>
          <p:cNvSpPr/>
          <p:nvPr/>
        </p:nvSpPr>
        <p:spPr>
          <a:xfrm>
            <a:off x="1156803" y="4432659"/>
            <a:ext cx="3254387" cy="506071"/>
          </a:xfrm>
          <a:prstGeom prst="rect">
            <a:avLst/>
          </a:prstGeom>
          <a:solidFill>
            <a:schemeClr val="tx2">
              <a:lumMod val="40000"/>
              <a:lumOff val="60000"/>
            </a:schemeClr>
          </a:solidFill>
          <a:ln>
            <a:solidFill>
              <a:schemeClr val="accent5">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accent1"/>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accent1"/>
              </a:solidFill>
              <a:latin typeface="+mj-lt"/>
              <a:cs typeface="Titillium WebRegular"/>
            </a:endParaRPr>
          </a:p>
        </p:txBody>
      </p:sp>
      <p:sp>
        <p:nvSpPr>
          <p:cNvPr id="2" name="Title 1"/>
          <p:cNvSpPr>
            <a:spLocks noGrp="1"/>
          </p:cNvSpPr>
          <p:nvPr>
            <p:ph type="title"/>
          </p:nvPr>
        </p:nvSpPr>
        <p:spPr>
          <a:xfrm>
            <a:off x="1156803" y="440949"/>
            <a:ext cx="9834016" cy="2834640"/>
          </a:xfrm>
        </p:spPr>
        <p:txBody>
          <a:bodyPr>
            <a:normAutofit/>
          </a:bodyPr>
          <a:lstStyle/>
          <a:p>
            <a:r>
              <a:rPr lang="en-US" sz="2800" b="1" dirty="0">
                <a:solidFill>
                  <a:schemeClr val="tx1"/>
                </a:solidFill>
              </a:rPr>
              <a:t>Liam emails you back saying there are problems with the poster. His boss checked it one last time, and she says it’s not ready to be printed. She told him that the two of you still have some work to do to get it ready. </a:t>
            </a:r>
          </a:p>
        </p:txBody>
      </p:sp>
      <p:sp>
        <p:nvSpPr>
          <p:cNvPr id="4" name="TextBox 3">
            <a:extLst>
              <a:ext uri="{FF2B5EF4-FFF2-40B4-BE49-F238E27FC236}">
                <a16:creationId xmlns:a16="http://schemas.microsoft.com/office/drawing/2014/main" id="{24FB24DC-C296-4F8C-BFE5-9C81CF03011C}"/>
              </a:ext>
            </a:extLst>
          </p:cNvPr>
          <p:cNvSpPr txBox="1"/>
          <p:nvPr/>
        </p:nvSpPr>
        <p:spPr>
          <a:xfrm>
            <a:off x="1175898" y="108929"/>
            <a:ext cx="4506686" cy="600164"/>
          </a:xfrm>
          <a:prstGeom prst="rect">
            <a:avLst/>
          </a:prstGeom>
          <a:noFill/>
        </p:spPr>
        <p:txBody>
          <a:bodyPr wrap="square" rtlCol="0">
            <a:spAutoFit/>
          </a:bodyPr>
          <a:lstStyle/>
          <a:p>
            <a:r>
              <a:rPr lang="en-US" sz="3300" dirty="0">
                <a:latin typeface="+mj-lt"/>
              </a:rPr>
              <a:t>Outcome 1</a:t>
            </a:r>
          </a:p>
        </p:txBody>
      </p:sp>
    </p:spTree>
    <p:custDataLst>
      <p:tags r:id="rId1"/>
    </p:custDataLst>
    <p:extLst>
      <p:ext uri="{BB962C8B-B14F-4D97-AF65-F5344CB8AC3E}">
        <p14:creationId xmlns:p14="http://schemas.microsoft.com/office/powerpoint/2010/main" val="513619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1199935" y="3802108"/>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23" name="Rectangle 22"/>
          <p:cNvSpPr/>
          <p:nvPr/>
        </p:nvSpPr>
        <p:spPr>
          <a:xfrm>
            <a:off x="1199935" y="4432659"/>
            <a:ext cx="3254387" cy="506071"/>
          </a:xfrm>
          <a:prstGeom prst="rect">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accent1"/>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accent1"/>
              </a:solidFill>
              <a:latin typeface="+mj-lt"/>
              <a:cs typeface="Titillium WebRegular"/>
            </a:endParaRPr>
          </a:p>
        </p:txBody>
      </p:sp>
      <p:sp>
        <p:nvSpPr>
          <p:cNvPr id="2" name="Title 1"/>
          <p:cNvSpPr>
            <a:spLocks noGrp="1"/>
          </p:cNvSpPr>
          <p:nvPr>
            <p:ph type="title"/>
          </p:nvPr>
        </p:nvSpPr>
        <p:spPr>
          <a:xfrm>
            <a:off x="1199935" y="311194"/>
            <a:ext cx="9834016" cy="3131820"/>
          </a:xfrm>
        </p:spPr>
        <p:txBody>
          <a:bodyPr>
            <a:normAutofit/>
          </a:bodyPr>
          <a:lstStyle/>
          <a:p>
            <a:r>
              <a:rPr lang="en-US" sz="2800" b="1" dirty="0">
                <a:solidFill>
                  <a:schemeClr val="tx1"/>
                </a:solidFill>
              </a:rPr>
              <a:t>Liam emails you back saying his boss checked the poster one last time, and she says it looks great. She told him the flyer is ready to go to the printer. He expects the copies to be ready for pickup in about two days.</a:t>
            </a:r>
            <a:r>
              <a:rPr lang="en-US" sz="2800" dirty="0">
                <a:cs typeface="Calibri Light"/>
              </a:rPr>
              <a:t> </a:t>
            </a:r>
          </a:p>
        </p:txBody>
      </p:sp>
      <p:sp>
        <p:nvSpPr>
          <p:cNvPr id="10" name="TextBox 9">
            <a:extLst>
              <a:ext uri="{FF2B5EF4-FFF2-40B4-BE49-F238E27FC236}">
                <a16:creationId xmlns:a16="http://schemas.microsoft.com/office/drawing/2014/main" id="{35898ED8-64C9-4336-AF4F-21128FD51D8B}"/>
              </a:ext>
            </a:extLst>
          </p:cNvPr>
          <p:cNvSpPr txBox="1"/>
          <p:nvPr/>
        </p:nvSpPr>
        <p:spPr>
          <a:xfrm>
            <a:off x="1175898" y="108929"/>
            <a:ext cx="4506686" cy="600164"/>
          </a:xfrm>
          <a:prstGeom prst="rect">
            <a:avLst/>
          </a:prstGeom>
          <a:noFill/>
        </p:spPr>
        <p:txBody>
          <a:bodyPr wrap="square" rtlCol="0">
            <a:spAutoFit/>
          </a:bodyPr>
          <a:lstStyle/>
          <a:p>
            <a:r>
              <a:rPr lang="en-US" sz="3300" dirty="0">
                <a:latin typeface="+mj-lt"/>
              </a:rPr>
              <a:t>Outcome 2</a:t>
            </a:r>
          </a:p>
        </p:txBody>
      </p:sp>
    </p:spTree>
    <p:custDataLst>
      <p:tags r:id="rId1"/>
    </p:custDataLst>
    <p:extLst>
      <p:ext uri="{BB962C8B-B14F-4D97-AF65-F5344CB8AC3E}">
        <p14:creationId xmlns:p14="http://schemas.microsoft.com/office/powerpoint/2010/main" val="1729003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2.xml><?xml version="1.0" encoding="utf-8"?>
<ds:datastoreItem xmlns:ds="http://schemas.openxmlformats.org/officeDocument/2006/customXml" ds:itemID="{B657A1B5-0138-4393-B84F-13BB573ECBB7}"/>
</file>

<file path=customXml/itemProps3.xml><?xml version="1.0" encoding="utf-8"?>
<ds:datastoreItem xmlns:ds="http://schemas.openxmlformats.org/officeDocument/2006/customXml" ds:itemID="{AD92EAD0-DA55-4F7D-BD93-5513A29DFF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1182</TotalTime>
  <Words>2622</Words>
  <Application>Microsoft Office PowerPoint</Application>
  <PresentationFormat>Widescreen</PresentationFormat>
  <Paragraphs>323</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Titillium Web</vt:lpstr>
      <vt:lpstr>Wingdings</vt:lpstr>
      <vt:lpstr>Office Theme</vt:lpstr>
      <vt:lpstr>Working with OneDrive Files</vt:lpstr>
      <vt:lpstr>Working with OneDrive Files</vt:lpstr>
      <vt:lpstr>Introduction</vt:lpstr>
      <vt:lpstr>Level1_Decision1</vt:lpstr>
      <vt:lpstr>Level2_Decision1</vt:lpstr>
      <vt:lpstr>Level2_Decision2</vt:lpstr>
      <vt:lpstr>Level3_Decision1</vt:lpstr>
      <vt:lpstr>Level3_Decision2</vt:lpstr>
      <vt:lpstr>Level3_Decision3</vt:lpstr>
      <vt:lpstr>Level4_Decision1</vt:lpstr>
      <vt:lpstr>Level4_Decision2</vt:lpstr>
      <vt:lpstr>Level5_Decision1</vt:lpstr>
      <vt:lpstr>Level5_Decision2</vt:lpstr>
      <vt:lpstr>Level5_Decision3</vt:lpstr>
      <vt:lpstr>Level6_Decision1</vt:lpstr>
      <vt:lpstr>Level7_Decision1</vt:lpstr>
      <vt:lpstr>Level7_Decision2</vt:lpstr>
      <vt:lpstr>Liam emails you back saying there are problems with the poster. His boss checked it one last time, and she says it’s not ready to be printed. She told him that the two of you still have some work to do to get it ready. </vt:lpstr>
      <vt:lpstr>Liam emails you back saying his boss checked the poster one last time, and she says it looks great. She told him the flyer is ready to go to the printer. He expects the copies to be ready for pickup in about two days.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Jill West</cp:lastModifiedBy>
  <cp:revision>1949</cp:revision>
  <dcterms:created xsi:type="dcterms:W3CDTF">2018-06-14T17:50:20Z</dcterms:created>
  <dcterms:modified xsi:type="dcterms:W3CDTF">2020-02-17T15:26:30Z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