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8"/>
  </p:sldMasterIdLst>
  <p:notesMasterIdLst>
    <p:notesMasterId r:id="rId28"/>
  </p:notesMasterIdLst>
  <p:sldIdLst>
    <p:sldId id="367" r:id="rId9"/>
    <p:sldId id="386" r:id="rId10"/>
    <p:sldId id="270" r:id="rId11"/>
    <p:sldId id="389" r:id="rId12"/>
    <p:sldId id="364" r:id="rId13"/>
    <p:sldId id="388" r:id="rId14"/>
    <p:sldId id="382" r:id="rId15"/>
    <p:sldId id="365" r:id="rId16"/>
    <p:sldId id="383" r:id="rId17"/>
    <p:sldId id="380" r:id="rId18"/>
    <p:sldId id="371" r:id="rId19"/>
    <p:sldId id="381" r:id="rId20"/>
    <p:sldId id="368" r:id="rId21"/>
    <p:sldId id="370" r:id="rId22"/>
    <p:sldId id="369" r:id="rId23"/>
    <p:sldId id="372" r:id="rId24"/>
    <p:sldId id="374" r:id="rId25"/>
    <p:sldId id="286" r:id="rId26"/>
    <p:sldId id="353" r:id="rId27"/>
  </p:sldIdLst>
  <p:sldSz cx="12192000" cy="6858000"/>
  <p:notesSz cx="7077075" cy="9363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ll West" initials="JW" lastIdx="41" clrIdx="0">
    <p:extLst>
      <p:ext uri="{19B8F6BF-5375-455C-9EA6-DF929625EA0E}">
        <p15:presenceInfo xmlns:p15="http://schemas.microsoft.com/office/powerpoint/2012/main" userId="Jill West" providerId="None"/>
      </p:ext>
    </p:extLst>
  </p:cmAuthor>
  <p:cmAuthor id="2" name="Pope, Emily D" initials="PED" lastIdx="4" clrIdx="1">
    <p:extLst>
      <p:ext uri="{19B8F6BF-5375-455C-9EA6-DF929625EA0E}">
        <p15:presenceInfo xmlns:p15="http://schemas.microsoft.com/office/powerpoint/2012/main" userId="S-1-5-21-4027829005-1107895287-290554039-212238" providerId="AD"/>
      </p:ext>
    </p:extLst>
  </p:cmAuthor>
  <p:cmAuthor id="3" name="Jennifer Campbell" initials="JC" lastIdx="17" clrIdx="2">
    <p:extLst>
      <p:ext uri="{19B8F6BF-5375-455C-9EA6-DF929625EA0E}">
        <p15:presenceInfo xmlns:p15="http://schemas.microsoft.com/office/powerpoint/2012/main" userId="9252b8fd17e1143e" providerId="Windows Live"/>
      </p:ext>
    </p:extLst>
  </p:cmAuthor>
  <p:cmAuthor id="4" name="Your Name" initials="CH" lastIdx="4" clrIdx="3">
    <p:extLst>
      <p:ext uri="{19B8F6BF-5375-455C-9EA6-DF929625EA0E}">
        <p15:presenceInfo xmlns:p15="http://schemas.microsoft.com/office/powerpoint/2012/main" userId="Your Name" providerId="None"/>
      </p:ext>
    </p:extLst>
  </p:cmAuthor>
  <p:cmAuthor id="5" name="Pope, Emily D" initials="PD" lastIdx="4" clrIdx="4">
    <p:extLst>
      <p:ext uri="{19B8F6BF-5375-455C-9EA6-DF929625EA0E}">
        <p15:presenceInfo xmlns:p15="http://schemas.microsoft.com/office/powerpoint/2012/main" userId="S::emily.pope@cengage.com::7463c579-f915-4f79-b33b-e619963d635a" providerId="AD"/>
      </p:ext>
    </p:extLst>
  </p:cmAuthor>
  <p:cmAuthor id="6" name="Sarah West" initials="SW" lastIdx="2" clrIdx="5">
    <p:extLst>
      <p:ext uri="{19B8F6BF-5375-455C-9EA6-DF929625EA0E}">
        <p15:presenceInfo xmlns:p15="http://schemas.microsoft.com/office/powerpoint/2012/main" userId="Sarah Wes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CC"/>
    <a:srgbClr val="B9FFD0"/>
    <a:srgbClr val="66FF99"/>
    <a:srgbClr val="3F3F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56" autoAdjust="0"/>
    <p:restoredTop sz="88442" autoAdjust="0"/>
  </p:normalViewPr>
  <p:slideViewPr>
    <p:cSldViewPr snapToGrid="0">
      <p:cViewPr varScale="1">
        <p:scale>
          <a:sx n="100" d="100"/>
          <a:sy n="100" d="100"/>
        </p:scale>
        <p:origin x="96" y="774"/>
      </p:cViewPr>
      <p:guideLst/>
    </p:cSldViewPr>
  </p:slideViewPr>
  <p:outlineViewPr>
    <p:cViewPr>
      <p:scale>
        <a:sx n="33" d="100"/>
        <a:sy n="33" d="100"/>
      </p:scale>
      <p:origin x="0" y="-571"/>
    </p:cViewPr>
  </p:outlineViewPr>
  <p:notesTextViewPr>
    <p:cViewPr>
      <p:scale>
        <a:sx n="1" d="1"/>
        <a:sy n="1" d="1"/>
      </p:scale>
      <p:origin x="0" y="0"/>
    </p:cViewPr>
  </p:notesTextViewPr>
  <p:notesViewPr>
    <p:cSldViewPr snapToGrid="0">
      <p:cViewPr varScale="1">
        <p:scale>
          <a:sx n="61" d="100"/>
          <a:sy n="61" d="100"/>
        </p:scale>
        <p:origin x="313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1.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34" Type="http://schemas.microsoft.com/office/2016/11/relationships/changesInfo" Target="changesInfos/changesInfo1.xml"/><Relationship Id="rId7" Type="http://schemas.openxmlformats.org/officeDocument/2006/relationships/customXml" Target="../customXml/item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theme" Target="theme/theme1.xml"/><Relationship Id="rId5" Type="http://schemas.openxmlformats.org/officeDocument/2006/relationships/customXml" Target="../customXml/item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lnar, Zenya" userId="d17daa46-33bc-45d8-ab7d-8dd45e08dac2" providerId="ADAL" clId="{25AC9F8A-7A48-4C51-83B9-3EC19A14C583}"/>
    <pc:docChg chg="modSld">
      <pc:chgData name="Molnar, Zenya" userId="d17daa46-33bc-45d8-ab7d-8dd45e08dac2" providerId="ADAL" clId="{25AC9F8A-7A48-4C51-83B9-3EC19A14C583}" dt="2020-03-03T20:59:36.635" v="5" actId="20577"/>
      <pc:docMkLst>
        <pc:docMk/>
      </pc:docMkLst>
      <pc:sldChg chg="modSp mod">
        <pc:chgData name="Molnar, Zenya" userId="d17daa46-33bc-45d8-ab7d-8dd45e08dac2" providerId="ADAL" clId="{25AC9F8A-7A48-4C51-83B9-3EC19A14C583}" dt="2020-03-03T20:59:25.677" v="4" actId="20577"/>
        <pc:sldMkLst>
          <pc:docMk/>
          <pc:sldMk cId="513619632" sldId="286"/>
        </pc:sldMkLst>
        <pc:spChg chg="mod">
          <ac:chgData name="Molnar, Zenya" userId="d17daa46-33bc-45d8-ab7d-8dd45e08dac2" providerId="ADAL" clId="{25AC9F8A-7A48-4C51-83B9-3EC19A14C583}" dt="2020-03-03T20:59:25.677" v="4" actId="20577"/>
          <ac:spMkLst>
            <pc:docMk/>
            <pc:sldMk cId="513619632" sldId="286"/>
            <ac:spMk id="2" creationId="{00000000-0000-0000-0000-000000000000}"/>
          </ac:spMkLst>
        </pc:spChg>
      </pc:sldChg>
      <pc:sldChg chg="modSp mod">
        <pc:chgData name="Molnar, Zenya" userId="d17daa46-33bc-45d8-ab7d-8dd45e08dac2" providerId="ADAL" clId="{25AC9F8A-7A48-4C51-83B9-3EC19A14C583}" dt="2020-03-03T20:59:36.635" v="5" actId="20577"/>
        <pc:sldMkLst>
          <pc:docMk/>
          <pc:sldMk cId="1729003034" sldId="353"/>
        </pc:sldMkLst>
        <pc:spChg chg="mod">
          <ac:chgData name="Molnar, Zenya" userId="d17daa46-33bc-45d8-ab7d-8dd45e08dac2" providerId="ADAL" clId="{25AC9F8A-7A48-4C51-83B9-3EC19A14C583}" dt="2020-03-03T20:59:36.635" v="5" actId="20577"/>
          <ac:spMkLst>
            <pc:docMk/>
            <pc:sldMk cId="1729003034" sldId="353"/>
            <ac:spMk id="2" creationId="{00000000-0000-0000-0000-000000000000}"/>
          </ac:spMkLst>
        </pc:spChg>
      </pc:sldChg>
      <pc:sldChg chg="modSp mod">
        <pc:chgData name="Molnar, Zenya" userId="d17daa46-33bc-45d8-ab7d-8dd45e08dac2" providerId="ADAL" clId="{25AC9F8A-7A48-4C51-83B9-3EC19A14C583}" dt="2020-03-03T20:57:14.926" v="0" actId="20577"/>
        <pc:sldMkLst>
          <pc:docMk/>
          <pc:sldMk cId="2885679978" sldId="370"/>
        </pc:sldMkLst>
        <pc:spChg chg="mod">
          <ac:chgData name="Molnar, Zenya" userId="d17daa46-33bc-45d8-ab7d-8dd45e08dac2" providerId="ADAL" clId="{25AC9F8A-7A48-4C51-83B9-3EC19A14C583}" dt="2020-03-03T20:57:14.926" v="0" actId="20577"/>
          <ac:spMkLst>
            <pc:docMk/>
            <pc:sldMk cId="2885679978" sldId="370"/>
            <ac:spMk id="2" creationId="{8E61185D-0285-4C9D-8544-02C370D1F1FF}"/>
          </ac:spMkLst>
        </pc:spChg>
      </pc:sldChg>
      <pc:sldChg chg="modSp mod">
        <pc:chgData name="Molnar, Zenya" userId="d17daa46-33bc-45d8-ab7d-8dd45e08dac2" providerId="ADAL" clId="{25AC9F8A-7A48-4C51-83B9-3EC19A14C583}" dt="2020-03-03T20:58:51.798" v="3" actId="20577"/>
        <pc:sldMkLst>
          <pc:docMk/>
          <pc:sldMk cId="3499356027" sldId="374"/>
        </pc:sldMkLst>
        <pc:spChg chg="mod">
          <ac:chgData name="Molnar, Zenya" userId="d17daa46-33bc-45d8-ab7d-8dd45e08dac2" providerId="ADAL" clId="{25AC9F8A-7A48-4C51-83B9-3EC19A14C583}" dt="2020-03-03T20:58:51.798" v="3" actId="20577"/>
          <ac:spMkLst>
            <pc:docMk/>
            <pc:sldMk cId="3499356027" sldId="374"/>
            <ac:spMk id="4" creationId="{A1D6D043-BE72-46F1-8C6A-652A067CDC82}"/>
          </ac:spMkLst>
        </pc:spChg>
      </pc:sldChg>
    </pc:docChg>
  </pc:docChgLst>
  <pc:docChgLst>
    <pc:chgData name="MikeandJill West" userId="0caeac936585bbb7" providerId="LiveId" clId="{5760CE41-66B9-41A5-9FCB-7B17C4B8DB03}"/>
    <pc:docChg chg="custSel modSld">
      <pc:chgData name="MikeandJill West" userId="0caeac936585bbb7" providerId="LiveId" clId="{5760CE41-66B9-41A5-9FCB-7B17C4B8DB03}" dt="2020-02-17T15:25:21.727" v="28" actId="113"/>
      <pc:docMkLst>
        <pc:docMk/>
      </pc:docMkLst>
      <pc:sldChg chg="modSp">
        <pc:chgData name="MikeandJill West" userId="0caeac936585bbb7" providerId="LiveId" clId="{5760CE41-66B9-41A5-9FCB-7B17C4B8DB03}" dt="2020-02-16T19:49:50.023" v="23" actId="1035"/>
        <pc:sldMkLst>
          <pc:docMk/>
          <pc:sldMk cId="4258849685" sldId="365"/>
        </pc:sldMkLst>
        <pc:spChg chg="mod">
          <ac:chgData name="MikeandJill West" userId="0caeac936585bbb7" providerId="LiveId" clId="{5760CE41-66B9-41A5-9FCB-7B17C4B8DB03}" dt="2020-02-16T19:49:50.023" v="23" actId="1035"/>
          <ac:spMkLst>
            <pc:docMk/>
            <pc:sldMk cId="4258849685" sldId="365"/>
            <ac:spMk id="9" creationId="{D35A9F3E-5BA1-48AA-9E6E-5BAF295C5205}"/>
          </ac:spMkLst>
        </pc:spChg>
        <pc:spChg chg="mod">
          <ac:chgData name="MikeandJill West" userId="0caeac936585bbb7" providerId="LiveId" clId="{5760CE41-66B9-41A5-9FCB-7B17C4B8DB03}" dt="2020-02-16T19:49:50.023" v="23" actId="1035"/>
          <ac:spMkLst>
            <pc:docMk/>
            <pc:sldMk cId="4258849685" sldId="365"/>
            <ac:spMk id="13" creationId="{AA7EAC6B-7B78-4BCF-B17D-35F2F99D7525}"/>
          </ac:spMkLst>
        </pc:spChg>
      </pc:sldChg>
      <pc:sldChg chg="modSp">
        <pc:chgData name="MikeandJill West" userId="0caeac936585bbb7" providerId="LiveId" clId="{5760CE41-66B9-41A5-9FCB-7B17C4B8DB03}" dt="2020-02-17T15:25:21.727" v="28" actId="113"/>
        <pc:sldMkLst>
          <pc:docMk/>
          <pc:sldMk cId="3756210187" sldId="367"/>
        </pc:sldMkLst>
        <pc:spChg chg="mod">
          <ac:chgData name="MikeandJill West" userId="0caeac936585bbb7" providerId="LiveId" clId="{5760CE41-66B9-41A5-9FCB-7B17C4B8DB03}" dt="2020-02-17T15:25:21.727" v="28" actId="113"/>
          <ac:spMkLst>
            <pc:docMk/>
            <pc:sldMk cId="3756210187" sldId="367"/>
            <ac:spMk id="4" creationId="{FEFB3B33-ECC0-4BAF-99D7-7E1B8D2B739C}"/>
          </ac:spMkLst>
        </pc:spChg>
      </pc:sldChg>
      <pc:sldChg chg="delCm">
        <pc:chgData name="MikeandJill West" userId="0caeac936585bbb7" providerId="LiveId" clId="{5760CE41-66B9-41A5-9FCB-7B17C4B8DB03}" dt="2020-02-16T19:51:06.614" v="26" actId="1592"/>
        <pc:sldMkLst>
          <pc:docMk/>
          <pc:sldMk cId="2885679978" sldId="370"/>
        </pc:sldMkLst>
      </pc:sldChg>
      <pc:sldChg chg="delSp">
        <pc:chgData name="MikeandJill West" userId="0caeac936585bbb7" providerId="LiveId" clId="{5760CE41-66B9-41A5-9FCB-7B17C4B8DB03}" dt="2020-02-16T19:51:20.215" v="27" actId="478"/>
        <pc:sldMkLst>
          <pc:docMk/>
          <pc:sldMk cId="3501072963" sldId="372"/>
        </pc:sldMkLst>
        <pc:spChg chg="del">
          <ac:chgData name="MikeandJill West" userId="0caeac936585bbb7" providerId="LiveId" clId="{5760CE41-66B9-41A5-9FCB-7B17C4B8DB03}" dt="2020-02-16T19:51:20.215" v="27" actId="478"/>
          <ac:spMkLst>
            <pc:docMk/>
            <pc:sldMk cId="3501072963" sldId="372"/>
            <ac:spMk id="7" creationId="{45923637-A603-4AB6-8EA8-0D63D5F72D95}"/>
          </ac:spMkLst>
        </pc:spChg>
      </pc:sldChg>
      <pc:sldChg chg="delSp">
        <pc:chgData name="MikeandJill West" userId="0caeac936585bbb7" providerId="LiveId" clId="{5760CE41-66B9-41A5-9FCB-7B17C4B8DB03}" dt="2020-02-16T19:49:57.568" v="24" actId="478"/>
        <pc:sldMkLst>
          <pc:docMk/>
          <pc:sldMk cId="3413054278" sldId="380"/>
        </pc:sldMkLst>
        <pc:spChg chg="del">
          <ac:chgData name="MikeandJill West" userId="0caeac936585bbb7" providerId="LiveId" clId="{5760CE41-66B9-41A5-9FCB-7B17C4B8DB03}" dt="2020-02-16T19:49:57.568" v="24" actId="478"/>
          <ac:spMkLst>
            <pc:docMk/>
            <pc:sldMk cId="3413054278" sldId="380"/>
            <ac:spMk id="8" creationId="{B1F1F291-D549-4465-B4A6-C6821C2BF8CB}"/>
          </ac:spMkLst>
        </pc:spChg>
      </pc:sldChg>
      <pc:sldChg chg="modSp">
        <pc:chgData name="MikeandJill West" userId="0caeac936585bbb7" providerId="LiveId" clId="{5760CE41-66B9-41A5-9FCB-7B17C4B8DB03}" dt="2020-02-16T19:49:42.941" v="19" actId="1036"/>
        <pc:sldMkLst>
          <pc:docMk/>
          <pc:sldMk cId="2392184568" sldId="383"/>
        </pc:sldMkLst>
        <pc:spChg chg="mod">
          <ac:chgData name="MikeandJill West" userId="0caeac936585bbb7" providerId="LiveId" clId="{5760CE41-66B9-41A5-9FCB-7B17C4B8DB03}" dt="2020-02-16T19:49:33.139" v="0" actId="255"/>
          <ac:spMkLst>
            <pc:docMk/>
            <pc:sldMk cId="2392184568" sldId="383"/>
            <ac:spMk id="5" creationId="{95A5BC1C-43FF-41BF-9EAB-472BCCD2BC15}"/>
          </ac:spMkLst>
        </pc:spChg>
        <pc:spChg chg="mod">
          <ac:chgData name="MikeandJill West" userId="0caeac936585bbb7" providerId="LiveId" clId="{5760CE41-66B9-41A5-9FCB-7B17C4B8DB03}" dt="2020-02-16T19:49:42.941" v="19" actId="1036"/>
          <ac:spMkLst>
            <pc:docMk/>
            <pc:sldMk cId="2392184568" sldId="383"/>
            <ac:spMk id="7" creationId="{539A3131-8D34-4002-BE41-910E10ED4693}"/>
          </ac:spMkLst>
        </pc:spChg>
        <pc:spChg chg="mod">
          <ac:chgData name="MikeandJill West" userId="0caeac936585bbb7" providerId="LiveId" clId="{5760CE41-66B9-41A5-9FCB-7B17C4B8DB03}" dt="2020-02-16T19:49:42.941" v="19" actId="1036"/>
          <ac:spMkLst>
            <pc:docMk/>
            <pc:sldMk cId="2392184568" sldId="383"/>
            <ac:spMk id="9" creationId="{60F915B9-F8F2-4104-BCB6-A6D7BFBFDCE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6733" cy="469780"/>
          </a:xfrm>
          <a:prstGeom prst="rect">
            <a:avLst/>
          </a:prstGeom>
        </p:spPr>
        <p:txBody>
          <a:bodyPr vert="horz" lIns="93936" tIns="46968" rIns="93936" bIns="46968" rtlCol="0"/>
          <a:lstStyle>
            <a:lvl1pPr algn="l">
              <a:defRPr sz="1200"/>
            </a:lvl1pPr>
          </a:lstStyle>
          <a:p>
            <a:endParaRPr lang="en-US"/>
          </a:p>
        </p:txBody>
      </p:sp>
      <p:sp>
        <p:nvSpPr>
          <p:cNvPr id="3" name="Date Placeholder 2"/>
          <p:cNvSpPr>
            <a:spLocks noGrp="1"/>
          </p:cNvSpPr>
          <p:nvPr>
            <p:ph type="dt" idx="1"/>
          </p:nvPr>
        </p:nvSpPr>
        <p:spPr>
          <a:xfrm>
            <a:off x="4008705" y="0"/>
            <a:ext cx="3066733" cy="469780"/>
          </a:xfrm>
          <a:prstGeom prst="rect">
            <a:avLst/>
          </a:prstGeom>
        </p:spPr>
        <p:txBody>
          <a:bodyPr vert="horz" lIns="93936" tIns="46968" rIns="93936" bIns="46968" rtlCol="0"/>
          <a:lstStyle>
            <a:lvl1pPr algn="r">
              <a:defRPr sz="1200"/>
            </a:lvl1pPr>
          </a:lstStyle>
          <a:p>
            <a:fld id="{A48ED681-2264-4772-96D9-571C19ED82FB}" type="datetimeFigureOut">
              <a:rPr lang="en-US" smtClean="0"/>
              <a:t>3/3/2020</a:t>
            </a:fld>
            <a:endParaRPr lang="en-US"/>
          </a:p>
        </p:txBody>
      </p:sp>
      <p:sp>
        <p:nvSpPr>
          <p:cNvPr id="4" name="Slide Image Placeholder 3"/>
          <p:cNvSpPr>
            <a:spLocks noGrp="1" noRot="1" noChangeAspect="1"/>
          </p:cNvSpPr>
          <p:nvPr>
            <p:ph type="sldImg" idx="2"/>
          </p:nvPr>
        </p:nvSpPr>
        <p:spPr>
          <a:xfrm>
            <a:off x="728663" y="1169988"/>
            <a:ext cx="5619750" cy="3160712"/>
          </a:xfrm>
          <a:prstGeom prst="rect">
            <a:avLst/>
          </a:prstGeom>
          <a:noFill/>
          <a:ln w="12700">
            <a:solidFill>
              <a:prstClr val="black"/>
            </a:solidFill>
          </a:ln>
        </p:spPr>
        <p:txBody>
          <a:bodyPr vert="horz" lIns="93936" tIns="46968" rIns="93936" bIns="46968" rtlCol="0" anchor="ctr"/>
          <a:lstStyle/>
          <a:p>
            <a:endParaRPr lang="en-US"/>
          </a:p>
        </p:txBody>
      </p:sp>
      <p:sp>
        <p:nvSpPr>
          <p:cNvPr id="5" name="Notes Placeholder 4"/>
          <p:cNvSpPr>
            <a:spLocks noGrp="1"/>
          </p:cNvSpPr>
          <p:nvPr>
            <p:ph type="body" sz="quarter" idx="3"/>
          </p:nvPr>
        </p:nvSpPr>
        <p:spPr>
          <a:xfrm>
            <a:off x="707708" y="4505980"/>
            <a:ext cx="5661660" cy="3686711"/>
          </a:xfrm>
          <a:prstGeom prst="rect">
            <a:avLst/>
          </a:prstGeom>
        </p:spPr>
        <p:txBody>
          <a:bodyPr vert="horz" lIns="93936" tIns="46968" rIns="93936" bIns="46968"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93297"/>
            <a:ext cx="3066733" cy="469779"/>
          </a:xfrm>
          <a:prstGeom prst="rect">
            <a:avLst/>
          </a:prstGeom>
        </p:spPr>
        <p:txBody>
          <a:bodyPr vert="horz" lIns="93936" tIns="46968" rIns="93936" bIns="46968" rtlCol="0" anchor="b"/>
          <a:lstStyle>
            <a:lvl1pPr algn="l">
              <a:defRPr sz="1200"/>
            </a:lvl1pPr>
          </a:lstStyle>
          <a:p>
            <a:endParaRPr lang="en-US"/>
          </a:p>
        </p:txBody>
      </p:sp>
      <p:sp>
        <p:nvSpPr>
          <p:cNvPr id="7" name="Slide Number Placeholder 6"/>
          <p:cNvSpPr>
            <a:spLocks noGrp="1"/>
          </p:cNvSpPr>
          <p:nvPr>
            <p:ph type="sldNum" sz="quarter" idx="5"/>
          </p:nvPr>
        </p:nvSpPr>
        <p:spPr>
          <a:xfrm>
            <a:off x="4008705" y="8893297"/>
            <a:ext cx="3066733" cy="469779"/>
          </a:xfrm>
          <a:prstGeom prst="rect">
            <a:avLst/>
          </a:prstGeom>
        </p:spPr>
        <p:txBody>
          <a:bodyPr vert="horz" lIns="93936" tIns="46968" rIns="93936" bIns="46968" rtlCol="0" anchor="b"/>
          <a:lstStyle>
            <a:lvl1pPr algn="r">
              <a:defRPr sz="1200"/>
            </a:lvl1pPr>
          </a:lstStyle>
          <a:p>
            <a:fld id="{56CA19FE-9A12-437D-A6C3-5DD612832ED6}" type="slidenum">
              <a:rPr lang="en-US" smtClean="0"/>
              <a:t>‹#›</a:t>
            </a:fld>
            <a:endParaRPr lang="en-US"/>
          </a:p>
        </p:txBody>
      </p:sp>
    </p:spTree>
    <p:extLst>
      <p:ext uri="{BB962C8B-B14F-4D97-AF65-F5344CB8AC3E}">
        <p14:creationId xmlns:p14="http://schemas.microsoft.com/office/powerpoint/2010/main" val="1588205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7513" y="701675"/>
            <a:ext cx="6242050" cy="351155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a:t>
            </a:fld>
            <a:endParaRPr lang="en-US" dirty="0"/>
          </a:p>
        </p:txBody>
      </p:sp>
    </p:spTree>
    <p:extLst>
      <p:ext uri="{BB962C8B-B14F-4D97-AF65-F5344CB8AC3E}">
        <p14:creationId xmlns:p14="http://schemas.microsoft.com/office/powerpoint/2010/main" val="2885000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7513" y="701675"/>
            <a:ext cx="6242050" cy="351155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3</a:t>
            </a:fld>
            <a:endParaRPr lang="en-US" dirty="0"/>
          </a:p>
        </p:txBody>
      </p:sp>
    </p:spTree>
    <p:extLst>
      <p:ext uri="{BB962C8B-B14F-4D97-AF65-F5344CB8AC3E}">
        <p14:creationId xmlns:p14="http://schemas.microsoft.com/office/powerpoint/2010/main" val="547479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7513" y="701675"/>
            <a:ext cx="6242050" cy="351155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4</a:t>
            </a:fld>
            <a:endParaRPr lang="en-US" dirty="0"/>
          </a:p>
        </p:txBody>
      </p:sp>
    </p:spTree>
    <p:extLst>
      <p:ext uri="{BB962C8B-B14F-4D97-AF65-F5344CB8AC3E}">
        <p14:creationId xmlns:p14="http://schemas.microsoft.com/office/powerpoint/2010/main" val="29528889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7513" y="701675"/>
            <a:ext cx="6242050" cy="351155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5</a:t>
            </a:fld>
            <a:endParaRPr lang="en-US" dirty="0"/>
          </a:p>
        </p:txBody>
      </p:sp>
    </p:spTree>
    <p:extLst>
      <p:ext uri="{BB962C8B-B14F-4D97-AF65-F5344CB8AC3E}">
        <p14:creationId xmlns:p14="http://schemas.microsoft.com/office/powerpoint/2010/main" val="13353415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7513" y="701675"/>
            <a:ext cx="6242050" cy="351155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6</a:t>
            </a:fld>
            <a:endParaRPr lang="en-US" dirty="0"/>
          </a:p>
        </p:txBody>
      </p:sp>
    </p:spTree>
    <p:extLst>
      <p:ext uri="{BB962C8B-B14F-4D97-AF65-F5344CB8AC3E}">
        <p14:creationId xmlns:p14="http://schemas.microsoft.com/office/powerpoint/2010/main" val="10832210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CA19FE-9A12-437D-A6C3-5DD612832ED6}" type="slidenum">
              <a:rPr lang="en-US" smtClean="0"/>
              <a:t>7</a:t>
            </a:fld>
            <a:endParaRPr lang="en-US"/>
          </a:p>
        </p:txBody>
      </p:sp>
    </p:spTree>
    <p:extLst>
      <p:ext uri="{BB962C8B-B14F-4D97-AF65-F5344CB8AC3E}">
        <p14:creationId xmlns:p14="http://schemas.microsoft.com/office/powerpoint/2010/main" val="3107104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7513" y="701675"/>
            <a:ext cx="6242050" cy="351155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8</a:t>
            </a:fld>
            <a:endParaRPr lang="en-US" dirty="0"/>
          </a:p>
        </p:txBody>
      </p:sp>
    </p:spTree>
    <p:extLst>
      <p:ext uri="{BB962C8B-B14F-4D97-AF65-F5344CB8AC3E}">
        <p14:creationId xmlns:p14="http://schemas.microsoft.com/office/powerpoint/2010/main" val="11826693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CA19FE-9A12-437D-A6C3-5DD612832ED6}" type="slidenum">
              <a:rPr lang="en-US" smtClean="0"/>
              <a:t>9</a:t>
            </a:fld>
            <a:endParaRPr lang="en-US"/>
          </a:p>
        </p:txBody>
      </p:sp>
    </p:spTree>
    <p:extLst>
      <p:ext uri="{BB962C8B-B14F-4D97-AF65-F5344CB8AC3E}">
        <p14:creationId xmlns:p14="http://schemas.microsoft.com/office/powerpoint/2010/main" val="27939019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7513" y="701675"/>
            <a:ext cx="6242050" cy="3511550"/>
          </a:xfrm>
        </p:spPr>
      </p:sp>
      <p:sp>
        <p:nvSpPr>
          <p:cNvPr id="3" name="Notes Placeholder 2"/>
          <p:cNvSpPr>
            <a:spLocks noGrp="1"/>
          </p:cNvSpPr>
          <p:nvPr>
            <p:ph type="body" idx="1"/>
          </p:nvPr>
        </p:nvSpPr>
        <p:spPr/>
        <p:txBody>
          <a:bodyPr/>
          <a:lstStyle/>
          <a:p>
            <a:endParaRPr lang="en-US" sz="1000" dirty="0">
              <a:cs typeface="Calibri"/>
            </a:endParaRPr>
          </a:p>
        </p:txBody>
      </p:sp>
      <p:sp>
        <p:nvSpPr>
          <p:cNvPr id="4" name="Slide Number Placeholder 3"/>
          <p:cNvSpPr>
            <a:spLocks noGrp="1"/>
          </p:cNvSpPr>
          <p:nvPr>
            <p:ph type="sldNum" sz="quarter" idx="10"/>
          </p:nvPr>
        </p:nvSpPr>
        <p:spPr/>
        <p:txBody>
          <a:bodyPr/>
          <a:lstStyle/>
          <a:p>
            <a:fld id="{E2AA3592-D5F1-C049-A75C-8C2FAAE2A508}" type="slidenum">
              <a:rPr lang="en-US" smtClean="0"/>
              <a:t>10</a:t>
            </a:fld>
            <a:endParaRPr lang="en-US" dirty="0"/>
          </a:p>
        </p:txBody>
      </p:sp>
    </p:spTree>
    <p:extLst>
      <p:ext uri="{BB962C8B-B14F-4D97-AF65-F5344CB8AC3E}">
        <p14:creationId xmlns:p14="http://schemas.microsoft.com/office/powerpoint/2010/main" val="21577304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7513" y="701675"/>
            <a:ext cx="6242050" cy="351155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11</a:t>
            </a:fld>
            <a:endParaRPr lang="en-US" dirty="0"/>
          </a:p>
        </p:txBody>
      </p:sp>
    </p:spTree>
    <p:extLst>
      <p:ext uri="{BB962C8B-B14F-4D97-AF65-F5344CB8AC3E}">
        <p14:creationId xmlns:p14="http://schemas.microsoft.com/office/powerpoint/2010/main" val="1298643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7513" y="701675"/>
            <a:ext cx="6242050" cy="351155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12</a:t>
            </a:fld>
            <a:endParaRPr lang="en-US" dirty="0"/>
          </a:p>
        </p:txBody>
      </p:sp>
    </p:spTree>
    <p:extLst>
      <p:ext uri="{BB962C8B-B14F-4D97-AF65-F5344CB8AC3E}">
        <p14:creationId xmlns:p14="http://schemas.microsoft.com/office/powerpoint/2010/main" val="20314620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7513" y="701675"/>
            <a:ext cx="6242050" cy="351155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13</a:t>
            </a:fld>
            <a:endParaRPr lang="en-US" dirty="0"/>
          </a:p>
        </p:txBody>
      </p:sp>
    </p:spTree>
    <p:extLst>
      <p:ext uri="{BB962C8B-B14F-4D97-AF65-F5344CB8AC3E}">
        <p14:creationId xmlns:p14="http://schemas.microsoft.com/office/powerpoint/2010/main" val="26557394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7513" y="701675"/>
            <a:ext cx="6242050" cy="351155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14</a:t>
            </a:fld>
            <a:endParaRPr lang="en-US" dirty="0"/>
          </a:p>
        </p:txBody>
      </p:sp>
    </p:spTree>
    <p:extLst>
      <p:ext uri="{BB962C8B-B14F-4D97-AF65-F5344CB8AC3E}">
        <p14:creationId xmlns:p14="http://schemas.microsoft.com/office/powerpoint/2010/main" val="21750326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7513" y="701675"/>
            <a:ext cx="6242050" cy="351155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15</a:t>
            </a:fld>
            <a:endParaRPr lang="en-US" dirty="0"/>
          </a:p>
        </p:txBody>
      </p:sp>
    </p:spTree>
    <p:extLst>
      <p:ext uri="{BB962C8B-B14F-4D97-AF65-F5344CB8AC3E}">
        <p14:creationId xmlns:p14="http://schemas.microsoft.com/office/powerpoint/2010/main" val="2065325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7513" y="701675"/>
            <a:ext cx="6242050" cy="351155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16</a:t>
            </a:fld>
            <a:endParaRPr lang="en-US" dirty="0"/>
          </a:p>
        </p:txBody>
      </p:sp>
    </p:spTree>
    <p:extLst>
      <p:ext uri="{BB962C8B-B14F-4D97-AF65-F5344CB8AC3E}">
        <p14:creationId xmlns:p14="http://schemas.microsoft.com/office/powerpoint/2010/main" val="5192361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17513" y="701675"/>
            <a:ext cx="6242050" cy="351155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17</a:t>
            </a:fld>
            <a:endParaRPr lang="en-US" dirty="0"/>
          </a:p>
        </p:txBody>
      </p:sp>
    </p:spTree>
    <p:extLst>
      <p:ext uri="{BB962C8B-B14F-4D97-AF65-F5344CB8AC3E}">
        <p14:creationId xmlns:p14="http://schemas.microsoft.com/office/powerpoint/2010/main" val="3270714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18</a:t>
            </a:fld>
            <a:endParaRPr lang="en-US" dirty="0"/>
          </a:p>
        </p:txBody>
      </p:sp>
    </p:spTree>
    <p:extLst>
      <p:ext uri="{BB962C8B-B14F-4D97-AF65-F5344CB8AC3E}">
        <p14:creationId xmlns:p14="http://schemas.microsoft.com/office/powerpoint/2010/main" val="19859773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19</a:t>
            </a:fld>
            <a:endParaRPr lang="en-US" dirty="0"/>
          </a:p>
        </p:txBody>
      </p:sp>
    </p:spTree>
    <p:extLst>
      <p:ext uri="{BB962C8B-B14F-4D97-AF65-F5344CB8AC3E}">
        <p14:creationId xmlns:p14="http://schemas.microsoft.com/office/powerpoint/2010/main" val="3611865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E75EE-D66F-4111-8CA1-A1CD0F5AB7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2CF6481-99B8-4ADC-B2A0-853550435B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02E1A1E-614D-4301-8883-DCAD0473996F}"/>
              </a:ext>
            </a:extLst>
          </p:cNvPr>
          <p:cNvSpPr>
            <a:spLocks noGrp="1"/>
          </p:cNvSpPr>
          <p:nvPr>
            <p:ph type="dt" sz="half" idx="10"/>
          </p:nvPr>
        </p:nvSpPr>
        <p:spPr/>
        <p:txBody>
          <a:bodyPr/>
          <a:lstStyle/>
          <a:p>
            <a:fld id="{0D0C2072-8BD3-4A25-9A71-B353EDA33FFA}" type="datetimeFigureOut">
              <a:rPr lang="en-US" smtClean="0"/>
              <a:t>3/3/2020</a:t>
            </a:fld>
            <a:endParaRPr lang="en-US"/>
          </a:p>
        </p:txBody>
      </p:sp>
      <p:sp>
        <p:nvSpPr>
          <p:cNvPr id="5" name="Footer Placeholder 4">
            <a:extLst>
              <a:ext uri="{FF2B5EF4-FFF2-40B4-BE49-F238E27FC236}">
                <a16:creationId xmlns:a16="http://schemas.microsoft.com/office/drawing/2014/main" id="{63CD16A2-9D0E-44C2-86D3-3C944FDFBD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FFF3EF-C302-42E6-B252-951D0906B4B1}"/>
              </a:ext>
            </a:extLst>
          </p:cNvPr>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2610428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4701A-C380-4CCC-8D8F-80CC6CBE56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D1D708-86F9-40C1-9658-FB4BAD6006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D2218B-DFE8-41D5-BC72-C62882102A1A}"/>
              </a:ext>
            </a:extLst>
          </p:cNvPr>
          <p:cNvSpPr>
            <a:spLocks noGrp="1"/>
          </p:cNvSpPr>
          <p:nvPr>
            <p:ph type="dt" sz="half" idx="10"/>
          </p:nvPr>
        </p:nvSpPr>
        <p:spPr/>
        <p:txBody>
          <a:bodyPr/>
          <a:lstStyle/>
          <a:p>
            <a:fld id="{0D0C2072-8BD3-4A25-9A71-B353EDA33FFA}" type="datetimeFigureOut">
              <a:rPr lang="en-US" smtClean="0"/>
              <a:t>3/3/2020</a:t>
            </a:fld>
            <a:endParaRPr lang="en-US"/>
          </a:p>
        </p:txBody>
      </p:sp>
      <p:sp>
        <p:nvSpPr>
          <p:cNvPr id="5" name="Footer Placeholder 4">
            <a:extLst>
              <a:ext uri="{FF2B5EF4-FFF2-40B4-BE49-F238E27FC236}">
                <a16:creationId xmlns:a16="http://schemas.microsoft.com/office/drawing/2014/main" id="{894EEE08-A103-4F37-AFA3-931C8C43B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3E2E42-64E2-4AB0-8DA2-8F98F4C30C76}"/>
              </a:ext>
            </a:extLst>
          </p:cNvPr>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935632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88BDF-22FB-4EF3-A8C4-99D6F9EF89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C215350-5F51-44B2-B36E-45FDC07331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0A3058-0FEE-4C72-BD64-77EF90E5CCDB}"/>
              </a:ext>
            </a:extLst>
          </p:cNvPr>
          <p:cNvSpPr>
            <a:spLocks noGrp="1"/>
          </p:cNvSpPr>
          <p:nvPr>
            <p:ph type="dt" sz="half" idx="10"/>
          </p:nvPr>
        </p:nvSpPr>
        <p:spPr/>
        <p:txBody>
          <a:bodyPr/>
          <a:lstStyle/>
          <a:p>
            <a:fld id="{0D0C2072-8BD3-4A25-9A71-B353EDA33FFA}" type="datetimeFigureOut">
              <a:rPr lang="en-US" smtClean="0"/>
              <a:t>3/3/2020</a:t>
            </a:fld>
            <a:endParaRPr lang="en-US"/>
          </a:p>
        </p:txBody>
      </p:sp>
      <p:sp>
        <p:nvSpPr>
          <p:cNvPr id="5" name="Footer Placeholder 4">
            <a:extLst>
              <a:ext uri="{FF2B5EF4-FFF2-40B4-BE49-F238E27FC236}">
                <a16:creationId xmlns:a16="http://schemas.microsoft.com/office/drawing/2014/main" id="{3B3206BA-85FF-4A8E-BD68-1DE77230ED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67982A-CD5D-4A2B-BCA7-EB8942F24750}"/>
              </a:ext>
            </a:extLst>
          </p:cNvPr>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387265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DDD63-A272-41B6-8601-E2647ECDE4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52E502-CA12-4346-857D-3371E1BAE9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829BEA5-E034-4C17-8312-E71A2E5EDA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C34CE9-AD68-428C-8491-F30272540FAD}"/>
              </a:ext>
            </a:extLst>
          </p:cNvPr>
          <p:cNvSpPr>
            <a:spLocks noGrp="1"/>
          </p:cNvSpPr>
          <p:nvPr>
            <p:ph type="dt" sz="half" idx="10"/>
          </p:nvPr>
        </p:nvSpPr>
        <p:spPr/>
        <p:txBody>
          <a:bodyPr/>
          <a:lstStyle/>
          <a:p>
            <a:fld id="{0D0C2072-8BD3-4A25-9A71-B353EDA33FFA}" type="datetimeFigureOut">
              <a:rPr lang="en-US" smtClean="0"/>
              <a:t>3/3/2020</a:t>
            </a:fld>
            <a:endParaRPr lang="en-US"/>
          </a:p>
        </p:txBody>
      </p:sp>
      <p:sp>
        <p:nvSpPr>
          <p:cNvPr id="6" name="Footer Placeholder 5">
            <a:extLst>
              <a:ext uri="{FF2B5EF4-FFF2-40B4-BE49-F238E27FC236}">
                <a16:creationId xmlns:a16="http://schemas.microsoft.com/office/drawing/2014/main" id="{5FB468C5-E975-467E-B7F8-A91BA146F6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997E2B-F8EC-49BE-943E-A7420856F6A3}"/>
              </a:ext>
            </a:extLst>
          </p:cNvPr>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4016749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735EB-0246-4062-8B49-F3212E95EF7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11AB6C-B6CC-42E1-970D-33A53006D7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AA3957-0015-4CCD-893B-18DE4A5C13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99C0303-1B1D-4E42-ACEC-BB3EEBE23E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F57035-ABA5-4911-8221-13771BA99D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42111-5CE3-4432-9D0D-7428E19CACDA}"/>
              </a:ext>
            </a:extLst>
          </p:cNvPr>
          <p:cNvSpPr>
            <a:spLocks noGrp="1"/>
          </p:cNvSpPr>
          <p:nvPr>
            <p:ph type="dt" sz="half" idx="10"/>
          </p:nvPr>
        </p:nvSpPr>
        <p:spPr/>
        <p:txBody>
          <a:bodyPr/>
          <a:lstStyle/>
          <a:p>
            <a:fld id="{0D0C2072-8BD3-4A25-9A71-B353EDA33FFA}" type="datetimeFigureOut">
              <a:rPr lang="en-US" smtClean="0"/>
              <a:t>3/3/2020</a:t>
            </a:fld>
            <a:endParaRPr lang="en-US"/>
          </a:p>
        </p:txBody>
      </p:sp>
      <p:sp>
        <p:nvSpPr>
          <p:cNvPr id="8" name="Footer Placeholder 7">
            <a:extLst>
              <a:ext uri="{FF2B5EF4-FFF2-40B4-BE49-F238E27FC236}">
                <a16:creationId xmlns:a16="http://schemas.microsoft.com/office/drawing/2014/main" id="{00771742-D4B2-4978-9CCE-C5BC40B879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54758D-3444-4058-BD64-12A82E0E5C7F}"/>
              </a:ext>
            </a:extLst>
          </p:cNvPr>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2840695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93F2B-A3C0-4497-AA91-9B9987452F8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DBABF4-2705-4F02-BE8A-2B16EAA6563A}"/>
              </a:ext>
            </a:extLst>
          </p:cNvPr>
          <p:cNvSpPr>
            <a:spLocks noGrp="1"/>
          </p:cNvSpPr>
          <p:nvPr>
            <p:ph type="dt" sz="half" idx="10"/>
          </p:nvPr>
        </p:nvSpPr>
        <p:spPr/>
        <p:txBody>
          <a:bodyPr/>
          <a:lstStyle/>
          <a:p>
            <a:fld id="{0D0C2072-8BD3-4A25-9A71-B353EDA33FFA}" type="datetimeFigureOut">
              <a:rPr lang="en-US" smtClean="0"/>
              <a:t>3/3/2020</a:t>
            </a:fld>
            <a:endParaRPr lang="en-US"/>
          </a:p>
        </p:txBody>
      </p:sp>
      <p:sp>
        <p:nvSpPr>
          <p:cNvPr id="4" name="Footer Placeholder 3">
            <a:extLst>
              <a:ext uri="{FF2B5EF4-FFF2-40B4-BE49-F238E27FC236}">
                <a16:creationId xmlns:a16="http://schemas.microsoft.com/office/drawing/2014/main" id="{4031705E-762D-4C00-AA61-68F39520C8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B0D85E3-5595-4CBF-93B9-703E61769152}"/>
              </a:ext>
            </a:extLst>
          </p:cNvPr>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496285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8FF058-205B-4243-9824-0C8A2097F4F0}"/>
              </a:ext>
            </a:extLst>
          </p:cNvPr>
          <p:cNvSpPr>
            <a:spLocks noGrp="1"/>
          </p:cNvSpPr>
          <p:nvPr>
            <p:ph type="dt" sz="half" idx="10"/>
          </p:nvPr>
        </p:nvSpPr>
        <p:spPr/>
        <p:txBody>
          <a:bodyPr/>
          <a:lstStyle/>
          <a:p>
            <a:fld id="{0D0C2072-8BD3-4A25-9A71-B353EDA33FFA}" type="datetimeFigureOut">
              <a:rPr lang="en-US" smtClean="0"/>
              <a:t>3/3/2020</a:t>
            </a:fld>
            <a:endParaRPr lang="en-US"/>
          </a:p>
        </p:txBody>
      </p:sp>
      <p:sp>
        <p:nvSpPr>
          <p:cNvPr id="3" name="Footer Placeholder 2">
            <a:extLst>
              <a:ext uri="{FF2B5EF4-FFF2-40B4-BE49-F238E27FC236}">
                <a16:creationId xmlns:a16="http://schemas.microsoft.com/office/drawing/2014/main" id="{D756D9CE-9C00-4B99-A858-9196ED76919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585F42-D105-4321-889F-B85E7050D29B}"/>
              </a:ext>
            </a:extLst>
          </p:cNvPr>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250805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67F7C-8705-4CDD-8B87-22D26D9759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4DCD06-BF4C-45B5-8CB8-BDDB0D1B2C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34305A1-CCD2-42B6-B101-38863F6D7B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2C1106-9901-45D4-81BD-C5633DF9EAFC}"/>
              </a:ext>
            </a:extLst>
          </p:cNvPr>
          <p:cNvSpPr>
            <a:spLocks noGrp="1"/>
          </p:cNvSpPr>
          <p:nvPr>
            <p:ph type="dt" sz="half" idx="10"/>
          </p:nvPr>
        </p:nvSpPr>
        <p:spPr/>
        <p:txBody>
          <a:bodyPr/>
          <a:lstStyle/>
          <a:p>
            <a:fld id="{0D0C2072-8BD3-4A25-9A71-B353EDA33FFA}" type="datetimeFigureOut">
              <a:rPr lang="en-US" smtClean="0"/>
              <a:t>3/3/2020</a:t>
            </a:fld>
            <a:endParaRPr lang="en-US"/>
          </a:p>
        </p:txBody>
      </p:sp>
      <p:sp>
        <p:nvSpPr>
          <p:cNvPr id="6" name="Footer Placeholder 5">
            <a:extLst>
              <a:ext uri="{FF2B5EF4-FFF2-40B4-BE49-F238E27FC236}">
                <a16:creationId xmlns:a16="http://schemas.microsoft.com/office/drawing/2014/main" id="{F50B54E4-7278-45CD-9F1B-11533EFEEA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360FE2-2333-44F0-BFF0-E0F9DD204DB4}"/>
              </a:ext>
            </a:extLst>
          </p:cNvPr>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620475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29FB9-174C-40C7-A131-720D5AF892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E9E5919-B57F-4638-B68C-4F3B000F64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AC86348-4BC8-481C-9EE5-05882513F1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DBE668-2B7B-4092-9B8B-11DA40109633}"/>
              </a:ext>
            </a:extLst>
          </p:cNvPr>
          <p:cNvSpPr>
            <a:spLocks noGrp="1"/>
          </p:cNvSpPr>
          <p:nvPr>
            <p:ph type="dt" sz="half" idx="10"/>
          </p:nvPr>
        </p:nvSpPr>
        <p:spPr/>
        <p:txBody>
          <a:bodyPr/>
          <a:lstStyle/>
          <a:p>
            <a:fld id="{0D0C2072-8BD3-4A25-9A71-B353EDA33FFA}" type="datetimeFigureOut">
              <a:rPr lang="en-US" smtClean="0"/>
              <a:t>3/3/2020</a:t>
            </a:fld>
            <a:endParaRPr lang="en-US"/>
          </a:p>
        </p:txBody>
      </p:sp>
      <p:sp>
        <p:nvSpPr>
          <p:cNvPr id="6" name="Footer Placeholder 5">
            <a:extLst>
              <a:ext uri="{FF2B5EF4-FFF2-40B4-BE49-F238E27FC236}">
                <a16:creationId xmlns:a16="http://schemas.microsoft.com/office/drawing/2014/main" id="{30D80EAF-E39D-43B4-89E8-4E6147298D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50C0C7-ABF5-4FE4-B0DC-92F312093DB2}"/>
              </a:ext>
            </a:extLst>
          </p:cNvPr>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156633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90F5E-B109-4594-9CBD-5B8D40CD0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40668F-37B2-42FE-BB15-596403948F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FD2B4C-7005-44DA-90EB-254DE7339740}"/>
              </a:ext>
            </a:extLst>
          </p:cNvPr>
          <p:cNvSpPr>
            <a:spLocks noGrp="1"/>
          </p:cNvSpPr>
          <p:nvPr>
            <p:ph type="dt" sz="half" idx="10"/>
          </p:nvPr>
        </p:nvSpPr>
        <p:spPr/>
        <p:txBody>
          <a:bodyPr/>
          <a:lstStyle/>
          <a:p>
            <a:fld id="{0D0C2072-8BD3-4A25-9A71-B353EDA33FFA}" type="datetimeFigureOut">
              <a:rPr lang="en-US" smtClean="0"/>
              <a:t>3/3/2020</a:t>
            </a:fld>
            <a:endParaRPr lang="en-US"/>
          </a:p>
        </p:txBody>
      </p:sp>
      <p:sp>
        <p:nvSpPr>
          <p:cNvPr id="5" name="Footer Placeholder 4">
            <a:extLst>
              <a:ext uri="{FF2B5EF4-FFF2-40B4-BE49-F238E27FC236}">
                <a16:creationId xmlns:a16="http://schemas.microsoft.com/office/drawing/2014/main" id="{D79CE24E-9CA4-418F-9315-C418166470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636CB4-44C7-4632-9EDE-7EEDA21827BA}"/>
              </a:ext>
            </a:extLst>
          </p:cNvPr>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711137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F2B733-5A8F-4250-AC4F-368A79AD711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8DD5AF-1AF8-40BE-B29A-241E64FF4E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C05F54-5992-4936-9540-3260CFCB14DD}"/>
              </a:ext>
            </a:extLst>
          </p:cNvPr>
          <p:cNvSpPr>
            <a:spLocks noGrp="1"/>
          </p:cNvSpPr>
          <p:nvPr>
            <p:ph type="dt" sz="half" idx="10"/>
          </p:nvPr>
        </p:nvSpPr>
        <p:spPr/>
        <p:txBody>
          <a:bodyPr/>
          <a:lstStyle/>
          <a:p>
            <a:fld id="{0D0C2072-8BD3-4A25-9A71-B353EDA33FFA}" type="datetimeFigureOut">
              <a:rPr lang="en-US" smtClean="0"/>
              <a:t>3/3/2020</a:t>
            </a:fld>
            <a:endParaRPr lang="en-US"/>
          </a:p>
        </p:txBody>
      </p:sp>
      <p:sp>
        <p:nvSpPr>
          <p:cNvPr id="5" name="Footer Placeholder 4">
            <a:extLst>
              <a:ext uri="{FF2B5EF4-FFF2-40B4-BE49-F238E27FC236}">
                <a16:creationId xmlns:a16="http://schemas.microsoft.com/office/drawing/2014/main" id="{C25F602A-EAD4-4CCD-A102-14F2B2FB71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8D2723-BF50-4BB7-ADB5-C717A3BF7C5E}"/>
              </a:ext>
            </a:extLst>
          </p:cNvPr>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4889031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Picture Righ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7733358" y="-5061"/>
            <a:ext cx="4458642" cy="6863061"/>
          </a:xfrm>
        </p:spPr>
        <p:txBody>
          <a:bodyPr>
            <a:normAutofit/>
          </a:bodyPr>
          <a:lstStyle>
            <a:lvl1pPr>
              <a:defRPr sz="1599"/>
            </a:lvl1pPr>
          </a:lstStyle>
          <a:p>
            <a:r>
              <a:rPr lang="en-US" dirty="0"/>
              <a:t>Click icon to add picture</a:t>
            </a:r>
          </a:p>
        </p:txBody>
      </p:sp>
      <p:sp>
        <p:nvSpPr>
          <p:cNvPr id="7"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8" name="Text Placeholder 4"/>
          <p:cNvSpPr>
            <a:spLocks noGrp="1"/>
          </p:cNvSpPr>
          <p:nvPr>
            <p:ph type="body" sz="quarter" idx="11"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Tree>
    <p:custDataLst>
      <p:tags r:id="rId1"/>
    </p:custDataLst>
    <p:extLst>
      <p:ext uri="{BB962C8B-B14F-4D97-AF65-F5344CB8AC3E}">
        <p14:creationId xmlns:p14="http://schemas.microsoft.com/office/powerpoint/2010/main" val="20457134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High">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0"/>
            <a:ext cx="12192000" cy="6858000"/>
          </a:xfrm>
        </p:spPr>
        <p:txBody>
          <a:bodyPr/>
          <a:lstStyle/>
          <a:p>
            <a:r>
              <a:rPr lang="en-US" dirty="0"/>
              <a:t>Click icon to add picture</a:t>
            </a:r>
          </a:p>
        </p:txBody>
      </p:sp>
      <p:sp>
        <p:nvSpPr>
          <p:cNvPr id="4" name="Slide Number Placeholder 3"/>
          <p:cNvSpPr>
            <a:spLocks noGrp="1"/>
          </p:cNvSpPr>
          <p:nvPr>
            <p:ph type="sldNum" sz="quarter" idx="11"/>
          </p:nvPr>
        </p:nvSpPr>
        <p:spPr>
          <a:xfrm>
            <a:off x="312" y="2203704"/>
            <a:ext cx="611681" cy="365125"/>
          </a:xfrm>
        </p:spPr>
        <p:txBody>
          <a:bodyPr/>
          <a:lstStyle/>
          <a:p>
            <a:fld id="{2760AF0F-E753-4DD9-B8E5-577C039A067C}" type="slidenum">
              <a:rPr lang="en-JM" smtClean="0"/>
              <a:t>‹#›</a:t>
            </a:fld>
            <a:endParaRPr lang="en-JM" dirty="0"/>
          </a:p>
        </p:txBody>
      </p:sp>
      <p:sp>
        <p:nvSpPr>
          <p:cNvPr id="2" name="Title 1"/>
          <p:cNvSpPr>
            <a:spLocks noGrp="1"/>
          </p:cNvSpPr>
          <p:nvPr>
            <p:ph type="title"/>
          </p:nvPr>
        </p:nvSpPr>
        <p:spPr>
          <a:xfrm>
            <a:off x="994035" y="2148840"/>
            <a:ext cx="10412618" cy="1143000"/>
          </a:xfrm>
        </p:spPr>
        <p:txBody>
          <a:bodyPr vert="horz" lIns="121954" tIns="60977" rIns="121954" bIns="60977" rtlCol="0" anchor="ctr">
            <a:normAutofit/>
          </a:bodyPr>
          <a:lstStyle>
            <a:lvl1pPr>
              <a:defRPr lang="en-US" dirty="0">
                <a:solidFill>
                  <a:schemeClr val="accent3"/>
                </a:solidFill>
                <a:ea typeface="Titillium Web"/>
                <a:cs typeface="Titillium WebLight"/>
              </a:defRPr>
            </a:lvl1pPr>
          </a:lstStyle>
          <a:p>
            <a:pPr marL="0" lvl="0">
              <a:spcBef>
                <a:spcPts val="3199"/>
              </a:spcBef>
            </a:pPr>
            <a:r>
              <a:rPr lang="en-US"/>
              <a:t>Click to edit Master title style</a:t>
            </a:r>
            <a:endParaRPr lang="en-US" dirty="0"/>
          </a:p>
        </p:txBody>
      </p:sp>
    </p:spTree>
    <p:custDataLst>
      <p:tags r:id="rId1"/>
    </p:custDataLst>
    <p:extLst>
      <p:ext uri="{BB962C8B-B14F-4D97-AF65-F5344CB8AC3E}">
        <p14:creationId xmlns:p14="http://schemas.microsoft.com/office/powerpoint/2010/main" val="1451110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4D63D2-679D-468F-96C7-70A8C40C18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F59ABB-93F9-4B99-A258-E51634FB2E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AEF4CB-336D-4C89-BEE1-7B0879A576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0C2072-8BD3-4A25-9A71-B353EDA33FFA}" type="datetimeFigureOut">
              <a:rPr lang="en-US" smtClean="0"/>
              <a:t>3/3/2020</a:t>
            </a:fld>
            <a:endParaRPr lang="en-US"/>
          </a:p>
        </p:txBody>
      </p:sp>
      <p:sp>
        <p:nvSpPr>
          <p:cNvPr id="5" name="Footer Placeholder 4">
            <a:extLst>
              <a:ext uri="{FF2B5EF4-FFF2-40B4-BE49-F238E27FC236}">
                <a16:creationId xmlns:a16="http://schemas.microsoft.com/office/drawing/2014/main" id="{71E46A00-D27F-4E82-ACAC-3BB7FEAD39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4C792CC-A282-4A90-BE14-57EAE7294A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59F4CF-452D-4B53-922A-3D4908B867D0}" type="slidenum">
              <a:rPr lang="en-US" smtClean="0"/>
              <a:t>‹#›</a:t>
            </a:fld>
            <a:endParaRPr lang="en-US"/>
          </a:p>
        </p:txBody>
      </p:sp>
    </p:spTree>
    <p:extLst>
      <p:ext uri="{BB962C8B-B14F-4D97-AF65-F5344CB8AC3E}">
        <p14:creationId xmlns:p14="http://schemas.microsoft.com/office/powerpoint/2010/main" val="4117511493"/>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4.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5.xml"/><Relationship Id="rId5" Type="http://schemas.openxmlformats.org/officeDocument/2006/relationships/slide" Target="slide7.xml"/><Relationship Id="rId4" Type="http://schemas.openxmlformats.org/officeDocument/2006/relationships/slide" Target="slide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tags" Target="../tags/tag6.xml"/><Relationship Id="rId5" Type="http://schemas.openxmlformats.org/officeDocument/2006/relationships/slide" Target="slide7.xml"/><Relationship Id="rId4" Type="http://schemas.openxmlformats.org/officeDocument/2006/relationships/slide" Target="slide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ags" Target="../tags/tag7.xml"/><Relationship Id="rId6" Type="http://schemas.openxmlformats.org/officeDocument/2006/relationships/slide" Target="slide12.xml"/><Relationship Id="rId5" Type="http://schemas.openxmlformats.org/officeDocument/2006/relationships/slide" Target="slide11.xml"/><Relationship Id="rId4" Type="http://schemas.openxmlformats.org/officeDocument/2006/relationships/slide" Target="slide7.xml"/></Relationships>
</file>

<file path=ppt/slides/_rels/slide7.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slide" Target="slide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ags" Target="../tags/tag8.xml"/><Relationship Id="rId6" Type="http://schemas.openxmlformats.org/officeDocument/2006/relationships/slide" Target="slide11.xml"/><Relationship Id="rId5" Type="http://schemas.openxmlformats.org/officeDocument/2006/relationships/slide" Target="slide12.xml"/><Relationship Id="rId4" Type="http://schemas.openxmlformats.org/officeDocument/2006/relationships/slide" Target="slide10.xml"/></Relationships>
</file>

<file path=ppt/slides/_rels/slide9.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slide" Target="slide12.xml"/><Relationship Id="rId4" Type="http://schemas.openxmlformats.org/officeDocument/2006/relationships/slide" Target="slide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tags" Target="../tags/tag9.xml"/><Relationship Id="rId4" Type="http://schemas.openxmlformats.org/officeDocument/2006/relationships/slide" Target="slide1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tags" Target="../tags/tag10.xml"/><Relationship Id="rId6" Type="http://schemas.openxmlformats.org/officeDocument/2006/relationships/slide" Target="slide14.xml"/><Relationship Id="rId5" Type="http://schemas.openxmlformats.org/officeDocument/2006/relationships/slide" Target="slide9.xml"/><Relationship Id="rId4" Type="http://schemas.openxmlformats.org/officeDocument/2006/relationships/slide" Target="slide1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tags" Target="../tags/tag11.xml"/><Relationship Id="rId6" Type="http://schemas.openxmlformats.org/officeDocument/2006/relationships/slide" Target="slide14.xml"/><Relationship Id="rId5" Type="http://schemas.openxmlformats.org/officeDocument/2006/relationships/slide" Target="slide9.xml"/><Relationship Id="rId4" Type="http://schemas.openxmlformats.org/officeDocument/2006/relationships/slide" Target="slide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tags" Target="../tags/tag12.xml"/><Relationship Id="rId6" Type="http://schemas.openxmlformats.org/officeDocument/2006/relationships/slide" Target="slide15.xml"/><Relationship Id="rId5" Type="http://schemas.openxmlformats.org/officeDocument/2006/relationships/slide" Target="slide9.xml"/><Relationship Id="rId4" Type="http://schemas.openxmlformats.org/officeDocument/2006/relationships/slide" Target="slide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tags" Target="../tags/tag13.xml"/><Relationship Id="rId6" Type="http://schemas.openxmlformats.org/officeDocument/2006/relationships/slide" Target="slide19.xml"/><Relationship Id="rId5" Type="http://schemas.openxmlformats.org/officeDocument/2006/relationships/slide" Target="slide9.xml"/><Relationship Id="rId4" Type="http://schemas.openxmlformats.org/officeDocument/2006/relationships/slide" Target="slide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slide" Target="slide16.xml"/><Relationship Id="rId2" Type="http://schemas.openxmlformats.org/officeDocument/2006/relationships/slideLayout" Target="../slideLayouts/slideLayout12.xml"/><Relationship Id="rId1" Type="http://schemas.openxmlformats.org/officeDocument/2006/relationships/tags" Target="../tags/tag14.xml"/><Relationship Id="rId6" Type="http://schemas.openxmlformats.org/officeDocument/2006/relationships/slide" Target="slide9.xml"/><Relationship Id="rId5" Type="http://schemas.openxmlformats.org/officeDocument/2006/relationships/slide" Target="slide15.xml"/><Relationship Id="rId4" Type="http://schemas.openxmlformats.org/officeDocument/2006/relationships/slide" Target="slide1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tags" Target="../tags/tag15.xml"/><Relationship Id="rId4" Type="http://schemas.openxmlformats.org/officeDocument/2006/relationships/slide" Target="slide19.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tags" Target="../tags/tag16.xml"/><Relationship Id="rId6" Type="http://schemas.openxmlformats.org/officeDocument/2006/relationships/slide" Target="slide19.xml"/><Relationship Id="rId5" Type="http://schemas.openxmlformats.org/officeDocument/2006/relationships/slide" Target="slide9.xml"/><Relationship Id="rId4" Type="http://schemas.openxmlformats.org/officeDocument/2006/relationships/slide" Target="slide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17.xml"/><Relationship Id="rId4" Type="http://schemas.openxmlformats.org/officeDocument/2006/relationships/slide" Target="slide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18.xml"/><Relationship Id="rId4" Type="http://schemas.openxmlformats.org/officeDocument/2006/relationships/slide" Target="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21B640B-1832-4CD9-B8C5-C3291FF7FB4A}"/>
              </a:ext>
            </a:extLst>
          </p:cNvPr>
          <p:cNvSpPr/>
          <p:nvPr/>
        </p:nvSpPr>
        <p:spPr>
          <a:xfrm>
            <a:off x="2" y="-4937"/>
            <a:ext cx="12191998" cy="6836640"/>
          </a:xfrm>
          <a:prstGeom prst="rect">
            <a:avLst/>
          </a:prstGeom>
          <a:ln/>
        </p:spPr>
        <p:style>
          <a:lnRef idx="1">
            <a:schemeClr val="accent1"/>
          </a:lnRef>
          <a:fillRef idx="2">
            <a:schemeClr val="accent1"/>
          </a:fillRef>
          <a:effectRef idx="1">
            <a:schemeClr val="accent1"/>
          </a:effectRef>
          <a:fontRef idx="minor">
            <a:schemeClr val="dk1"/>
          </a:fontRef>
        </p:style>
        <p:txBody>
          <a:bodyPr lIns="121891" tIns="60945" rIns="121891" bIns="60945" rtlCol="0" anchor="ctr">
            <a:noAutofit/>
          </a:bodyPr>
          <a:lstStyle/>
          <a:p>
            <a:pPr marL="342900" indent="-342900" algn="ctr">
              <a:buAutoNum type="arabicPeriod" startAt="3"/>
            </a:pPr>
            <a:endParaRPr lang="en-US" sz="2350" b="1" dirty="0">
              <a:cs typeface="Calibri"/>
            </a:endParaRPr>
          </a:p>
          <a:p>
            <a:pPr algn="ctr"/>
            <a:endParaRPr lang="en-US" sz="2350" b="1" dirty="0">
              <a:cs typeface="Calibri"/>
            </a:endParaRPr>
          </a:p>
        </p:txBody>
      </p:sp>
      <p:sp>
        <p:nvSpPr>
          <p:cNvPr id="9" name="Rectangle 8">
            <a:extLst>
              <a:ext uri="{FF2B5EF4-FFF2-40B4-BE49-F238E27FC236}">
                <a16:creationId xmlns:a16="http://schemas.microsoft.com/office/drawing/2014/main" id="{1E4A903F-72BB-4B1D-A97B-A7A4CDA6C365}"/>
              </a:ext>
            </a:extLst>
          </p:cNvPr>
          <p:cNvSpPr/>
          <p:nvPr/>
        </p:nvSpPr>
        <p:spPr>
          <a:xfrm>
            <a:off x="0" y="2172064"/>
            <a:ext cx="12192000" cy="466814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29466B6-88F5-4372-B599-13E86E58677B}"/>
              </a:ext>
            </a:extLst>
          </p:cNvPr>
          <p:cNvSpPr txBox="1"/>
          <p:nvPr/>
        </p:nvSpPr>
        <p:spPr>
          <a:xfrm>
            <a:off x="468625" y="2398326"/>
            <a:ext cx="10631783" cy="3123932"/>
          </a:xfrm>
          <a:prstGeom prst="rect">
            <a:avLst/>
          </a:prstGeom>
          <a:noFill/>
        </p:spPr>
        <p:txBody>
          <a:bodyPr wrap="square" rtlCol="0">
            <a:spAutoFit/>
          </a:bodyPr>
          <a:lstStyle/>
          <a:p>
            <a:pPr>
              <a:spcBef>
                <a:spcPts val="600"/>
              </a:spcBef>
            </a:pPr>
            <a:r>
              <a:rPr lang="en-US" sz="2400" b="1" dirty="0">
                <a:latin typeface="+mj-lt"/>
              </a:rPr>
              <a:t>Module 2:</a:t>
            </a:r>
            <a:r>
              <a:rPr lang="en-US" sz="2400" b="1" dirty="0">
                <a:cs typeface="Calibri Light"/>
              </a:rPr>
              <a:t> </a:t>
            </a:r>
            <a:r>
              <a:rPr lang="en-US" sz="2400" dirty="0">
                <a:latin typeface="+mj-lt"/>
              </a:rPr>
              <a:t>The Web</a:t>
            </a:r>
          </a:p>
          <a:p>
            <a:pPr>
              <a:spcBef>
                <a:spcPts val="600"/>
              </a:spcBef>
            </a:pPr>
            <a:r>
              <a:rPr lang="en-US" sz="2400" b="1" dirty="0">
                <a:latin typeface="+mj-lt"/>
                <a:cs typeface="Calibri Light"/>
              </a:rPr>
              <a:t>Lesson objective 2.5: </a:t>
            </a:r>
            <a:r>
              <a:rPr lang="en-US" sz="2400" dirty="0">
                <a:latin typeface="+mj-lt"/>
                <a:cs typeface="Calibri Light"/>
              </a:rPr>
              <a:t>Conduct online research.</a:t>
            </a:r>
          </a:p>
          <a:p>
            <a:pPr defTabSz="609463">
              <a:spcBef>
                <a:spcPct val="20000"/>
              </a:spcBef>
            </a:pPr>
            <a:r>
              <a:rPr lang="en-US" sz="2400" b="1" i="1" dirty="0">
                <a:latin typeface="+mj-lt"/>
                <a:cs typeface="Calibri Light"/>
              </a:rPr>
              <a:t>Learning objectives:</a:t>
            </a:r>
          </a:p>
          <a:p>
            <a:pPr defTabSz="609463">
              <a:spcBef>
                <a:spcPct val="20000"/>
              </a:spcBef>
            </a:pPr>
            <a:r>
              <a:rPr lang="en-US" sz="2400" dirty="0">
                <a:latin typeface="+mj-lt"/>
                <a:cs typeface="Calibri Light"/>
              </a:rPr>
              <a:t>2.5.1: Use specialty search engines.</a:t>
            </a:r>
          </a:p>
          <a:p>
            <a:pPr defTabSz="609463">
              <a:spcBef>
                <a:spcPct val="20000"/>
              </a:spcBef>
            </a:pPr>
            <a:r>
              <a:rPr lang="en-US" sz="2400" dirty="0">
                <a:latin typeface="+mj-lt"/>
                <a:cs typeface="Calibri Light"/>
              </a:rPr>
              <a:t>2.5.2: Evaluate online information.</a:t>
            </a:r>
          </a:p>
          <a:p>
            <a:pPr defTabSz="609463">
              <a:spcBef>
                <a:spcPct val="20000"/>
              </a:spcBef>
            </a:pPr>
            <a:r>
              <a:rPr lang="en-US" sz="2400" dirty="0">
                <a:latin typeface="+mj-lt"/>
                <a:cs typeface="Calibri Light"/>
              </a:rPr>
              <a:t>2.5.3: Gather content from online sources.</a:t>
            </a:r>
          </a:p>
          <a:p>
            <a:pPr defTabSz="609463">
              <a:spcBef>
                <a:spcPct val="20000"/>
              </a:spcBef>
            </a:pPr>
            <a:r>
              <a:rPr lang="en-US" sz="2400" dirty="0">
                <a:latin typeface="+mj-lt"/>
                <a:cs typeface="Calibri Light"/>
              </a:rPr>
              <a:t>2.5.4: Apply information literacy standards.</a:t>
            </a:r>
          </a:p>
        </p:txBody>
      </p:sp>
      <p:sp>
        <p:nvSpPr>
          <p:cNvPr id="4" name="TextBox 3">
            <a:extLst>
              <a:ext uri="{FF2B5EF4-FFF2-40B4-BE49-F238E27FC236}">
                <a16:creationId xmlns:a16="http://schemas.microsoft.com/office/drawing/2014/main" id="{FEFB3B33-ECC0-4BAF-99D7-7E1B8D2B739C}"/>
              </a:ext>
            </a:extLst>
          </p:cNvPr>
          <p:cNvSpPr txBox="1"/>
          <p:nvPr/>
        </p:nvSpPr>
        <p:spPr>
          <a:xfrm>
            <a:off x="283897" y="645229"/>
            <a:ext cx="10816511" cy="923330"/>
          </a:xfrm>
          <a:prstGeom prst="rect">
            <a:avLst/>
          </a:prstGeom>
          <a:noFill/>
        </p:spPr>
        <p:txBody>
          <a:bodyPr wrap="square" rtlCol="0">
            <a:spAutoFit/>
          </a:bodyPr>
          <a:lstStyle/>
          <a:p>
            <a:pPr algn="ctr"/>
            <a:r>
              <a:rPr lang="en-US" sz="5400" dirty="0">
                <a:latin typeface="+mj-lt"/>
              </a:rPr>
              <a:t>Conduct Online Research</a:t>
            </a:r>
          </a:p>
        </p:txBody>
      </p:sp>
    </p:spTree>
    <p:extLst>
      <p:ext uri="{BB962C8B-B14F-4D97-AF65-F5344CB8AC3E}">
        <p14:creationId xmlns:p14="http://schemas.microsoft.com/office/powerpoint/2010/main" val="3756210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F9E5CDD-1847-42CB-A9DA-A81CD1DEB45F}"/>
              </a:ext>
            </a:extLst>
          </p:cNvPr>
          <p:cNvSpPr>
            <a:spLocks noGrp="1"/>
          </p:cNvSpPr>
          <p:nvPr>
            <p:ph type="title"/>
          </p:nvPr>
        </p:nvSpPr>
        <p:spPr>
          <a:xfrm>
            <a:off x="891824" y="117144"/>
            <a:ext cx="10412618" cy="1143000"/>
          </a:xfrm>
        </p:spPr>
        <p:txBody>
          <a:bodyPr/>
          <a:lstStyle/>
          <a:p>
            <a:r>
              <a:rPr lang="en-US" sz="3650" dirty="0">
                <a:cs typeface="Calibri Light"/>
              </a:rPr>
              <a:t>Conduct Online Research</a:t>
            </a:r>
          </a:p>
        </p:txBody>
      </p:sp>
      <p:sp>
        <p:nvSpPr>
          <p:cNvPr id="97" name="Text Placeholder 5">
            <a:extLst>
              <a:ext uri="{FF2B5EF4-FFF2-40B4-BE49-F238E27FC236}">
                <a16:creationId xmlns:a16="http://schemas.microsoft.com/office/drawing/2014/main" id="{7AFBC8F2-D409-4084-8E81-ADD54B097CB6}"/>
              </a:ext>
            </a:extLst>
          </p:cNvPr>
          <p:cNvSpPr txBox="1">
            <a:spLocks/>
          </p:cNvSpPr>
          <p:nvPr/>
        </p:nvSpPr>
        <p:spPr>
          <a:xfrm>
            <a:off x="744182" y="1260144"/>
            <a:ext cx="10988209" cy="4819431"/>
          </a:xfrm>
          <a:prstGeom prst="rect">
            <a:avLst/>
          </a:prstGeom>
        </p:spPr>
        <p:txBody>
          <a:bodyPr lIns="121891" tIns="60945" rIns="121891" bIns="60945" anchor="t">
            <a:noAutofit/>
          </a:bodyPr>
          <a:lstStyle>
            <a:lvl1pPr marL="342900" indent="-342900" algn="l" defTabSz="914400" rtl="0" eaLnBrk="1" latinLnBrk="0" hangingPunct="1">
              <a:spcBef>
                <a:spcPct val="20000"/>
              </a:spcBef>
              <a:buFont typeface="Arial" pitchFamily="34" charset="0"/>
              <a:buChar char="•"/>
              <a:defRPr sz="20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r>
              <a:rPr lang="en-US" i="1" dirty="0">
                <a:solidFill>
                  <a:schemeClr val="tx2"/>
                </a:solidFill>
              </a:rPr>
              <a:t>Student Takeaways</a:t>
            </a:r>
          </a:p>
          <a:p>
            <a:pPr>
              <a:buNone/>
            </a:pPr>
            <a:r>
              <a:rPr lang="en-US" dirty="0">
                <a:solidFill>
                  <a:schemeClr val="tx2"/>
                </a:solidFill>
              </a:rPr>
              <a:t>In this simulation, students must decide:</a:t>
            </a:r>
          </a:p>
          <a:p>
            <a:pPr>
              <a:buNone/>
            </a:pPr>
            <a:r>
              <a:rPr lang="en-US" dirty="0">
                <a:solidFill>
                  <a:schemeClr val="tx2"/>
                </a:solidFill>
              </a:rPr>
              <a:t>•	How to most effectively use search engines</a:t>
            </a:r>
          </a:p>
          <a:p>
            <a:pPr>
              <a:buNone/>
            </a:pPr>
            <a:r>
              <a:rPr lang="en-US" dirty="0">
                <a:solidFill>
                  <a:schemeClr val="tx2"/>
                </a:solidFill>
              </a:rPr>
              <a:t>•	How to gather information from a variety of sources </a:t>
            </a:r>
          </a:p>
          <a:p>
            <a:pPr>
              <a:buNone/>
            </a:pPr>
            <a:r>
              <a:rPr lang="en-US" dirty="0">
                <a:solidFill>
                  <a:schemeClr val="tx2"/>
                </a:solidFill>
              </a:rPr>
              <a:t>•	How to determine whether a website provides accurate, reliable information</a:t>
            </a:r>
          </a:p>
          <a:p>
            <a:pPr>
              <a:buNone/>
            </a:pPr>
            <a:endParaRPr lang="en-US" dirty="0">
              <a:solidFill>
                <a:schemeClr val="tx2"/>
              </a:solidFill>
            </a:endParaRPr>
          </a:p>
          <a:p>
            <a:pPr>
              <a:buNone/>
            </a:pPr>
            <a:r>
              <a:rPr lang="en-US" i="1" dirty="0">
                <a:solidFill>
                  <a:schemeClr val="tx2"/>
                </a:solidFill>
              </a:rPr>
              <a:t>Student Tips</a:t>
            </a:r>
          </a:p>
          <a:p>
            <a:pPr>
              <a:buFont typeface="Wingdings" panose="05000000000000000000" pitchFamily="2" charset="2"/>
              <a:buChar char="ü"/>
            </a:pPr>
            <a:r>
              <a:rPr lang="en-US" dirty="0">
                <a:solidFill>
                  <a:schemeClr val="tx2"/>
                </a:solidFill>
              </a:rPr>
              <a:t>This scenario gives you the opportunity to practice working with different ways of finding information. At each step, think carefully about which way would be best to search for information and how to customize your search to obtain meaningful results.</a:t>
            </a:r>
          </a:p>
          <a:p>
            <a:pPr>
              <a:buFont typeface="Wingdings" panose="05000000000000000000" pitchFamily="2" charset="2"/>
              <a:buChar char="ü"/>
            </a:pPr>
            <a:r>
              <a:rPr lang="en-US" dirty="0">
                <a:solidFill>
                  <a:schemeClr val="tx2"/>
                </a:solidFill>
              </a:rPr>
              <a:t>As you think about how to find information for this new software, consider which information sources will provide you with the most reliable and relevant information.</a:t>
            </a:r>
          </a:p>
          <a:p>
            <a:pPr>
              <a:buFont typeface="Wingdings" panose="05000000000000000000" pitchFamily="2" charset="2"/>
              <a:buChar char="ü"/>
            </a:pPr>
            <a:r>
              <a:rPr lang="en-US" dirty="0">
                <a:solidFill>
                  <a:schemeClr val="tx2"/>
                </a:solidFill>
              </a:rPr>
              <a:t>Try to balance the need for urgency with the need for accuracy.</a:t>
            </a:r>
          </a:p>
          <a:p>
            <a:pPr>
              <a:buFont typeface="Wingdings" panose="05000000000000000000" pitchFamily="2" charset="2"/>
              <a:buChar char="ü"/>
            </a:pPr>
            <a:r>
              <a:rPr lang="en-US" dirty="0">
                <a:solidFill>
                  <a:schemeClr val="tx2"/>
                </a:solidFill>
              </a:rPr>
              <a:t>Make sure you accurately understand the user needs you’re trying to fulfill.</a:t>
            </a:r>
            <a:endParaRPr lang="en-JM" dirty="0">
              <a:solidFill>
                <a:schemeClr val="tx2"/>
              </a:solidFill>
            </a:endParaRPr>
          </a:p>
          <a:p>
            <a:pPr>
              <a:buNone/>
            </a:pPr>
            <a:endParaRPr lang="en-US" dirty="0">
              <a:solidFill>
                <a:schemeClr val="tx2"/>
              </a:solidFill>
            </a:endParaRPr>
          </a:p>
        </p:txBody>
      </p:sp>
    </p:spTree>
    <p:custDataLst>
      <p:tags r:id="rId1"/>
    </p:custDataLst>
    <p:extLst>
      <p:ext uri="{BB962C8B-B14F-4D97-AF65-F5344CB8AC3E}">
        <p14:creationId xmlns:p14="http://schemas.microsoft.com/office/powerpoint/2010/main" val="2374823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583722" y="0"/>
            <a:ext cx="10515600" cy="1325563"/>
          </a:xfrm>
        </p:spPr>
        <p:txBody>
          <a:bodyPr/>
          <a:lstStyle/>
          <a:p>
            <a:r>
              <a:rPr lang="en-US" sz="3650" dirty="0"/>
              <a:t>Introduction</a:t>
            </a:r>
            <a:endParaRPr lang="en-JM" dirty="0"/>
          </a:p>
        </p:txBody>
      </p:sp>
      <p:sp>
        <p:nvSpPr>
          <p:cNvPr id="2" name="TextBox 1">
            <a:extLst>
              <a:ext uri="{FF2B5EF4-FFF2-40B4-BE49-F238E27FC236}">
                <a16:creationId xmlns:a16="http://schemas.microsoft.com/office/drawing/2014/main" id="{8E61185D-0285-4C9D-8544-02C370D1F1FF}"/>
              </a:ext>
            </a:extLst>
          </p:cNvPr>
          <p:cNvSpPr txBox="1"/>
          <p:nvPr/>
        </p:nvSpPr>
        <p:spPr>
          <a:xfrm>
            <a:off x="583722" y="1617800"/>
            <a:ext cx="10515600" cy="3231654"/>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cs typeface="Calibri"/>
              </a:rPr>
              <a:t>You work at a virtual reality start-up company, Mesmerize, which has almost 100 employees in three worldwide cities. You are a new employee and are really excited about your job, eager to make a good impression in your first few months. </a:t>
            </a:r>
          </a:p>
          <a:p>
            <a:endParaRPr lang="en-US" dirty="0">
              <a:cs typeface="Calibri"/>
            </a:endParaRPr>
          </a:p>
          <a:p>
            <a:endParaRPr lang="en-US" dirty="0">
              <a:cs typeface="Calibri"/>
            </a:endParaRPr>
          </a:p>
          <a:p>
            <a:endParaRPr lang="en-US" dirty="0">
              <a:cs typeface="Calibri"/>
            </a:endParaRPr>
          </a:p>
          <a:p>
            <a:endParaRPr lang="en-US" dirty="0">
              <a:cs typeface="Calibri"/>
            </a:endParaRPr>
          </a:p>
          <a:p>
            <a:endParaRPr lang="en-US" dirty="0">
              <a:cs typeface="Calibri"/>
            </a:endParaRPr>
          </a:p>
          <a:p>
            <a:endParaRPr lang="en-US" dirty="0">
              <a:cs typeface="Calibri"/>
            </a:endParaRPr>
          </a:p>
          <a:p>
            <a:endParaRPr lang="en-US" dirty="0">
              <a:cs typeface="Calibri"/>
            </a:endParaRPr>
          </a:p>
          <a:p>
            <a:r>
              <a:rPr lang="en-US" dirty="0">
                <a:solidFill>
                  <a:schemeClr val="tx2"/>
                </a:solidFill>
                <a:ea typeface="Calibri"/>
                <a:cs typeface="Calibri"/>
                <a:hlinkClick r:id="rId4" action="ppaction://hlinksldjump"/>
              </a:rPr>
              <a:t>Continue</a:t>
            </a:r>
            <a:endParaRPr lang="en-US" dirty="0">
              <a:solidFill>
                <a:schemeClr val="tx2"/>
              </a:solidFill>
              <a:ea typeface="Calibri"/>
              <a:cs typeface="Calibri"/>
            </a:endParaRPr>
          </a:p>
        </p:txBody>
      </p:sp>
    </p:spTree>
    <p:custDataLst>
      <p:tags r:id="rId1"/>
    </p:custDataLst>
    <p:extLst>
      <p:ext uri="{BB962C8B-B14F-4D97-AF65-F5344CB8AC3E}">
        <p14:creationId xmlns:p14="http://schemas.microsoft.com/office/powerpoint/2010/main" val="361845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583722" y="0"/>
            <a:ext cx="10515600" cy="1325563"/>
          </a:xfrm>
        </p:spPr>
        <p:txBody>
          <a:bodyPr/>
          <a:lstStyle/>
          <a:p>
            <a:r>
              <a:rPr lang="en-US" sz="3650" dirty="0"/>
              <a:t>Level1_Decision1</a:t>
            </a:r>
            <a:endParaRPr lang="en-JM" dirty="0"/>
          </a:p>
        </p:txBody>
      </p:sp>
      <p:sp>
        <p:nvSpPr>
          <p:cNvPr id="2" name="TextBox 1">
            <a:extLst>
              <a:ext uri="{FF2B5EF4-FFF2-40B4-BE49-F238E27FC236}">
                <a16:creationId xmlns:a16="http://schemas.microsoft.com/office/drawing/2014/main" id="{8E61185D-0285-4C9D-8544-02C370D1F1FF}"/>
              </a:ext>
            </a:extLst>
          </p:cNvPr>
          <p:cNvSpPr txBox="1"/>
          <p:nvPr/>
        </p:nvSpPr>
        <p:spPr>
          <a:xfrm>
            <a:off x="1775250" y="2413337"/>
            <a:ext cx="9324071" cy="203132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cs typeface="Calibri"/>
            </a:endParaRPr>
          </a:p>
          <a:p>
            <a:r>
              <a:rPr lang="en-US" dirty="0">
                <a:cs typeface="Calibri"/>
                <a:hlinkClick r:id="rId4" action="ppaction://hlinksldjump"/>
              </a:rPr>
              <a:t>You prefer to ask someone in technology about video conferencing. You head to the big box tech store to speak to a salesperson in person. </a:t>
            </a:r>
            <a:r>
              <a:rPr lang="en-US" b="1" dirty="0">
                <a:solidFill>
                  <a:schemeClr val="tx2"/>
                </a:solidFill>
                <a:ea typeface="Calibri"/>
                <a:cs typeface="Calibri"/>
                <a:hlinkClick r:id="rId4" action="ppaction://hlinksldjump"/>
              </a:rPr>
              <a:t>[Level1_Decision1_OptionA]</a:t>
            </a:r>
            <a:endParaRPr lang="en-US" b="1" dirty="0">
              <a:solidFill>
                <a:schemeClr val="tx2"/>
              </a:solidFill>
              <a:ea typeface="Calibri"/>
              <a:cs typeface="Calibri"/>
            </a:endParaRPr>
          </a:p>
          <a:p>
            <a:endParaRPr lang="en-US" b="1" dirty="0">
              <a:solidFill>
                <a:schemeClr val="tx2"/>
              </a:solidFill>
              <a:ea typeface="Calibri"/>
              <a:cs typeface="Calibri"/>
            </a:endParaRPr>
          </a:p>
          <a:p>
            <a:r>
              <a:rPr lang="en-US" dirty="0">
                <a:cs typeface="Calibri"/>
              </a:rPr>
              <a:t> </a:t>
            </a:r>
            <a:r>
              <a:rPr lang="en-US" dirty="0">
                <a:cs typeface="Calibri"/>
                <a:hlinkClick r:id="rId5" action="ppaction://hlinksldjump"/>
              </a:rPr>
              <a:t>You prefer using a search engine like Google or Bing to begin understanding  modern video conferencing features. </a:t>
            </a:r>
            <a:r>
              <a:rPr lang="en-US" b="1" dirty="0">
                <a:cs typeface="Calibri"/>
                <a:hlinkClick r:id="rId5" action="ppaction://hlinksldjump"/>
              </a:rPr>
              <a:t>[Level1_Decision1_OptionB]</a:t>
            </a:r>
            <a:endParaRPr lang="en-US" b="1" dirty="0">
              <a:cs typeface="Calibri"/>
            </a:endParaRPr>
          </a:p>
          <a:p>
            <a:pPr marL="342900" indent="-342900">
              <a:buAutoNum type="alphaLcPeriod"/>
            </a:pPr>
            <a:endParaRPr lang="en-US" dirty="0">
              <a:cs typeface="Calibri"/>
            </a:endParaRPr>
          </a:p>
        </p:txBody>
      </p:sp>
      <p:sp>
        <p:nvSpPr>
          <p:cNvPr id="6" name="Text Placeholder 3">
            <a:extLst>
              <a:ext uri="{FF2B5EF4-FFF2-40B4-BE49-F238E27FC236}">
                <a16:creationId xmlns:a16="http://schemas.microsoft.com/office/drawing/2014/main" id="{9DEAAA27-1970-4D57-A7A1-2803714BE3F1}"/>
              </a:ext>
            </a:extLst>
          </p:cNvPr>
          <p:cNvSpPr txBox="1">
            <a:spLocks/>
          </p:cNvSpPr>
          <p:nvPr/>
        </p:nvSpPr>
        <p:spPr>
          <a:xfrm>
            <a:off x="1402370" y="2760749"/>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8" name="Text Placeholder 3">
            <a:extLst>
              <a:ext uri="{FF2B5EF4-FFF2-40B4-BE49-F238E27FC236}">
                <a16:creationId xmlns:a16="http://schemas.microsoft.com/office/drawing/2014/main" id="{926D70D5-EB13-4093-BECB-81F1251098A9}"/>
              </a:ext>
            </a:extLst>
          </p:cNvPr>
          <p:cNvSpPr txBox="1">
            <a:spLocks/>
          </p:cNvSpPr>
          <p:nvPr/>
        </p:nvSpPr>
        <p:spPr>
          <a:xfrm>
            <a:off x="1365596" y="3596957"/>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9" name="Arrow: Pentagon 8">
            <a:extLst>
              <a:ext uri="{FF2B5EF4-FFF2-40B4-BE49-F238E27FC236}">
                <a16:creationId xmlns:a16="http://schemas.microsoft.com/office/drawing/2014/main" id="{8F404360-1572-461B-AA7C-9BB2B60C2498}"/>
              </a:ext>
            </a:extLst>
          </p:cNvPr>
          <p:cNvSpPr/>
          <p:nvPr/>
        </p:nvSpPr>
        <p:spPr>
          <a:xfrm>
            <a:off x="298796" y="2825446"/>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0" name="Arrow: Pentagon 9">
            <a:extLst>
              <a:ext uri="{FF2B5EF4-FFF2-40B4-BE49-F238E27FC236}">
                <a16:creationId xmlns:a16="http://schemas.microsoft.com/office/drawing/2014/main" id="{5CC9B2A5-6132-4D18-8BB3-52C9C9C0BACA}"/>
              </a:ext>
            </a:extLst>
          </p:cNvPr>
          <p:cNvSpPr/>
          <p:nvPr/>
        </p:nvSpPr>
        <p:spPr>
          <a:xfrm>
            <a:off x="298796" y="3630186"/>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5" name="TextBox 4">
            <a:extLst>
              <a:ext uri="{FF2B5EF4-FFF2-40B4-BE49-F238E27FC236}">
                <a16:creationId xmlns:a16="http://schemas.microsoft.com/office/drawing/2014/main" id="{64F938D1-16E6-42FF-B2BD-484BAF9D27AF}"/>
              </a:ext>
            </a:extLst>
          </p:cNvPr>
          <p:cNvSpPr txBox="1"/>
          <p:nvPr/>
        </p:nvSpPr>
        <p:spPr>
          <a:xfrm>
            <a:off x="583722" y="983932"/>
            <a:ext cx="10515597" cy="1600438"/>
          </a:xfrm>
          <a:prstGeom prst="rect">
            <a:avLst/>
          </a:prstGeom>
          <a:noFill/>
        </p:spPr>
        <p:txBody>
          <a:bodyPr wrap="square" rtlCol="0">
            <a:spAutoFit/>
          </a:bodyPr>
          <a:lstStyle/>
          <a:p>
            <a:r>
              <a:rPr lang="en-US" sz="2000" dirty="0">
                <a:cs typeface="Calibri"/>
              </a:rPr>
              <a:t>You are just getting started on your first big project. You and your colleague Mia are challenged with finding the perfect video conference solution to enable the company’s 100 employees to collaborate across 3 cities worldwide. You want to impress your team with your selection, but where to even start?</a:t>
            </a:r>
          </a:p>
          <a:p>
            <a:endParaRPr lang="en-US" dirty="0"/>
          </a:p>
        </p:txBody>
      </p:sp>
      <p:sp>
        <p:nvSpPr>
          <p:cNvPr id="12" name="TextBox 11">
            <a:extLst>
              <a:ext uri="{FF2B5EF4-FFF2-40B4-BE49-F238E27FC236}">
                <a16:creationId xmlns:a16="http://schemas.microsoft.com/office/drawing/2014/main" id="{AB24C7A4-DBF4-464B-AD35-DE215D1132BB}"/>
              </a:ext>
            </a:extLst>
          </p:cNvPr>
          <p:cNvSpPr txBox="1"/>
          <p:nvPr/>
        </p:nvSpPr>
        <p:spPr>
          <a:xfrm>
            <a:off x="583722" y="4847033"/>
            <a:ext cx="1051559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Either information source can be a good place to start.</a:t>
            </a:r>
          </a:p>
        </p:txBody>
      </p:sp>
      <p:sp>
        <p:nvSpPr>
          <p:cNvPr id="13" name="TextBox 12">
            <a:extLst>
              <a:ext uri="{FF2B5EF4-FFF2-40B4-BE49-F238E27FC236}">
                <a16:creationId xmlns:a16="http://schemas.microsoft.com/office/drawing/2014/main" id="{BD4196AF-7E2F-4A1C-850F-5B6E6FCB72C6}"/>
              </a:ext>
            </a:extLst>
          </p:cNvPr>
          <p:cNvSpPr txBox="1"/>
          <p:nvPr/>
        </p:nvSpPr>
        <p:spPr>
          <a:xfrm>
            <a:off x="583721" y="5860072"/>
            <a:ext cx="1051559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Option A: Student will need to choose whether to buy right away or do more research.</a:t>
            </a:r>
          </a:p>
          <a:p>
            <a:r>
              <a:rPr lang="en-US" dirty="0">
                <a:solidFill>
                  <a:prstClr val="black"/>
                </a:solidFill>
              </a:rPr>
              <a:t>If Option B: Student will need to choose a link from Google search results.</a:t>
            </a:r>
          </a:p>
        </p:txBody>
      </p:sp>
    </p:spTree>
    <p:custDataLst>
      <p:tags r:id="rId1"/>
    </p:custDataLst>
    <p:extLst>
      <p:ext uri="{BB962C8B-B14F-4D97-AF65-F5344CB8AC3E}">
        <p14:creationId xmlns:p14="http://schemas.microsoft.com/office/powerpoint/2010/main" val="380893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727494" y="121500"/>
            <a:ext cx="10412618" cy="1143000"/>
          </a:xfrm>
        </p:spPr>
        <p:txBody>
          <a:bodyPr/>
          <a:lstStyle/>
          <a:p>
            <a:r>
              <a:rPr lang="en-JM" sz="3650" dirty="0">
                <a:solidFill>
                  <a:schemeClr val="tx1"/>
                </a:solidFill>
              </a:rPr>
              <a:t>Level 2_Decision 1</a:t>
            </a:r>
            <a:br>
              <a:rPr lang="en-JM" dirty="0"/>
            </a:br>
            <a:endParaRPr lang="en-JM" dirty="0"/>
          </a:p>
        </p:txBody>
      </p:sp>
      <p:sp>
        <p:nvSpPr>
          <p:cNvPr id="2" name="TextBox 1">
            <a:extLst>
              <a:ext uri="{FF2B5EF4-FFF2-40B4-BE49-F238E27FC236}">
                <a16:creationId xmlns:a16="http://schemas.microsoft.com/office/drawing/2014/main" id="{8E61185D-0285-4C9D-8544-02C370D1F1FF}"/>
              </a:ext>
            </a:extLst>
          </p:cNvPr>
          <p:cNvSpPr txBox="1"/>
          <p:nvPr/>
        </p:nvSpPr>
        <p:spPr>
          <a:xfrm>
            <a:off x="1686547" y="2704358"/>
            <a:ext cx="9453093" cy="2585323"/>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hlinkClick r:id="rId4" action="ppaction://hlinksldjump"/>
              </a:rPr>
              <a:t>Follow the salesperson’s recommendation to buy two inexpensive webcams and use a free download from a personal videoconferencing website that he tried once. </a:t>
            </a:r>
            <a:r>
              <a:rPr lang="en-US" b="1" dirty="0">
                <a:solidFill>
                  <a:schemeClr val="tx2"/>
                </a:solidFill>
                <a:ea typeface="Calibri"/>
                <a:cs typeface="Calibri"/>
                <a:hlinkClick r:id="rId4" action="ppaction://hlinksldjump"/>
              </a:rPr>
              <a:t>[Level2_Decision1_OptionA]</a:t>
            </a:r>
            <a:endParaRPr lang="en-US" b="1" dirty="0">
              <a:solidFill>
                <a:schemeClr val="tx2"/>
              </a:solidFill>
              <a:ea typeface="Calibri"/>
              <a:cs typeface="Calibri"/>
            </a:endParaRPr>
          </a:p>
          <a:p>
            <a:pPr marL="342900" indent="-342900">
              <a:buAutoNum type="alphaUcPeriod"/>
            </a:pPr>
            <a:endParaRPr lang="en-US" dirty="0">
              <a:cs typeface="Calibri"/>
            </a:endParaRPr>
          </a:p>
          <a:p>
            <a:r>
              <a:rPr lang="en-US" dirty="0">
                <a:cs typeface="Calibri"/>
                <a:hlinkClick r:id="rId5" action="ppaction://hlinksldjump"/>
              </a:rPr>
              <a:t>Listen to the salesperson’s recommendation and take notes. You agree not to purchase anything yet. You head back to the office to do more research.</a:t>
            </a:r>
            <a:r>
              <a:rPr lang="en-US" dirty="0">
                <a:solidFill>
                  <a:schemeClr val="tx2"/>
                </a:solidFill>
                <a:ea typeface="Calibri"/>
                <a:cs typeface="Calibri"/>
                <a:hlinkClick r:id="rId5" action="ppaction://hlinksldjump"/>
              </a:rPr>
              <a:t> </a:t>
            </a:r>
            <a:r>
              <a:rPr lang="en-US" b="1" dirty="0">
                <a:solidFill>
                  <a:schemeClr val="tx2"/>
                </a:solidFill>
                <a:ea typeface="Calibri"/>
                <a:cs typeface="Calibri"/>
                <a:hlinkClick r:id="rId5" action="ppaction://hlinksldjump"/>
              </a:rPr>
              <a:t>[Level2_Decision1_OptionB]</a:t>
            </a:r>
            <a:endParaRPr lang="en-US" b="1" dirty="0">
              <a:solidFill>
                <a:schemeClr val="tx2"/>
              </a:solidFill>
              <a:ea typeface="Calibri"/>
              <a:cs typeface="Calibri"/>
            </a:endParaRPr>
          </a:p>
          <a:p>
            <a:pPr marL="342900" indent="-342900">
              <a:buAutoNum type="alphaUcPeriod"/>
            </a:pPr>
            <a:endParaRPr lang="en-US" dirty="0">
              <a:cs typeface="Calibri"/>
            </a:endParaRPr>
          </a:p>
          <a:p>
            <a:endParaRPr lang="en-US" dirty="0">
              <a:cs typeface="Calibri"/>
            </a:endParaRPr>
          </a:p>
          <a:p>
            <a:pPr algn="ctr"/>
            <a:endParaRPr lang="en-US" dirty="0">
              <a:cs typeface="Calibri"/>
            </a:endParaRPr>
          </a:p>
        </p:txBody>
      </p:sp>
      <p:sp>
        <p:nvSpPr>
          <p:cNvPr id="5" name="Text Placeholder 3">
            <a:extLst>
              <a:ext uri="{FF2B5EF4-FFF2-40B4-BE49-F238E27FC236}">
                <a16:creationId xmlns:a16="http://schemas.microsoft.com/office/drawing/2014/main" id="{3CDB4E99-84D5-4238-9ADD-D751DBD4F7F5}"/>
              </a:ext>
            </a:extLst>
          </p:cNvPr>
          <p:cNvSpPr txBox="1">
            <a:spLocks/>
          </p:cNvSpPr>
          <p:nvPr/>
        </p:nvSpPr>
        <p:spPr>
          <a:xfrm>
            <a:off x="1140270" y="2704358"/>
            <a:ext cx="56667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6" name="Text Placeholder 3">
            <a:extLst>
              <a:ext uri="{FF2B5EF4-FFF2-40B4-BE49-F238E27FC236}">
                <a16:creationId xmlns:a16="http://schemas.microsoft.com/office/drawing/2014/main" id="{DFA52D6B-F579-4016-B375-FD4BC875D564}"/>
              </a:ext>
            </a:extLst>
          </p:cNvPr>
          <p:cNvSpPr txBox="1">
            <a:spLocks/>
          </p:cNvSpPr>
          <p:nvPr/>
        </p:nvSpPr>
        <p:spPr>
          <a:xfrm>
            <a:off x="1125894" y="3781940"/>
            <a:ext cx="579730"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extBox 3">
            <a:extLst>
              <a:ext uri="{FF2B5EF4-FFF2-40B4-BE49-F238E27FC236}">
                <a16:creationId xmlns:a16="http://schemas.microsoft.com/office/drawing/2014/main" id="{4C3C3318-5674-4F53-9DEA-EEB88B374BAE}"/>
              </a:ext>
            </a:extLst>
          </p:cNvPr>
          <p:cNvSpPr txBox="1"/>
          <p:nvPr/>
        </p:nvSpPr>
        <p:spPr>
          <a:xfrm>
            <a:off x="790619" y="1261347"/>
            <a:ext cx="10349021" cy="1600438"/>
          </a:xfrm>
          <a:prstGeom prst="rect">
            <a:avLst/>
          </a:prstGeom>
          <a:noFill/>
        </p:spPr>
        <p:txBody>
          <a:bodyPr wrap="square" rtlCol="0">
            <a:spAutoFit/>
          </a:bodyPr>
          <a:lstStyle/>
          <a:p>
            <a:r>
              <a:rPr lang="en-US" sz="2000" dirty="0">
                <a:cs typeface="Calibri"/>
              </a:rPr>
              <a:t>You and Mia arrive at the Technology Big Box Store and look for over 15 minutes for an available salesperson. You ask a new salesperson (their first week) about what they would recommend for video conferencing. The salesperson walks you over to audio/video equipment What do you do next?</a:t>
            </a:r>
          </a:p>
          <a:p>
            <a:endParaRPr lang="en-US" dirty="0"/>
          </a:p>
        </p:txBody>
      </p:sp>
      <p:sp>
        <p:nvSpPr>
          <p:cNvPr id="8" name="Arrow: Pentagon 7">
            <a:extLst>
              <a:ext uri="{FF2B5EF4-FFF2-40B4-BE49-F238E27FC236}">
                <a16:creationId xmlns:a16="http://schemas.microsoft.com/office/drawing/2014/main" id="{6C8174A7-09B5-465D-9F2D-9514ECA92D2E}"/>
              </a:ext>
            </a:extLst>
          </p:cNvPr>
          <p:cNvSpPr/>
          <p:nvPr/>
        </p:nvSpPr>
        <p:spPr>
          <a:xfrm>
            <a:off x="73470" y="3793485"/>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0" name="TextBox 9">
            <a:extLst>
              <a:ext uri="{FF2B5EF4-FFF2-40B4-BE49-F238E27FC236}">
                <a16:creationId xmlns:a16="http://schemas.microsoft.com/office/drawing/2014/main" id="{90672BB4-4752-4CE7-9C7B-EE7966F5F52C}"/>
              </a:ext>
            </a:extLst>
          </p:cNvPr>
          <p:cNvSpPr txBox="1"/>
          <p:nvPr/>
        </p:nvSpPr>
        <p:spPr>
          <a:xfrm>
            <a:off x="727493" y="4912169"/>
            <a:ext cx="10412146"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Students haven’t collected nearly enough information yet to make a buy decision and should conduct further research.</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B578A0A6-ED6B-4C36-9AD0-BFEE9E6B1A12}"/>
              </a:ext>
            </a:extLst>
          </p:cNvPr>
          <p:cNvSpPr txBox="1"/>
          <p:nvPr/>
        </p:nvSpPr>
        <p:spPr>
          <a:xfrm>
            <a:off x="727493" y="6014582"/>
            <a:ext cx="10412146"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Option A: Student will need to choose an information source for more research.</a:t>
            </a:r>
          </a:p>
          <a:p>
            <a:r>
              <a:rPr lang="en-US" dirty="0">
                <a:solidFill>
                  <a:prstClr val="black"/>
                </a:solidFill>
              </a:rPr>
              <a:t>If Option B: Student will need to choose a link from Google search results.</a:t>
            </a:r>
          </a:p>
        </p:txBody>
      </p:sp>
      <p:sp>
        <p:nvSpPr>
          <p:cNvPr id="13" name="TextBox 12">
            <a:extLst>
              <a:ext uri="{FF2B5EF4-FFF2-40B4-BE49-F238E27FC236}">
                <a16:creationId xmlns:a16="http://schemas.microsoft.com/office/drawing/2014/main" id="{D936D05D-D5E1-4E79-B083-5C3122F6F35D}"/>
              </a:ext>
            </a:extLst>
          </p:cNvPr>
          <p:cNvSpPr txBox="1"/>
          <p:nvPr/>
        </p:nvSpPr>
        <p:spPr>
          <a:xfrm>
            <a:off x="790147" y="693000"/>
            <a:ext cx="9570720"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talk with a store salesperson.</a:t>
            </a:r>
          </a:p>
        </p:txBody>
      </p:sp>
    </p:spTree>
    <p:custDataLst>
      <p:tags r:id="rId1"/>
    </p:custDataLst>
    <p:extLst>
      <p:ext uri="{BB962C8B-B14F-4D97-AF65-F5344CB8AC3E}">
        <p14:creationId xmlns:p14="http://schemas.microsoft.com/office/powerpoint/2010/main" val="1508347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889691" y="0"/>
            <a:ext cx="10412618" cy="1143000"/>
          </a:xfrm>
        </p:spPr>
        <p:txBody>
          <a:bodyPr/>
          <a:lstStyle/>
          <a:p>
            <a:r>
              <a:rPr lang="en-JM" sz="3650" dirty="0">
                <a:solidFill>
                  <a:schemeClr val="tx1"/>
                </a:solidFill>
              </a:rPr>
              <a:t>Level 3_Decision 1</a:t>
            </a:r>
            <a:br>
              <a:rPr lang="en-JM" sz="2800" dirty="0"/>
            </a:br>
            <a:endParaRPr lang="en-JM" dirty="0"/>
          </a:p>
        </p:txBody>
      </p:sp>
      <p:sp>
        <p:nvSpPr>
          <p:cNvPr id="2" name="TextBox 1">
            <a:extLst>
              <a:ext uri="{FF2B5EF4-FFF2-40B4-BE49-F238E27FC236}">
                <a16:creationId xmlns:a16="http://schemas.microsoft.com/office/drawing/2014/main" id="{8E61185D-0285-4C9D-8544-02C370D1F1FF}"/>
              </a:ext>
            </a:extLst>
          </p:cNvPr>
          <p:cNvSpPr txBox="1"/>
          <p:nvPr/>
        </p:nvSpPr>
        <p:spPr>
          <a:xfrm>
            <a:off x="1764939" y="2897658"/>
            <a:ext cx="9537367" cy="203132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hlinkClick r:id="rId4" action="ppaction://hlinksldjump"/>
              </a:rPr>
              <a:t>You return the cameras to the Big Box Store and decide to check online for more information using a search engine. </a:t>
            </a:r>
            <a:r>
              <a:rPr lang="en-US" b="1" dirty="0">
                <a:solidFill>
                  <a:schemeClr val="tx2"/>
                </a:solidFill>
                <a:ea typeface="Calibri"/>
                <a:cs typeface="Calibri"/>
                <a:hlinkClick r:id="rId4" action="ppaction://hlinksldjump"/>
              </a:rPr>
              <a:t>[Level3_Decision1_OptionA]</a:t>
            </a:r>
            <a:endParaRPr lang="en-US" b="1" dirty="0">
              <a:solidFill>
                <a:schemeClr val="tx2"/>
              </a:solidFill>
              <a:ea typeface="Calibri"/>
              <a:cs typeface="Calibri"/>
            </a:endParaRPr>
          </a:p>
          <a:p>
            <a:pPr marL="342900" indent="-342900">
              <a:buAutoNum type="alphaLcPeriod"/>
            </a:pPr>
            <a:endParaRPr lang="en-US" dirty="0">
              <a:cs typeface="Calibri"/>
            </a:endParaRPr>
          </a:p>
          <a:p>
            <a:r>
              <a:rPr lang="en-US" dirty="0">
                <a:cs typeface="Calibri"/>
              </a:rPr>
              <a:t> </a:t>
            </a:r>
            <a:r>
              <a:rPr lang="en-US" dirty="0">
                <a:cs typeface="Calibri"/>
                <a:hlinkClick r:id="rId5" action="ppaction://hlinksldjump"/>
              </a:rPr>
              <a:t>Mia suggests connecting with past colleagues for their videoconferencing recommendations and look at professional social network recommendations. </a:t>
            </a:r>
            <a:r>
              <a:rPr lang="en-US" b="1" dirty="0">
                <a:solidFill>
                  <a:schemeClr val="tx2"/>
                </a:solidFill>
                <a:ea typeface="Calibri"/>
                <a:cs typeface="Calibri"/>
                <a:hlinkClick r:id="rId5" action="ppaction://hlinksldjump"/>
              </a:rPr>
              <a:t>[Level3_Decision1_OptionB]</a:t>
            </a:r>
            <a:endParaRPr lang="en-US" b="1" dirty="0">
              <a:solidFill>
                <a:schemeClr val="tx2"/>
              </a:solidFill>
              <a:ea typeface="Calibri"/>
              <a:cs typeface="Calibri"/>
            </a:endParaRPr>
          </a:p>
          <a:p>
            <a:endParaRPr lang="en-US" dirty="0">
              <a:cs typeface="Calibri"/>
            </a:endParaRPr>
          </a:p>
          <a:p>
            <a:pPr algn="ctr"/>
            <a:endParaRPr lang="en-US" dirty="0">
              <a:cs typeface="Calibri"/>
            </a:endParaRPr>
          </a:p>
        </p:txBody>
      </p:sp>
      <p:sp>
        <p:nvSpPr>
          <p:cNvPr id="6" name="Text Placeholder 3">
            <a:extLst>
              <a:ext uri="{FF2B5EF4-FFF2-40B4-BE49-F238E27FC236}">
                <a16:creationId xmlns:a16="http://schemas.microsoft.com/office/drawing/2014/main" id="{51207E39-B029-4E85-B008-81E87CBF352B}"/>
              </a:ext>
            </a:extLst>
          </p:cNvPr>
          <p:cNvSpPr txBox="1">
            <a:spLocks/>
          </p:cNvSpPr>
          <p:nvPr/>
        </p:nvSpPr>
        <p:spPr>
          <a:xfrm>
            <a:off x="1140741" y="3025139"/>
            <a:ext cx="613643"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7" name="Text Placeholder 3">
            <a:extLst>
              <a:ext uri="{FF2B5EF4-FFF2-40B4-BE49-F238E27FC236}">
                <a16:creationId xmlns:a16="http://schemas.microsoft.com/office/drawing/2014/main" id="{FA5FF77C-E6AA-4983-AABF-60E979598A43}"/>
              </a:ext>
            </a:extLst>
          </p:cNvPr>
          <p:cNvSpPr txBox="1">
            <a:spLocks/>
          </p:cNvSpPr>
          <p:nvPr/>
        </p:nvSpPr>
        <p:spPr>
          <a:xfrm>
            <a:off x="1140741" y="3840575"/>
            <a:ext cx="627777"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9" name="TextBox 8">
            <a:extLst>
              <a:ext uri="{FF2B5EF4-FFF2-40B4-BE49-F238E27FC236}">
                <a16:creationId xmlns:a16="http://schemas.microsoft.com/office/drawing/2014/main" id="{7C00A017-E990-4029-8B0B-311F85E0681D}"/>
              </a:ext>
            </a:extLst>
          </p:cNvPr>
          <p:cNvSpPr txBox="1"/>
          <p:nvPr/>
        </p:nvSpPr>
        <p:spPr>
          <a:xfrm>
            <a:off x="889685" y="1025415"/>
            <a:ext cx="10412618" cy="1908215"/>
          </a:xfrm>
          <a:prstGeom prst="rect">
            <a:avLst/>
          </a:prstGeom>
          <a:noFill/>
        </p:spPr>
        <p:txBody>
          <a:bodyPr wrap="square" rtlCol="0">
            <a:spAutoFit/>
          </a:bodyPr>
          <a:lstStyle/>
          <a:p>
            <a:r>
              <a:rPr lang="en-US" sz="2000" dirty="0">
                <a:cs typeface="Calibri"/>
              </a:rPr>
              <a:t>You return to the office with new webcams and instructions to download a free video conferencing program on each of your computers. Two hours later, you finally plug in the new webcams and try the free conferencing app. The video graphics are grainy and blurry when you connect with Mia online.  The free software conference trial states that you can only use this software for one-to-one conversations, and it expires in 10 days. What should you do next?</a:t>
            </a:r>
            <a:endParaRPr lang="en-US" sz="2000" dirty="0">
              <a:cs typeface="Calibri"/>
              <a:hlinkClick r:id="rId6" action="ppaction://hlinksldjump">
                <a:extLst>
                  <a:ext uri="{A12FA001-AC4F-418D-AE19-62706E023703}">
                    <ahyp:hlinkClr xmlns:ahyp="http://schemas.microsoft.com/office/drawing/2018/hyperlinkcolor" val="tx"/>
                  </a:ext>
                </a:extLst>
              </a:hlinkClick>
            </a:endParaRPr>
          </a:p>
          <a:p>
            <a:endParaRPr lang="en-US" dirty="0"/>
          </a:p>
        </p:txBody>
      </p:sp>
      <p:sp>
        <p:nvSpPr>
          <p:cNvPr id="10" name="Arrow: Pentagon 9">
            <a:extLst>
              <a:ext uri="{FF2B5EF4-FFF2-40B4-BE49-F238E27FC236}">
                <a16:creationId xmlns:a16="http://schemas.microsoft.com/office/drawing/2014/main" id="{6E15CB48-0E28-4C5F-B6C4-D1076C50F99D}"/>
              </a:ext>
            </a:extLst>
          </p:cNvPr>
          <p:cNvSpPr/>
          <p:nvPr/>
        </p:nvSpPr>
        <p:spPr>
          <a:xfrm>
            <a:off x="73941" y="3837679"/>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1" name="Arrow: Pentagon 10">
            <a:extLst>
              <a:ext uri="{FF2B5EF4-FFF2-40B4-BE49-F238E27FC236}">
                <a16:creationId xmlns:a16="http://schemas.microsoft.com/office/drawing/2014/main" id="{CFDBD3C3-9BD3-4C24-BD72-D86C18A641D7}"/>
              </a:ext>
            </a:extLst>
          </p:cNvPr>
          <p:cNvSpPr/>
          <p:nvPr/>
        </p:nvSpPr>
        <p:spPr>
          <a:xfrm>
            <a:off x="73941" y="3058814"/>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2" name="TextBox 11">
            <a:extLst>
              <a:ext uri="{FF2B5EF4-FFF2-40B4-BE49-F238E27FC236}">
                <a16:creationId xmlns:a16="http://schemas.microsoft.com/office/drawing/2014/main" id="{0F1CB60E-6913-4B42-84B3-6EA9C4511E47}"/>
              </a:ext>
            </a:extLst>
          </p:cNvPr>
          <p:cNvSpPr txBox="1"/>
          <p:nvPr/>
        </p:nvSpPr>
        <p:spPr>
          <a:xfrm>
            <a:off x="889682" y="4859575"/>
            <a:ext cx="10412618"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Students need a lot more information before making a recommendation and should conduct further research. Either option here is a good next step.</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CE5EDA81-D365-4C3E-A394-4EDA19157902}"/>
              </a:ext>
            </a:extLst>
          </p:cNvPr>
          <p:cNvSpPr txBox="1"/>
          <p:nvPr/>
        </p:nvSpPr>
        <p:spPr>
          <a:xfrm>
            <a:off x="889682" y="6010176"/>
            <a:ext cx="10412619"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Option A: Student will need to choose </a:t>
            </a:r>
            <a:r>
              <a:rPr lang="en-US" dirty="0">
                <a:solidFill>
                  <a:prstClr val="black"/>
                </a:solidFill>
              </a:rPr>
              <a:t>a link from Google search results.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r>
              <a:rPr lang="en-US" dirty="0">
                <a:solidFill>
                  <a:prstClr val="black"/>
                </a:solidFill>
              </a:rPr>
              <a:t>If Option B: Student will need to choose a next step for additional information.</a:t>
            </a:r>
          </a:p>
        </p:txBody>
      </p:sp>
      <p:sp>
        <p:nvSpPr>
          <p:cNvPr id="14" name="TextBox 13">
            <a:extLst>
              <a:ext uri="{FF2B5EF4-FFF2-40B4-BE49-F238E27FC236}">
                <a16:creationId xmlns:a16="http://schemas.microsoft.com/office/drawing/2014/main" id="{CA0F5D13-F031-4FF7-B2F2-38AEF95CC8BB}"/>
              </a:ext>
            </a:extLst>
          </p:cNvPr>
          <p:cNvSpPr txBox="1"/>
          <p:nvPr/>
        </p:nvSpPr>
        <p:spPr>
          <a:xfrm>
            <a:off x="889685" y="590727"/>
            <a:ext cx="9570720"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buy webcams and try a free video conferencing program.</a:t>
            </a:r>
          </a:p>
        </p:txBody>
      </p:sp>
    </p:spTree>
    <p:custDataLst>
      <p:tags r:id="rId1"/>
    </p:custDataLst>
    <p:extLst>
      <p:ext uri="{BB962C8B-B14F-4D97-AF65-F5344CB8AC3E}">
        <p14:creationId xmlns:p14="http://schemas.microsoft.com/office/powerpoint/2010/main" val="20863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7CA2C6B-33A6-473E-92E6-89FB66E28671}"/>
              </a:ext>
            </a:extLst>
          </p:cNvPr>
          <p:cNvSpPr>
            <a:spLocks noGrp="1"/>
          </p:cNvSpPr>
          <p:nvPr>
            <p:ph type="title"/>
          </p:nvPr>
        </p:nvSpPr>
        <p:spPr>
          <a:xfrm>
            <a:off x="939776" y="0"/>
            <a:ext cx="10461388" cy="1143000"/>
          </a:xfrm>
        </p:spPr>
        <p:txBody>
          <a:bodyPr>
            <a:normAutofit/>
          </a:bodyPr>
          <a:lstStyle/>
          <a:p>
            <a:r>
              <a:rPr lang="en-US" sz="3650" dirty="0">
                <a:solidFill>
                  <a:schemeClr val="tx1"/>
                </a:solidFill>
              </a:rPr>
              <a:t>Level4_Decision1</a:t>
            </a:r>
          </a:p>
        </p:txBody>
      </p:sp>
      <p:sp>
        <p:nvSpPr>
          <p:cNvPr id="5" name="Rectangle 4">
            <a:extLst>
              <a:ext uri="{FF2B5EF4-FFF2-40B4-BE49-F238E27FC236}">
                <a16:creationId xmlns:a16="http://schemas.microsoft.com/office/drawing/2014/main" id="{578FD962-5178-4348-941B-2C548CDA3343}"/>
              </a:ext>
            </a:extLst>
          </p:cNvPr>
          <p:cNvSpPr/>
          <p:nvPr/>
        </p:nvSpPr>
        <p:spPr>
          <a:xfrm>
            <a:off x="1455855" y="2537694"/>
            <a:ext cx="9945309" cy="1846659"/>
          </a:xfrm>
          <a:prstGeom prst="rect">
            <a:avLst/>
          </a:prstGeom>
        </p:spPr>
        <p:txBody>
          <a:bodyPr wrap="square">
            <a:spAutoFit/>
          </a:bodyPr>
          <a:lstStyle/>
          <a:p>
            <a:endParaRPr lang="en-US" dirty="0">
              <a:solidFill>
                <a:srgbClr val="000000"/>
              </a:solidFill>
              <a:latin typeface="Calibri" panose="020F0502020204030204" pitchFamily="34" charset="0"/>
            </a:endParaRPr>
          </a:p>
          <a:p>
            <a:r>
              <a:rPr lang="en-US" dirty="0">
                <a:cs typeface="Calibri"/>
                <a:hlinkClick r:id="rId3" action="ppaction://hlinksldjump"/>
              </a:rPr>
              <a:t>Might as well begin with the first result from the Google results page. Click! </a:t>
            </a:r>
            <a:r>
              <a:rPr lang="en-US" b="1" dirty="0">
                <a:solidFill>
                  <a:schemeClr val="tx2"/>
                </a:solidFill>
                <a:ea typeface="Calibri"/>
                <a:cs typeface="Calibri"/>
                <a:hlinkClick r:id="rId3" action="ppaction://hlinksldjump"/>
              </a:rPr>
              <a:t>[Level4_Decision1_OptionA]</a:t>
            </a:r>
            <a:endParaRPr lang="en-US" b="1" dirty="0">
              <a:solidFill>
                <a:schemeClr val="tx2"/>
              </a:solidFill>
              <a:ea typeface="Calibri"/>
              <a:cs typeface="Calibri"/>
            </a:endParaRPr>
          </a:p>
          <a:p>
            <a:pPr marL="342900" indent="-342900">
              <a:buAutoNum type="alphaLcPeriod"/>
            </a:pPr>
            <a:endParaRPr lang="en-US" dirty="0">
              <a:cs typeface="Calibri"/>
            </a:endParaRPr>
          </a:p>
          <a:p>
            <a:r>
              <a:rPr lang="en-US" dirty="0">
                <a:cs typeface="Calibri"/>
                <a:hlinkClick r:id="rId4" action="ppaction://hlinksldjump"/>
              </a:rPr>
              <a:t>Overwhelmed, you close your eyes and point at a random link on the Google results page. Click!</a:t>
            </a:r>
            <a:r>
              <a:rPr lang="en-US" dirty="0">
                <a:solidFill>
                  <a:schemeClr val="tx2"/>
                </a:solidFill>
                <a:ea typeface="Calibri"/>
                <a:cs typeface="Calibri"/>
                <a:hlinkClick r:id="rId4" action="ppaction://hlinksldjump"/>
              </a:rPr>
              <a:t> </a:t>
            </a:r>
            <a:r>
              <a:rPr lang="en-US" b="1" dirty="0">
                <a:solidFill>
                  <a:schemeClr val="tx2"/>
                </a:solidFill>
                <a:ea typeface="Calibri"/>
                <a:cs typeface="Calibri"/>
                <a:hlinkClick r:id="rId4" action="ppaction://hlinksldjump"/>
              </a:rPr>
              <a:t>[Level4_Decision1_OptionB]</a:t>
            </a:r>
            <a:endParaRPr lang="en-US" b="1" dirty="0">
              <a:solidFill>
                <a:schemeClr val="tx2"/>
              </a:solidFill>
              <a:ea typeface="Calibri"/>
              <a:cs typeface="Calibri"/>
            </a:endParaRPr>
          </a:p>
          <a:p>
            <a:endParaRPr lang="en-US" sz="2400" dirty="0"/>
          </a:p>
        </p:txBody>
      </p:sp>
      <p:sp>
        <p:nvSpPr>
          <p:cNvPr id="7" name="Text Placeholder 3">
            <a:extLst>
              <a:ext uri="{FF2B5EF4-FFF2-40B4-BE49-F238E27FC236}">
                <a16:creationId xmlns:a16="http://schemas.microsoft.com/office/drawing/2014/main" id="{C128E52E-A4E5-4D49-B00C-550F79590E62}"/>
              </a:ext>
            </a:extLst>
          </p:cNvPr>
          <p:cNvSpPr txBox="1">
            <a:spLocks/>
          </p:cNvSpPr>
          <p:nvPr/>
        </p:nvSpPr>
        <p:spPr>
          <a:xfrm>
            <a:off x="953234" y="2807076"/>
            <a:ext cx="596185"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8" name="Text Placeholder 3">
            <a:extLst>
              <a:ext uri="{FF2B5EF4-FFF2-40B4-BE49-F238E27FC236}">
                <a16:creationId xmlns:a16="http://schemas.microsoft.com/office/drawing/2014/main" id="{C404417E-863C-44DE-895A-49C6E6118AE3}"/>
              </a:ext>
            </a:extLst>
          </p:cNvPr>
          <p:cNvSpPr txBox="1">
            <a:spLocks/>
          </p:cNvSpPr>
          <p:nvPr/>
        </p:nvSpPr>
        <p:spPr>
          <a:xfrm>
            <a:off x="939776" y="3372564"/>
            <a:ext cx="609916"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2" name="TextBox 1">
            <a:extLst>
              <a:ext uri="{FF2B5EF4-FFF2-40B4-BE49-F238E27FC236}">
                <a16:creationId xmlns:a16="http://schemas.microsoft.com/office/drawing/2014/main" id="{3381D5A4-C326-4477-A8F1-1CE0DFEA0728}"/>
              </a:ext>
            </a:extLst>
          </p:cNvPr>
          <p:cNvSpPr txBox="1"/>
          <p:nvPr/>
        </p:nvSpPr>
        <p:spPr>
          <a:xfrm>
            <a:off x="939776" y="1466305"/>
            <a:ext cx="10412618" cy="1292662"/>
          </a:xfrm>
          <a:prstGeom prst="rect">
            <a:avLst/>
          </a:prstGeom>
          <a:noFill/>
        </p:spPr>
        <p:txBody>
          <a:bodyPr wrap="square" rtlCol="0">
            <a:spAutoFit/>
          </a:bodyPr>
          <a:lstStyle/>
          <a:p>
            <a:r>
              <a:rPr lang="en-US" sz="2000" dirty="0">
                <a:cs typeface="Calibri"/>
              </a:rPr>
              <a:t>Working together, you decide to use the search engine, Google. You enter “How do businesses use video conferencing?” and then click Search. The results page reports that Google found 9,770,000 results. What’s next?</a:t>
            </a:r>
          </a:p>
          <a:p>
            <a:endParaRPr lang="en-US" dirty="0"/>
          </a:p>
        </p:txBody>
      </p:sp>
      <p:sp>
        <p:nvSpPr>
          <p:cNvPr id="10" name="TextBox 9">
            <a:extLst>
              <a:ext uri="{FF2B5EF4-FFF2-40B4-BE49-F238E27FC236}">
                <a16:creationId xmlns:a16="http://schemas.microsoft.com/office/drawing/2014/main" id="{708D879B-2F3E-4A21-959D-1A961963EB74}"/>
              </a:ext>
            </a:extLst>
          </p:cNvPr>
          <p:cNvSpPr txBox="1"/>
          <p:nvPr/>
        </p:nvSpPr>
        <p:spPr>
          <a:xfrm>
            <a:off x="939776" y="6137214"/>
            <a:ext cx="1046138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source for additional information.</a:t>
            </a:r>
          </a:p>
        </p:txBody>
      </p:sp>
      <p:sp>
        <p:nvSpPr>
          <p:cNvPr id="11" name="TextBox 10">
            <a:extLst>
              <a:ext uri="{FF2B5EF4-FFF2-40B4-BE49-F238E27FC236}">
                <a16:creationId xmlns:a16="http://schemas.microsoft.com/office/drawing/2014/main" id="{71007138-BAA1-4C99-8CC0-0D1CA92648EA}"/>
              </a:ext>
            </a:extLst>
          </p:cNvPr>
          <p:cNvSpPr txBox="1"/>
          <p:nvPr/>
        </p:nvSpPr>
        <p:spPr>
          <a:xfrm>
            <a:off x="939776" y="4930030"/>
            <a:ext cx="10461388"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Here, students will learn from trial and error that randomly choosing links without targeting their search efforts yields less than helpful information.</a:t>
            </a:r>
          </a:p>
        </p:txBody>
      </p:sp>
      <p:sp>
        <p:nvSpPr>
          <p:cNvPr id="12" name="TextBox 11">
            <a:extLst>
              <a:ext uri="{FF2B5EF4-FFF2-40B4-BE49-F238E27FC236}">
                <a16:creationId xmlns:a16="http://schemas.microsoft.com/office/drawing/2014/main" id="{38E69899-6E2B-4E58-A8ED-EABD5AAAC931}"/>
              </a:ext>
            </a:extLst>
          </p:cNvPr>
          <p:cNvSpPr txBox="1"/>
          <p:nvPr/>
        </p:nvSpPr>
        <p:spPr>
          <a:xfrm>
            <a:off x="1036320" y="958364"/>
            <a:ext cx="9570720"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a search engine to find information.</a:t>
            </a:r>
          </a:p>
        </p:txBody>
      </p:sp>
    </p:spTree>
    <p:extLst>
      <p:ext uri="{BB962C8B-B14F-4D97-AF65-F5344CB8AC3E}">
        <p14:creationId xmlns:p14="http://schemas.microsoft.com/office/powerpoint/2010/main" val="960956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889690" y="-72232"/>
            <a:ext cx="10412618" cy="900757"/>
          </a:xfrm>
        </p:spPr>
        <p:txBody>
          <a:bodyPr>
            <a:normAutofit/>
          </a:bodyPr>
          <a:lstStyle/>
          <a:p>
            <a:r>
              <a:rPr lang="en-JM" sz="3650" dirty="0">
                <a:solidFill>
                  <a:schemeClr val="tx1"/>
                </a:solidFill>
              </a:rPr>
              <a:t>Level5_Decision1</a:t>
            </a:r>
          </a:p>
        </p:txBody>
      </p:sp>
      <p:sp>
        <p:nvSpPr>
          <p:cNvPr id="2" name="TextBox 1">
            <a:extLst>
              <a:ext uri="{FF2B5EF4-FFF2-40B4-BE49-F238E27FC236}">
                <a16:creationId xmlns:a16="http://schemas.microsoft.com/office/drawing/2014/main" id="{8E61185D-0285-4C9D-8544-02C370D1F1FF}"/>
              </a:ext>
            </a:extLst>
          </p:cNvPr>
          <p:cNvSpPr txBox="1"/>
          <p:nvPr/>
        </p:nvSpPr>
        <p:spPr>
          <a:xfrm>
            <a:off x="1841037" y="2544096"/>
            <a:ext cx="9461270" cy="2308324"/>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hlinkClick r:id="rId4" action="ppaction://hlinksldjump"/>
              </a:rPr>
              <a:t>Refine your Google search and type in the video conferencing characteristics needed by your company.  </a:t>
            </a:r>
            <a:r>
              <a:rPr lang="en-US" b="1" dirty="0">
                <a:solidFill>
                  <a:schemeClr val="tx2"/>
                </a:solidFill>
                <a:ea typeface="Calibri"/>
                <a:cs typeface="Calibri"/>
                <a:hlinkClick r:id="rId4" action="ppaction://hlinksldjump"/>
              </a:rPr>
              <a:t>[Level5_Decision1_OptionA]</a:t>
            </a:r>
            <a:endParaRPr lang="en-US" dirty="0">
              <a:cs typeface="Calibri"/>
              <a:hlinkClick r:id="rId5" action="ppaction://hlinksldjump"/>
            </a:endParaRPr>
          </a:p>
          <a:p>
            <a:endParaRPr lang="en-US" dirty="0">
              <a:cs typeface="Calibri"/>
              <a:hlinkClick r:id="rId5" action="ppaction://hlinksldjump"/>
            </a:endParaRPr>
          </a:p>
          <a:p>
            <a:r>
              <a:rPr lang="en-US" dirty="0">
                <a:cs typeface="Calibri"/>
                <a:hlinkClick r:id="rId6" action="ppaction://hlinksldjump"/>
              </a:rPr>
              <a:t>Connect with past colleagues for their videoconferencing recommendations and look at professional social network recommendations. </a:t>
            </a:r>
            <a:r>
              <a:rPr lang="en-US" b="1" dirty="0">
                <a:solidFill>
                  <a:schemeClr val="tx2"/>
                </a:solidFill>
                <a:ea typeface="Calibri"/>
                <a:cs typeface="Calibri"/>
                <a:hlinkClick r:id="rId6" action="ppaction://hlinksldjump"/>
              </a:rPr>
              <a:t>[Level5_Decision1_OptionB]</a:t>
            </a:r>
            <a:endParaRPr lang="en-US" b="1" dirty="0">
              <a:solidFill>
                <a:schemeClr val="tx2"/>
              </a:solidFill>
              <a:ea typeface="Calibri"/>
              <a:cs typeface="Calibri"/>
            </a:endParaRPr>
          </a:p>
          <a:p>
            <a:endParaRPr lang="en-US" b="1" dirty="0">
              <a:solidFill>
                <a:schemeClr val="tx2"/>
              </a:solidFill>
              <a:ea typeface="Calibri"/>
              <a:cs typeface="Calibri"/>
            </a:endParaRPr>
          </a:p>
          <a:p>
            <a:r>
              <a:rPr lang="en-US" dirty="0">
                <a:solidFill>
                  <a:schemeClr val="tx2"/>
                </a:solidFill>
                <a:ea typeface="Calibri"/>
                <a:cs typeface="Calibri"/>
                <a:hlinkClick r:id="rId5" action="ppaction://hlinksldjump"/>
              </a:rPr>
              <a:t>Go back to your original search and find another link. </a:t>
            </a:r>
            <a:r>
              <a:rPr lang="en-US" b="1" dirty="0">
                <a:solidFill>
                  <a:schemeClr val="tx2"/>
                </a:solidFill>
                <a:ea typeface="Calibri"/>
                <a:cs typeface="Calibri"/>
                <a:hlinkClick r:id="rId5" action="ppaction://hlinksldjump"/>
              </a:rPr>
              <a:t>[Level5_Decision1_OptC] </a:t>
            </a:r>
            <a:endParaRPr lang="en-US" dirty="0">
              <a:cs typeface="Calibri"/>
            </a:endParaRPr>
          </a:p>
          <a:p>
            <a:pPr algn="ctr"/>
            <a:endParaRPr lang="en-US" dirty="0">
              <a:cs typeface="Calibri"/>
            </a:endParaRPr>
          </a:p>
        </p:txBody>
      </p:sp>
      <p:sp>
        <p:nvSpPr>
          <p:cNvPr id="6" name="Text Placeholder 3">
            <a:extLst>
              <a:ext uri="{FF2B5EF4-FFF2-40B4-BE49-F238E27FC236}">
                <a16:creationId xmlns:a16="http://schemas.microsoft.com/office/drawing/2014/main" id="{85DA2676-C470-4D76-ABA6-A389D7EC6574}"/>
              </a:ext>
            </a:extLst>
          </p:cNvPr>
          <p:cNvSpPr txBox="1">
            <a:spLocks/>
          </p:cNvSpPr>
          <p:nvPr/>
        </p:nvSpPr>
        <p:spPr>
          <a:xfrm>
            <a:off x="1336908" y="2544096"/>
            <a:ext cx="56716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7" name="Text Placeholder 3">
            <a:extLst>
              <a:ext uri="{FF2B5EF4-FFF2-40B4-BE49-F238E27FC236}">
                <a16:creationId xmlns:a16="http://schemas.microsoft.com/office/drawing/2014/main" id="{9A67BE7C-0420-4E2D-A44F-732E8ABECA05}"/>
              </a:ext>
            </a:extLst>
          </p:cNvPr>
          <p:cNvSpPr txBox="1">
            <a:spLocks/>
          </p:cNvSpPr>
          <p:nvPr/>
        </p:nvSpPr>
        <p:spPr>
          <a:xfrm>
            <a:off x="1336908" y="3309750"/>
            <a:ext cx="580232"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9" name="Text Placeholder 3">
            <a:extLst>
              <a:ext uri="{FF2B5EF4-FFF2-40B4-BE49-F238E27FC236}">
                <a16:creationId xmlns:a16="http://schemas.microsoft.com/office/drawing/2014/main" id="{D35A9F3E-5BA1-48AA-9E6E-5BAF295C5205}"/>
              </a:ext>
            </a:extLst>
          </p:cNvPr>
          <p:cNvSpPr txBox="1">
            <a:spLocks/>
          </p:cNvSpPr>
          <p:nvPr/>
        </p:nvSpPr>
        <p:spPr>
          <a:xfrm>
            <a:off x="1336908" y="4178838"/>
            <a:ext cx="580232"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sz="2099" b="1" dirty="0">
                <a:solidFill>
                  <a:srgbClr val="4472C4">
                    <a:lumMod val="75000"/>
                  </a:srgbClr>
                </a:solidFill>
                <a:latin typeface="Calibri Light" panose="020F0302020204030204"/>
                <a:cs typeface="Titillium WebRegular"/>
              </a:rPr>
              <a:t>C</a:t>
            </a:r>
            <a:endPar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10" name="TextBox 9">
            <a:extLst>
              <a:ext uri="{FF2B5EF4-FFF2-40B4-BE49-F238E27FC236}">
                <a16:creationId xmlns:a16="http://schemas.microsoft.com/office/drawing/2014/main" id="{26446FD2-65B6-48BF-9E93-9D139E5EE555}"/>
              </a:ext>
            </a:extLst>
          </p:cNvPr>
          <p:cNvSpPr txBox="1"/>
          <p:nvPr/>
        </p:nvSpPr>
        <p:spPr>
          <a:xfrm>
            <a:off x="889690" y="1226593"/>
            <a:ext cx="10412616" cy="1600438"/>
          </a:xfrm>
          <a:prstGeom prst="rect">
            <a:avLst/>
          </a:prstGeom>
          <a:noFill/>
        </p:spPr>
        <p:txBody>
          <a:bodyPr wrap="square" rtlCol="0">
            <a:spAutoFit/>
          </a:bodyPr>
          <a:lstStyle/>
          <a:p>
            <a:r>
              <a:rPr lang="en-US" sz="2000" dirty="0">
                <a:cs typeface="Calibri"/>
              </a:rPr>
              <a:t>By clicking the first result, you have opened a Google sponsored ad, which are denoted with the “Ad’ label. Advertisers focus on your keywords to match up paid ads. The ad took you to a videoconferencing website, but the site did not outline the key features businesses need from a platform. In this case, the ad was not helpful at all. So you decide to:</a:t>
            </a:r>
          </a:p>
          <a:p>
            <a:endParaRPr lang="en-US" dirty="0"/>
          </a:p>
        </p:txBody>
      </p:sp>
      <p:sp>
        <p:nvSpPr>
          <p:cNvPr id="11" name="Arrow: Pentagon 10">
            <a:extLst>
              <a:ext uri="{FF2B5EF4-FFF2-40B4-BE49-F238E27FC236}">
                <a16:creationId xmlns:a16="http://schemas.microsoft.com/office/drawing/2014/main" id="{37DA9BB1-F3B9-45F0-93D7-3C5073D8C5C3}"/>
              </a:ext>
            </a:extLst>
          </p:cNvPr>
          <p:cNvSpPr/>
          <p:nvPr/>
        </p:nvSpPr>
        <p:spPr>
          <a:xfrm>
            <a:off x="270106" y="2613804"/>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2" name="Arrow: Pentagon 11">
            <a:extLst>
              <a:ext uri="{FF2B5EF4-FFF2-40B4-BE49-F238E27FC236}">
                <a16:creationId xmlns:a16="http://schemas.microsoft.com/office/drawing/2014/main" id="{170AE738-D36E-43E6-BC0D-6A6A6CCABDB2}"/>
              </a:ext>
            </a:extLst>
          </p:cNvPr>
          <p:cNvSpPr/>
          <p:nvPr/>
        </p:nvSpPr>
        <p:spPr>
          <a:xfrm>
            <a:off x="272005" y="3346752"/>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Arrow: Pentagon 12">
            <a:extLst>
              <a:ext uri="{FF2B5EF4-FFF2-40B4-BE49-F238E27FC236}">
                <a16:creationId xmlns:a16="http://schemas.microsoft.com/office/drawing/2014/main" id="{AA7EAC6B-7B78-4BCF-B17D-35F2F99D7525}"/>
              </a:ext>
            </a:extLst>
          </p:cNvPr>
          <p:cNvSpPr/>
          <p:nvPr/>
        </p:nvSpPr>
        <p:spPr>
          <a:xfrm>
            <a:off x="270106" y="4176298"/>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14" name="TextBox 13">
            <a:extLst>
              <a:ext uri="{FF2B5EF4-FFF2-40B4-BE49-F238E27FC236}">
                <a16:creationId xmlns:a16="http://schemas.microsoft.com/office/drawing/2014/main" id="{37006AC9-E8AB-42EF-B3B8-3F97EB78A36C}"/>
              </a:ext>
            </a:extLst>
          </p:cNvPr>
          <p:cNvSpPr txBox="1"/>
          <p:nvPr/>
        </p:nvSpPr>
        <p:spPr>
          <a:xfrm>
            <a:off x="889688" y="4897843"/>
            <a:ext cx="10412615"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Students need additional information. Any of the options can offer value to the research process.</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6C13FD49-410F-4223-8C2E-2BE07E48DC50}"/>
              </a:ext>
            </a:extLst>
          </p:cNvPr>
          <p:cNvSpPr txBox="1"/>
          <p:nvPr/>
        </p:nvSpPr>
        <p:spPr>
          <a:xfrm>
            <a:off x="889689" y="5764713"/>
            <a:ext cx="10412614" cy="92333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Option A: Student will need to choose whether to trust a website’s information.</a:t>
            </a:r>
          </a:p>
          <a:p>
            <a:r>
              <a:rPr lang="en-US" dirty="0">
                <a:solidFill>
                  <a:prstClr val="black"/>
                </a:solidFill>
              </a:rPr>
              <a:t>If Option B: Student will need to choose a next step for additional information.</a:t>
            </a:r>
          </a:p>
          <a:p>
            <a:r>
              <a:rPr lang="en-US" dirty="0">
                <a:solidFill>
                  <a:prstClr val="black"/>
                </a:solidFill>
              </a:rPr>
              <a:t>If Option C: Student will need to choose whether to trust a website’s information.</a:t>
            </a:r>
          </a:p>
        </p:txBody>
      </p:sp>
      <p:sp>
        <p:nvSpPr>
          <p:cNvPr id="16" name="TextBox 15">
            <a:extLst>
              <a:ext uri="{FF2B5EF4-FFF2-40B4-BE49-F238E27FC236}">
                <a16:creationId xmlns:a16="http://schemas.microsoft.com/office/drawing/2014/main" id="{DC05FCB1-B0E4-43F7-AD64-64E712498B55}"/>
              </a:ext>
            </a:extLst>
          </p:cNvPr>
          <p:cNvSpPr txBox="1"/>
          <p:nvPr/>
        </p:nvSpPr>
        <p:spPr>
          <a:xfrm>
            <a:off x="889689" y="805715"/>
            <a:ext cx="10412614"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click the first ad in the search results.</a:t>
            </a:r>
          </a:p>
        </p:txBody>
      </p:sp>
    </p:spTree>
    <p:custDataLst>
      <p:tags r:id="rId1"/>
    </p:custDataLst>
    <p:extLst>
      <p:ext uri="{BB962C8B-B14F-4D97-AF65-F5344CB8AC3E}">
        <p14:creationId xmlns:p14="http://schemas.microsoft.com/office/powerpoint/2010/main" val="4258849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FD969F-D15F-4C99-84D9-6EA950A722B5}"/>
              </a:ext>
            </a:extLst>
          </p:cNvPr>
          <p:cNvSpPr>
            <a:spLocks noGrp="1"/>
          </p:cNvSpPr>
          <p:nvPr>
            <p:ph type="title"/>
          </p:nvPr>
        </p:nvSpPr>
        <p:spPr>
          <a:xfrm>
            <a:off x="681836" y="-55418"/>
            <a:ext cx="10412618" cy="1143000"/>
          </a:xfrm>
        </p:spPr>
        <p:txBody>
          <a:bodyPr>
            <a:normAutofit/>
          </a:bodyPr>
          <a:lstStyle/>
          <a:p>
            <a:r>
              <a:rPr lang="en-US" sz="3650" dirty="0">
                <a:solidFill>
                  <a:schemeClr val="tx1"/>
                </a:solidFill>
              </a:rPr>
              <a:t>Level5_Decision2</a:t>
            </a:r>
          </a:p>
        </p:txBody>
      </p:sp>
      <p:sp>
        <p:nvSpPr>
          <p:cNvPr id="5" name="Rectangle 4">
            <a:extLst>
              <a:ext uri="{FF2B5EF4-FFF2-40B4-BE49-F238E27FC236}">
                <a16:creationId xmlns:a16="http://schemas.microsoft.com/office/drawing/2014/main" id="{95A5BC1C-43FF-41BF-9EAB-472BCCD2BC15}"/>
              </a:ext>
            </a:extLst>
          </p:cNvPr>
          <p:cNvSpPr/>
          <p:nvPr/>
        </p:nvSpPr>
        <p:spPr>
          <a:xfrm>
            <a:off x="1647745" y="2465980"/>
            <a:ext cx="9372818" cy="2253694"/>
          </a:xfrm>
          <a:prstGeom prst="rect">
            <a:avLst/>
          </a:prstGeom>
        </p:spPr>
        <p:txBody>
          <a:bodyPr wrap="square">
            <a:spAutoFit/>
          </a:bodyPr>
          <a:lstStyle/>
          <a:p>
            <a:r>
              <a:rPr lang="en-US" sz="2000" dirty="0">
                <a:cs typeface="Calibri"/>
                <a:hlinkClick r:id="rId3" action="ppaction://hlinksldjump"/>
              </a:rPr>
              <a:t>Refine your Google search and type in the video conferencing characteristics needed by your company. </a:t>
            </a:r>
            <a:r>
              <a:rPr lang="en-US" sz="2000" b="1" dirty="0">
                <a:solidFill>
                  <a:schemeClr val="tx2"/>
                </a:solidFill>
                <a:ea typeface="Calibri"/>
                <a:cs typeface="Calibri"/>
                <a:hlinkClick r:id="rId3" action="ppaction://hlinksldjump"/>
              </a:rPr>
              <a:t>[Level5_Decision2_OptionA]</a:t>
            </a:r>
            <a:endParaRPr lang="en-US" sz="2000" b="1" dirty="0">
              <a:solidFill>
                <a:schemeClr val="tx2"/>
              </a:solidFill>
              <a:ea typeface="Calibri"/>
              <a:cs typeface="Calibri"/>
            </a:endParaRPr>
          </a:p>
          <a:p>
            <a:endParaRPr lang="en-US" sz="2000" b="1" dirty="0">
              <a:solidFill>
                <a:schemeClr val="tx2"/>
              </a:solidFill>
              <a:ea typeface="Calibri"/>
              <a:cs typeface="Calibri"/>
              <a:hlinkClick r:id="rId4" action="ppaction://hlinksldjump"/>
            </a:endParaRPr>
          </a:p>
          <a:p>
            <a:r>
              <a:rPr lang="en-US" sz="2000" dirty="0">
                <a:solidFill>
                  <a:schemeClr val="tx2"/>
                </a:solidFill>
                <a:cs typeface="Calibri"/>
                <a:hlinkClick r:id="rId5" action="ppaction://hlinksldjump"/>
              </a:rPr>
              <a:t>Click a link that states it has the 10 Best Video Conferencing products. </a:t>
            </a:r>
            <a:r>
              <a:rPr lang="en-US" sz="2000" b="1" dirty="0">
                <a:solidFill>
                  <a:schemeClr val="tx2"/>
                </a:solidFill>
                <a:ea typeface="Calibri"/>
                <a:cs typeface="Calibri"/>
                <a:hlinkClick r:id="rId5" action="ppaction://hlinksldjump"/>
              </a:rPr>
              <a:t>[Level5_Decision2_OptionB]</a:t>
            </a:r>
            <a:endParaRPr lang="en-US" sz="2000" b="1" dirty="0">
              <a:solidFill>
                <a:schemeClr val="tx2"/>
              </a:solidFill>
              <a:ea typeface="Calibri"/>
              <a:cs typeface="Calibri"/>
              <a:hlinkClick r:id="rId4" action="ppaction://hlinksldjump"/>
            </a:endParaRPr>
          </a:p>
          <a:p>
            <a:endParaRPr lang="en-US" sz="2000" dirty="0">
              <a:cs typeface="Calibri"/>
              <a:hlinkClick r:id="rId4" action="ppaction://hlinksldjump"/>
            </a:endParaRPr>
          </a:p>
          <a:p>
            <a:pPr>
              <a:lnSpc>
                <a:spcPct val="107000"/>
              </a:lnSpc>
              <a:spcAft>
                <a:spcPts val="800"/>
              </a:spcAft>
            </a:pPr>
            <a:endParaRPr lang="en-US" sz="2000" dirty="0">
              <a:solidFill>
                <a:srgbClr val="000000"/>
              </a:solidFill>
              <a:latin typeface="Calibri" panose="020F0502020204030204" pitchFamily="34" charset="0"/>
              <a:ea typeface="Calibri" panose="020F0502020204030204" pitchFamily="34" charset="0"/>
            </a:endParaRPr>
          </a:p>
        </p:txBody>
      </p:sp>
      <p:sp>
        <p:nvSpPr>
          <p:cNvPr id="6" name="Text Placeholder 3">
            <a:extLst>
              <a:ext uri="{FF2B5EF4-FFF2-40B4-BE49-F238E27FC236}">
                <a16:creationId xmlns:a16="http://schemas.microsoft.com/office/drawing/2014/main" id="{3759F38B-1B2C-4D29-8320-4657421A2797}"/>
              </a:ext>
            </a:extLst>
          </p:cNvPr>
          <p:cNvSpPr txBox="1">
            <a:spLocks/>
          </p:cNvSpPr>
          <p:nvPr/>
        </p:nvSpPr>
        <p:spPr>
          <a:xfrm>
            <a:off x="1259108" y="2490107"/>
            <a:ext cx="642185"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7" name="Text Placeholder 3">
            <a:extLst>
              <a:ext uri="{FF2B5EF4-FFF2-40B4-BE49-F238E27FC236}">
                <a16:creationId xmlns:a16="http://schemas.microsoft.com/office/drawing/2014/main" id="{539A3131-8D34-4002-BE41-910E10ED4693}"/>
              </a:ext>
            </a:extLst>
          </p:cNvPr>
          <p:cNvSpPr txBox="1">
            <a:spLocks/>
          </p:cNvSpPr>
          <p:nvPr/>
        </p:nvSpPr>
        <p:spPr>
          <a:xfrm>
            <a:off x="1259109" y="3344544"/>
            <a:ext cx="656977"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8" name="Arrow: Pentagon 7">
            <a:extLst>
              <a:ext uri="{FF2B5EF4-FFF2-40B4-BE49-F238E27FC236}">
                <a16:creationId xmlns:a16="http://schemas.microsoft.com/office/drawing/2014/main" id="{2E0A8F19-A21C-4E59-B5BD-64BCC2FBBFE5}"/>
              </a:ext>
            </a:extLst>
          </p:cNvPr>
          <p:cNvSpPr/>
          <p:nvPr/>
        </p:nvSpPr>
        <p:spPr>
          <a:xfrm>
            <a:off x="192309" y="2530678"/>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9" name="Arrow: Pentagon 8">
            <a:extLst>
              <a:ext uri="{FF2B5EF4-FFF2-40B4-BE49-F238E27FC236}">
                <a16:creationId xmlns:a16="http://schemas.microsoft.com/office/drawing/2014/main" id="{60F915B9-F8F2-4104-BCB6-A6D7BFBFDCE0}"/>
              </a:ext>
            </a:extLst>
          </p:cNvPr>
          <p:cNvSpPr/>
          <p:nvPr/>
        </p:nvSpPr>
        <p:spPr>
          <a:xfrm>
            <a:off x="192309" y="3335350"/>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2" name="TextBox 1">
            <a:extLst>
              <a:ext uri="{FF2B5EF4-FFF2-40B4-BE49-F238E27FC236}">
                <a16:creationId xmlns:a16="http://schemas.microsoft.com/office/drawing/2014/main" id="{9534C800-803B-4A34-9147-4B4AD915C6CE}"/>
              </a:ext>
            </a:extLst>
          </p:cNvPr>
          <p:cNvSpPr txBox="1"/>
          <p:nvPr/>
        </p:nvSpPr>
        <p:spPr>
          <a:xfrm>
            <a:off x="607945" y="1322980"/>
            <a:ext cx="10412618" cy="1200329"/>
          </a:xfrm>
          <a:prstGeom prst="rect">
            <a:avLst/>
          </a:prstGeom>
          <a:noFill/>
        </p:spPr>
        <p:txBody>
          <a:bodyPr wrap="square" rtlCol="0">
            <a:spAutoFit/>
          </a:bodyPr>
          <a:lstStyle/>
          <a:p>
            <a:r>
              <a:rPr lang="en-US" dirty="0">
                <a:cs typeface="Calibri"/>
              </a:rPr>
              <a:t>The random link you opened is not exactly what you hoped to find. In fact, the website was last modified 8 years ago when video conferencing was in its infancy. Way, Way out of date! You need to refine your search using an advanced search in Google. Should you:</a:t>
            </a:r>
          </a:p>
          <a:p>
            <a:endParaRPr lang="en-US" dirty="0"/>
          </a:p>
        </p:txBody>
      </p:sp>
      <p:sp>
        <p:nvSpPr>
          <p:cNvPr id="11" name="TextBox 10">
            <a:extLst>
              <a:ext uri="{FF2B5EF4-FFF2-40B4-BE49-F238E27FC236}">
                <a16:creationId xmlns:a16="http://schemas.microsoft.com/office/drawing/2014/main" id="{561096F5-0162-4FAC-8537-C3ADEF4E9A1D}"/>
              </a:ext>
            </a:extLst>
          </p:cNvPr>
          <p:cNvSpPr txBox="1"/>
          <p:nvPr/>
        </p:nvSpPr>
        <p:spPr>
          <a:xfrm>
            <a:off x="939776" y="6071467"/>
            <a:ext cx="1046138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t>
            </a:r>
            <a:r>
              <a:rPr lang="en-US" dirty="0">
                <a:solidFill>
                  <a:prstClr val="black"/>
                </a:solidFill>
              </a:rPr>
              <a:t>whether to trust a website’s information.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BED6BDB2-282E-47A1-AF66-FBEC0FA70127}"/>
              </a:ext>
            </a:extLst>
          </p:cNvPr>
          <p:cNvSpPr txBox="1"/>
          <p:nvPr/>
        </p:nvSpPr>
        <p:spPr>
          <a:xfrm>
            <a:off x="939776" y="5078247"/>
            <a:ext cx="1046138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dirty="0">
                <a:solidFill>
                  <a:srgbClr val="C00000"/>
                </a:solidFill>
              </a:rPr>
              <a:t>Students need additional information. Any of the options can offer value to the research process.</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BC9A8431-DF5A-44CF-94F7-C783DF1D0B09}"/>
              </a:ext>
            </a:extLst>
          </p:cNvPr>
          <p:cNvSpPr txBox="1"/>
          <p:nvPr/>
        </p:nvSpPr>
        <p:spPr>
          <a:xfrm>
            <a:off x="681836" y="861706"/>
            <a:ext cx="1071932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click a random link in their search results.</a:t>
            </a:r>
          </a:p>
        </p:txBody>
      </p:sp>
    </p:spTree>
    <p:extLst>
      <p:ext uri="{BB962C8B-B14F-4D97-AF65-F5344CB8AC3E}">
        <p14:creationId xmlns:p14="http://schemas.microsoft.com/office/powerpoint/2010/main" val="2392184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1032295" y="-83127"/>
            <a:ext cx="10152941" cy="1143000"/>
          </a:xfrm>
        </p:spPr>
        <p:txBody>
          <a:bodyPr>
            <a:normAutofit/>
          </a:bodyPr>
          <a:lstStyle/>
          <a:p>
            <a:r>
              <a:rPr lang="en-JM" sz="3650" dirty="0">
                <a:solidFill>
                  <a:schemeClr val="tx1"/>
                </a:solidFill>
              </a:rPr>
              <a:t>Story_Slide9</a:t>
            </a:r>
          </a:p>
        </p:txBody>
      </p:sp>
      <p:sp>
        <p:nvSpPr>
          <p:cNvPr id="2" name="TextBox 1">
            <a:extLst>
              <a:ext uri="{FF2B5EF4-FFF2-40B4-BE49-F238E27FC236}">
                <a16:creationId xmlns:a16="http://schemas.microsoft.com/office/drawing/2014/main" id="{8E61185D-0285-4C9D-8544-02C370D1F1FF}"/>
              </a:ext>
            </a:extLst>
          </p:cNvPr>
          <p:cNvSpPr txBox="1"/>
          <p:nvPr/>
        </p:nvSpPr>
        <p:spPr>
          <a:xfrm>
            <a:off x="681836" y="1025169"/>
            <a:ext cx="10719328" cy="2123658"/>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cs typeface="Calibri"/>
            </a:endParaRPr>
          </a:p>
          <a:p>
            <a:r>
              <a:rPr lang="en-US" sz="2000" dirty="0">
                <a:cs typeface="Calibri"/>
              </a:rPr>
              <a:t>To refine your search you open the Advanced Search feature of Google. You enter exact words such as HD video, mobile, recording, whiteboard, screen share, and accessibility features to enable users with disabilities to be a part of the conference. Then you click Search. </a:t>
            </a:r>
          </a:p>
          <a:p>
            <a:endParaRPr lang="en-US" dirty="0">
              <a:cs typeface="Calibri"/>
            </a:endParaRPr>
          </a:p>
          <a:p>
            <a:endParaRPr lang="en-US" dirty="0">
              <a:cs typeface="Calibri"/>
            </a:endParaRPr>
          </a:p>
          <a:p>
            <a:pPr algn="ctr"/>
            <a:endParaRPr lang="en-US" dirty="0">
              <a:cs typeface="Calibri"/>
            </a:endParaRPr>
          </a:p>
        </p:txBody>
      </p:sp>
      <p:sp>
        <p:nvSpPr>
          <p:cNvPr id="4" name="TextBox 3">
            <a:extLst>
              <a:ext uri="{FF2B5EF4-FFF2-40B4-BE49-F238E27FC236}">
                <a16:creationId xmlns:a16="http://schemas.microsoft.com/office/drawing/2014/main" id="{D0E9FECF-86E3-4C4A-B68F-1D721E28DC6A}"/>
              </a:ext>
            </a:extLst>
          </p:cNvPr>
          <p:cNvSpPr txBox="1"/>
          <p:nvPr/>
        </p:nvSpPr>
        <p:spPr>
          <a:xfrm>
            <a:off x="1032295" y="3406677"/>
            <a:ext cx="4631960" cy="369332"/>
          </a:xfrm>
          <a:prstGeom prst="rect">
            <a:avLst/>
          </a:prstGeom>
          <a:noFill/>
        </p:spPr>
        <p:txBody>
          <a:bodyPr wrap="square" rtlCol="0">
            <a:spAutoFit/>
          </a:bodyPr>
          <a:lstStyle/>
          <a:p>
            <a:r>
              <a:rPr lang="en-US" dirty="0">
                <a:hlinkClick r:id="rId4" action="ppaction://hlinksldjump"/>
              </a:rPr>
              <a:t>Continue</a:t>
            </a:r>
            <a:endParaRPr lang="en-US" dirty="0"/>
          </a:p>
        </p:txBody>
      </p:sp>
      <p:sp>
        <p:nvSpPr>
          <p:cNvPr id="7" name="TextBox 6">
            <a:extLst>
              <a:ext uri="{FF2B5EF4-FFF2-40B4-BE49-F238E27FC236}">
                <a16:creationId xmlns:a16="http://schemas.microsoft.com/office/drawing/2014/main" id="{34326194-1E9C-4E25-8DD4-093C31E0F254}"/>
              </a:ext>
            </a:extLst>
          </p:cNvPr>
          <p:cNvSpPr txBox="1"/>
          <p:nvPr/>
        </p:nvSpPr>
        <p:spPr>
          <a:xfrm>
            <a:off x="681836" y="861706"/>
            <a:ext cx="1071932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refine their search results.</a:t>
            </a:r>
          </a:p>
        </p:txBody>
      </p:sp>
      <p:sp>
        <p:nvSpPr>
          <p:cNvPr id="9" name="TextBox 8">
            <a:extLst>
              <a:ext uri="{FF2B5EF4-FFF2-40B4-BE49-F238E27FC236}">
                <a16:creationId xmlns:a16="http://schemas.microsoft.com/office/drawing/2014/main" id="{A05F9325-DABE-40DE-B27E-5157EE41BDC4}"/>
              </a:ext>
            </a:extLst>
          </p:cNvPr>
          <p:cNvSpPr txBox="1"/>
          <p:nvPr/>
        </p:nvSpPr>
        <p:spPr>
          <a:xfrm>
            <a:off x="681836" y="5626962"/>
            <a:ext cx="1071932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Student will need to choose </a:t>
            </a:r>
            <a:r>
              <a:rPr lang="en-US" dirty="0">
                <a:solidFill>
                  <a:prstClr val="black"/>
                </a:solidFill>
              </a:rPr>
              <a:t>whether to trust a website’s information.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488B0D00-79F4-4B58-BD8D-AC80E432200E}"/>
              </a:ext>
            </a:extLst>
          </p:cNvPr>
          <p:cNvSpPr txBox="1"/>
          <p:nvPr/>
        </p:nvSpPr>
        <p:spPr>
          <a:xfrm>
            <a:off x="1117600" y="3081991"/>
            <a:ext cx="9042400" cy="2330518"/>
          </a:xfrm>
          <a:prstGeom prst="rect">
            <a:avLst/>
          </a:prstGeom>
          <a:noFill/>
        </p:spPr>
        <p:txBody>
          <a:bodyPr wrap="square" rtlCol="0">
            <a:spAutoFit/>
          </a:bodyPr>
          <a:lstStyle/>
          <a:p>
            <a:endParaRPr lang="en-US" dirty="0"/>
          </a:p>
        </p:txBody>
      </p:sp>
    </p:spTree>
    <p:custDataLst>
      <p:tags r:id="rId1"/>
    </p:custDataLst>
    <p:extLst>
      <p:ext uri="{BB962C8B-B14F-4D97-AF65-F5344CB8AC3E}">
        <p14:creationId xmlns:p14="http://schemas.microsoft.com/office/powerpoint/2010/main" val="3413054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707709" y="94359"/>
            <a:ext cx="10412618" cy="1143000"/>
          </a:xfrm>
        </p:spPr>
        <p:txBody>
          <a:bodyPr>
            <a:normAutofit/>
          </a:bodyPr>
          <a:lstStyle/>
          <a:p>
            <a:r>
              <a:rPr lang="en-JM" sz="3650" dirty="0">
                <a:solidFill>
                  <a:schemeClr val="tx1"/>
                </a:solidFill>
              </a:rPr>
              <a:t>Level6_Decision1</a:t>
            </a:r>
          </a:p>
        </p:txBody>
      </p:sp>
      <p:sp>
        <p:nvSpPr>
          <p:cNvPr id="2" name="TextBox 1">
            <a:extLst>
              <a:ext uri="{FF2B5EF4-FFF2-40B4-BE49-F238E27FC236}">
                <a16:creationId xmlns:a16="http://schemas.microsoft.com/office/drawing/2014/main" id="{8E61185D-0285-4C9D-8544-02C370D1F1FF}"/>
              </a:ext>
            </a:extLst>
          </p:cNvPr>
          <p:cNvSpPr txBox="1"/>
          <p:nvPr/>
        </p:nvSpPr>
        <p:spPr>
          <a:xfrm>
            <a:off x="1779382" y="2907483"/>
            <a:ext cx="9340945" cy="2308324"/>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hlinkClick r:id="rId4" action="ppaction://hlinksldjump"/>
              </a:rPr>
              <a:t>You decide to look at professional online comparison video conferencing websites and use the CARS checklist to evaluate the credibility of the sources. </a:t>
            </a:r>
            <a:r>
              <a:rPr lang="en-US" b="1" dirty="0">
                <a:solidFill>
                  <a:schemeClr val="tx2"/>
                </a:solidFill>
                <a:ea typeface="Calibri"/>
                <a:cs typeface="Calibri"/>
                <a:hlinkClick r:id="rId4" action="ppaction://hlinksldjump"/>
              </a:rPr>
              <a:t>[Level6_Decision1_OptionA]</a:t>
            </a:r>
            <a:endParaRPr lang="en-US" b="1" dirty="0">
              <a:solidFill>
                <a:schemeClr val="tx2"/>
              </a:solidFill>
              <a:ea typeface="Calibri"/>
              <a:cs typeface="Calibri"/>
              <a:hlinkClick r:id="rId5" action="ppaction://hlinksldjump"/>
            </a:endParaRPr>
          </a:p>
          <a:p>
            <a:endParaRPr lang="en-US" dirty="0">
              <a:cs typeface="Calibri"/>
            </a:endParaRPr>
          </a:p>
          <a:p>
            <a:r>
              <a:rPr lang="en-US" dirty="0">
                <a:cs typeface="Calibri"/>
                <a:hlinkClick r:id="rId6" action="ppaction://hlinksldjump"/>
              </a:rPr>
              <a:t>You decide to ask each of the salespeople from the recommended video conference products to show you both  highlights of their products.</a:t>
            </a:r>
            <a:r>
              <a:rPr lang="en-US" b="1" dirty="0">
                <a:solidFill>
                  <a:schemeClr val="tx2"/>
                </a:solidFill>
                <a:ea typeface="Calibri"/>
                <a:cs typeface="Calibri"/>
                <a:hlinkClick r:id="rId6" action="ppaction://hlinksldjump"/>
              </a:rPr>
              <a:t> [Level6_Decision1_OptionB]</a:t>
            </a:r>
            <a:endParaRPr lang="en-US" b="1" dirty="0">
              <a:solidFill>
                <a:schemeClr val="tx2"/>
              </a:solidFill>
              <a:ea typeface="Calibri"/>
              <a:cs typeface="Calibri"/>
              <a:hlinkClick r:id="rId5" action="ppaction://hlinksldjump"/>
            </a:endParaRPr>
          </a:p>
          <a:p>
            <a:endParaRPr lang="en-US" dirty="0">
              <a:cs typeface="Calibri"/>
            </a:endParaRPr>
          </a:p>
          <a:p>
            <a:endParaRPr lang="en-US" dirty="0">
              <a:cs typeface="Calibri"/>
            </a:endParaRPr>
          </a:p>
          <a:p>
            <a:pPr algn="ctr"/>
            <a:endParaRPr lang="en-US" dirty="0">
              <a:cs typeface="Calibri"/>
            </a:endParaRPr>
          </a:p>
        </p:txBody>
      </p:sp>
      <p:sp>
        <p:nvSpPr>
          <p:cNvPr id="5" name="Text Placeholder 3">
            <a:extLst>
              <a:ext uri="{FF2B5EF4-FFF2-40B4-BE49-F238E27FC236}">
                <a16:creationId xmlns:a16="http://schemas.microsoft.com/office/drawing/2014/main" id="{5230EB55-F9EA-45A8-8531-E850CCB1C9ED}"/>
              </a:ext>
            </a:extLst>
          </p:cNvPr>
          <p:cNvSpPr txBox="1">
            <a:spLocks/>
          </p:cNvSpPr>
          <p:nvPr/>
        </p:nvSpPr>
        <p:spPr>
          <a:xfrm>
            <a:off x="1394211" y="2907483"/>
            <a:ext cx="559955"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6" name="Text Placeholder 3">
            <a:extLst>
              <a:ext uri="{FF2B5EF4-FFF2-40B4-BE49-F238E27FC236}">
                <a16:creationId xmlns:a16="http://schemas.microsoft.com/office/drawing/2014/main" id="{6DBA4675-134D-4C07-8C34-798C41DA7957}"/>
              </a:ext>
            </a:extLst>
          </p:cNvPr>
          <p:cNvSpPr txBox="1">
            <a:spLocks/>
          </p:cNvSpPr>
          <p:nvPr/>
        </p:nvSpPr>
        <p:spPr>
          <a:xfrm>
            <a:off x="1394212" y="3738479"/>
            <a:ext cx="572852"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8" name="Arrow: Pentagon 7">
            <a:extLst>
              <a:ext uri="{FF2B5EF4-FFF2-40B4-BE49-F238E27FC236}">
                <a16:creationId xmlns:a16="http://schemas.microsoft.com/office/drawing/2014/main" id="{294BF67A-4437-4865-8D79-F36A3E0424A2}"/>
              </a:ext>
            </a:extLst>
          </p:cNvPr>
          <p:cNvSpPr/>
          <p:nvPr/>
        </p:nvSpPr>
        <p:spPr>
          <a:xfrm>
            <a:off x="314087" y="2907483"/>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4" name="TextBox 3">
            <a:extLst>
              <a:ext uri="{FF2B5EF4-FFF2-40B4-BE49-F238E27FC236}">
                <a16:creationId xmlns:a16="http://schemas.microsoft.com/office/drawing/2014/main" id="{7963B42B-45E5-4064-A000-4279F0C23521}"/>
              </a:ext>
            </a:extLst>
          </p:cNvPr>
          <p:cNvSpPr txBox="1"/>
          <p:nvPr/>
        </p:nvSpPr>
        <p:spPr>
          <a:xfrm>
            <a:off x="847487" y="1517687"/>
            <a:ext cx="10272840" cy="1200329"/>
          </a:xfrm>
          <a:prstGeom prst="rect">
            <a:avLst/>
          </a:prstGeom>
          <a:noFill/>
        </p:spPr>
        <p:txBody>
          <a:bodyPr wrap="square" rtlCol="0">
            <a:spAutoFit/>
          </a:bodyPr>
          <a:lstStyle/>
          <a:p>
            <a:r>
              <a:rPr lang="en-US" dirty="0">
                <a:cs typeface="Calibri"/>
              </a:rPr>
              <a:t>A few of your colleagues have recommended video conference products like Zoom, GoToMeeting, Skype for Business, WebEx, and ConnectWise. You really need to narrow down your price range and priority of features. So what’s your next step?</a:t>
            </a:r>
          </a:p>
          <a:p>
            <a:endParaRPr lang="en-US" dirty="0"/>
          </a:p>
        </p:txBody>
      </p:sp>
      <p:sp>
        <p:nvSpPr>
          <p:cNvPr id="9" name="TextBox 8">
            <a:extLst>
              <a:ext uri="{FF2B5EF4-FFF2-40B4-BE49-F238E27FC236}">
                <a16:creationId xmlns:a16="http://schemas.microsoft.com/office/drawing/2014/main" id="{94B8AC81-4E2D-4CB1-B8D1-868EA498B55C}"/>
              </a:ext>
            </a:extLst>
          </p:cNvPr>
          <p:cNvSpPr txBox="1"/>
          <p:nvPr/>
        </p:nvSpPr>
        <p:spPr>
          <a:xfrm>
            <a:off x="583721" y="4929975"/>
            <a:ext cx="10515599"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At this point in the research process, students need to consult with unbiased sources of information. Watching objective product reviews is typically less biased than talking with salespeople.</a:t>
            </a:r>
          </a:p>
        </p:txBody>
      </p:sp>
      <p:sp>
        <p:nvSpPr>
          <p:cNvPr id="10" name="TextBox 9">
            <a:extLst>
              <a:ext uri="{FF2B5EF4-FFF2-40B4-BE49-F238E27FC236}">
                <a16:creationId xmlns:a16="http://schemas.microsoft.com/office/drawing/2014/main" id="{1C7F6BD5-5627-4FAA-B246-FFBDD54D43D3}"/>
              </a:ext>
            </a:extLst>
          </p:cNvPr>
          <p:cNvSpPr txBox="1"/>
          <p:nvPr/>
        </p:nvSpPr>
        <p:spPr>
          <a:xfrm>
            <a:off x="583721" y="6151104"/>
            <a:ext cx="1051559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where to go for more information that is credible.</a:t>
            </a:r>
          </a:p>
        </p:txBody>
      </p:sp>
      <p:sp>
        <p:nvSpPr>
          <p:cNvPr id="11" name="TextBox 10">
            <a:extLst>
              <a:ext uri="{FF2B5EF4-FFF2-40B4-BE49-F238E27FC236}">
                <a16:creationId xmlns:a16="http://schemas.microsoft.com/office/drawing/2014/main" id="{C2B66FB1-8010-48BC-A996-21642096F2FC}"/>
              </a:ext>
            </a:extLst>
          </p:cNvPr>
          <p:cNvSpPr txBox="1"/>
          <p:nvPr/>
        </p:nvSpPr>
        <p:spPr>
          <a:xfrm>
            <a:off x="680255" y="958888"/>
            <a:ext cx="1071932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consult with colleagues for more information.</a:t>
            </a:r>
          </a:p>
        </p:txBody>
      </p:sp>
    </p:spTree>
    <p:custDataLst>
      <p:tags r:id="rId1"/>
    </p:custDataLst>
    <p:extLst>
      <p:ext uri="{BB962C8B-B14F-4D97-AF65-F5344CB8AC3E}">
        <p14:creationId xmlns:p14="http://schemas.microsoft.com/office/powerpoint/2010/main" val="340333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891824" y="117144"/>
            <a:ext cx="10412618" cy="1143000"/>
          </a:xfrm>
        </p:spPr>
        <p:txBody>
          <a:bodyPr>
            <a:normAutofit/>
          </a:bodyPr>
          <a:lstStyle/>
          <a:p>
            <a:r>
              <a:rPr lang="en-JM" sz="3650" dirty="0">
                <a:solidFill>
                  <a:schemeClr val="tx1"/>
                </a:solidFill>
              </a:rPr>
              <a:t>Level6_Decision2</a:t>
            </a:r>
          </a:p>
        </p:txBody>
      </p:sp>
      <p:sp>
        <p:nvSpPr>
          <p:cNvPr id="2" name="TextBox 1">
            <a:extLst>
              <a:ext uri="{FF2B5EF4-FFF2-40B4-BE49-F238E27FC236}">
                <a16:creationId xmlns:a16="http://schemas.microsoft.com/office/drawing/2014/main" id="{8E61185D-0285-4C9D-8544-02C370D1F1FF}"/>
              </a:ext>
            </a:extLst>
          </p:cNvPr>
          <p:cNvSpPr txBox="1"/>
          <p:nvPr/>
        </p:nvSpPr>
        <p:spPr>
          <a:xfrm>
            <a:off x="1882247" y="2889819"/>
            <a:ext cx="9420062" cy="2308324"/>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hlinkClick r:id="rId4" action="ppaction://hlinksldjump"/>
              </a:rPr>
              <a:t>Evaluating this site and all the top 10 links using the CARS checklist. Some top 10 lists are just advertisements and are not professional unbiased sources. </a:t>
            </a:r>
            <a:r>
              <a:rPr lang="en-US" b="1" dirty="0">
                <a:solidFill>
                  <a:schemeClr val="tx2"/>
                </a:solidFill>
                <a:ea typeface="Calibri"/>
                <a:cs typeface="Calibri"/>
                <a:hlinkClick r:id="rId4" action="ppaction://hlinksldjump"/>
              </a:rPr>
              <a:t>[Level6_Decision2_OptionA]</a:t>
            </a:r>
            <a:endParaRPr lang="en-US" b="1" dirty="0">
              <a:solidFill>
                <a:schemeClr val="tx2"/>
              </a:solidFill>
              <a:ea typeface="Calibri"/>
              <a:cs typeface="Calibri"/>
              <a:hlinkClick r:id="rId5" action="ppaction://hlinksldjump"/>
            </a:endParaRPr>
          </a:p>
          <a:p>
            <a:endParaRPr lang="en-US" dirty="0">
              <a:cs typeface="Calibri"/>
            </a:endParaRPr>
          </a:p>
          <a:p>
            <a:r>
              <a:rPr lang="en-US" dirty="0">
                <a:cs typeface="Calibri"/>
                <a:hlinkClick r:id="rId6" action="ppaction://hlinksldjump"/>
              </a:rPr>
              <a:t>This site looks good and you don’t want to waste time. You contact the 10 ten video conferencing companies to set up sales contacts. </a:t>
            </a:r>
            <a:r>
              <a:rPr lang="en-US" b="1" dirty="0">
                <a:solidFill>
                  <a:schemeClr val="tx2"/>
                </a:solidFill>
                <a:ea typeface="Calibri"/>
                <a:cs typeface="Calibri"/>
                <a:hlinkClick r:id="rId6" action="ppaction://hlinksldjump"/>
              </a:rPr>
              <a:t>[Level6_Decision2_OptionB]</a:t>
            </a:r>
            <a:endParaRPr lang="en-US" b="1" dirty="0">
              <a:solidFill>
                <a:schemeClr val="tx2"/>
              </a:solidFill>
              <a:ea typeface="Calibri"/>
              <a:cs typeface="Calibri"/>
              <a:hlinkClick r:id="rId5" action="ppaction://hlinksldjump"/>
            </a:endParaRPr>
          </a:p>
          <a:p>
            <a:endParaRPr lang="en-US" dirty="0">
              <a:cs typeface="Calibri"/>
            </a:endParaRPr>
          </a:p>
          <a:p>
            <a:endParaRPr lang="en-US" dirty="0">
              <a:cs typeface="Calibri"/>
            </a:endParaRPr>
          </a:p>
          <a:p>
            <a:pPr algn="ctr"/>
            <a:endParaRPr lang="en-US" dirty="0">
              <a:cs typeface="Calibri"/>
            </a:endParaRPr>
          </a:p>
        </p:txBody>
      </p:sp>
      <p:sp>
        <p:nvSpPr>
          <p:cNvPr id="5" name="Text Placeholder 3">
            <a:extLst>
              <a:ext uri="{FF2B5EF4-FFF2-40B4-BE49-F238E27FC236}">
                <a16:creationId xmlns:a16="http://schemas.microsoft.com/office/drawing/2014/main" id="{E4D98AEF-9931-4967-85A4-D3ED0C44AE86}"/>
              </a:ext>
            </a:extLst>
          </p:cNvPr>
          <p:cNvSpPr txBox="1">
            <a:spLocks/>
          </p:cNvSpPr>
          <p:nvPr/>
        </p:nvSpPr>
        <p:spPr>
          <a:xfrm>
            <a:off x="1431406" y="2907873"/>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6" name="Text Placeholder 3">
            <a:extLst>
              <a:ext uri="{FF2B5EF4-FFF2-40B4-BE49-F238E27FC236}">
                <a16:creationId xmlns:a16="http://schemas.microsoft.com/office/drawing/2014/main" id="{ADEE832D-9F4F-4CF9-82AD-167F784075E6}"/>
              </a:ext>
            </a:extLst>
          </p:cNvPr>
          <p:cNvSpPr txBox="1">
            <a:spLocks/>
          </p:cNvSpPr>
          <p:nvPr/>
        </p:nvSpPr>
        <p:spPr>
          <a:xfrm>
            <a:off x="1431406" y="3716599"/>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7" name="Arrow: Pentagon 6">
            <a:extLst>
              <a:ext uri="{FF2B5EF4-FFF2-40B4-BE49-F238E27FC236}">
                <a16:creationId xmlns:a16="http://schemas.microsoft.com/office/drawing/2014/main" id="{B5426452-E803-4521-A502-CB60AEC1E57A}"/>
              </a:ext>
            </a:extLst>
          </p:cNvPr>
          <p:cNvSpPr/>
          <p:nvPr/>
        </p:nvSpPr>
        <p:spPr>
          <a:xfrm>
            <a:off x="360557" y="2907873"/>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4" name="TextBox 3">
            <a:extLst>
              <a:ext uri="{FF2B5EF4-FFF2-40B4-BE49-F238E27FC236}">
                <a16:creationId xmlns:a16="http://schemas.microsoft.com/office/drawing/2014/main" id="{5962B5E1-0916-46E7-818D-BF7869F8C1F2}"/>
              </a:ext>
            </a:extLst>
          </p:cNvPr>
          <p:cNvSpPr txBox="1"/>
          <p:nvPr/>
        </p:nvSpPr>
        <p:spPr>
          <a:xfrm>
            <a:off x="889691" y="1702225"/>
            <a:ext cx="10412618" cy="923330"/>
          </a:xfrm>
          <a:prstGeom prst="rect">
            <a:avLst/>
          </a:prstGeom>
          <a:noFill/>
        </p:spPr>
        <p:txBody>
          <a:bodyPr wrap="square" rtlCol="0">
            <a:spAutoFit/>
          </a:bodyPr>
          <a:lstStyle/>
          <a:p>
            <a:r>
              <a:rPr lang="en-US" dirty="0">
                <a:cs typeface="Calibri"/>
              </a:rPr>
              <a:t>You’ve chosen a promising link that mentions the Top 10 Video Conferencing Solutions with expert reviews, features, and the best-rated equipment. You need to evaluate if this site is truly legitimate. You consider:</a:t>
            </a:r>
          </a:p>
          <a:p>
            <a:endParaRPr lang="en-US" dirty="0"/>
          </a:p>
        </p:txBody>
      </p:sp>
      <p:sp>
        <p:nvSpPr>
          <p:cNvPr id="10" name="TextBox 9">
            <a:extLst>
              <a:ext uri="{FF2B5EF4-FFF2-40B4-BE49-F238E27FC236}">
                <a16:creationId xmlns:a16="http://schemas.microsoft.com/office/drawing/2014/main" id="{CB5A09CD-DF1D-47DF-BA02-FEC1AC03C385}"/>
              </a:ext>
            </a:extLst>
          </p:cNvPr>
          <p:cNvSpPr txBox="1"/>
          <p:nvPr/>
        </p:nvSpPr>
        <p:spPr>
          <a:xfrm>
            <a:off x="583720" y="4728273"/>
            <a:ext cx="10515599"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a:defRPr/>
            </a:pPr>
            <a:r>
              <a:rPr lang="en-US" dirty="0">
                <a:solidFill>
                  <a:srgbClr val="C00000"/>
                </a:solidFill>
              </a:rPr>
              <a:t>At this point in the research process, students need to consult with unbiased sources of information. Watching objective product reviews is typically less biased than talking with salespeople.</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9205424D-DC14-45A1-AE65-C4A613A79ABF}"/>
              </a:ext>
            </a:extLst>
          </p:cNvPr>
          <p:cNvSpPr txBox="1"/>
          <p:nvPr/>
        </p:nvSpPr>
        <p:spPr>
          <a:xfrm>
            <a:off x="583721" y="6076243"/>
            <a:ext cx="1051559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lang="en-US" dirty="0">
                <a:solidFill>
                  <a:prstClr val="black"/>
                </a:solidFill>
              </a:rPr>
              <a:t>Next step for both options: Student will need to choose where to go for more information that is credible.</a:t>
            </a:r>
          </a:p>
        </p:txBody>
      </p:sp>
      <p:sp>
        <p:nvSpPr>
          <p:cNvPr id="12" name="TextBox 11">
            <a:extLst>
              <a:ext uri="{FF2B5EF4-FFF2-40B4-BE49-F238E27FC236}">
                <a16:creationId xmlns:a16="http://schemas.microsoft.com/office/drawing/2014/main" id="{FCB6BEBA-6ACF-4353-B783-58ECEE522D5C}"/>
              </a:ext>
            </a:extLst>
          </p:cNvPr>
          <p:cNvSpPr txBox="1"/>
          <p:nvPr/>
        </p:nvSpPr>
        <p:spPr>
          <a:xfrm>
            <a:off x="583720" y="1068630"/>
            <a:ext cx="1071932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work with their Google search results.</a:t>
            </a:r>
          </a:p>
        </p:txBody>
      </p:sp>
    </p:spTree>
    <p:custDataLst>
      <p:tags r:id="rId1"/>
    </p:custDataLst>
    <p:extLst>
      <p:ext uri="{BB962C8B-B14F-4D97-AF65-F5344CB8AC3E}">
        <p14:creationId xmlns:p14="http://schemas.microsoft.com/office/powerpoint/2010/main" val="4149739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546101" y="94864"/>
            <a:ext cx="10412618" cy="1143000"/>
          </a:xfrm>
        </p:spPr>
        <p:txBody>
          <a:bodyPr>
            <a:normAutofit/>
          </a:bodyPr>
          <a:lstStyle/>
          <a:p>
            <a:r>
              <a:rPr lang="en-JM" sz="3650" dirty="0">
                <a:solidFill>
                  <a:schemeClr val="tx1"/>
                </a:solidFill>
              </a:rPr>
              <a:t>Level7_Decision1</a:t>
            </a:r>
          </a:p>
        </p:txBody>
      </p:sp>
      <p:sp>
        <p:nvSpPr>
          <p:cNvPr id="2" name="TextBox 1">
            <a:extLst>
              <a:ext uri="{FF2B5EF4-FFF2-40B4-BE49-F238E27FC236}">
                <a16:creationId xmlns:a16="http://schemas.microsoft.com/office/drawing/2014/main" id="{8E61185D-0285-4C9D-8544-02C370D1F1FF}"/>
              </a:ext>
            </a:extLst>
          </p:cNvPr>
          <p:cNvSpPr txBox="1"/>
          <p:nvPr/>
        </p:nvSpPr>
        <p:spPr>
          <a:xfrm>
            <a:off x="1737592" y="2639125"/>
            <a:ext cx="9221127" cy="452431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hlinkClick r:id="rId4" action="ppaction://hlinksldjump"/>
              </a:rPr>
              <a:t>You just can’t be sure if the websites you find are outdated, biased, grammatically incorrect, and unbalanced. After all, you are new to videoconferencing. You want to talk to an expert, so you decide to call salespeople from a few of the video conferencing companies to assist you. </a:t>
            </a:r>
            <a:r>
              <a:rPr lang="en-US" b="1" dirty="0">
                <a:solidFill>
                  <a:schemeClr val="tx2"/>
                </a:solidFill>
                <a:ea typeface="Calibri"/>
                <a:cs typeface="Calibri"/>
                <a:hlinkClick r:id="rId4" action="ppaction://hlinksldjump"/>
              </a:rPr>
              <a:t>[Level7_Decision1_OptionA]</a:t>
            </a:r>
            <a:endParaRPr lang="en-US" b="1" dirty="0">
              <a:solidFill>
                <a:schemeClr val="tx2"/>
              </a:solidFill>
              <a:ea typeface="Calibri"/>
              <a:cs typeface="Calibri"/>
              <a:hlinkClick r:id="rId5" action="ppaction://hlinksldjump"/>
            </a:endParaRPr>
          </a:p>
          <a:p>
            <a:endParaRPr lang="en-US" dirty="0">
              <a:cs typeface="Calibri"/>
              <a:hlinkClick r:id="rId6" action="ppaction://hlinksldjump"/>
            </a:endParaRPr>
          </a:p>
          <a:p>
            <a:r>
              <a:rPr lang="en-US" dirty="0">
                <a:solidFill>
                  <a:schemeClr val="tx2"/>
                </a:solidFill>
                <a:ea typeface="Calibri"/>
                <a:cs typeface="Calibri"/>
                <a:hlinkClick r:id="rId6" action="ppaction://hlinksldjump"/>
              </a:rPr>
              <a:t>You spend a lot of time carefully reading through websites until you find a few that meet all the checkboxes in your CARS list. You find five video conferencing solutions that might work. You decide to create a survey with the top features. </a:t>
            </a:r>
            <a:r>
              <a:rPr lang="en-US" b="1" dirty="0">
                <a:solidFill>
                  <a:schemeClr val="tx2"/>
                </a:solidFill>
                <a:ea typeface="Calibri"/>
                <a:cs typeface="Calibri"/>
                <a:hlinkClick r:id="rId6" action="ppaction://hlinksldjump"/>
              </a:rPr>
              <a:t>[Level7_Decision1_OptionB]</a:t>
            </a:r>
            <a:endParaRPr lang="en-US" b="1" dirty="0">
              <a:solidFill>
                <a:schemeClr val="tx2"/>
              </a:solidFill>
              <a:ea typeface="Calibri"/>
              <a:cs typeface="Calibri"/>
            </a:endParaRPr>
          </a:p>
          <a:p>
            <a:pPr marL="342900" indent="-342900">
              <a:buFontTx/>
              <a:buAutoNum type="alphaLcPeriod"/>
            </a:pPr>
            <a:endParaRPr lang="en-US" b="1" dirty="0">
              <a:solidFill>
                <a:schemeClr val="tx2"/>
              </a:solidFill>
              <a:ea typeface="Calibri"/>
              <a:cs typeface="Calibri"/>
            </a:endParaRPr>
          </a:p>
          <a:p>
            <a:pPr marL="342900" indent="-342900">
              <a:buFontTx/>
              <a:buAutoNum type="alphaLcPeriod"/>
            </a:pPr>
            <a:endParaRPr lang="en-US" b="1" dirty="0">
              <a:solidFill>
                <a:schemeClr val="tx2"/>
              </a:solidFill>
              <a:ea typeface="Calibri"/>
              <a:cs typeface="Calibri"/>
            </a:endParaRPr>
          </a:p>
          <a:p>
            <a:pPr marL="342900" indent="-342900">
              <a:buFontTx/>
              <a:buAutoNum type="alphaLcPeriod"/>
            </a:pPr>
            <a:endParaRPr lang="en-US" b="1" dirty="0">
              <a:solidFill>
                <a:schemeClr val="tx2"/>
              </a:solidFill>
              <a:ea typeface="Calibri"/>
              <a:cs typeface="Calibri"/>
              <a:hlinkClick r:id="rId5" action="ppaction://hlinksldjump"/>
            </a:endParaRPr>
          </a:p>
          <a:p>
            <a:pPr marL="342900" indent="-342900">
              <a:buFontTx/>
              <a:buAutoNum type="alphaLcPeriod"/>
            </a:pPr>
            <a:endParaRPr lang="en-US" b="1" dirty="0">
              <a:solidFill>
                <a:schemeClr val="tx2"/>
              </a:solidFill>
              <a:ea typeface="Calibri"/>
              <a:cs typeface="Calibri"/>
              <a:hlinkClick r:id="rId5" action="ppaction://hlinksldjump"/>
            </a:endParaRPr>
          </a:p>
          <a:p>
            <a:pPr marL="342900" indent="-342900">
              <a:buAutoNum type="alphaLcPeriod"/>
            </a:pPr>
            <a:endParaRPr lang="en-US" dirty="0">
              <a:cs typeface="Calibri"/>
            </a:endParaRPr>
          </a:p>
          <a:p>
            <a:endParaRPr lang="en-US" dirty="0">
              <a:cs typeface="Calibri"/>
            </a:endParaRPr>
          </a:p>
          <a:p>
            <a:endParaRPr lang="en-US" dirty="0">
              <a:cs typeface="Calibri"/>
            </a:endParaRPr>
          </a:p>
          <a:p>
            <a:pPr algn="ctr"/>
            <a:endParaRPr lang="en-US" dirty="0">
              <a:cs typeface="Calibri"/>
            </a:endParaRPr>
          </a:p>
        </p:txBody>
      </p:sp>
      <p:sp>
        <p:nvSpPr>
          <p:cNvPr id="5" name="Text Placeholder 3">
            <a:extLst>
              <a:ext uri="{FF2B5EF4-FFF2-40B4-BE49-F238E27FC236}">
                <a16:creationId xmlns:a16="http://schemas.microsoft.com/office/drawing/2014/main" id="{E54B5E7D-7C26-4027-9C2C-1536DC8DFADE}"/>
              </a:ext>
            </a:extLst>
          </p:cNvPr>
          <p:cNvSpPr txBox="1">
            <a:spLocks/>
          </p:cNvSpPr>
          <p:nvPr/>
        </p:nvSpPr>
        <p:spPr>
          <a:xfrm>
            <a:off x="1316413" y="2639125"/>
            <a:ext cx="599575"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7" name="Text Placeholder 3">
            <a:extLst>
              <a:ext uri="{FF2B5EF4-FFF2-40B4-BE49-F238E27FC236}">
                <a16:creationId xmlns:a16="http://schemas.microsoft.com/office/drawing/2014/main" id="{5DED391A-5F18-4951-B75D-ACDFB59AC668}"/>
              </a:ext>
            </a:extLst>
          </p:cNvPr>
          <p:cNvSpPr txBox="1">
            <a:spLocks/>
          </p:cNvSpPr>
          <p:nvPr/>
        </p:nvSpPr>
        <p:spPr>
          <a:xfrm>
            <a:off x="1316413" y="3963086"/>
            <a:ext cx="61338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8" name="Arrow: Pentagon 7">
            <a:extLst>
              <a:ext uri="{FF2B5EF4-FFF2-40B4-BE49-F238E27FC236}">
                <a16:creationId xmlns:a16="http://schemas.microsoft.com/office/drawing/2014/main" id="{7FF00830-DD6B-4355-8588-916B253AE362}"/>
              </a:ext>
            </a:extLst>
          </p:cNvPr>
          <p:cNvSpPr/>
          <p:nvPr/>
        </p:nvSpPr>
        <p:spPr>
          <a:xfrm>
            <a:off x="166481" y="3972125"/>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4" name="TextBox 3">
            <a:extLst>
              <a:ext uri="{FF2B5EF4-FFF2-40B4-BE49-F238E27FC236}">
                <a16:creationId xmlns:a16="http://schemas.microsoft.com/office/drawing/2014/main" id="{AC2E8B9C-DA51-4986-A08B-8463B86E59C2}"/>
              </a:ext>
            </a:extLst>
          </p:cNvPr>
          <p:cNvSpPr txBox="1"/>
          <p:nvPr/>
        </p:nvSpPr>
        <p:spPr>
          <a:xfrm>
            <a:off x="546101" y="1422409"/>
            <a:ext cx="10412618" cy="1200329"/>
          </a:xfrm>
          <a:prstGeom prst="rect">
            <a:avLst/>
          </a:prstGeom>
          <a:noFill/>
        </p:spPr>
        <p:txBody>
          <a:bodyPr wrap="square" rtlCol="0">
            <a:spAutoFit/>
          </a:bodyPr>
          <a:lstStyle/>
          <a:p>
            <a:r>
              <a:rPr lang="en-US" dirty="0">
                <a:cs typeface="Calibri"/>
              </a:rPr>
              <a:t>As you look through website recommendations for your new video conferencing solutions, remember to do a mental checklist to determine if the site is credible, accurate, reasonable, and is properly supported. As you research:</a:t>
            </a:r>
          </a:p>
          <a:p>
            <a:endParaRPr lang="en-US" dirty="0"/>
          </a:p>
        </p:txBody>
      </p:sp>
      <p:sp>
        <p:nvSpPr>
          <p:cNvPr id="9" name="TextBox 8">
            <a:extLst>
              <a:ext uri="{FF2B5EF4-FFF2-40B4-BE49-F238E27FC236}">
                <a16:creationId xmlns:a16="http://schemas.microsoft.com/office/drawing/2014/main" id="{F82CE3BE-FD06-4139-9BBE-0ABBCBFB1C86}"/>
              </a:ext>
            </a:extLst>
          </p:cNvPr>
          <p:cNvSpPr txBox="1"/>
          <p:nvPr/>
        </p:nvSpPr>
        <p:spPr>
          <a:xfrm>
            <a:off x="583720" y="5126320"/>
            <a:ext cx="10515599"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a:defRPr/>
            </a:pPr>
            <a:r>
              <a:rPr lang="en-US" dirty="0">
                <a:solidFill>
                  <a:srgbClr val="C00000"/>
                </a:solidFill>
              </a:rPr>
              <a:t>At this point in the research process, students need to target their research to specific needs. Conducting a survey with intended users is more relevant than talking with salespeople.</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3EEE809D-C39F-4734-9178-84AEE05BA5DB}"/>
              </a:ext>
            </a:extLst>
          </p:cNvPr>
          <p:cNvSpPr txBox="1"/>
          <p:nvPr/>
        </p:nvSpPr>
        <p:spPr>
          <a:xfrm>
            <a:off x="583721" y="6234255"/>
            <a:ext cx="1051559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lang="en-US" dirty="0">
                <a:solidFill>
                  <a:prstClr val="black"/>
                </a:solidFill>
              </a:rPr>
              <a:t>Next step for both options: Student will need to choose where to go for more information that is credible.</a:t>
            </a:r>
          </a:p>
        </p:txBody>
      </p:sp>
      <p:sp>
        <p:nvSpPr>
          <p:cNvPr id="11" name="TextBox 10">
            <a:extLst>
              <a:ext uri="{FF2B5EF4-FFF2-40B4-BE49-F238E27FC236}">
                <a16:creationId xmlns:a16="http://schemas.microsoft.com/office/drawing/2014/main" id="{6310D409-6F3E-4F6A-BF31-5B7C16872E5B}"/>
              </a:ext>
            </a:extLst>
          </p:cNvPr>
          <p:cNvSpPr txBox="1"/>
          <p:nvPr/>
        </p:nvSpPr>
        <p:spPr>
          <a:xfrm>
            <a:off x="583720" y="960805"/>
            <a:ext cx="10515599"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evaluate websites for unbiased information.</a:t>
            </a:r>
          </a:p>
        </p:txBody>
      </p:sp>
    </p:spTree>
    <p:custDataLst>
      <p:tags r:id="rId1"/>
    </p:custDataLst>
    <p:extLst>
      <p:ext uri="{BB962C8B-B14F-4D97-AF65-F5344CB8AC3E}">
        <p14:creationId xmlns:p14="http://schemas.microsoft.com/office/powerpoint/2010/main" val="2410983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686222" y="161075"/>
            <a:ext cx="10418871" cy="1143000"/>
          </a:xfrm>
        </p:spPr>
        <p:txBody>
          <a:bodyPr/>
          <a:lstStyle/>
          <a:p>
            <a:r>
              <a:rPr lang="en-JM" sz="3650" dirty="0">
                <a:solidFill>
                  <a:schemeClr val="tx1"/>
                </a:solidFill>
              </a:rPr>
              <a:t>Level8_Decision1</a:t>
            </a:r>
            <a:br>
              <a:rPr lang="en-JM" dirty="0"/>
            </a:br>
            <a:endParaRPr lang="en-JM" dirty="0"/>
          </a:p>
        </p:txBody>
      </p:sp>
      <p:sp>
        <p:nvSpPr>
          <p:cNvPr id="2" name="TextBox 1">
            <a:extLst>
              <a:ext uri="{FF2B5EF4-FFF2-40B4-BE49-F238E27FC236}">
                <a16:creationId xmlns:a16="http://schemas.microsoft.com/office/drawing/2014/main" id="{8E61185D-0285-4C9D-8544-02C370D1F1FF}"/>
              </a:ext>
            </a:extLst>
          </p:cNvPr>
          <p:cNvSpPr txBox="1"/>
          <p:nvPr/>
        </p:nvSpPr>
        <p:spPr>
          <a:xfrm>
            <a:off x="1801522" y="2647857"/>
            <a:ext cx="9201070" cy="2308324"/>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hlinkClick r:id="rId4" action="ppaction://hlinksldjump"/>
              </a:rPr>
              <a:t>“We will survey our company and get back to you after researching the possibilities. Can we reschedule?” </a:t>
            </a:r>
            <a:r>
              <a:rPr lang="en-US" b="1" dirty="0">
                <a:solidFill>
                  <a:schemeClr val="tx2"/>
                </a:solidFill>
                <a:ea typeface="Calibri"/>
                <a:cs typeface="Calibri"/>
                <a:hlinkClick r:id="rId4" action="ppaction://hlinksldjump"/>
              </a:rPr>
              <a:t>[Level8_Decision1_OptionA]</a:t>
            </a:r>
            <a:endParaRPr lang="en-US" b="1" dirty="0">
              <a:solidFill>
                <a:schemeClr val="tx2"/>
              </a:solidFill>
              <a:ea typeface="Calibri"/>
              <a:cs typeface="Calibri"/>
              <a:hlinkClick r:id="rId5" action="ppaction://hlinksldjump"/>
            </a:endParaRPr>
          </a:p>
          <a:p>
            <a:endParaRPr lang="en-US" dirty="0">
              <a:cs typeface="Calibri"/>
            </a:endParaRPr>
          </a:p>
          <a:p>
            <a:r>
              <a:rPr lang="en-US" dirty="0">
                <a:solidFill>
                  <a:schemeClr val="accent1"/>
                </a:solidFill>
                <a:cs typeface="Calibri"/>
                <a:hlinkClick r:id="rId6" action="ppaction://hlinksldjump">
                  <a:extLst>
                    <a:ext uri="{A12FA001-AC4F-418D-AE19-62706E023703}">
                      <ahyp:hlinkClr xmlns:ahyp="http://schemas.microsoft.com/office/drawing/2018/hyperlinkcolor" val="tx"/>
                    </a:ext>
                  </a:extLst>
                </a:hlinkClick>
              </a:rPr>
              <a:t>“We have not gotten any feedback from our company yet. In order to keep this moving, could you just share the top features of your product so we can report back?”  Together you and Mia sit through sales pitches for 5 companies. </a:t>
            </a:r>
            <a:r>
              <a:rPr lang="en-US" b="1" dirty="0">
                <a:solidFill>
                  <a:schemeClr val="accent1"/>
                </a:solidFill>
                <a:cs typeface="Calibri"/>
                <a:hlinkClick r:id="rId6" action="ppaction://hlinksldjump">
                  <a:extLst>
                    <a:ext uri="{A12FA001-AC4F-418D-AE19-62706E023703}">
                      <ahyp:hlinkClr xmlns:ahyp="http://schemas.microsoft.com/office/drawing/2018/hyperlinkcolor" val="tx"/>
                    </a:ext>
                  </a:extLst>
                </a:hlinkClick>
              </a:rPr>
              <a:t>[Level8_Decision1_OptionB]</a:t>
            </a:r>
            <a:endParaRPr lang="en-US" b="1" dirty="0">
              <a:solidFill>
                <a:schemeClr val="accent1"/>
              </a:solidFill>
              <a:cs typeface="Calibri"/>
              <a:hlinkClick r:id="rId5" action="ppaction://hlinksldjump">
                <a:extLst>
                  <a:ext uri="{A12FA001-AC4F-418D-AE19-62706E023703}">
                    <ahyp:hlinkClr xmlns:ahyp="http://schemas.microsoft.com/office/drawing/2018/hyperlinkcolor" val="tx"/>
                  </a:ext>
                </a:extLst>
              </a:hlinkClick>
            </a:endParaRPr>
          </a:p>
          <a:p>
            <a:endParaRPr lang="en-US" dirty="0">
              <a:cs typeface="Calibri"/>
            </a:endParaRPr>
          </a:p>
          <a:p>
            <a:pPr algn="ctr"/>
            <a:endParaRPr lang="en-US" dirty="0">
              <a:cs typeface="Calibri"/>
            </a:endParaRPr>
          </a:p>
        </p:txBody>
      </p:sp>
      <p:sp>
        <p:nvSpPr>
          <p:cNvPr id="8" name="Text Placeholder 3">
            <a:extLst>
              <a:ext uri="{FF2B5EF4-FFF2-40B4-BE49-F238E27FC236}">
                <a16:creationId xmlns:a16="http://schemas.microsoft.com/office/drawing/2014/main" id="{AA836AC7-FF6A-47D2-92DD-ADE0DD92AF41}"/>
              </a:ext>
            </a:extLst>
          </p:cNvPr>
          <p:cNvSpPr txBox="1">
            <a:spLocks/>
          </p:cNvSpPr>
          <p:nvPr/>
        </p:nvSpPr>
        <p:spPr>
          <a:xfrm>
            <a:off x="1329045" y="2596123"/>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9" name="Text Placeholder 3">
            <a:extLst>
              <a:ext uri="{FF2B5EF4-FFF2-40B4-BE49-F238E27FC236}">
                <a16:creationId xmlns:a16="http://schemas.microsoft.com/office/drawing/2014/main" id="{F891EFFC-CFBC-46E2-A8BB-3A38634A4582}"/>
              </a:ext>
            </a:extLst>
          </p:cNvPr>
          <p:cNvSpPr txBox="1">
            <a:spLocks/>
          </p:cNvSpPr>
          <p:nvPr/>
        </p:nvSpPr>
        <p:spPr>
          <a:xfrm>
            <a:off x="1329045" y="3519410"/>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10" name="Arrow: Pentagon 9">
            <a:extLst>
              <a:ext uri="{FF2B5EF4-FFF2-40B4-BE49-F238E27FC236}">
                <a16:creationId xmlns:a16="http://schemas.microsoft.com/office/drawing/2014/main" id="{BA95DD16-88EA-427E-A2EE-8FBDC0D3D4A5}"/>
              </a:ext>
            </a:extLst>
          </p:cNvPr>
          <p:cNvSpPr/>
          <p:nvPr/>
        </p:nvSpPr>
        <p:spPr>
          <a:xfrm>
            <a:off x="179629" y="2660821"/>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4" name="TextBox 3">
            <a:extLst>
              <a:ext uri="{FF2B5EF4-FFF2-40B4-BE49-F238E27FC236}">
                <a16:creationId xmlns:a16="http://schemas.microsoft.com/office/drawing/2014/main" id="{01BF3A66-0895-4AA4-891D-6542CD41CC88}"/>
              </a:ext>
            </a:extLst>
          </p:cNvPr>
          <p:cNvSpPr txBox="1"/>
          <p:nvPr/>
        </p:nvSpPr>
        <p:spPr>
          <a:xfrm>
            <a:off x="583720" y="1304075"/>
            <a:ext cx="10418871" cy="1200329"/>
          </a:xfrm>
          <a:prstGeom prst="rect">
            <a:avLst/>
          </a:prstGeom>
          <a:noFill/>
        </p:spPr>
        <p:txBody>
          <a:bodyPr wrap="square" rtlCol="0">
            <a:spAutoFit/>
          </a:bodyPr>
          <a:lstStyle/>
          <a:p>
            <a:r>
              <a:rPr lang="en-US" dirty="0">
                <a:cs typeface="Calibri"/>
              </a:rPr>
              <a:t>You and Mia begin to sit through online sales presentations using each of the video conferencing products. Most of the sales people begin by asking the question, “What top features are a priority to your company?” How should you and Mia answer that question?</a:t>
            </a:r>
          </a:p>
          <a:p>
            <a:endParaRPr lang="en-US" dirty="0"/>
          </a:p>
        </p:txBody>
      </p:sp>
      <p:sp>
        <p:nvSpPr>
          <p:cNvPr id="11" name="TextBox 10">
            <a:extLst>
              <a:ext uri="{FF2B5EF4-FFF2-40B4-BE49-F238E27FC236}">
                <a16:creationId xmlns:a16="http://schemas.microsoft.com/office/drawing/2014/main" id="{FF6379C0-34C9-42B9-8832-343373BA641F}"/>
              </a:ext>
            </a:extLst>
          </p:cNvPr>
          <p:cNvSpPr txBox="1"/>
          <p:nvPr/>
        </p:nvSpPr>
        <p:spPr>
          <a:xfrm>
            <a:off x="583720" y="4728273"/>
            <a:ext cx="10515599"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a:defRPr/>
            </a:pPr>
            <a:r>
              <a:rPr lang="en-US" dirty="0">
                <a:solidFill>
                  <a:srgbClr val="C00000"/>
                </a:solidFill>
              </a:rPr>
              <a:t>At this point in the research process, students need to target their research to specific needs. Conducting a survey with intended users is more relevant than talking with salespeople.</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C0A732FD-13D4-4318-9332-C4E5F7A2B08D}"/>
              </a:ext>
            </a:extLst>
          </p:cNvPr>
          <p:cNvSpPr txBox="1"/>
          <p:nvPr/>
        </p:nvSpPr>
        <p:spPr>
          <a:xfrm>
            <a:off x="583720" y="6017949"/>
            <a:ext cx="1051559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Option A: Student will need to choose whether to wait for survey results.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If Option B: Student will conclude with no clear recommendation.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D829C14E-FBF4-4100-904F-08F35C74B510}"/>
              </a:ext>
            </a:extLst>
          </p:cNvPr>
          <p:cNvSpPr txBox="1"/>
          <p:nvPr/>
        </p:nvSpPr>
        <p:spPr>
          <a:xfrm>
            <a:off x="681836" y="861706"/>
            <a:ext cx="1071932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consult with salespeople.</a:t>
            </a:r>
          </a:p>
        </p:txBody>
      </p:sp>
    </p:spTree>
    <p:custDataLst>
      <p:tags r:id="rId1"/>
    </p:custDataLst>
    <p:extLst>
      <p:ext uri="{BB962C8B-B14F-4D97-AF65-F5344CB8AC3E}">
        <p14:creationId xmlns:p14="http://schemas.microsoft.com/office/powerpoint/2010/main" val="2885679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583720" y="-236641"/>
            <a:ext cx="10034319" cy="1325563"/>
          </a:xfrm>
        </p:spPr>
        <p:txBody>
          <a:bodyPr vert="horz" lIns="91440" tIns="45720" rIns="91440" bIns="45720" rtlCol="0" anchor="ctr">
            <a:normAutofit/>
          </a:bodyPr>
          <a:lstStyle/>
          <a:p>
            <a:r>
              <a:rPr lang="en-US" sz="3650" dirty="0">
                <a:solidFill>
                  <a:schemeClr val="bg1"/>
                </a:solidFill>
              </a:rPr>
              <a:t>Level9_Decision1</a:t>
            </a:r>
          </a:p>
        </p:txBody>
      </p:sp>
      <p:sp>
        <p:nvSpPr>
          <p:cNvPr id="2" name="TextBox 1">
            <a:extLst>
              <a:ext uri="{FF2B5EF4-FFF2-40B4-BE49-F238E27FC236}">
                <a16:creationId xmlns:a16="http://schemas.microsoft.com/office/drawing/2014/main" id="{8E61185D-0285-4C9D-8544-02C370D1F1FF}"/>
              </a:ext>
            </a:extLst>
          </p:cNvPr>
          <p:cNvSpPr txBox="1"/>
          <p:nvPr/>
        </p:nvSpPr>
        <p:spPr>
          <a:xfrm>
            <a:off x="1361840" y="2408533"/>
            <a:ext cx="9453941" cy="337592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342900" indent="-228600">
              <a:lnSpc>
                <a:spcPct val="90000"/>
              </a:lnSpc>
              <a:buFont typeface="Arial" panose="020B0604020202020204" pitchFamily="34" charset="0"/>
              <a:buChar char="•"/>
            </a:pPr>
            <a:endParaRPr lang="en-US" dirty="0"/>
          </a:p>
          <a:p>
            <a:pPr marL="342900" indent="-228600">
              <a:lnSpc>
                <a:spcPct val="90000"/>
              </a:lnSpc>
              <a:buFont typeface="Arial" panose="020B0604020202020204" pitchFamily="34" charset="0"/>
              <a:buChar char="•"/>
            </a:pPr>
            <a:r>
              <a:rPr lang="en-US" dirty="0">
                <a:hlinkClick r:id="rId4" action="ppaction://hlinksldjump"/>
              </a:rPr>
              <a:t>Wait a few days so you can review the results from the survey. </a:t>
            </a:r>
            <a:r>
              <a:rPr lang="en-US" b="1" dirty="0">
                <a:solidFill>
                  <a:schemeClr val="tx2"/>
                </a:solidFill>
                <a:ea typeface="Calibri"/>
                <a:cs typeface="Calibri"/>
                <a:hlinkClick r:id="rId5" action="ppaction://hlinksldjump"/>
              </a:rPr>
              <a:t>[Level9_Decision1_OptionA]</a:t>
            </a:r>
            <a:endParaRPr lang="en-US" b="1" dirty="0">
              <a:solidFill>
                <a:schemeClr val="tx2"/>
              </a:solidFill>
              <a:ea typeface="Calibri"/>
              <a:cs typeface="Calibri"/>
              <a:hlinkClick r:id="rId6" action="ppaction://hlinksldjump"/>
            </a:endParaRPr>
          </a:p>
          <a:p>
            <a:pPr marL="342900" indent="-228600">
              <a:lnSpc>
                <a:spcPct val="90000"/>
              </a:lnSpc>
              <a:buFont typeface="Arial" panose="020B0604020202020204" pitchFamily="34" charset="0"/>
              <a:buChar char="•"/>
            </a:pPr>
            <a:endParaRPr lang="en-US" dirty="0"/>
          </a:p>
          <a:p>
            <a:pPr marL="342900" indent="-228600">
              <a:lnSpc>
                <a:spcPct val="90000"/>
              </a:lnSpc>
              <a:buFont typeface="Arial" panose="020B0604020202020204" pitchFamily="34" charset="0"/>
              <a:buChar char="•"/>
            </a:pPr>
            <a:r>
              <a:rPr lang="en-US" dirty="0">
                <a:hlinkClick r:id="rId7" action="ppaction://hlinksldjump"/>
              </a:rPr>
              <a:t>You don’t want to wait so long for the results to come in. You want to be ready to deliver a solution quickly to make a good impression. You and Mia decide to go with your gut instinct and contact your favorite solution. You know the survey will just validate this choice when the results are available.  </a:t>
            </a:r>
            <a:r>
              <a:rPr lang="en-US" b="1" dirty="0">
                <a:solidFill>
                  <a:schemeClr val="tx2"/>
                </a:solidFill>
                <a:ea typeface="Calibri"/>
                <a:cs typeface="Calibri"/>
                <a:hlinkClick r:id="rId7" action="ppaction://hlinksldjump"/>
              </a:rPr>
              <a:t>Level9_Decision1_OptionB]</a:t>
            </a:r>
            <a:endParaRPr lang="en-US" b="1" dirty="0">
              <a:solidFill>
                <a:schemeClr val="tx2"/>
              </a:solidFill>
              <a:ea typeface="Calibri"/>
              <a:cs typeface="Calibri"/>
              <a:hlinkClick r:id="rId6" action="ppaction://hlinksldjump"/>
            </a:endParaRPr>
          </a:p>
          <a:p>
            <a:pPr marL="342900" indent="-228600">
              <a:lnSpc>
                <a:spcPct val="90000"/>
              </a:lnSpc>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endParaRPr lang="en-US" dirty="0"/>
          </a:p>
        </p:txBody>
      </p:sp>
      <p:sp>
        <p:nvSpPr>
          <p:cNvPr id="6" name="Text Placeholder 3">
            <a:extLst>
              <a:ext uri="{FF2B5EF4-FFF2-40B4-BE49-F238E27FC236}">
                <a16:creationId xmlns:a16="http://schemas.microsoft.com/office/drawing/2014/main" id="{9D73D477-CCE2-45C1-83CF-BB078CBCB1C7}"/>
              </a:ext>
            </a:extLst>
          </p:cNvPr>
          <p:cNvSpPr txBox="1">
            <a:spLocks/>
          </p:cNvSpPr>
          <p:nvPr/>
        </p:nvSpPr>
        <p:spPr>
          <a:xfrm>
            <a:off x="1361841" y="3337270"/>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7" name="Text Placeholder 3">
            <a:extLst>
              <a:ext uri="{FF2B5EF4-FFF2-40B4-BE49-F238E27FC236}">
                <a16:creationId xmlns:a16="http://schemas.microsoft.com/office/drawing/2014/main" id="{E8A7939C-4EE4-452A-A2B9-B90CE961D81C}"/>
              </a:ext>
            </a:extLst>
          </p:cNvPr>
          <p:cNvSpPr txBox="1">
            <a:spLocks/>
          </p:cNvSpPr>
          <p:nvPr/>
        </p:nvSpPr>
        <p:spPr>
          <a:xfrm>
            <a:off x="1376218" y="2582085"/>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8" name="Arrow: Pentagon 7">
            <a:extLst>
              <a:ext uri="{FF2B5EF4-FFF2-40B4-BE49-F238E27FC236}">
                <a16:creationId xmlns:a16="http://schemas.microsoft.com/office/drawing/2014/main" id="{ED900210-AE45-4944-A5E9-E85593580F5D}"/>
              </a:ext>
            </a:extLst>
          </p:cNvPr>
          <p:cNvSpPr/>
          <p:nvPr/>
        </p:nvSpPr>
        <p:spPr>
          <a:xfrm>
            <a:off x="238510" y="2646783"/>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5" name="TextBox 4">
            <a:extLst>
              <a:ext uri="{FF2B5EF4-FFF2-40B4-BE49-F238E27FC236}">
                <a16:creationId xmlns:a16="http://schemas.microsoft.com/office/drawing/2014/main" id="{5C031226-FA18-4384-A8CD-FF50A81CB0C6}"/>
              </a:ext>
            </a:extLst>
          </p:cNvPr>
          <p:cNvSpPr txBox="1"/>
          <p:nvPr/>
        </p:nvSpPr>
        <p:spPr>
          <a:xfrm>
            <a:off x="880889" y="954317"/>
            <a:ext cx="9921257" cy="1769715"/>
          </a:xfrm>
          <a:prstGeom prst="rect">
            <a:avLst/>
          </a:prstGeom>
          <a:noFill/>
        </p:spPr>
        <p:txBody>
          <a:bodyPr wrap="square" rtlCol="0">
            <a:spAutoFit/>
          </a:bodyPr>
          <a:lstStyle/>
          <a:p>
            <a:pPr indent="-228600">
              <a:lnSpc>
                <a:spcPct val="90000"/>
              </a:lnSpc>
              <a:spcAft>
                <a:spcPts val="600"/>
              </a:spcAft>
              <a:buFont typeface="Arial" panose="020B0604020202020204" pitchFamily="34" charset="0"/>
              <a:buChar char="•"/>
            </a:pPr>
            <a:endParaRPr lang="en-US" dirty="0">
              <a:solidFill>
                <a:schemeClr val="bg1"/>
              </a:solidFill>
            </a:endParaRPr>
          </a:p>
          <a:p>
            <a:pPr>
              <a:lnSpc>
                <a:spcPct val="90000"/>
              </a:lnSpc>
              <a:spcAft>
                <a:spcPts val="600"/>
              </a:spcAft>
            </a:pPr>
            <a:r>
              <a:rPr lang="en-US" dirty="0">
                <a:solidFill>
                  <a:schemeClr val="bg1"/>
                </a:solidFill>
              </a:rPr>
              <a:t>Together you do some more research to create a list of the top video conferencing features.  You found some great information online after applying the CARS checklist to a few sites. You create an online survey using SurveyMonkey and send it out to your decision makers at the company to prioritize your features and price point.</a:t>
            </a:r>
          </a:p>
          <a:p>
            <a:endParaRPr lang="en-US" dirty="0"/>
          </a:p>
        </p:txBody>
      </p:sp>
      <p:sp>
        <p:nvSpPr>
          <p:cNvPr id="10" name="TextBox 9">
            <a:extLst>
              <a:ext uri="{FF2B5EF4-FFF2-40B4-BE49-F238E27FC236}">
                <a16:creationId xmlns:a16="http://schemas.microsoft.com/office/drawing/2014/main" id="{047AE23D-5C9D-4F4E-8F82-A4D0668D8018}"/>
              </a:ext>
            </a:extLst>
          </p:cNvPr>
          <p:cNvSpPr txBox="1"/>
          <p:nvPr/>
        </p:nvSpPr>
        <p:spPr>
          <a:xfrm>
            <a:off x="583719" y="4917133"/>
            <a:ext cx="10515599"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Collecting survey results takes time. Without a specific deadline, it’s better to wait for the survey results.</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3DF4B83E-65CF-4DC3-8D26-A13C9F72CD9C}"/>
              </a:ext>
            </a:extLst>
          </p:cNvPr>
          <p:cNvSpPr txBox="1"/>
          <p:nvPr/>
        </p:nvSpPr>
        <p:spPr>
          <a:xfrm>
            <a:off x="583719" y="5899354"/>
            <a:ext cx="1051559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Option A: Student will need to choose whether to stay late at work to analyze survey results.</a:t>
            </a:r>
          </a:p>
          <a:p>
            <a:pPr lvl="0">
              <a:defRPr/>
            </a:pPr>
            <a:r>
              <a:rPr lang="en-US" dirty="0">
                <a:solidFill>
                  <a:prstClr val="black"/>
                </a:solidFill>
                <a:latin typeface="Calibri" panose="020F0502020204030204"/>
              </a:rPr>
              <a:t>If Option B: </a:t>
            </a:r>
            <a:r>
              <a:rPr lang="en-US" dirty="0">
                <a:solidFill>
                  <a:prstClr val="black"/>
                </a:solidFill>
              </a:rPr>
              <a:t>Student will conclude with no clear recommendation.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F895821C-EBF5-4C04-A570-01A8DB7447A4}"/>
              </a:ext>
            </a:extLst>
          </p:cNvPr>
          <p:cNvSpPr txBox="1"/>
          <p:nvPr/>
        </p:nvSpPr>
        <p:spPr>
          <a:xfrm>
            <a:off x="681836" y="861706"/>
            <a:ext cx="1071932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conduct a survey.</a:t>
            </a:r>
          </a:p>
        </p:txBody>
      </p:sp>
    </p:spTree>
    <p:custDataLst>
      <p:tags r:id="rId1"/>
    </p:custDataLst>
    <p:extLst>
      <p:ext uri="{BB962C8B-B14F-4D97-AF65-F5344CB8AC3E}">
        <p14:creationId xmlns:p14="http://schemas.microsoft.com/office/powerpoint/2010/main" val="2423416194"/>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681836" y="0"/>
            <a:ext cx="10152419" cy="1213245"/>
          </a:xfrm>
        </p:spPr>
        <p:txBody>
          <a:bodyPr vert="horz" lIns="91440" tIns="45720" rIns="91440" bIns="45720" rtlCol="0" anchor="ctr">
            <a:normAutofit/>
          </a:bodyPr>
          <a:lstStyle/>
          <a:p>
            <a:r>
              <a:rPr lang="en-US" sz="3650" dirty="0">
                <a:solidFill>
                  <a:schemeClr val="tx1"/>
                </a:solidFill>
              </a:rPr>
              <a:t>Story_Slide16</a:t>
            </a:r>
            <a:br>
              <a:rPr lang="en-US" sz="3100" dirty="0">
                <a:solidFill>
                  <a:schemeClr val="tx1"/>
                </a:solidFill>
              </a:rPr>
            </a:br>
            <a:endParaRPr lang="en-US" sz="3100" dirty="0">
              <a:solidFill>
                <a:schemeClr val="tx1"/>
              </a:solidFill>
            </a:endParaRPr>
          </a:p>
        </p:txBody>
      </p:sp>
      <p:sp>
        <p:nvSpPr>
          <p:cNvPr id="2" name="TextBox 1">
            <a:extLst>
              <a:ext uri="{FF2B5EF4-FFF2-40B4-BE49-F238E27FC236}">
                <a16:creationId xmlns:a16="http://schemas.microsoft.com/office/drawing/2014/main" id="{8E61185D-0285-4C9D-8544-02C370D1F1FF}"/>
              </a:ext>
            </a:extLst>
          </p:cNvPr>
          <p:cNvSpPr txBox="1"/>
          <p:nvPr/>
        </p:nvSpPr>
        <p:spPr>
          <a:xfrm>
            <a:off x="953082" y="2353090"/>
            <a:ext cx="9973106" cy="377301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a:lnSpc>
                <a:spcPct val="90000"/>
              </a:lnSpc>
              <a:spcAft>
                <a:spcPts val="600"/>
              </a:spcAft>
            </a:pPr>
            <a:endParaRPr lang="en-US" dirty="0"/>
          </a:p>
          <a:p>
            <a:pPr>
              <a:lnSpc>
                <a:spcPct val="90000"/>
              </a:lnSpc>
              <a:spcAft>
                <a:spcPts val="600"/>
              </a:spcAft>
            </a:pPr>
            <a:r>
              <a:rPr lang="en-US" dirty="0">
                <a:hlinkClick r:id="rId4" action="ppaction://hlinksldjump"/>
              </a:rPr>
              <a:t>Continue</a:t>
            </a:r>
            <a:endParaRPr lang="en-US" dirty="0"/>
          </a:p>
          <a:p>
            <a:pPr>
              <a:lnSpc>
                <a:spcPct val="90000"/>
              </a:lnSpc>
              <a:spcAft>
                <a:spcPts val="600"/>
              </a:spcAft>
            </a:pPr>
            <a:endParaRPr lang="en-US" sz="1300" dirty="0"/>
          </a:p>
          <a:p>
            <a:pPr>
              <a:lnSpc>
                <a:spcPct val="90000"/>
              </a:lnSpc>
              <a:spcAft>
                <a:spcPts val="600"/>
              </a:spcAft>
            </a:pPr>
            <a:endParaRPr lang="en-US" sz="1300" dirty="0"/>
          </a:p>
          <a:p>
            <a:pPr>
              <a:lnSpc>
                <a:spcPct val="90000"/>
              </a:lnSpc>
              <a:spcAft>
                <a:spcPts val="600"/>
              </a:spcAft>
            </a:pPr>
            <a:endParaRPr lang="en-US" sz="1300" dirty="0"/>
          </a:p>
          <a:p>
            <a:pPr indent="-228600">
              <a:lnSpc>
                <a:spcPct val="90000"/>
              </a:lnSpc>
              <a:spcAft>
                <a:spcPts val="600"/>
              </a:spcAft>
              <a:buFont typeface="Arial" panose="020B0604020202020204" pitchFamily="34" charset="0"/>
              <a:buChar char="•"/>
            </a:pPr>
            <a:endParaRPr lang="en-US" sz="1300" dirty="0"/>
          </a:p>
        </p:txBody>
      </p:sp>
      <p:sp>
        <p:nvSpPr>
          <p:cNvPr id="6" name="TextBox 5">
            <a:extLst>
              <a:ext uri="{FF2B5EF4-FFF2-40B4-BE49-F238E27FC236}">
                <a16:creationId xmlns:a16="http://schemas.microsoft.com/office/drawing/2014/main" id="{E801B539-6886-453E-9134-BBD02C9D2FB1}"/>
              </a:ext>
            </a:extLst>
          </p:cNvPr>
          <p:cNvSpPr txBox="1"/>
          <p:nvPr/>
        </p:nvSpPr>
        <p:spPr>
          <a:xfrm>
            <a:off x="681836" y="861706"/>
            <a:ext cx="1071932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go with their gut instinct.</a:t>
            </a:r>
          </a:p>
        </p:txBody>
      </p:sp>
      <p:sp>
        <p:nvSpPr>
          <p:cNvPr id="5" name="TextBox 4">
            <a:extLst>
              <a:ext uri="{FF2B5EF4-FFF2-40B4-BE49-F238E27FC236}">
                <a16:creationId xmlns:a16="http://schemas.microsoft.com/office/drawing/2014/main" id="{C0EA068F-9E7D-42E8-B0AB-B4F667F03FAE}"/>
              </a:ext>
            </a:extLst>
          </p:cNvPr>
          <p:cNvSpPr txBox="1"/>
          <p:nvPr/>
        </p:nvSpPr>
        <p:spPr>
          <a:xfrm>
            <a:off x="681836" y="6126100"/>
            <a:ext cx="10515598"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lang="en-US" dirty="0">
                <a:solidFill>
                  <a:prstClr val="black"/>
                </a:solidFill>
              </a:rPr>
              <a:t>Next step: Student will conclude with no clear recommendation.</a:t>
            </a:r>
          </a:p>
        </p:txBody>
      </p:sp>
      <p:sp>
        <p:nvSpPr>
          <p:cNvPr id="4" name="TextBox 3">
            <a:extLst>
              <a:ext uri="{FF2B5EF4-FFF2-40B4-BE49-F238E27FC236}">
                <a16:creationId xmlns:a16="http://schemas.microsoft.com/office/drawing/2014/main" id="{5E7D2062-C8BB-49F4-9A09-FAB5B3CC28D9}"/>
              </a:ext>
            </a:extLst>
          </p:cNvPr>
          <p:cNvSpPr txBox="1"/>
          <p:nvPr/>
        </p:nvSpPr>
        <p:spPr>
          <a:xfrm>
            <a:off x="681836" y="1390805"/>
            <a:ext cx="10719328" cy="923330"/>
          </a:xfrm>
          <a:prstGeom prst="rect">
            <a:avLst/>
          </a:prstGeom>
          <a:noFill/>
        </p:spPr>
        <p:txBody>
          <a:bodyPr wrap="square" rtlCol="0">
            <a:spAutoFit/>
          </a:bodyPr>
          <a:lstStyle/>
          <a:p>
            <a:r>
              <a:rPr lang="en-US" dirty="0">
                <a:cs typeface="Calibri"/>
              </a:rPr>
              <a:t>Your gut is never wrong, right? You call your favorite video conferencing company and find out some bad news--They just got bought out by another company and are not sure of their future. </a:t>
            </a:r>
          </a:p>
          <a:p>
            <a:endParaRPr lang="en-US" dirty="0"/>
          </a:p>
        </p:txBody>
      </p:sp>
    </p:spTree>
    <p:custDataLst>
      <p:tags r:id="rId1"/>
    </p:custDataLst>
    <p:extLst>
      <p:ext uri="{BB962C8B-B14F-4D97-AF65-F5344CB8AC3E}">
        <p14:creationId xmlns:p14="http://schemas.microsoft.com/office/powerpoint/2010/main" val="3501072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834236" y="209834"/>
            <a:ext cx="9910826" cy="1023799"/>
          </a:xfrm>
        </p:spPr>
        <p:txBody>
          <a:bodyPr vert="horz" lIns="91440" tIns="45720" rIns="91440" bIns="45720" rtlCol="0" anchor="ctr">
            <a:noAutofit/>
          </a:bodyPr>
          <a:lstStyle/>
          <a:p>
            <a:r>
              <a:rPr lang="en-US" sz="3650" dirty="0">
                <a:solidFill>
                  <a:schemeClr val="tx1"/>
                </a:solidFill>
              </a:rPr>
              <a:t>Level10_Decision1</a:t>
            </a:r>
            <a:br>
              <a:rPr lang="en-US" sz="3650" dirty="0">
                <a:solidFill>
                  <a:schemeClr val="tx1"/>
                </a:solidFill>
              </a:rPr>
            </a:br>
            <a:endParaRPr lang="en-US" sz="3650" dirty="0">
              <a:solidFill>
                <a:schemeClr val="tx1"/>
              </a:solidFill>
            </a:endParaRPr>
          </a:p>
        </p:txBody>
      </p:sp>
      <p:sp>
        <p:nvSpPr>
          <p:cNvPr id="2" name="TextBox 1">
            <a:extLst>
              <a:ext uri="{FF2B5EF4-FFF2-40B4-BE49-F238E27FC236}">
                <a16:creationId xmlns:a16="http://schemas.microsoft.com/office/drawing/2014/main" id="{8E61185D-0285-4C9D-8544-02C370D1F1FF}"/>
              </a:ext>
            </a:extLst>
          </p:cNvPr>
          <p:cNvSpPr txBox="1"/>
          <p:nvPr/>
        </p:nvSpPr>
        <p:spPr>
          <a:xfrm>
            <a:off x="1604980" y="2670806"/>
            <a:ext cx="9211011" cy="2166668"/>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114300">
              <a:lnSpc>
                <a:spcPct val="90000"/>
              </a:lnSpc>
              <a:spcAft>
                <a:spcPts val="600"/>
              </a:spcAft>
            </a:pPr>
            <a:r>
              <a:rPr lang="en-US" dirty="0">
                <a:hlinkClick r:id="rId4" action="ppaction://hlinksldjump"/>
              </a:rPr>
              <a:t>Continue to work, dig into the comments from respondents, and try to find some helpful tips to consider. You can look at the features ranked highly across all departments and compare that to a few of the top videoconferencing tools. </a:t>
            </a:r>
            <a:r>
              <a:rPr lang="en-US" b="1" dirty="0">
                <a:solidFill>
                  <a:schemeClr val="tx2"/>
                </a:solidFill>
                <a:ea typeface="Calibri"/>
                <a:cs typeface="Calibri"/>
                <a:hlinkClick r:id="rId4" action="ppaction://hlinksldjump"/>
              </a:rPr>
              <a:t>[Level10_Decision1_OptionA]</a:t>
            </a:r>
            <a:endParaRPr lang="en-US" b="1" dirty="0">
              <a:solidFill>
                <a:schemeClr val="tx2"/>
              </a:solidFill>
              <a:ea typeface="Calibri"/>
              <a:cs typeface="Calibri"/>
              <a:hlinkClick r:id="rId5" action="ppaction://hlinksldjump"/>
            </a:endParaRPr>
          </a:p>
          <a:p>
            <a:pPr marL="114300">
              <a:lnSpc>
                <a:spcPct val="90000"/>
              </a:lnSpc>
              <a:spcAft>
                <a:spcPts val="600"/>
              </a:spcAft>
            </a:pPr>
            <a:endParaRPr lang="en-US" dirty="0"/>
          </a:p>
          <a:p>
            <a:pPr marL="114300">
              <a:lnSpc>
                <a:spcPct val="90000"/>
              </a:lnSpc>
              <a:spcAft>
                <a:spcPts val="600"/>
              </a:spcAft>
            </a:pPr>
            <a:r>
              <a:rPr lang="en-US" dirty="0">
                <a:hlinkClick r:id="rId6" action="ppaction://hlinksldjump"/>
              </a:rPr>
              <a:t>Everyone in the survey wants something different, so you don’t want to waste your time with the survey results. They are not helpful. You start to gather all of the other information you have on videoconferencing to give an overview to your team. </a:t>
            </a:r>
            <a:r>
              <a:rPr lang="en-US" b="1" dirty="0">
                <a:solidFill>
                  <a:schemeClr val="tx2"/>
                </a:solidFill>
                <a:ea typeface="Calibri"/>
                <a:cs typeface="Calibri"/>
                <a:hlinkClick r:id="rId6" action="ppaction://hlinksldjump"/>
              </a:rPr>
              <a:t>[Level10_Decision1_OptionB]</a:t>
            </a:r>
            <a:endParaRPr lang="en-US" b="1" dirty="0">
              <a:solidFill>
                <a:schemeClr val="tx2"/>
              </a:solidFill>
              <a:ea typeface="Calibri"/>
              <a:cs typeface="Calibri"/>
              <a:hlinkClick r:id="rId5" action="ppaction://hlinksldjump"/>
            </a:endParaRPr>
          </a:p>
          <a:p>
            <a:pPr marL="114300">
              <a:lnSpc>
                <a:spcPct val="90000"/>
              </a:lnSpc>
              <a:spcAft>
                <a:spcPts val="600"/>
              </a:spcAft>
            </a:pPr>
            <a:endParaRPr lang="en-US" dirty="0"/>
          </a:p>
          <a:p>
            <a:pPr indent="-228600">
              <a:lnSpc>
                <a:spcPct val="90000"/>
              </a:lnSpc>
              <a:spcAft>
                <a:spcPts val="600"/>
              </a:spcAft>
              <a:buFont typeface="Arial" panose="020B0604020202020204" pitchFamily="34" charset="0"/>
              <a:buChar char="•"/>
            </a:pPr>
            <a:endParaRPr lang="en-US" dirty="0"/>
          </a:p>
        </p:txBody>
      </p:sp>
      <p:sp>
        <p:nvSpPr>
          <p:cNvPr id="7" name="Text Placeholder 3">
            <a:extLst>
              <a:ext uri="{FF2B5EF4-FFF2-40B4-BE49-F238E27FC236}">
                <a16:creationId xmlns:a16="http://schemas.microsoft.com/office/drawing/2014/main" id="{837E3E1B-57D6-4048-B8D7-77DE51E0C99A}"/>
              </a:ext>
            </a:extLst>
          </p:cNvPr>
          <p:cNvSpPr txBox="1">
            <a:spLocks/>
          </p:cNvSpPr>
          <p:nvPr/>
        </p:nvSpPr>
        <p:spPr>
          <a:xfrm>
            <a:off x="1376008" y="2652519"/>
            <a:ext cx="631473"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8" name="Text Placeholder 3">
            <a:extLst>
              <a:ext uri="{FF2B5EF4-FFF2-40B4-BE49-F238E27FC236}">
                <a16:creationId xmlns:a16="http://schemas.microsoft.com/office/drawing/2014/main" id="{051CF016-BF18-4F41-B2B9-3C524976D315}"/>
              </a:ext>
            </a:extLst>
          </p:cNvPr>
          <p:cNvSpPr txBox="1">
            <a:spLocks/>
          </p:cNvSpPr>
          <p:nvPr/>
        </p:nvSpPr>
        <p:spPr>
          <a:xfrm>
            <a:off x="1376009" y="3799176"/>
            <a:ext cx="646017"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9" name="Arrow: Pentagon 8">
            <a:extLst>
              <a:ext uri="{FF2B5EF4-FFF2-40B4-BE49-F238E27FC236}">
                <a16:creationId xmlns:a16="http://schemas.microsoft.com/office/drawing/2014/main" id="{483E209F-3207-40E2-9889-81AAA6FE3613}"/>
              </a:ext>
            </a:extLst>
          </p:cNvPr>
          <p:cNvSpPr/>
          <p:nvPr/>
        </p:nvSpPr>
        <p:spPr>
          <a:xfrm>
            <a:off x="300836" y="2670805"/>
            <a:ext cx="1066800" cy="402368"/>
          </a:xfrm>
          <a:prstGeom prst="homePlate">
            <a:avLst/>
          </a:prstGeom>
        </p:spPr>
        <p:style>
          <a:lnRef idx="1">
            <a:schemeClr val="accent6"/>
          </a:lnRef>
          <a:fillRef idx="2">
            <a:schemeClr val="accent6"/>
          </a:fillRef>
          <a:effectRef idx="1">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Optimal</a:t>
            </a:r>
          </a:p>
        </p:txBody>
      </p:sp>
      <p:sp>
        <p:nvSpPr>
          <p:cNvPr id="4" name="TextBox 3">
            <a:extLst>
              <a:ext uri="{FF2B5EF4-FFF2-40B4-BE49-F238E27FC236}">
                <a16:creationId xmlns:a16="http://schemas.microsoft.com/office/drawing/2014/main" id="{A1D6D043-BE72-46F1-8C6A-652A067CDC82}"/>
              </a:ext>
            </a:extLst>
          </p:cNvPr>
          <p:cNvSpPr txBox="1"/>
          <p:nvPr/>
        </p:nvSpPr>
        <p:spPr>
          <a:xfrm>
            <a:off x="909833" y="1164809"/>
            <a:ext cx="9906158" cy="1754326"/>
          </a:xfrm>
          <a:prstGeom prst="rect">
            <a:avLst/>
          </a:prstGeom>
          <a:noFill/>
        </p:spPr>
        <p:txBody>
          <a:bodyPr wrap="square" rtlCol="0">
            <a:spAutoFit/>
          </a:bodyPr>
          <a:lstStyle/>
          <a:p>
            <a:r>
              <a:rPr lang="en-US" dirty="0">
                <a:cs typeface="Calibri"/>
              </a:rPr>
              <a:t>The research is in and it really helped connecting the dots of what everyone needs in their own department. For example the IT staff was interested in screen sharing, the marketing folks wanted a meeting wall with company logo and profile photos, and the CEO wanted mobile functionality for her frequent travel. Every department wants different things, so it is difficult to analyze these ambiguous results. Your meeting is tomorrow, should you:</a:t>
            </a:r>
          </a:p>
          <a:p>
            <a:endParaRPr lang="en-US" dirty="0"/>
          </a:p>
        </p:txBody>
      </p:sp>
      <p:sp>
        <p:nvSpPr>
          <p:cNvPr id="11" name="TextBox 10">
            <a:extLst>
              <a:ext uri="{FF2B5EF4-FFF2-40B4-BE49-F238E27FC236}">
                <a16:creationId xmlns:a16="http://schemas.microsoft.com/office/drawing/2014/main" id="{5F3B04B7-490A-4783-9D08-5A57EB92F8F9}"/>
              </a:ext>
            </a:extLst>
          </p:cNvPr>
          <p:cNvSpPr txBox="1"/>
          <p:nvPr/>
        </p:nvSpPr>
        <p:spPr>
          <a:xfrm>
            <a:off x="583718" y="4767833"/>
            <a:ext cx="10515599" cy="1200329"/>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latin typeface="Calibri" panose="020F0502020204030204"/>
              </a:rPr>
              <a:t>Even ambiguous survey results can provide helpful insights when making a business decision. In the interest of making the best recommendations and making a good impression, students should choose to stay late and try to better understand the survey results.</a:t>
            </a:r>
            <a:endPar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484DED09-4CAA-488E-91D3-C20D6A94F51F}"/>
              </a:ext>
            </a:extLst>
          </p:cNvPr>
          <p:cNvSpPr txBox="1"/>
          <p:nvPr/>
        </p:nvSpPr>
        <p:spPr>
          <a:xfrm>
            <a:off x="583720" y="774953"/>
            <a:ext cx="10515599"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wait for survey results.</a:t>
            </a:r>
          </a:p>
        </p:txBody>
      </p:sp>
      <p:sp>
        <p:nvSpPr>
          <p:cNvPr id="10" name="TextBox 9">
            <a:extLst>
              <a:ext uri="{FF2B5EF4-FFF2-40B4-BE49-F238E27FC236}">
                <a16:creationId xmlns:a16="http://schemas.microsoft.com/office/drawing/2014/main" id="{01234EB9-D0C4-45CA-B312-56DDDC157E89}"/>
              </a:ext>
            </a:extLst>
          </p:cNvPr>
          <p:cNvSpPr txBox="1"/>
          <p:nvPr/>
        </p:nvSpPr>
        <p:spPr>
          <a:xfrm>
            <a:off x="583719" y="6086274"/>
            <a:ext cx="10515598"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Option A: Student will need to choose whether to stay late at work to analyze survey results.</a:t>
            </a:r>
          </a:p>
          <a:p>
            <a:pPr lvl="0">
              <a:defRPr/>
            </a:pPr>
            <a:r>
              <a:rPr lang="en-US" dirty="0">
                <a:solidFill>
                  <a:prstClr val="black"/>
                </a:solidFill>
                <a:latin typeface="Calibri" panose="020F0502020204030204"/>
              </a:rPr>
              <a:t>If Option B: </a:t>
            </a:r>
            <a:r>
              <a:rPr lang="en-US" dirty="0">
                <a:solidFill>
                  <a:prstClr val="black"/>
                </a:solidFill>
              </a:rPr>
              <a:t>Student will conclude with no clear recommendation.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3499356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3" name="Rectangle 22"/>
          <p:cNvSpPr/>
          <p:nvPr/>
        </p:nvSpPr>
        <p:spPr>
          <a:xfrm>
            <a:off x="1204456" y="4448994"/>
            <a:ext cx="3254387" cy="506071"/>
          </a:xfrm>
          <a:prstGeom prst="rect">
            <a:avLst/>
          </a:prstGeom>
          <a:solidFill>
            <a:schemeClr val="accent5">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tx1"/>
                </a:solidFill>
                <a:latin typeface="+mj-lt"/>
                <a:cs typeface="Titillium WebRegular"/>
                <a:hlinkClick r:id="rId4" action="ppaction://hlinksldjump">
                  <a:extLst>
                    <a:ext uri="{A12FA001-AC4F-418D-AE19-62706E023703}">
                      <ahyp:hlinkClr xmlns:ahyp="http://schemas.microsoft.com/office/drawing/2018/hyperlinkcolor" val="tx"/>
                    </a:ext>
                  </a:extLst>
                </a:hlinkClick>
              </a:rPr>
              <a:t>Start</a:t>
            </a:r>
            <a:r>
              <a:rPr lang="en-US" sz="2050" dirty="0">
                <a:solidFill>
                  <a:schemeClr val="tx1"/>
                </a:solidFill>
                <a:latin typeface="+mj-lt"/>
                <a:cs typeface="Calibri Light"/>
                <a:hlinkClick r:id="rId4" action="ppaction://hlinksldjump">
                  <a:extLst>
                    <a:ext uri="{A12FA001-AC4F-418D-AE19-62706E023703}">
                      <ahyp:hlinkClr xmlns:ahyp="http://schemas.microsoft.com/office/drawing/2018/hyperlinkcolor" val="tx"/>
                    </a:ext>
                  </a:extLst>
                </a:hlinkClick>
              </a:rPr>
              <a:t> Again</a:t>
            </a:r>
            <a:endParaRPr lang="en-US" sz="2099" dirty="0">
              <a:solidFill>
                <a:schemeClr val="tx1"/>
              </a:solidFill>
              <a:latin typeface="+mj-lt"/>
              <a:cs typeface="Titillium WebRegular"/>
            </a:endParaRPr>
          </a:p>
        </p:txBody>
      </p:sp>
      <p:sp>
        <p:nvSpPr>
          <p:cNvPr id="2" name="Title 1"/>
          <p:cNvSpPr>
            <a:spLocks noGrp="1"/>
          </p:cNvSpPr>
          <p:nvPr>
            <p:ph type="title"/>
          </p:nvPr>
        </p:nvSpPr>
        <p:spPr>
          <a:xfrm>
            <a:off x="837018" y="107142"/>
            <a:ext cx="10006474" cy="3393440"/>
          </a:xfrm>
        </p:spPr>
        <p:txBody>
          <a:bodyPr>
            <a:normAutofit fontScale="90000"/>
          </a:bodyPr>
          <a:lstStyle/>
          <a:p>
            <a:r>
              <a:rPr lang="en-US" sz="3700" dirty="0">
                <a:solidFill>
                  <a:schemeClr val="tx1"/>
                </a:solidFill>
              </a:rPr>
              <a:t>Outcome 2:</a:t>
            </a:r>
            <a:br>
              <a:rPr lang="en-US" dirty="0">
                <a:solidFill>
                  <a:schemeClr val="tx1"/>
                </a:solidFill>
              </a:rPr>
            </a:br>
            <a:br>
              <a:rPr lang="en-US" dirty="0">
                <a:solidFill>
                  <a:schemeClr val="tx1"/>
                </a:solidFill>
              </a:rPr>
            </a:br>
            <a:br>
              <a:rPr lang="en-US" sz="3600" dirty="0">
                <a:solidFill>
                  <a:schemeClr val="tx1"/>
                </a:solidFill>
              </a:rPr>
            </a:br>
            <a:r>
              <a:rPr lang="en-US" sz="3100" b="1" dirty="0">
                <a:solidFill>
                  <a:schemeClr val="tx1"/>
                </a:solidFill>
              </a:rPr>
              <a:t>Together you have narrowed the video conferencing solutions down to two great options. You will present your findings to your team to demo for the next month before selecting the finalist. Excellent work!</a:t>
            </a:r>
            <a:r>
              <a:rPr lang="en-US" sz="3600" dirty="0">
                <a:solidFill>
                  <a:schemeClr val="tx1"/>
                </a:solidFill>
              </a:rPr>
              <a:t>	</a:t>
            </a:r>
            <a:endParaRPr lang="en-US" dirty="0">
              <a:solidFill>
                <a:schemeClr val="tx1"/>
              </a:solidFill>
              <a:cs typeface="Calibri Light"/>
            </a:endParaRPr>
          </a:p>
        </p:txBody>
      </p:sp>
      <p:sp>
        <p:nvSpPr>
          <p:cNvPr id="4" name="Text Placeholder 1">
            <a:extLst>
              <a:ext uri="{FF2B5EF4-FFF2-40B4-BE49-F238E27FC236}">
                <a16:creationId xmlns:a16="http://schemas.microsoft.com/office/drawing/2014/main" id="{F9939B1B-53C0-4120-A551-15244CF38F25}"/>
              </a:ext>
            </a:extLst>
          </p:cNvPr>
          <p:cNvSpPr txBox="1">
            <a:spLocks/>
          </p:cNvSpPr>
          <p:nvPr/>
        </p:nvSpPr>
        <p:spPr>
          <a:xfrm>
            <a:off x="889691" y="3429000"/>
            <a:ext cx="9834016" cy="113662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  </a:t>
            </a:r>
            <a:endParaRPr lang="en-US" sz="2099" dirty="0">
              <a:solidFill>
                <a:schemeClr val="tx1"/>
              </a:solidFill>
              <a:ea typeface="Calibri"/>
            </a:endParaRPr>
          </a:p>
        </p:txBody>
      </p:sp>
    </p:spTree>
    <p:custDataLst>
      <p:tags r:id="rId1"/>
    </p:custDataLst>
    <p:extLst>
      <p:ext uri="{BB962C8B-B14F-4D97-AF65-F5344CB8AC3E}">
        <p14:creationId xmlns:p14="http://schemas.microsoft.com/office/powerpoint/2010/main" val="513619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2" name="Text Placeholder 1"/>
          <p:cNvSpPr txBox="1">
            <a:spLocks/>
          </p:cNvSpPr>
          <p:nvPr/>
        </p:nvSpPr>
        <p:spPr>
          <a:xfrm>
            <a:off x="889691" y="3429000"/>
            <a:ext cx="9834016" cy="113662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  </a:t>
            </a:r>
            <a:endParaRPr lang="en-US" sz="2099" dirty="0">
              <a:solidFill>
                <a:schemeClr val="tx1"/>
              </a:solidFill>
              <a:ea typeface="Calibri"/>
            </a:endParaRPr>
          </a:p>
        </p:txBody>
      </p:sp>
      <p:sp>
        <p:nvSpPr>
          <p:cNvPr id="23" name="Rectangle 22"/>
          <p:cNvSpPr/>
          <p:nvPr/>
        </p:nvSpPr>
        <p:spPr>
          <a:xfrm>
            <a:off x="1199935" y="4432659"/>
            <a:ext cx="3254387" cy="506071"/>
          </a:xfrm>
          <a:prstGeom prst="rect">
            <a:avLst/>
          </a:prstGeom>
          <a:solidFill>
            <a:schemeClr val="accent5">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tx1"/>
                </a:solidFill>
                <a:latin typeface="+mj-lt"/>
                <a:cs typeface="Titillium WebRegular"/>
                <a:hlinkClick r:id="rId4" action="ppaction://hlinksldjump">
                  <a:extLst>
                    <a:ext uri="{A12FA001-AC4F-418D-AE19-62706E023703}">
                      <ahyp:hlinkClr xmlns:ahyp="http://schemas.microsoft.com/office/drawing/2018/hyperlinkcolor" val="tx"/>
                    </a:ext>
                  </a:extLst>
                </a:hlinkClick>
              </a:rPr>
              <a:t>Start</a:t>
            </a:r>
            <a:r>
              <a:rPr lang="en-US" sz="2050" dirty="0">
                <a:solidFill>
                  <a:schemeClr val="tx1"/>
                </a:solidFill>
                <a:latin typeface="+mj-lt"/>
                <a:cs typeface="Calibri Light"/>
                <a:hlinkClick r:id="rId4" action="ppaction://hlinksldjump">
                  <a:extLst>
                    <a:ext uri="{A12FA001-AC4F-418D-AE19-62706E023703}">
                      <ahyp:hlinkClr xmlns:ahyp="http://schemas.microsoft.com/office/drawing/2018/hyperlinkcolor" val="tx"/>
                    </a:ext>
                  </a:extLst>
                </a:hlinkClick>
              </a:rPr>
              <a:t> Again</a:t>
            </a:r>
            <a:endParaRPr lang="en-US" sz="2099" dirty="0">
              <a:solidFill>
                <a:schemeClr val="tx1"/>
              </a:solidFill>
              <a:latin typeface="+mj-lt"/>
              <a:cs typeface="Titillium WebRegular"/>
            </a:endParaRPr>
          </a:p>
        </p:txBody>
      </p:sp>
      <p:sp>
        <p:nvSpPr>
          <p:cNvPr id="2" name="Title 1"/>
          <p:cNvSpPr>
            <a:spLocks noGrp="1"/>
          </p:cNvSpPr>
          <p:nvPr>
            <p:ph type="title"/>
          </p:nvPr>
        </p:nvSpPr>
        <p:spPr>
          <a:xfrm>
            <a:off x="889691" y="150660"/>
            <a:ext cx="10412618" cy="3137485"/>
          </a:xfrm>
        </p:spPr>
        <p:txBody>
          <a:bodyPr>
            <a:noAutofit/>
          </a:bodyPr>
          <a:lstStyle/>
          <a:p>
            <a:r>
              <a:rPr lang="en-US" sz="3300" dirty="0">
                <a:solidFill>
                  <a:schemeClr val="tx1"/>
                </a:solidFill>
              </a:rPr>
              <a:t>Outcome 1:</a:t>
            </a:r>
            <a:br>
              <a:rPr lang="en-US" sz="3300" dirty="0">
                <a:solidFill>
                  <a:schemeClr val="tx1"/>
                </a:solidFill>
              </a:rPr>
            </a:br>
            <a:br>
              <a:rPr lang="en-US" sz="3300" dirty="0">
                <a:solidFill>
                  <a:schemeClr val="tx1"/>
                </a:solidFill>
              </a:rPr>
            </a:br>
            <a:br>
              <a:rPr lang="en-US" sz="3200" dirty="0">
                <a:solidFill>
                  <a:schemeClr val="tx1"/>
                </a:solidFill>
              </a:rPr>
            </a:br>
            <a:r>
              <a:rPr lang="en-US" sz="2800" b="1" dirty="0">
                <a:solidFill>
                  <a:schemeClr val="tx1"/>
                </a:solidFill>
              </a:rPr>
              <a:t>You both have very little specific information to share with your team about the video conferencing systems. All the features have blurred into a long mental advertisement. You have spent days going in circles, and you aren’t sure what features are most relevant for your company.</a:t>
            </a:r>
            <a:endParaRPr lang="en-US" sz="2800" b="1" dirty="0">
              <a:cs typeface="Calibri Light"/>
            </a:endParaRPr>
          </a:p>
        </p:txBody>
      </p:sp>
    </p:spTree>
    <p:custDataLst>
      <p:tags r:id="rId1"/>
    </p:custDataLst>
    <p:extLst>
      <p:ext uri="{BB962C8B-B14F-4D97-AF65-F5344CB8AC3E}">
        <p14:creationId xmlns:p14="http://schemas.microsoft.com/office/powerpoint/2010/main" val="1729003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86"/>
  <p:tag name="ARTICULATE_USED_LAYOUT" val="3"/>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86"/>
  <p:tag name="ARTICULATE_USED_LAYOUT" val="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Control xmlns="http://schemas.microsoft.com/VisualStudio/2011/storyboarding/control">
  <Id Name="1fd42469-89aa-4a08-b532-3332bc5f5ec1" Revision="1" Stencil="System.MyShapes" StencilVersion="1.0"/>
</Control>
</file>

<file path=customXml/item2.xml><?xml version="1.0" encoding="utf-8"?>
<Control xmlns="http://schemas.microsoft.com/VisualStudio/2011/storyboarding/control">
  <Id Name="1fd42469-89aa-4a08-b532-3332bc5f5ec1" Revision="1" Stencil="System.MyShapes" StencilVersion="1.0"/>
</Control>
</file>

<file path=customXml/item3.xml><?xml version="1.0" encoding="utf-8"?>
<Control xmlns="http://schemas.microsoft.com/VisualStudio/2011/storyboarding/control">
  <Id Name="1fd42469-89aa-4a08-b532-3332bc5f5ec1" Revision="1" Stencil="System.MyShapes" StencilVersion="1.0"/>
</Control>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ct:contentTypeSchema xmlns:ct="http://schemas.microsoft.com/office/2006/metadata/contentType" xmlns:ma="http://schemas.microsoft.com/office/2006/metadata/properties/metaAttributes" ct:_="" ma:_="" ma:contentTypeName="Document" ma:contentTypeID="0x010100CC237A0CA6CD2A4D8CE02E9AA9870115" ma:contentTypeVersion="16" ma:contentTypeDescription="Create a new document." ma:contentTypeScope="" ma:versionID="2f071753289c9025b0e96c4a2a564c4f">
  <xsd:schema xmlns:xsd="http://www.w3.org/2001/XMLSchema" xmlns:xs="http://www.w3.org/2001/XMLSchema" xmlns:p="http://schemas.microsoft.com/office/2006/metadata/properties" xmlns:ns2="eeab3f26-09e2-49ed-a80d-9bb89f29cea5" xmlns:ns3="e4ea4eff-fefb-4c40-84b2-735fb9db1c89" targetNamespace="http://schemas.microsoft.com/office/2006/metadata/properties" ma:root="true" ma:fieldsID="de830c40366edfee498ef0fd810dc110" ns2:_="" ns3:_="">
    <xsd:import namespace="eeab3f26-09e2-49ed-a80d-9bb89f29cea5"/>
    <xsd:import namespace="e4ea4eff-fefb-4c40-84b2-735fb9db1c8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Notes0"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BriefNo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ab3f26-09e2-49ed-a80d-9bb89f29ce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MediaServiceLocation" ma:internalName="MediaServiceLocation" ma:readOnly="true">
      <xsd:simpleType>
        <xsd:restriction base="dms:Text"/>
      </xsd:simpleType>
    </xsd:element>
    <xsd:element name="Notes0" ma:index="16" nillable="true" ma:displayName="Notes" ma:internalName="Notes0">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BriefNote" ma:index="22" nillable="true" ma:displayName="Brief Note" ma:format="Dropdown" ma:internalName="BriefNot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ea4eff-fefb-4c40-84b2-735fb9db1c89"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6.xml><?xml version="1.0" encoding="utf-8"?>
<p:properties xmlns:p="http://schemas.microsoft.com/office/2006/metadata/properties" xmlns:xsi="http://www.w3.org/2001/XMLSchema-instance" xmlns:pc="http://schemas.microsoft.com/office/infopath/2007/PartnerControls">
  <documentManagement>
    <Notes0 xmlns="eeab3f26-09e2-49ed-a80d-9bb89f29cea5" xsi:nil="true"/>
    <BriefNote xmlns="eeab3f26-09e2-49ed-a80d-9bb89f29cea5" xsi:nil="true"/>
  </documentManagement>
</p:properties>
</file>

<file path=customXml/item7.xml><?xml version="1.0" encoding="utf-8"?>
<Control xmlns="http://schemas.microsoft.com/VisualStudio/2011/storyboarding/control">
  <Id Name="1fd42469-89aa-4a08-b532-3332bc5f5ec1" Revision="1" Stencil="System.MyShapes" StencilVersion="1.0"/>
</Control>
</file>

<file path=customXml/itemProps1.xml><?xml version="1.0" encoding="utf-8"?>
<ds:datastoreItem xmlns:ds="http://schemas.openxmlformats.org/officeDocument/2006/customXml" ds:itemID="{7E2F1FF7-959C-4D39-AE88-AFF96BC0319B}">
  <ds:schemaRefs>
    <ds:schemaRef ds:uri="http://schemas.microsoft.com/VisualStudio/2011/storyboarding/control"/>
  </ds:schemaRefs>
</ds:datastoreItem>
</file>

<file path=customXml/itemProps2.xml><?xml version="1.0" encoding="utf-8"?>
<ds:datastoreItem xmlns:ds="http://schemas.openxmlformats.org/officeDocument/2006/customXml" ds:itemID="{5A4E7273-60D7-496D-8DEB-906E85E1A682}">
  <ds:schemaRefs>
    <ds:schemaRef ds:uri="http://schemas.microsoft.com/VisualStudio/2011/storyboarding/control"/>
  </ds:schemaRefs>
</ds:datastoreItem>
</file>

<file path=customXml/itemProps3.xml><?xml version="1.0" encoding="utf-8"?>
<ds:datastoreItem xmlns:ds="http://schemas.openxmlformats.org/officeDocument/2006/customXml" ds:itemID="{3C5AA1C0-2736-4C35-9D36-1790D98FE524}">
  <ds:schemaRefs>
    <ds:schemaRef ds:uri="http://schemas.microsoft.com/VisualStudio/2011/storyboarding/control"/>
  </ds:schemaRefs>
</ds:datastoreItem>
</file>

<file path=customXml/itemProps4.xml><?xml version="1.0" encoding="utf-8"?>
<ds:datastoreItem xmlns:ds="http://schemas.openxmlformats.org/officeDocument/2006/customXml" ds:itemID="{AD92EAD0-DA55-4F7D-BD93-5513A29DFF63}">
  <ds:schemaRefs>
    <ds:schemaRef ds:uri="http://schemas.microsoft.com/sharepoint/v3/contenttype/forms"/>
  </ds:schemaRefs>
</ds:datastoreItem>
</file>

<file path=customXml/itemProps5.xml><?xml version="1.0" encoding="utf-8"?>
<ds:datastoreItem xmlns:ds="http://schemas.openxmlformats.org/officeDocument/2006/customXml" ds:itemID="{5B6513A4-B147-4A16-8FF1-7FB1A6801941}"/>
</file>

<file path=customXml/itemProps6.xml><?xml version="1.0" encoding="utf-8"?>
<ds:datastoreItem xmlns:ds="http://schemas.openxmlformats.org/officeDocument/2006/customXml" ds:itemID="{60B98538-67CA-489B-8ACE-F0682A9A9526}">
  <ds:schemaRefs>
    <ds:schemaRef ds:uri="http://schemas.microsoft.com/office/2006/metadata/properties"/>
    <ds:schemaRef ds:uri="http://schemas.microsoft.com/office/infopath/2007/PartnerControls"/>
    <ds:schemaRef ds:uri="eeab3f26-09e2-49ed-a80d-9bb89f29cea5"/>
  </ds:schemaRefs>
</ds:datastoreItem>
</file>

<file path=customXml/itemProps7.xml><?xml version="1.0" encoding="utf-8"?>
<ds:datastoreItem xmlns:ds="http://schemas.openxmlformats.org/officeDocument/2006/customXml" ds:itemID="{7F546FF6-DD59-47E7-8627-1821B46FD2F1}">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
  <TotalTime>838</TotalTime>
  <Words>2949</Words>
  <Application>Microsoft Office PowerPoint</Application>
  <PresentationFormat>Widescreen</PresentationFormat>
  <Paragraphs>254</Paragraphs>
  <Slides>19</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Wingdings</vt:lpstr>
      <vt:lpstr>Office Theme</vt:lpstr>
      <vt:lpstr>PowerPoint Presentation</vt:lpstr>
      <vt:lpstr>Conduct Online Research</vt:lpstr>
      <vt:lpstr>Introduction</vt:lpstr>
      <vt:lpstr>Level1_Decision1</vt:lpstr>
      <vt:lpstr>Level 2_Decision 1 </vt:lpstr>
      <vt:lpstr>Level 3_Decision 1 </vt:lpstr>
      <vt:lpstr>Level4_Decision1</vt:lpstr>
      <vt:lpstr>Level5_Decision1</vt:lpstr>
      <vt:lpstr>Level5_Decision2</vt:lpstr>
      <vt:lpstr>Story_Slide9</vt:lpstr>
      <vt:lpstr>Level6_Decision1</vt:lpstr>
      <vt:lpstr>Level6_Decision2</vt:lpstr>
      <vt:lpstr>Level7_Decision1</vt:lpstr>
      <vt:lpstr>Level8_Decision1 </vt:lpstr>
      <vt:lpstr>Level9_Decision1</vt:lpstr>
      <vt:lpstr>Story_Slide16 </vt:lpstr>
      <vt:lpstr>Level10_Decision1 </vt:lpstr>
      <vt:lpstr>Outcome 2:   Together you have narrowed the video conferencing solutions down to two great options. You will present your findings to your team to demo for the next month before selecting the finalist. Excellent work! </vt:lpstr>
      <vt:lpstr>Outcome 1:   You both have very little specific information to share with your team about the video conferencing systems. All the features have blurred into a long mental advertisement. You have spent days going in circles, and you aren’t sure what features are most relevant for your company.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Scenario: Find the Perfect Video Conference Solution…</dc:title>
  <dc:creator>Your Name</dc:creator>
  <cp:lastModifiedBy>Molnar, Zenya</cp:lastModifiedBy>
  <cp:revision>137</cp:revision>
  <cp:lastPrinted>2018-12-11T18:32:53Z</cp:lastPrinted>
  <dcterms:created xsi:type="dcterms:W3CDTF">2018-12-03T00:30:11Z</dcterms:created>
  <dcterms:modified xsi:type="dcterms:W3CDTF">2020-03-03T20:59:42Z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0x010100CC237A0CA6CD2A4D8CE02E9AA9870115</vt:lpwstr>
  </property>
</Properties>
</file>