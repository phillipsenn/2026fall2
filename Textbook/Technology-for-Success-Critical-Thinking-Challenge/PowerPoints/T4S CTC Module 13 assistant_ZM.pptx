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4" r:id="rId5"/>
  </p:sldMasterIdLst>
  <p:notesMasterIdLst>
    <p:notesMasterId r:id="rId32"/>
  </p:notesMasterIdLst>
  <p:sldIdLst>
    <p:sldId id="258" r:id="rId6"/>
    <p:sldId id="412" r:id="rId7"/>
    <p:sldId id="295" r:id="rId8"/>
    <p:sldId id="407" r:id="rId9"/>
    <p:sldId id="413" r:id="rId10"/>
    <p:sldId id="414" r:id="rId11"/>
    <p:sldId id="411" r:id="rId12"/>
    <p:sldId id="415" r:id="rId13"/>
    <p:sldId id="416" r:id="rId14"/>
    <p:sldId id="418" r:id="rId15"/>
    <p:sldId id="419" r:id="rId16"/>
    <p:sldId id="420" r:id="rId17"/>
    <p:sldId id="422" r:id="rId18"/>
    <p:sldId id="423" r:id="rId19"/>
    <p:sldId id="424" r:id="rId20"/>
    <p:sldId id="426" r:id="rId21"/>
    <p:sldId id="425" r:id="rId22"/>
    <p:sldId id="427" r:id="rId23"/>
    <p:sldId id="428" r:id="rId24"/>
    <p:sldId id="429" r:id="rId25"/>
    <p:sldId id="430" r:id="rId26"/>
    <p:sldId id="431" r:id="rId27"/>
    <p:sldId id="432" r:id="rId28"/>
    <p:sldId id="408" r:id="rId29"/>
    <p:sldId id="410" r:id="rId30"/>
    <p:sldId id="40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lnar, Zenya" initials="MZ" lastIdx="26" clrIdx="0">
    <p:extLst>
      <p:ext uri="{19B8F6BF-5375-455C-9EA6-DF929625EA0E}">
        <p15:presenceInfo xmlns:p15="http://schemas.microsoft.com/office/powerpoint/2012/main" userId="S::zenya.molnar@cengage.com::d17daa46-33bc-45d8-ab7d-8dd45e08dac2" providerId="AD"/>
      </p:ext>
    </p:extLst>
  </p:cmAuthor>
  <p:cmAuthor id="2" name="Jennifer Campbell" initials="JC" lastIdx="14" clrIdx="1">
    <p:extLst>
      <p:ext uri="{19B8F6BF-5375-455C-9EA6-DF929625EA0E}">
        <p15:presenceInfo xmlns:p15="http://schemas.microsoft.com/office/powerpoint/2012/main" userId="9252b8fd17e1143e" providerId="Windows Live"/>
      </p:ext>
    </p:extLst>
  </p:cmAuthor>
  <p:cmAuthor id="3" name="Staci Eckenroth" initials="SE" lastIdx="21" clrIdx="2">
    <p:extLst>
      <p:ext uri="{19B8F6BF-5375-455C-9EA6-DF929625EA0E}">
        <p15:presenceInfo xmlns:p15="http://schemas.microsoft.com/office/powerpoint/2012/main" userId="Staci Eckenroth" providerId="None"/>
      </p:ext>
    </p:extLst>
  </p:cmAuthor>
  <p:cmAuthor id="4" name="Jill West" initials="JW" lastIdx="8" clrIdx="3">
    <p:extLst>
      <p:ext uri="{19B8F6BF-5375-455C-9EA6-DF929625EA0E}">
        <p15:presenceInfo xmlns:p15="http://schemas.microsoft.com/office/powerpoint/2012/main" userId="Jill Wes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C154ED-96A8-4AAB-813F-6F1E602A4909}" v="52" dt="2020-03-27T23:55:52.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26" autoAdjust="0"/>
  </p:normalViewPr>
  <p:slideViewPr>
    <p:cSldViewPr snapToGrid="0">
      <p:cViewPr varScale="1">
        <p:scale>
          <a:sx n="67" d="100"/>
          <a:sy n="67" d="100"/>
        </p:scale>
        <p:origin x="644" y="4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commentAuthors" Target="commentAuthor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0D4A7-5E7A-4EF8-8C3E-D1B8787C7FFB}" type="datetimeFigureOut">
              <a:rPr lang="en-US" smtClean="0"/>
              <a:t>4/3/2020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CE3938-DD3A-4863-81AB-A7C0309FA74D}" type="slidenum">
              <a:rPr lang="en-US" smtClean="0"/>
              <a:t>‹#›</a:t>
            </a:fld>
            <a:endParaRPr lang="en-US" dirty="0"/>
          </a:p>
        </p:txBody>
      </p:sp>
    </p:spTree>
    <p:extLst>
      <p:ext uri="{BB962C8B-B14F-4D97-AF65-F5344CB8AC3E}">
        <p14:creationId xmlns:p14="http://schemas.microsoft.com/office/powerpoint/2010/main" val="2199351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a:t>
            </a:fld>
            <a:endParaRPr lang="en-US" dirty="0"/>
          </a:p>
        </p:txBody>
      </p:sp>
    </p:spTree>
    <p:extLst>
      <p:ext uri="{BB962C8B-B14F-4D97-AF65-F5344CB8AC3E}">
        <p14:creationId xmlns:p14="http://schemas.microsoft.com/office/powerpoint/2010/main" val="4029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2</a:t>
            </a:fld>
            <a:endParaRPr lang="en-US" dirty="0"/>
          </a:p>
        </p:txBody>
      </p:sp>
    </p:spTree>
    <p:extLst>
      <p:ext uri="{BB962C8B-B14F-4D97-AF65-F5344CB8AC3E}">
        <p14:creationId xmlns:p14="http://schemas.microsoft.com/office/powerpoint/2010/main" val="3147456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AA3592-D5F1-C049-A75C-8C2FAAE2A50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4528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4</a:t>
            </a:fld>
            <a:endParaRPr lang="en-US" dirty="0"/>
          </a:p>
        </p:txBody>
      </p:sp>
    </p:spTree>
    <p:extLst>
      <p:ext uri="{BB962C8B-B14F-4D97-AF65-F5344CB8AC3E}">
        <p14:creationId xmlns:p14="http://schemas.microsoft.com/office/powerpoint/2010/main" val="3764319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5</a:t>
            </a:fld>
            <a:endParaRPr lang="en-US" dirty="0"/>
          </a:p>
        </p:txBody>
      </p:sp>
    </p:spTree>
    <p:extLst>
      <p:ext uri="{BB962C8B-B14F-4D97-AF65-F5344CB8AC3E}">
        <p14:creationId xmlns:p14="http://schemas.microsoft.com/office/powerpoint/2010/main" val="771430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6</a:t>
            </a:fld>
            <a:endParaRPr lang="en-US" dirty="0"/>
          </a:p>
        </p:txBody>
      </p:sp>
    </p:spTree>
    <p:extLst>
      <p:ext uri="{BB962C8B-B14F-4D97-AF65-F5344CB8AC3E}">
        <p14:creationId xmlns:p14="http://schemas.microsoft.com/office/powerpoint/2010/main" val="2391193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7</a:t>
            </a:fld>
            <a:endParaRPr lang="en-US" dirty="0"/>
          </a:p>
        </p:txBody>
      </p:sp>
    </p:spTree>
    <p:extLst>
      <p:ext uri="{BB962C8B-B14F-4D97-AF65-F5344CB8AC3E}">
        <p14:creationId xmlns:p14="http://schemas.microsoft.com/office/powerpoint/2010/main" val="3013528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8</a:t>
            </a:fld>
            <a:endParaRPr lang="en-US" dirty="0"/>
          </a:p>
        </p:txBody>
      </p:sp>
    </p:spTree>
    <p:extLst>
      <p:ext uri="{BB962C8B-B14F-4D97-AF65-F5344CB8AC3E}">
        <p14:creationId xmlns:p14="http://schemas.microsoft.com/office/powerpoint/2010/main" val="1590767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9</a:t>
            </a:fld>
            <a:endParaRPr lang="en-US" dirty="0"/>
          </a:p>
        </p:txBody>
      </p:sp>
    </p:spTree>
    <p:extLst>
      <p:ext uri="{BB962C8B-B14F-4D97-AF65-F5344CB8AC3E}">
        <p14:creationId xmlns:p14="http://schemas.microsoft.com/office/powerpoint/2010/main" val="3227298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10</a:t>
            </a:fld>
            <a:endParaRPr lang="en-US" dirty="0"/>
          </a:p>
        </p:txBody>
      </p:sp>
    </p:spTree>
    <p:extLst>
      <p:ext uri="{BB962C8B-B14F-4D97-AF65-F5344CB8AC3E}">
        <p14:creationId xmlns:p14="http://schemas.microsoft.com/office/powerpoint/2010/main" val="2692492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11</a:t>
            </a:fld>
            <a:endParaRPr lang="en-US" dirty="0"/>
          </a:p>
        </p:txBody>
      </p:sp>
    </p:spTree>
    <p:extLst>
      <p:ext uri="{BB962C8B-B14F-4D97-AF65-F5344CB8AC3E}">
        <p14:creationId xmlns:p14="http://schemas.microsoft.com/office/powerpoint/2010/main" val="1008955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12</a:t>
            </a:fld>
            <a:endParaRPr lang="en-US" dirty="0"/>
          </a:p>
        </p:txBody>
      </p:sp>
    </p:spTree>
    <p:extLst>
      <p:ext uri="{BB962C8B-B14F-4D97-AF65-F5344CB8AC3E}">
        <p14:creationId xmlns:p14="http://schemas.microsoft.com/office/powerpoint/2010/main" val="269967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13</a:t>
            </a:fld>
            <a:endParaRPr lang="en-US" dirty="0"/>
          </a:p>
        </p:txBody>
      </p:sp>
    </p:spTree>
    <p:extLst>
      <p:ext uri="{BB962C8B-B14F-4D97-AF65-F5344CB8AC3E}">
        <p14:creationId xmlns:p14="http://schemas.microsoft.com/office/powerpoint/2010/main" val="4256956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14</a:t>
            </a:fld>
            <a:endParaRPr lang="en-US" dirty="0"/>
          </a:p>
        </p:txBody>
      </p:sp>
    </p:spTree>
    <p:extLst>
      <p:ext uri="{BB962C8B-B14F-4D97-AF65-F5344CB8AC3E}">
        <p14:creationId xmlns:p14="http://schemas.microsoft.com/office/powerpoint/2010/main" val="1400037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15</a:t>
            </a:fld>
            <a:endParaRPr lang="en-US" dirty="0"/>
          </a:p>
        </p:txBody>
      </p:sp>
    </p:spTree>
    <p:extLst>
      <p:ext uri="{BB962C8B-B14F-4D97-AF65-F5344CB8AC3E}">
        <p14:creationId xmlns:p14="http://schemas.microsoft.com/office/powerpoint/2010/main" val="3749653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16</a:t>
            </a:fld>
            <a:endParaRPr lang="en-US" dirty="0"/>
          </a:p>
        </p:txBody>
      </p:sp>
    </p:spTree>
    <p:extLst>
      <p:ext uri="{BB962C8B-B14F-4D97-AF65-F5344CB8AC3E}">
        <p14:creationId xmlns:p14="http://schemas.microsoft.com/office/powerpoint/2010/main" val="419889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17</a:t>
            </a:fld>
            <a:endParaRPr lang="en-US" dirty="0"/>
          </a:p>
        </p:txBody>
      </p:sp>
    </p:spTree>
    <p:extLst>
      <p:ext uri="{BB962C8B-B14F-4D97-AF65-F5344CB8AC3E}">
        <p14:creationId xmlns:p14="http://schemas.microsoft.com/office/powerpoint/2010/main" val="979733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18</a:t>
            </a:fld>
            <a:endParaRPr lang="en-US" dirty="0"/>
          </a:p>
        </p:txBody>
      </p:sp>
    </p:spTree>
    <p:extLst>
      <p:ext uri="{BB962C8B-B14F-4D97-AF65-F5344CB8AC3E}">
        <p14:creationId xmlns:p14="http://schemas.microsoft.com/office/powerpoint/2010/main" val="1881280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19</a:t>
            </a:fld>
            <a:endParaRPr lang="en-US" dirty="0"/>
          </a:p>
        </p:txBody>
      </p:sp>
    </p:spTree>
    <p:extLst>
      <p:ext uri="{BB962C8B-B14F-4D97-AF65-F5344CB8AC3E}">
        <p14:creationId xmlns:p14="http://schemas.microsoft.com/office/powerpoint/2010/main" val="31383649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ACE3938-DD3A-4863-81AB-A7C0309FA74D}" type="slidenum">
              <a:rPr lang="en-US" smtClean="0"/>
              <a:t>20</a:t>
            </a:fld>
            <a:endParaRPr lang="en-US" dirty="0"/>
          </a:p>
        </p:txBody>
      </p:sp>
    </p:spTree>
    <p:extLst>
      <p:ext uri="{BB962C8B-B14F-4D97-AF65-F5344CB8AC3E}">
        <p14:creationId xmlns:p14="http://schemas.microsoft.com/office/powerpoint/2010/main" val="32327484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21</a:t>
            </a:fld>
            <a:endParaRPr lang="en-US" dirty="0"/>
          </a:p>
        </p:txBody>
      </p:sp>
    </p:spTree>
    <p:extLst>
      <p:ext uri="{BB962C8B-B14F-4D97-AF65-F5344CB8AC3E}">
        <p14:creationId xmlns:p14="http://schemas.microsoft.com/office/powerpoint/2010/main" val="23524781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22</a:t>
            </a:fld>
            <a:endParaRPr lang="en-US" dirty="0"/>
          </a:p>
        </p:txBody>
      </p:sp>
    </p:spTree>
    <p:extLst>
      <p:ext uri="{BB962C8B-B14F-4D97-AF65-F5344CB8AC3E}">
        <p14:creationId xmlns:p14="http://schemas.microsoft.com/office/powerpoint/2010/main" val="37753579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23</a:t>
            </a:fld>
            <a:endParaRPr lang="en-US" dirty="0"/>
          </a:p>
        </p:txBody>
      </p:sp>
    </p:spTree>
    <p:extLst>
      <p:ext uri="{BB962C8B-B14F-4D97-AF65-F5344CB8AC3E}">
        <p14:creationId xmlns:p14="http://schemas.microsoft.com/office/powerpoint/2010/main" val="1243361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24</a:t>
            </a:fld>
            <a:endParaRPr lang="en-US" dirty="0"/>
          </a:p>
        </p:txBody>
      </p:sp>
    </p:spTree>
    <p:extLst>
      <p:ext uri="{BB962C8B-B14F-4D97-AF65-F5344CB8AC3E}">
        <p14:creationId xmlns:p14="http://schemas.microsoft.com/office/powerpoint/2010/main" val="40651641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25</a:t>
            </a:fld>
            <a:endParaRPr lang="en-US" dirty="0"/>
          </a:p>
        </p:txBody>
      </p:sp>
    </p:spTree>
    <p:extLst>
      <p:ext uri="{BB962C8B-B14F-4D97-AF65-F5344CB8AC3E}">
        <p14:creationId xmlns:p14="http://schemas.microsoft.com/office/powerpoint/2010/main" val="11295506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ACE3938-DD3A-4863-81AB-A7C0309FA74D}" type="slidenum">
              <a:rPr lang="en-US" smtClean="0"/>
              <a:t>26</a:t>
            </a:fld>
            <a:endParaRPr lang="en-US" dirty="0"/>
          </a:p>
        </p:txBody>
      </p:sp>
    </p:spTree>
    <p:extLst>
      <p:ext uri="{BB962C8B-B14F-4D97-AF65-F5344CB8AC3E}">
        <p14:creationId xmlns:p14="http://schemas.microsoft.com/office/powerpoint/2010/main" val="4112640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7B8DA-0067-4214-8A76-C8E85458A7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C85892-68C3-4CBB-ACE7-69D2709066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BA571E-CF7C-4B8F-9787-7AFD5574B22A}"/>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67DDA9B6-D43C-438E-BAAF-C83DD83A578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B6BE8D-A929-44D4-875E-CA462CD56BF2}"/>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444395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27762-6575-4E6F-94EB-5877C04A9D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2F5704-3C06-4A5C-B16E-AA7332BC576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D194A3-9815-4F78-BFC5-C083B9F8E590}"/>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000D5DDF-4AB3-46C7-A537-1E22C22BCDE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0D086FB-9CED-4484-A751-A4DF609790C6}"/>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821354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7DEC-2DE4-4675-8617-650B031EA7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3E3DCD-E993-46D4-9CAE-E8B6162252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7E64943-F8C9-4A59-891D-B045C08BB0B0}"/>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CED39CEA-6078-4613-A599-75816B0BD6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C3FE69F-B267-46DD-8DC9-ED9311B203D1}"/>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2963148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DC3C1-E78A-4501-A725-5C6B038D0F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8D8749-1933-4561-B696-D8971677274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F61EB1-EACA-4AE3-902B-87B3F8F04E0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3A58CC-0024-49C4-AEA7-44924DFA4B15}"/>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6" name="Footer Placeholder 5">
            <a:extLst>
              <a:ext uri="{FF2B5EF4-FFF2-40B4-BE49-F238E27FC236}">
                <a16:creationId xmlns:a16="http://schemas.microsoft.com/office/drawing/2014/main" id="{7D8A98F4-3A65-4E61-81BD-7750345EAF4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5413B7B-F059-4E7F-9B0C-2BDC0B024128}"/>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418846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ADD9C-E0CE-40D4-88D2-F451A6CA2D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B8A3BD-8898-44CE-8F6C-B7314C6D1D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894D919-6B6B-47E5-B36A-873F6865D47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6A7586-F4B7-450C-81E1-FAA3E46B26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3EC58CE-BC7D-4C20-A075-0728E81A264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05AADA-15CE-4C70-A1A9-CBB18307E8E8}"/>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8" name="Footer Placeholder 7">
            <a:extLst>
              <a:ext uri="{FF2B5EF4-FFF2-40B4-BE49-F238E27FC236}">
                <a16:creationId xmlns:a16="http://schemas.microsoft.com/office/drawing/2014/main" id="{E6AEFFC6-47B9-4F2D-A8B6-DBE9C7E592C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866B6B4-1CF3-4A98-95F2-D1C72A1D4352}"/>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2724565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9DD9-3A0B-4E8D-A1A1-4CEEADEC12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55650D-1492-4E38-9BD8-F54D598A021C}"/>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4" name="Footer Placeholder 3">
            <a:extLst>
              <a:ext uri="{FF2B5EF4-FFF2-40B4-BE49-F238E27FC236}">
                <a16:creationId xmlns:a16="http://schemas.microsoft.com/office/drawing/2014/main" id="{DC4216C7-35AF-4547-A128-33548351B1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8910308-078F-4EC2-B0E4-08034D12FDCA}"/>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2995829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FF7612-B810-40A0-B69C-BB9478BA3EFF}"/>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3" name="Footer Placeholder 2">
            <a:extLst>
              <a:ext uri="{FF2B5EF4-FFF2-40B4-BE49-F238E27FC236}">
                <a16:creationId xmlns:a16="http://schemas.microsoft.com/office/drawing/2014/main" id="{0C19D18E-B9A4-4484-B444-F49F2B07EE1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4DD3A5D-A55E-4DB2-BBB8-4997700A65FB}"/>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179495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89400-6E6D-4710-A674-1A26054B1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F013B8-8995-41F1-8CA0-7CBD6776C9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9E9D55-3CBD-41F6-B4AF-ADE9A66DA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B43C7E3-4C12-4668-B214-AA95BF8EED5E}"/>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6" name="Footer Placeholder 5">
            <a:extLst>
              <a:ext uri="{FF2B5EF4-FFF2-40B4-BE49-F238E27FC236}">
                <a16:creationId xmlns:a16="http://schemas.microsoft.com/office/drawing/2014/main" id="{372DC0BF-084D-438A-A6BF-2D87C2E07C1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3B04C70-C4A3-4A6E-BA7D-9A24B573BFF2}"/>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858868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E829F-BC17-4462-8FEB-C026A44861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628BBC-129A-4A64-B808-748780B79D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330E7A6-0BC0-419D-83C4-8E736B60A8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6DA9284-23CF-45C8-AAC8-81F3927A220D}"/>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6" name="Footer Placeholder 5">
            <a:extLst>
              <a:ext uri="{FF2B5EF4-FFF2-40B4-BE49-F238E27FC236}">
                <a16:creationId xmlns:a16="http://schemas.microsoft.com/office/drawing/2014/main" id="{EC251A9B-48D3-4D0E-9A3B-41A27C99A30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C20A9A-35BF-45E3-BAF4-BDD0AD3959AE}"/>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1608327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F2D4-C767-4BCC-8274-5DF97AFC67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692D6-3175-473F-BF97-FC43859AC0E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8CA825-EDF4-46D6-B982-B44C0FDBD36C}"/>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462C027B-0833-4741-8E25-8C12DC454A9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310D7A-6D20-444F-8634-78808129DCF3}"/>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17159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1763D5-4921-4BE9-923B-C4FC18356E9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4FAB31-265A-4C74-912E-6D31BC85EE4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0E0C6-D65C-4FF7-8A1B-41A66A0606C6}"/>
              </a:ext>
            </a:extLst>
          </p:cNvPr>
          <p:cNvSpPr>
            <a:spLocks noGrp="1"/>
          </p:cNvSpPr>
          <p:nvPr>
            <p:ph type="dt" sz="half" idx="10"/>
          </p:nvPr>
        </p:nvSpPr>
        <p:spPr/>
        <p:txBody>
          <a:body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AC5F3AF1-7DFB-41FD-8877-5A8B60E87CF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0435E4A-1829-4C94-B818-136FE3E96059}"/>
              </a:ext>
            </a:extLst>
          </p:cNvPr>
          <p:cNvSpPr>
            <a:spLocks noGrp="1"/>
          </p:cNvSpPr>
          <p:nvPr>
            <p:ph type="sldNum" sz="quarter" idx="12"/>
          </p:nvPr>
        </p:nvSpPr>
        <p:spPr/>
        <p:txBody>
          <a:bodyPr/>
          <a:lstStyle/>
          <a:p>
            <a:fld id="{F5CCE250-622A-4A81-8ABB-8F0DCB3D860B}" type="slidenum">
              <a:rPr lang="en-US" smtClean="0"/>
              <a:t>‹#›</a:t>
            </a:fld>
            <a:endParaRPr lang="en-US" dirty="0"/>
          </a:p>
        </p:txBody>
      </p:sp>
    </p:spTree>
    <p:extLst>
      <p:ext uri="{BB962C8B-B14F-4D97-AF65-F5344CB8AC3E}">
        <p14:creationId xmlns:p14="http://schemas.microsoft.com/office/powerpoint/2010/main" val="3514082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3936646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865675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959471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797961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2359581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5073847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3388447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5778623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1344618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26751758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1064410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30601224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4/3/2020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dirty="0"/>
          </a:p>
        </p:txBody>
      </p:sp>
    </p:spTree>
    <p:extLst>
      <p:ext uri="{BB962C8B-B14F-4D97-AF65-F5344CB8AC3E}">
        <p14:creationId xmlns:p14="http://schemas.microsoft.com/office/powerpoint/2010/main" val="1352518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30369629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27016311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Tree>
    <p:custDataLst>
      <p:tags r:id="rId1"/>
    </p:custDataLst>
    <p:extLst>
      <p:ext uri="{BB962C8B-B14F-4D97-AF65-F5344CB8AC3E}">
        <p14:creationId xmlns:p14="http://schemas.microsoft.com/office/powerpoint/2010/main" val="41713496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Top">
    <p:spTree>
      <p:nvGrpSpPr>
        <p:cNvPr id="1" name=""/>
        <p:cNvGrpSpPr/>
        <p:nvPr/>
      </p:nvGrpSpPr>
      <p:grpSpPr>
        <a:xfrm>
          <a:off x="0" y="0"/>
          <a:ext cx="0" cy="0"/>
          <a:chOff x="0" y="0"/>
          <a:chExt cx="0" cy="0"/>
        </a:xfrm>
      </p:grpSpPr>
      <p:sp>
        <p:nvSpPr>
          <p:cNvPr id="5"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6" name="Text Placeholder 4"/>
          <p:cNvSpPr>
            <a:spLocks noGrp="1"/>
          </p:cNvSpPr>
          <p:nvPr>
            <p:ph type="body" sz="quarter" idx="10" hasCustomPrompt="1"/>
          </p:nvPr>
        </p:nvSpPr>
        <p:spPr>
          <a:xfrm>
            <a:off x="792483" y="447919"/>
            <a:ext cx="10411884" cy="349251"/>
          </a:xfrm>
        </p:spPr>
        <p:txBody>
          <a:bodyPr lIns="134149" anchor="ctr">
            <a:noAutofit/>
          </a:bodyPr>
          <a:lstStyle>
            <a:lvl1pPr marL="0" indent="0">
              <a:buFontTx/>
              <a:buNone/>
              <a:defRPr sz="2099" kern="100" spc="0" baseline="0">
                <a:solidFill>
                  <a:schemeClr val="accent1">
                    <a:lumMod val="75000"/>
                  </a:schemeClr>
                </a:solidFill>
                <a:latin typeface="+mj-lt"/>
              </a:defRPr>
            </a:lvl1pPr>
            <a:lvl2pPr marL="609463" indent="0">
              <a:buFontTx/>
              <a:buNone/>
              <a:defRPr/>
            </a:lvl2pPr>
            <a:lvl3pPr marL="1218925" indent="0">
              <a:buFontTx/>
              <a:buNone/>
              <a:defRPr/>
            </a:lvl3pPr>
            <a:lvl4pPr marL="1828388" indent="0">
              <a:buFontTx/>
              <a:buNone/>
              <a:defRPr/>
            </a:lvl4pPr>
            <a:lvl5pPr marL="2437851" indent="0">
              <a:buFontTx/>
              <a:buNone/>
              <a:defRPr/>
            </a:lvl5pPr>
          </a:lstStyle>
          <a:p>
            <a:pPr lvl="0"/>
            <a:r>
              <a:rPr lang="en-JM" dirty="0"/>
              <a:t>Click to add text</a:t>
            </a:r>
          </a:p>
        </p:txBody>
      </p:sp>
    </p:spTree>
    <p:custDataLst>
      <p:tags r:id="rId1"/>
    </p:custDataLst>
    <p:extLst>
      <p:ext uri="{BB962C8B-B14F-4D97-AF65-F5344CB8AC3E}">
        <p14:creationId xmlns:p14="http://schemas.microsoft.com/office/powerpoint/2010/main" val="2717567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45DA4A-63ED-4520-8FB8-2F27800C20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66DC2A-6507-4DEC-8403-DC16A25A09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A7EEE8-E68E-4D97-BC39-CF5F9FF433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C2980B-8F39-4A20-804C-37BF331A0958}" type="datetimeFigureOut">
              <a:rPr lang="en-US" smtClean="0"/>
              <a:t>4/3/2020</a:t>
            </a:fld>
            <a:endParaRPr lang="en-US" dirty="0"/>
          </a:p>
        </p:txBody>
      </p:sp>
      <p:sp>
        <p:nvSpPr>
          <p:cNvPr id="5" name="Footer Placeholder 4">
            <a:extLst>
              <a:ext uri="{FF2B5EF4-FFF2-40B4-BE49-F238E27FC236}">
                <a16:creationId xmlns:a16="http://schemas.microsoft.com/office/drawing/2014/main" id="{1AB59C45-A2C2-4C51-BD9F-A37DF95B0C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3D96C03-4524-4484-80D1-7E49E51C2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CCE250-622A-4A81-8ABB-8F0DCB3D860B}" type="slidenum">
              <a:rPr lang="en-US" smtClean="0"/>
              <a:t>‹#›</a:t>
            </a:fld>
            <a:endParaRPr lang="en-US" dirty="0"/>
          </a:p>
        </p:txBody>
      </p:sp>
    </p:spTree>
    <p:extLst>
      <p:ext uri="{BB962C8B-B14F-4D97-AF65-F5344CB8AC3E}">
        <p14:creationId xmlns:p14="http://schemas.microsoft.com/office/powerpoint/2010/main" val="9511271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4/3/2020</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dirty="0"/>
          </a:p>
        </p:txBody>
      </p:sp>
    </p:spTree>
    <p:extLst>
      <p:ext uri="{BB962C8B-B14F-4D97-AF65-F5344CB8AC3E}">
        <p14:creationId xmlns:p14="http://schemas.microsoft.com/office/powerpoint/2010/main" val="142289428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4.svg"/><Relationship Id="rId2" Type="http://schemas.openxmlformats.org/officeDocument/2006/relationships/slideLayout" Target="../slideLayouts/slideLayout25.xml"/><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7.xml"/><Relationship Id="rId1" Type="http://schemas.openxmlformats.org/officeDocument/2006/relationships/tags" Target="../tags/tag8.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slide" Target="slide6.xml"/></Relationships>
</file>

<file path=ppt/slides/_rels/slide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slide" Target="slide26.xml"/><Relationship Id="rId4" Type="http://schemas.openxmlformats.org/officeDocument/2006/relationships/slide" Target="slide9.xml"/></Relationships>
</file>

<file path=ppt/slides/_rels/slide6.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slide" Target="slide26.xml"/><Relationship Id="rId4" Type="http://schemas.openxmlformats.org/officeDocument/2006/relationships/slide" Target="slide7.xml"/></Relationships>
</file>

<file path=ppt/slides/_rels/slide7.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slide" Target="slide13.xml"/></Relationships>
</file>

<file path=ppt/slides/_rels/slide9.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slide" Target="slide11.xml"/></Relationships>
</file>

<file path=ppt/slides/_rels/slide10.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slide" Target="slide18.xml"/></Relationships>
</file>

<file path=ppt/slides/_rels/slide13.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slide" Target="slide16.xml"/></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slide" Target="slide16.xml"/></Relationships>
</file>

<file path=ppt/slides/_rels/slide15.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slide" Target="slide26.xml"/></Relationships>
</file>

<file path=ppt/slides/_rels/slide1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slide" Target="slide26.xml"/></Relationships>
</file>

<file path=ppt/slides/_rels/slide19.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slide" Target="slide23.xml"/></Relationships>
</file>

<file path=ppt/slides/_rels/slide21.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3"/>
          <p:cNvSpPr txBox="1">
            <a:spLocks/>
          </p:cNvSpPr>
          <p:nvPr/>
        </p:nvSpPr>
        <p:spPr>
          <a:xfrm>
            <a:off x="1571987" y="2097243"/>
            <a:ext cx="3160713" cy="460375"/>
          </a:xfrm>
          <a:prstGeom prst="rect">
            <a:avLst/>
          </a:prstGeom>
        </p:spPr>
        <p:txBody>
          <a:bodyPr vert="horz" lIns="121954" tIns="60977" rIns="121954" bIns="60977" rtlCol="0">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Font typeface="Arial"/>
              <a:buNone/>
            </a:pPr>
            <a:r>
              <a:rPr lang="en-US" sz="2099" dirty="0">
                <a:solidFill>
                  <a:schemeClr val="bg1"/>
                </a:solidFill>
                <a:latin typeface="+mj-lt"/>
                <a:cs typeface="Titillium WebSemiBold"/>
              </a:rPr>
              <a:t>Hardware Concepts</a:t>
            </a:r>
          </a:p>
        </p:txBody>
      </p:sp>
      <p:sp>
        <p:nvSpPr>
          <p:cNvPr id="10" name="Rectangle 9"/>
          <p:cNvSpPr/>
          <p:nvPr/>
        </p:nvSpPr>
        <p:spPr>
          <a:xfrm>
            <a:off x="2" y="2232162"/>
            <a:ext cx="534049" cy="28316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latin typeface="Titillium Web" panose="00000500000000000000" pitchFamily="2" charset="0"/>
              <a:cs typeface="Titillium WebRegular"/>
            </a:endParaRPr>
          </a:p>
        </p:txBody>
      </p:sp>
      <p:sp>
        <p:nvSpPr>
          <p:cNvPr id="8" name="Rectangle 7">
            <a:extLst>
              <a:ext uri="{FF2B5EF4-FFF2-40B4-BE49-F238E27FC236}">
                <a16:creationId xmlns:a16="http://schemas.microsoft.com/office/drawing/2014/main" id="{21676021-D745-4ED1-B363-7F2F1B112008}"/>
              </a:ext>
            </a:extLst>
          </p:cNvPr>
          <p:cNvSpPr/>
          <p:nvPr/>
        </p:nvSpPr>
        <p:spPr>
          <a:xfrm>
            <a:off x="104343" y="956492"/>
            <a:ext cx="6096000" cy="646331"/>
          </a:xfrm>
          <a:prstGeom prst="rect">
            <a:avLst/>
          </a:prstGeom>
        </p:spPr>
        <p:txBody>
          <a:bodyPr>
            <a:spAutoFit/>
          </a:bodyPr>
          <a:lstStyle/>
          <a:p>
            <a:r>
              <a:rPr lang="en-US" dirty="0">
                <a:solidFill>
                  <a:schemeClr val="bg1"/>
                </a:solidFill>
                <a:ea typeface="Calibri"/>
                <a:cs typeface="Calibri"/>
              </a:rPr>
              <a:t>Click the audio icon to narrate the contents of any screen.</a:t>
            </a:r>
            <a:endParaRPr lang="en-JM" dirty="0">
              <a:solidFill>
                <a:schemeClr val="bg1"/>
              </a:solidFill>
              <a:ea typeface="Calibri"/>
              <a:cs typeface="Calibri"/>
            </a:endParaRPr>
          </a:p>
          <a:p>
            <a:endParaRPr lang="en-US" dirty="0">
              <a:solidFill>
                <a:schemeClr val="tx2"/>
              </a:solidFill>
              <a:cs typeface="Calibri"/>
            </a:endParaRPr>
          </a:p>
        </p:txBody>
      </p:sp>
      <p:pic>
        <p:nvPicPr>
          <p:cNvPr id="14" name="Graphic 13" descr="Line Arrow: Counterclockwise curve">
            <a:extLst>
              <a:ext uri="{FF2B5EF4-FFF2-40B4-BE49-F238E27FC236}">
                <a16:creationId xmlns:a16="http://schemas.microsoft.com/office/drawing/2014/main" id="{9F167046-C41B-485D-89B4-7CEEBA04A2FC}"/>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940850" flipH="1" flipV="1">
            <a:off x="19856" y="1390556"/>
            <a:ext cx="661798" cy="661798"/>
          </a:xfrm>
          <a:prstGeom prst="rect">
            <a:avLst/>
          </a:prstGeom>
        </p:spPr>
      </p:pic>
      <p:sp>
        <p:nvSpPr>
          <p:cNvPr id="16" name="Text Placeholder 1">
            <a:extLst>
              <a:ext uri="{FF2B5EF4-FFF2-40B4-BE49-F238E27FC236}">
                <a16:creationId xmlns:a16="http://schemas.microsoft.com/office/drawing/2014/main" id="{56D014FF-8A21-4898-9927-6B8A070A90FD}"/>
              </a:ext>
            </a:extLst>
          </p:cNvPr>
          <p:cNvSpPr txBox="1">
            <a:spLocks/>
          </p:cNvSpPr>
          <p:nvPr/>
        </p:nvSpPr>
        <p:spPr>
          <a:xfrm>
            <a:off x="9989902" y="4666578"/>
            <a:ext cx="2159068" cy="930685"/>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1800" dirty="0">
                <a:solidFill>
                  <a:schemeClr val="bg1"/>
                </a:solidFill>
                <a:ea typeface="Calibri"/>
                <a:cs typeface="Calibri"/>
              </a:rPr>
              <a:t>The navigation button advances to the next screen. Click now to start the course.</a:t>
            </a:r>
            <a:endParaRPr lang="en-JM" sz="1800" dirty="0">
              <a:solidFill>
                <a:schemeClr val="bg1"/>
              </a:solidFill>
              <a:ea typeface="Calibri"/>
              <a:cs typeface="Calibri"/>
            </a:endParaRPr>
          </a:p>
        </p:txBody>
      </p:sp>
      <p:pic>
        <p:nvPicPr>
          <p:cNvPr id="19" name="Graphic 18" descr="Back">
            <a:extLst>
              <a:ext uri="{FF2B5EF4-FFF2-40B4-BE49-F238E27FC236}">
                <a16:creationId xmlns:a16="http://schemas.microsoft.com/office/drawing/2014/main" id="{F06CCC2F-D75B-4C7A-B005-2007EE34F256}"/>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1326010" y="5938230"/>
            <a:ext cx="822960" cy="822960"/>
          </a:xfrm>
          <a:prstGeom prst="rect">
            <a:avLst/>
          </a:prstGeom>
        </p:spPr>
      </p:pic>
      <p:sp>
        <p:nvSpPr>
          <p:cNvPr id="6" name="Rectangle 5"/>
          <p:cNvSpPr/>
          <p:nvPr/>
        </p:nvSpPr>
        <p:spPr>
          <a:xfrm>
            <a:off x="0" y="3572"/>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dirty="0">
              <a:cs typeface="Calibri"/>
            </a:endParaRPr>
          </a:p>
          <a:p>
            <a:pPr algn="ctr"/>
            <a:endParaRPr lang="en-US" sz="2350" dirty="0">
              <a:cs typeface="Calibri"/>
            </a:endParaRPr>
          </a:p>
        </p:txBody>
      </p:sp>
      <p:sp>
        <p:nvSpPr>
          <p:cNvPr id="3" name="Rectangle 2">
            <a:extLst>
              <a:ext uri="{FF2B5EF4-FFF2-40B4-BE49-F238E27FC236}">
                <a16:creationId xmlns:a16="http://schemas.microsoft.com/office/drawing/2014/main" id="{F4346A4B-66B9-4C40-8C85-A63FEC479A07}"/>
              </a:ext>
            </a:extLst>
          </p:cNvPr>
          <p:cNvSpPr/>
          <p:nvPr/>
        </p:nvSpPr>
        <p:spPr>
          <a:xfrm>
            <a:off x="0" y="2172064"/>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27" name="Content Placeholder 3">
            <a:extLst>
              <a:ext uri="{FF2B5EF4-FFF2-40B4-BE49-F238E27FC236}">
                <a16:creationId xmlns:a16="http://schemas.microsoft.com/office/drawing/2014/main" id="{578918F1-B05F-4C66-87EE-3C54FF84F74A}"/>
              </a:ext>
            </a:extLst>
          </p:cNvPr>
          <p:cNvSpPr txBox="1">
            <a:spLocks/>
          </p:cNvSpPr>
          <p:nvPr/>
        </p:nvSpPr>
        <p:spPr>
          <a:xfrm>
            <a:off x="817570" y="2280135"/>
            <a:ext cx="11022978" cy="4391254"/>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400" b="1" dirty="0">
                <a:solidFill>
                  <a:schemeClr val="tx1"/>
                </a:solidFill>
                <a:latin typeface="+mj-lt"/>
                <a:cs typeface="Titillium WebSemiBold"/>
              </a:rPr>
              <a:t>Module 13</a:t>
            </a:r>
            <a:r>
              <a:rPr lang="en-US" sz="2400" dirty="0">
                <a:solidFill>
                  <a:schemeClr val="tx1"/>
                </a:solidFill>
                <a:latin typeface="+mj-lt"/>
                <a:cs typeface="Titillium WebSemiBold"/>
              </a:rPr>
              <a:t>: Databases</a:t>
            </a:r>
          </a:p>
          <a:p>
            <a:pPr marL="0" indent="0">
              <a:buNone/>
            </a:pPr>
            <a:r>
              <a:rPr lang="en-US" sz="2400" b="1" dirty="0">
                <a:solidFill>
                  <a:schemeClr val="tx1"/>
                </a:solidFill>
                <a:latin typeface="+mj-lt"/>
                <a:cs typeface="Calibri Light"/>
              </a:rPr>
              <a:t>Lesson objective 13.2: </a:t>
            </a:r>
            <a:r>
              <a:rPr lang="en-US" sz="2400" dirty="0">
                <a:solidFill>
                  <a:schemeClr val="tx1"/>
                </a:solidFill>
                <a:latin typeface="+mj-lt"/>
                <a:cs typeface="Calibri Light"/>
              </a:rPr>
              <a:t>Use a database management system.</a:t>
            </a:r>
          </a:p>
          <a:p>
            <a:pPr marL="0" indent="0">
              <a:buNone/>
            </a:pPr>
            <a:r>
              <a:rPr lang="en-US" sz="2400" b="1" i="1" dirty="0">
                <a:solidFill>
                  <a:schemeClr val="tx1"/>
                </a:solidFill>
                <a:latin typeface="+mj-lt"/>
                <a:cs typeface="Calibri Light"/>
              </a:rPr>
              <a:t>Learning objectives:</a:t>
            </a:r>
          </a:p>
          <a:p>
            <a:pPr marL="0" indent="0">
              <a:buNone/>
            </a:pPr>
            <a:r>
              <a:rPr lang="en-US" sz="2400" dirty="0">
                <a:solidFill>
                  <a:schemeClr val="tx1"/>
                </a:solidFill>
                <a:latin typeface="+mj-lt"/>
                <a:cs typeface="Calibri Light"/>
              </a:rPr>
              <a:t>13.2.3 Organize data in a database.</a:t>
            </a:r>
          </a:p>
          <a:p>
            <a:pPr marL="0" indent="0">
              <a:buNone/>
            </a:pPr>
            <a:r>
              <a:rPr lang="en-US" sz="2400" dirty="0">
                <a:solidFill>
                  <a:schemeClr val="tx1"/>
                </a:solidFill>
                <a:latin typeface="+mj-lt"/>
                <a:cs typeface="Calibri Light"/>
              </a:rPr>
              <a:t>13.2.4 Interact with data in a database.</a:t>
            </a:r>
          </a:p>
          <a:p>
            <a:pPr marL="0" indent="0">
              <a:buNone/>
            </a:pPr>
            <a:r>
              <a:rPr lang="en-US" sz="2400" dirty="0">
                <a:solidFill>
                  <a:schemeClr val="tx1"/>
                </a:solidFill>
                <a:latin typeface="+mj-lt"/>
                <a:cs typeface="Calibri Light"/>
              </a:rPr>
              <a:t>13.2.5 Use Structured Query Language (SQL).</a:t>
            </a:r>
          </a:p>
        </p:txBody>
      </p:sp>
      <p:sp>
        <p:nvSpPr>
          <p:cNvPr id="26" name="Title 2">
            <a:extLst>
              <a:ext uri="{FF2B5EF4-FFF2-40B4-BE49-F238E27FC236}">
                <a16:creationId xmlns:a16="http://schemas.microsoft.com/office/drawing/2014/main" id="{40184B40-508E-4CC0-A6B8-3111CAA042DC}"/>
              </a:ext>
            </a:extLst>
          </p:cNvPr>
          <p:cNvSpPr>
            <a:spLocks noGrp="1"/>
          </p:cNvSpPr>
          <p:nvPr>
            <p:ph type="title"/>
          </p:nvPr>
        </p:nvSpPr>
        <p:spPr>
          <a:xfrm>
            <a:off x="1681351" y="570353"/>
            <a:ext cx="8246626" cy="1143000"/>
          </a:xfrm>
        </p:spPr>
        <p:txBody>
          <a:bodyPr>
            <a:normAutofit fontScale="90000"/>
          </a:bodyPr>
          <a:lstStyle/>
          <a:p>
            <a:pPr algn="ctr"/>
            <a:r>
              <a:rPr lang="en-US" sz="5400" dirty="0">
                <a:solidFill>
                  <a:schemeClr val="tx1"/>
                </a:solidFill>
                <a:cs typeface="Calibri Light"/>
              </a:rPr>
              <a:t>Expand a Small Business’s Database</a:t>
            </a:r>
          </a:p>
        </p:txBody>
      </p:sp>
    </p:spTree>
    <p:custDataLst>
      <p:tags r:id="rId1"/>
    </p:custDataLst>
    <p:extLst>
      <p:ext uri="{BB962C8B-B14F-4D97-AF65-F5344CB8AC3E}">
        <p14:creationId xmlns:p14="http://schemas.microsoft.com/office/powerpoint/2010/main" val="98761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F3F6B-5FE2-4281-B46B-5EC62CB6D9BA}"/>
              </a:ext>
            </a:extLst>
          </p:cNvPr>
          <p:cNvSpPr>
            <a:spLocks noGrp="1"/>
          </p:cNvSpPr>
          <p:nvPr>
            <p:ph type="title" idx="4294967295"/>
          </p:nvPr>
        </p:nvSpPr>
        <p:spPr>
          <a:xfrm>
            <a:off x="838200" y="394623"/>
            <a:ext cx="10515600" cy="657430"/>
          </a:xfrm>
        </p:spPr>
        <p:txBody>
          <a:bodyPr>
            <a:normAutofit/>
          </a:bodyPr>
          <a:lstStyle/>
          <a:p>
            <a:r>
              <a:rPr lang="en-US" sz="3600" dirty="0">
                <a:cs typeface="Calibri Light"/>
              </a:rPr>
              <a:t>Expand a Small Business’s Database</a:t>
            </a:r>
            <a:endParaRPr lang="en-US" sz="3600" dirty="0"/>
          </a:p>
        </p:txBody>
      </p:sp>
      <p:sp>
        <p:nvSpPr>
          <p:cNvPr id="3" name="Text Placeholder 5">
            <a:extLst>
              <a:ext uri="{FF2B5EF4-FFF2-40B4-BE49-F238E27FC236}">
                <a16:creationId xmlns:a16="http://schemas.microsoft.com/office/drawing/2014/main" id="{46871617-65EA-4B19-B5EB-A1956DA0C6A1}"/>
              </a:ext>
            </a:extLst>
          </p:cNvPr>
          <p:cNvSpPr txBox="1">
            <a:spLocks/>
          </p:cNvSpPr>
          <p:nvPr/>
        </p:nvSpPr>
        <p:spPr>
          <a:xfrm>
            <a:off x="790835" y="1147666"/>
            <a:ext cx="10988209" cy="5262416"/>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How to organize a database table</a:t>
            </a:r>
          </a:p>
          <a:p>
            <a:pPr>
              <a:buNone/>
            </a:pPr>
            <a:r>
              <a:rPr lang="en-US" dirty="0">
                <a:solidFill>
                  <a:schemeClr val="tx2"/>
                </a:solidFill>
              </a:rPr>
              <a:t>•	How to configure fields in a table</a:t>
            </a:r>
          </a:p>
          <a:p>
            <a:pPr>
              <a:buNone/>
            </a:pPr>
            <a:r>
              <a:rPr lang="en-US" dirty="0">
                <a:solidFill>
                  <a:schemeClr val="tx2"/>
                </a:solidFill>
              </a:rPr>
              <a:t>•	How to choose a query parameter</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make decisions about how to design a database table and run a query on the new table. At each step, think carefully about what kind of data should be entered in each field so you can configure the field appropriately.</a:t>
            </a:r>
          </a:p>
          <a:p>
            <a:pPr>
              <a:buFont typeface="Wingdings" panose="05000000000000000000" pitchFamily="2" charset="2"/>
              <a:buChar char="ü"/>
            </a:pPr>
            <a:r>
              <a:rPr lang="en-US" dirty="0">
                <a:solidFill>
                  <a:schemeClr val="tx2"/>
                </a:solidFill>
              </a:rPr>
              <a:t>Consider which field will include unique information about each client so it can serve as the table’s primary key.</a:t>
            </a:r>
          </a:p>
          <a:p>
            <a:pPr>
              <a:buFont typeface="Wingdings" panose="05000000000000000000" pitchFamily="2" charset="2"/>
              <a:buChar char="ü"/>
            </a:pPr>
            <a:r>
              <a:rPr lang="en-US" dirty="0">
                <a:solidFill>
                  <a:schemeClr val="tx2"/>
                </a:solidFill>
              </a:rPr>
              <a:t>Think about what kinds of controls you can build into the table to help users enter accurate data.</a:t>
            </a:r>
          </a:p>
          <a:p>
            <a:pPr>
              <a:buFont typeface="Wingdings" panose="05000000000000000000" pitchFamily="2" charset="2"/>
              <a:buChar char="ü"/>
            </a:pPr>
            <a:r>
              <a:rPr lang="en-US" dirty="0">
                <a:solidFill>
                  <a:schemeClr val="tx2"/>
                </a:solidFill>
              </a:rPr>
              <a:t>Keep in mind that each employee of a company typically works with many clients.</a:t>
            </a:r>
          </a:p>
        </p:txBody>
      </p:sp>
    </p:spTree>
    <p:extLst>
      <p:ext uri="{BB962C8B-B14F-4D97-AF65-F5344CB8AC3E}">
        <p14:creationId xmlns:p14="http://schemas.microsoft.com/office/powerpoint/2010/main" val="3511541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828001"/>
            <a:ext cx="11079729" cy="464733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rPr>
              <a:t>You work for a small real estate firm that typically employs two to three real estate agents at a time. The owner, Clarence, has run the business for nearly 30 years and is ready to retire. He plans to sell the firm and has a few interested buyers. </a:t>
            </a: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lang="en-US" sz="2050" dirty="0">
                <a:solidFill>
                  <a:srgbClr val="44546A"/>
                </a:solidFill>
                <a:latin typeface="Calibri" panose="020F0502020204030204"/>
                <a:ea typeface="Calibri"/>
                <a:cs typeface="Calibri"/>
              </a:rPr>
              <a:t>Due to Clarence’s long history with the community and familiarity with his clients, he never developed a digital record of his clients’ contact information. He currently uses a combination of lists in Microsoft Word and Excel, as well as a paper address book. To increase the value of his firm before selling it, he needs to add client details to the firm’s database.</a:t>
            </a: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rPr>
              <a:t>The office currently uses a database in </a:t>
            </a:r>
            <a:r>
              <a:rPr lang="en-US" sz="2050" dirty="0">
                <a:solidFill>
                  <a:srgbClr val="44546A"/>
                </a:solidFill>
                <a:latin typeface="Calibri" panose="020F0502020204030204"/>
                <a:ea typeface="Calibri"/>
                <a:cs typeface="Calibri"/>
              </a:rPr>
              <a:t>Microsoft Access </a:t>
            </a:r>
            <a:r>
              <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rPr>
              <a:t>to monitor </a:t>
            </a:r>
            <a:r>
              <a:rPr lang="en-US" sz="2050" dirty="0">
                <a:solidFill>
                  <a:srgbClr val="44546A"/>
                </a:solidFill>
                <a:latin typeface="Calibri" panose="020F0502020204030204"/>
                <a:ea typeface="Calibri"/>
                <a:cs typeface="Calibri"/>
              </a:rPr>
              <a:t>information on the properties the company manages. The database design is simple and was developed 10 years ago. Clarence asked you to add a table to the existing database for client information. While you’re not an experienced database administrator, you have learned the basics and believe you can complete the task well.</a:t>
            </a:r>
            <a:endPar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60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600"/>
              </a:spcAft>
              <a:buClrTx/>
              <a:buSzTx/>
              <a:buFont typeface="Arial"/>
              <a:buNone/>
              <a:tabLst/>
              <a:defRPr/>
            </a:pPr>
            <a:endParaRPr kumimoji="0" lang="en-US" sz="2400" b="0" i="0" u="none" strike="noStrike" kern="1200" cap="none" spc="0" normalizeH="0" baseline="0" noProof="0" dirty="0">
              <a:ln>
                <a:noFill/>
              </a:ln>
              <a:solidFill>
                <a:srgbClr val="44546A"/>
              </a:solidFill>
              <a:effectLst/>
              <a:uLnTx/>
              <a:uFillTx/>
              <a:latin typeface="Calibri" panose="020F0502020204030204"/>
              <a:ea typeface="+mn-ea"/>
              <a:cs typeface="+mn-cs"/>
            </a:endParaRPr>
          </a:p>
        </p:txBody>
      </p:sp>
      <p:sp>
        <p:nvSpPr>
          <p:cNvPr id="12" name="Text Placeholder 1"/>
          <p:cNvSpPr txBox="1">
            <a:spLocks/>
          </p:cNvSpPr>
          <p:nvPr/>
        </p:nvSpPr>
        <p:spPr>
          <a:xfrm>
            <a:off x="838200" y="5475339"/>
            <a:ext cx="3035710" cy="64032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hlinkClick r:id="rId4" action="ppaction://hlinksldjump"/>
              </a:rPr>
              <a:t>Continue</a:t>
            </a:r>
            <a:endParaRPr kumimoji="0" lang="en-US" sz="2050" b="1"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AD7318"/>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99" b="0" i="0" u="none" strike="noStrike" kern="1200" cap="none" spc="0" normalizeH="0" baseline="0" noProof="0" dirty="0">
              <a:ln>
                <a:noFill/>
              </a:ln>
              <a:solidFill>
                <a:srgbClr val="A5A5A5">
                  <a:lumMod val="75000"/>
                </a:srgbClr>
              </a:solidFill>
              <a:effectLst/>
              <a:uLnTx/>
              <a:uFillTx/>
              <a:latin typeface="Calibri" panose="020F0502020204030204"/>
              <a:ea typeface="Calibri"/>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99" b="0" i="0" u="none" strike="noStrike" kern="1200" cap="none" spc="0" normalizeH="0" baseline="0" noProof="0" dirty="0">
              <a:ln>
                <a:noFill/>
              </a:ln>
              <a:solidFill>
                <a:srgbClr val="A5A5A5">
                  <a:lumMod val="75000"/>
                </a:srgbClr>
              </a:solidFill>
              <a:effectLst/>
              <a:uLnTx/>
              <a:uFillTx/>
              <a:latin typeface="Calibri" panose="020F0502020204030204"/>
              <a:ea typeface="Calibri"/>
              <a:cs typeface="Calibri"/>
            </a:endParaRPr>
          </a:p>
        </p:txBody>
      </p:sp>
      <p:sp>
        <p:nvSpPr>
          <p:cNvPr id="2" name="Title 1">
            <a:extLst>
              <a:ext uri="{FF2B5EF4-FFF2-40B4-BE49-F238E27FC236}">
                <a16:creationId xmlns:a16="http://schemas.microsoft.com/office/drawing/2014/main" id="{AAE4B061-1973-4598-99F6-EBDFEBA643E0}"/>
              </a:ext>
            </a:extLst>
          </p:cNvPr>
          <p:cNvSpPr>
            <a:spLocks noGrp="1"/>
          </p:cNvSpPr>
          <p:nvPr>
            <p:ph type="title"/>
          </p:nvPr>
        </p:nvSpPr>
        <p:spPr>
          <a:xfrm>
            <a:off x="838200" y="0"/>
            <a:ext cx="10515600" cy="752010"/>
          </a:xfrm>
        </p:spPr>
        <p:txBody>
          <a:bodyPr>
            <a:normAutofit/>
          </a:bodyPr>
          <a:lstStyle/>
          <a:p>
            <a:r>
              <a:rPr lang="en-US" sz="3600" dirty="0"/>
              <a:t>Introduction</a:t>
            </a:r>
          </a:p>
        </p:txBody>
      </p:sp>
    </p:spTree>
    <p:custDataLst>
      <p:tags r:id="rId1"/>
    </p:custDataLst>
    <p:extLst>
      <p:ext uri="{BB962C8B-B14F-4D97-AF65-F5344CB8AC3E}">
        <p14:creationId xmlns:p14="http://schemas.microsoft.com/office/powerpoint/2010/main" val="4136002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838200" y="719640"/>
            <a:ext cx="11353800" cy="326525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One of the goals of the new Clients table will be to create relationships between the data in the  Clients table and other tables in the database. For example, each client will be assigned to an agent. In addition, the tables that store data about sales records can contain a field that references the specific client who made the purchase.</a:t>
            </a:r>
            <a:endParaRPr lang="en-US" dirty="0">
              <a:solidFill>
                <a:srgbClr val="44546A"/>
              </a:solidFill>
              <a:latin typeface="Calibri" panose="020F0502020204030204"/>
            </a:endParaRP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As you decide what fields you will need for the table in order to populate it with valuable client data, you realize the first and most important decision you must make at this point is to identify the table’s primary key. The primary key will not only distinguish each record </a:t>
            </a:r>
            <a:r>
              <a:rPr lang="en-US" dirty="0">
                <a:solidFill>
                  <a:srgbClr val="44546A"/>
                </a:solidFill>
                <a:latin typeface="Calibri" panose="020F0502020204030204"/>
              </a:rPr>
              <a:t>as unique, but also will be used by other tables to create relationships. </a:t>
            </a: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60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What field should you create first to use as the primary key?</a:t>
            </a:r>
          </a:p>
        </p:txBody>
      </p:sp>
      <p:sp>
        <p:nvSpPr>
          <p:cNvPr id="7" name="TextBox 6">
            <a:extLst>
              <a:ext uri="{FF2B5EF4-FFF2-40B4-BE49-F238E27FC236}">
                <a16:creationId xmlns:a16="http://schemas.microsoft.com/office/drawing/2014/main" id="{40638D1B-4303-428C-B168-BC6714B92E66}"/>
              </a:ext>
            </a:extLst>
          </p:cNvPr>
          <p:cNvSpPr txBox="1"/>
          <p:nvPr/>
        </p:nvSpPr>
        <p:spPr>
          <a:xfrm>
            <a:off x="1542082" y="4043321"/>
            <a:ext cx="6332956" cy="1153830"/>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Client ID.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[Level1_Decision1_OptionA]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dirty="0">
                <a:solidFill>
                  <a:srgbClr val="44546A"/>
                </a:solidFill>
                <a:latin typeface="Calibri" panose="020F0502020204030204"/>
                <a:hlinkClick r:id="rId4" action="ppaction://hlinksldjump"/>
              </a:rPr>
              <a:t>Client name.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[Level1_Decision1_OptionB]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22794" y="4031896"/>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26072" y="4669696"/>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19844"/>
            <a:ext cx="10515600" cy="640080"/>
          </a:xfrm>
        </p:spPr>
        <p:txBody>
          <a:bodyPr>
            <a:normAutofit/>
          </a:bodyPr>
          <a:lstStyle/>
          <a:p>
            <a:r>
              <a:rPr lang="en-US" sz="3600" dirty="0"/>
              <a:t>Level1_Decision</a:t>
            </a:r>
            <a:r>
              <a:rPr lang="en-US" sz="3600" baseline="0" dirty="0"/>
              <a:t>1</a:t>
            </a:r>
            <a:endParaRPr lang="en-US" sz="3600" dirty="0"/>
          </a:p>
        </p:txBody>
      </p:sp>
      <p:sp>
        <p:nvSpPr>
          <p:cNvPr id="12" name="Arrow: Pentagon 11">
            <a:extLst>
              <a:ext uri="{FF2B5EF4-FFF2-40B4-BE49-F238E27FC236}">
                <a16:creationId xmlns:a16="http://schemas.microsoft.com/office/drawing/2014/main" id="{15BAC46E-6733-4527-8F79-8583D40BE9DE}"/>
              </a:ext>
            </a:extLst>
          </p:cNvPr>
          <p:cNvSpPr/>
          <p:nvPr/>
        </p:nvSpPr>
        <p:spPr>
          <a:xfrm>
            <a:off x="88641" y="4055185"/>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TextBox 12">
            <a:extLst>
              <a:ext uri="{FF2B5EF4-FFF2-40B4-BE49-F238E27FC236}">
                <a16:creationId xmlns:a16="http://schemas.microsoft.com/office/drawing/2014/main" id="{3001FF7A-6D38-45B5-8DB0-CF7A4322EA44}"/>
              </a:ext>
            </a:extLst>
          </p:cNvPr>
          <p:cNvSpPr txBox="1"/>
          <p:nvPr/>
        </p:nvSpPr>
        <p:spPr>
          <a:xfrm>
            <a:off x="795113" y="5249073"/>
            <a:ext cx="10412616"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solidFill>
                  <a:srgbClr val="C00000"/>
                </a:solidFill>
              </a:rPr>
              <a:t>Explanation:</a:t>
            </a:r>
          </a:p>
          <a:p>
            <a:r>
              <a:rPr lang="en-US" dirty="0">
                <a:solidFill>
                  <a:srgbClr val="C00000"/>
                </a:solidFill>
              </a:rPr>
              <a:t>A client ID field can use a unique number for every client, but the client name field might not always hold unique data for each client.</a:t>
            </a:r>
          </a:p>
        </p:txBody>
      </p:sp>
      <p:sp>
        <p:nvSpPr>
          <p:cNvPr id="14" name="TextBox 13">
            <a:extLst>
              <a:ext uri="{FF2B5EF4-FFF2-40B4-BE49-F238E27FC236}">
                <a16:creationId xmlns:a16="http://schemas.microsoft.com/office/drawing/2014/main" id="{8BC7BBF1-E6B4-4527-831C-F8CF67BA5950}"/>
              </a:ext>
            </a:extLst>
          </p:cNvPr>
          <p:cNvSpPr txBox="1"/>
          <p:nvPr/>
        </p:nvSpPr>
        <p:spPr>
          <a:xfrm>
            <a:off x="795113" y="6344144"/>
            <a:ext cx="10433329"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field name.</a:t>
            </a:r>
          </a:p>
        </p:txBody>
      </p:sp>
    </p:spTree>
    <p:extLst>
      <p:ext uri="{BB962C8B-B14F-4D97-AF65-F5344CB8AC3E}">
        <p14:creationId xmlns:p14="http://schemas.microsoft.com/office/powerpoint/2010/main" val="898138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27937"/>
            <a:ext cx="11396889" cy="1501223"/>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decided to create a client ID field for the primary key since some clients have the same name as others. Now you need to decide on a name for the field. The field name should make it clear that the field is a unique identifier for each record in order for it to be valuable for others using the database. </a:t>
            </a:r>
          </a:p>
          <a:p>
            <a:r>
              <a:rPr lang="en-US" dirty="0"/>
              <a:t>What field name will help you track the relevant information as you work with this table?</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3261107"/>
            <a:ext cx="6701515" cy="1189596"/>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ClientID.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[Level2_Decision1_OptionA]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PrimaryKey.</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5" action="ppaction://hlinksldjump"/>
              </a:rPr>
              <a: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[Level2_Decision1_OptionB]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24968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388748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0"/>
            <a:ext cx="10515600" cy="640080"/>
          </a:xfrm>
        </p:spPr>
        <p:txBody>
          <a:bodyPr>
            <a:normAutofit/>
          </a:bodyPr>
          <a:lstStyle/>
          <a:p>
            <a:r>
              <a:rPr lang="en-US" sz="3600" dirty="0"/>
              <a:t>Level2_Decision</a:t>
            </a:r>
            <a:r>
              <a:rPr lang="en-US" sz="3600" baseline="0" dirty="0"/>
              <a:t>1</a:t>
            </a:r>
            <a:endParaRPr lang="en-US" sz="3600" dirty="0"/>
          </a:p>
        </p:txBody>
      </p:sp>
      <p:sp>
        <p:nvSpPr>
          <p:cNvPr id="12" name="TextBox 11">
            <a:extLst>
              <a:ext uri="{FF2B5EF4-FFF2-40B4-BE49-F238E27FC236}">
                <a16:creationId xmlns:a16="http://schemas.microsoft.com/office/drawing/2014/main" id="{2ECAF3E1-A32A-4B53-8D38-B48B0475A387}"/>
              </a:ext>
            </a:extLst>
          </p:cNvPr>
          <p:cNvSpPr txBox="1"/>
          <p:nvPr/>
        </p:nvSpPr>
        <p:spPr>
          <a:xfrm>
            <a:off x="795113" y="5448172"/>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 field should be named for the content it holds, such as ClientID.</a:t>
            </a:r>
          </a:p>
        </p:txBody>
      </p:sp>
      <p:sp>
        <p:nvSpPr>
          <p:cNvPr id="13" name="Arrow: Pentagon 12">
            <a:extLst>
              <a:ext uri="{FF2B5EF4-FFF2-40B4-BE49-F238E27FC236}">
                <a16:creationId xmlns:a16="http://schemas.microsoft.com/office/drawing/2014/main" id="{C7323100-3984-4157-B372-F14A0F4E825B}"/>
              </a:ext>
            </a:extLst>
          </p:cNvPr>
          <p:cNvSpPr/>
          <p:nvPr/>
        </p:nvSpPr>
        <p:spPr>
          <a:xfrm>
            <a:off x="91214" y="3295869"/>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2F920F71-8AA5-467E-B495-A67839805579}"/>
              </a:ext>
            </a:extLst>
          </p:cNvPr>
          <p:cNvSpPr txBox="1"/>
          <p:nvPr/>
        </p:nvSpPr>
        <p:spPr>
          <a:xfrm>
            <a:off x="795113" y="6314396"/>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Next step for both options: Student will need to choose a data type.</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85196FC3-15E4-4C15-94EF-22F08B3962B4}"/>
              </a:ext>
            </a:extLst>
          </p:cNvPr>
          <p:cNvSpPr txBox="1"/>
          <p:nvPr/>
        </p:nvSpPr>
        <p:spPr>
          <a:xfrm>
            <a:off x="795111" y="709156"/>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the client ID field for the primary key.</a:t>
            </a:r>
          </a:p>
        </p:txBody>
      </p:sp>
    </p:spTree>
    <p:extLst>
      <p:ext uri="{BB962C8B-B14F-4D97-AF65-F5344CB8AC3E}">
        <p14:creationId xmlns:p14="http://schemas.microsoft.com/office/powerpoint/2010/main" val="1484499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27937"/>
            <a:ext cx="11396889" cy="1851562"/>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decided to create a client name field for the primary key since you haven’t been using client ID numbers to distinguish among clients. Now you need to decide on a name for the field. The field name should make it clear that the field is a unique identifier for each record in order for it to be valuable for others using the database. </a:t>
            </a:r>
          </a:p>
          <a:p>
            <a:r>
              <a:rPr lang="en-US" dirty="0"/>
              <a:t>What field name will help you track the relevant information as you work with this table?</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3261106"/>
            <a:ext cx="7158715" cy="119892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ClientName.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[Level2_Decision2_OptionA]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PrimaryKey.</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5" action="ppaction://hlinksldjump"/>
              </a:rPr>
              <a: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[Level2_Decision2_OptionB]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24968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388748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0"/>
            <a:ext cx="10515600" cy="640080"/>
          </a:xfrm>
        </p:spPr>
        <p:txBody>
          <a:bodyPr>
            <a:normAutofit/>
          </a:bodyPr>
          <a:lstStyle/>
          <a:p>
            <a:r>
              <a:rPr lang="en-US" sz="3600" dirty="0"/>
              <a:t>Level2_Decision2</a:t>
            </a:r>
          </a:p>
        </p:txBody>
      </p:sp>
      <p:sp>
        <p:nvSpPr>
          <p:cNvPr id="10" name="TextBox 9">
            <a:extLst>
              <a:ext uri="{FF2B5EF4-FFF2-40B4-BE49-F238E27FC236}">
                <a16:creationId xmlns:a16="http://schemas.microsoft.com/office/drawing/2014/main" id="{6EC531A1-8A08-4C0F-8297-01AB63193125}"/>
              </a:ext>
            </a:extLst>
          </p:cNvPr>
          <p:cNvSpPr txBox="1"/>
          <p:nvPr/>
        </p:nvSpPr>
        <p:spPr>
          <a:xfrm>
            <a:off x="795113" y="5270889"/>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 field should be named for the content it holds, such as </a:t>
            </a:r>
            <a:r>
              <a:rPr lang="en-US" dirty="0" err="1">
                <a:solidFill>
                  <a:srgbClr val="C00000"/>
                </a:solidFill>
              </a:rPr>
              <a:t>ClientName</a:t>
            </a:r>
            <a:r>
              <a:rPr lang="en-US" dirty="0">
                <a:solidFill>
                  <a:srgbClr val="C00000"/>
                </a:solidFill>
              </a:rPr>
              <a:t>.</a:t>
            </a:r>
          </a:p>
        </p:txBody>
      </p:sp>
      <p:sp>
        <p:nvSpPr>
          <p:cNvPr id="13" name="Arrow: Pentagon 12">
            <a:extLst>
              <a:ext uri="{FF2B5EF4-FFF2-40B4-BE49-F238E27FC236}">
                <a16:creationId xmlns:a16="http://schemas.microsoft.com/office/drawing/2014/main" id="{32D50A33-5570-4DB2-A256-30E4C20349F7}"/>
              </a:ext>
            </a:extLst>
          </p:cNvPr>
          <p:cNvSpPr/>
          <p:nvPr/>
        </p:nvSpPr>
        <p:spPr>
          <a:xfrm>
            <a:off x="91214" y="3305200"/>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E9AD4511-FBED-4C38-A64D-346B9F21959E}"/>
              </a:ext>
            </a:extLst>
          </p:cNvPr>
          <p:cNvSpPr txBox="1"/>
          <p:nvPr/>
        </p:nvSpPr>
        <p:spPr>
          <a:xfrm>
            <a:off x="795113" y="6071797"/>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 data type</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You encounter an issue since some clients have the same name.</a:t>
            </a:r>
          </a:p>
        </p:txBody>
      </p:sp>
      <p:sp>
        <p:nvSpPr>
          <p:cNvPr id="15" name="TextBox 14">
            <a:extLst>
              <a:ext uri="{FF2B5EF4-FFF2-40B4-BE49-F238E27FC236}">
                <a16:creationId xmlns:a16="http://schemas.microsoft.com/office/drawing/2014/main" id="{6A85256A-82A8-4EA1-86BB-7B92E8E1E1CC}"/>
              </a:ext>
            </a:extLst>
          </p:cNvPr>
          <p:cNvSpPr txBox="1"/>
          <p:nvPr/>
        </p:nvSpPr>
        <p:spPr>
          <a:xfrm>
            <a:off x="795111" y="699825"/>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a:t>
            </a:r>
            <a:r>
              <a:rPr lang="en-US" dirty="0">
                <a:solidFill>
                  <a:prstClr val="black"/>
                </a:solidFill>
              </a:rPr>
              <a:t>the client name field for the primary key.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6566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147665"/>
            <a:ext cx="11396889" cy="1632857"/>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add some more fields and then start trying to add data. However, it’s not working the way you intended. The first issue you encounter is that some clients have the same last name. </a:t>
            </a:r>
          </a:p>
          <a:p>
            <a:r>
              <a:rPr lang="en-US" dirty="0"/>
              <a:t>You have a meeting tomorrow with Clarence to discuss your progress, and you continue to try to fix the issues in the meantime.</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2926529" cy="50009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Level2_Story1</a:t>
            </a:r>
          </a:p>
        </p:txBody>
      </p:sp>
      <p:sp>
        <p:nvSpPr>
          <p:cNvPr id="7" name="TextBox 6">
            <a:extLst>
              <a:ext uri="{FF2B5EF4-FFF2-40B4-BE49-F238E27FC236}">
                <a16:creationId xmlns:a16="http://schemas.microsoft.com/office/drawing/2014/main" id="{1FEB1DD7-0645-45B7-939D-5E00E0970C36}"/>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Clarence hires a consultant to do the work instead</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281A9B05-137D-44E2-977A-E183AE58AE62}"/>
              </a:ext>
            </a:extLst>
          </p:cNvPr>
          <p:cNvSpPr txBox="1"/>
          <p:nvPr/>
        </p:nvSpPr>
        <p:spPr>
          <a:xfrm>
            <a:off x="795111" y="690495"/>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a:t>
            </a:r>
            <a:r>
              <a:rPr lang="en-US" dirty="0">
                <a:solidFill>
                  <a:prstClr val="black"/>
                </a:solidFill>
              </a:rPr>
              <a:t>Student chose the client name field for the primary key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4236368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35991"/>
            <a:ext cx="11306694" cy="1423235"/>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chose to name the primary key field ClientID since that name describes the contents of the field. </a:t>
            </a:r>
          </a:p>
          <a:p>
            <a:r>
              <a:rPr lang="en-US" dirty="0"/>
              <a:t>You’ve added fields for a client’s name, address, city, state, and ZIP code. Now you’re ready to add a field for the client's phone number. What data type is the best fit for this field?</a:t>
            </a:r>
          </a:p>
        </p:txBody>
      </p:sp>
      <p:sp>
        <p:nvSpPr>
          <p:cNvPr id="7" name="TextBox 6">
            <a:extLst>
              <a:ext uri="{FF2B5EF4-FFF2-40B4-BE49-F238E27FC236}">
                <a16:creationId xmlns:a16="http://schemas.microsoft.com/office/drawing/2014/main" id="{40638D1B-4303-428C-B168-BC6714B92E66}"/>
              </a:ext>
            </a:extLst>
          </p:cNvPr>
          <p:cNvSpPr txBox="1"/>
          <p:nvPr/>
        </p:nvSpPr>
        <p:spPr>
          <a:xfrm>
            <a:off x="1542082" y="3062053"/>
            <a:ext cx="5670482" cy="1151945"/>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Short Text.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Number.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22794" y="3050629"/>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26072" y="368842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17755"/>
            <a:ext cx="10515600" cy="640080"/>
          </a:xfrm>
        </p:spPr>
        <p:txBody>
          <a:bodyPr>
            <a:normAutofit/>
          </a:bodyPr>
          <a:lstStyle/>
          <a:p>
            <a:r>
              <a:rPr lang="en-US" sz="3600" dirty="0"/>
              <a:t>Level3_Decision1</a:t>
            </a:r>
          </a:p>
        </p:txBody>
      </p:sp>
      <p:sp>
        <p:nvSpPr>
          <p:cNvPr id="12" name="TextBox 11">
            <a:extLst>
              <a:ext uri="{FF2B5EF4-FFF2-40B4-BE49-F238E27FC236}">
                <a16:creationId xmlns:a16="http://schemas.microsoft.com/office/drawing/2014/main" id="{C0486C42-3A36-451C-B548-BFED218356C1}"/>
              </a:ext>
            </a:extLst>
          </p:cNvPr>
          <p:cNvSpPr txBox="1"/>
          <p:nvPr/>
        </p:nvSpPr>
        <p:spPr>
          <a:xfrm>
            <a:off x="795113" y="5448172"/>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Because this number will not be used in calculations, Short Text is the better choice.</a:t>
            </a:r>
          </a:p>
        </p:txBody>
      </p:sp>
      <p:sp>
        <p:nvSpPr>
          <p:cNvPr id="13" name="Arrow: Pentagon 12">
            <a:extLst>
              <a:ext uri="{FF2B5EF4-FFF2-40B4-BE49-F238E27FC236}">
                <a16:creationId xmlns:a16="http://schemas.microsoft.com/office/drawing/2014/main" id="{EDEAFBDD-1276-46B4-9FA1-B57FE84FF335}"/>
              </a:ext>
            </a:extLst>
          </p:cNvPr>
          <p:cNvSpPr/>
          <p:nvPr/>
        </p:nvSpPr>
        <p:spPr>
          <a:xfrm>
            <a:off x="91214" y="3090590"/>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763CA5D6-19EF-42F5-946A-B489B21D724D}"/>
              </a:ext>
            </a:extLst>
          </p:cNvPr>
          <p:cNvSpPr txBox="1"/>
          <p:nvPr/>
        </p:nvSpPr>
        <p:spPr>
          <a:xfrm>
            <a:off x="795113" y="6270143"/>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Next step for both options: Student will need to choose a validity check.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85FFEFB6-5E17-4E0D-B421-D49B1F9B75FF}"/>
              </a:ext>
            </a:extLst>
          </p:cNvPr>
          <p:cNvSpPr txBox="1"/>
          <p:nvPr/>
        </p:nvSpPr>
        <p:spPr>
          <a:xfrm>
            <a:off x="795111" y="709156"/>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name the field ClientID.</a:t>
            </a:r>
          </a:p>
        </p:txBody>
      </p:sp>
    </p:spTree>
    <p:extLst>
      <p:ext uri="{BB962C8B-B14F-4D97-AF65-F5344CB8AC3E}">
        <p14:creationId xmlns:p14="http://schemas.microsoft.com/office/powerpoint/2010/main" val="628236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27936"/>
            <a:ext cx="11396889" cy="1915063"/>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chose to name the field PrimaryKey so it’s clear to other database users that the field is the primary key. However, as you look through other tables, you notice their primary key field names indicate the column’s content. You decide you will revisit that later.</a:t>
            </a:r>
          </a:p>
          <a:p>
            <a:r>
              <a:rPr lang="en-US" dirty="0"/>
              <a:t>You’ve added fields for a client’s name, address, city, state, and ZIP code. Now you’re ready to add a field for the client's phone number. What data type is the best fit for this field?</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3525470"/>
            <a:ext cx="5880421" cy="1121174"/>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Short Text.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AutoNumber.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514045"/>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415184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Level3_Decision2</a:t>
            </a:r>
          </a:p>
        </p:txBody>
      </p:sp>
      <p:sp>
        <p:nvSpPr>
          <p:cNvPr id="10" name="TextBox 9">
            <a:extLst>
              <a:ext uri="{FF2B5EF4-FFF2-40B4-BE49-F238E27FC236}">
                <a16:creationId xmlns:a16="http://schemas.microsoft.com/office/drawing/2014/main" id="{782CD04D-7132-4196-BA00-B901BED87B06}"/>
              </a:ext>
            </a:extLst>
          </p:cNvPr>
          <p:cNvSpPr txBox="1"/>
          <p:nvPr/>
        </p:nvSpPr>
        <p:spPr>
          <a:xfrm>
            <a:off x="795113" y="5364193"/>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Because this number will not be used in calculations, Short Text is the better choice.</a:t>
            </a:r>
          </a:p>
        </p:txBody>
      </p:sp>
      <p:sp>
        <p:nvSpPr>
          <p:cNvPr id="15" name="Arrow: Pentagon 14">
            <a:extLst>
              <a:ext uri="{FF2B5EF4-FFF2-40B4-BE49-F238E27FC236}">
                <a16:creationId xmlns:a16="http://schemas.microsoft.com/office/drawing/2014/main" id="{E1457B9A-3A5B-4346-B23A-60AA65150429}"/>
              </a:ext>
            </a:extLst>
          </p:cNvPr>
          <p:cNvSpPr/>
          <p:nvPr/>
        </p:nvSpPr>
        <p:spPr>
          <a:xfrm>
            <a:off x="91214" y="3547797"/>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6" name="TextBox 15">
            <a:extLst>
              <a:ext uri="{FF2B5EF4-FFF2-40B4-BE49-F238E27FC236}">
                <a16:creationId xmlns:a16="http://schemas.microsoft.com/office/drawing/2014/main" id="{FCE4B511-4C91-42D1-927C-0703B186FDD4}"/>
              </a:ext>
            </a:extLst>
          </p:cNvPr>
          <p:cNvSpPr txBox="1"/>
          <p:nvPr/>
        </p:nvSpPr>
        <p:spPr>
          <a:xfrm>
            <a:off x="795113" y="6118450"/>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t>
            </a:r>
            <a:r>
              <a:rPr lang="en-US" kern="0" dirty="0">
                <a:solidFill>
                  <a:prstClr val="black"/>
                </a:solidFill>
              </a:rPr>
              <a:t>a validity check</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AutoNumber field doesn’t allow phone number entry.</a:t>
            </a:r>
          </a:p>
        </p:txBody>
      </p:sp>
      <p:sp>
        <p:nvSpPr>
          <p:cNvPr id="17" name="TextBox 16">
            <a:extLst>
              <a:ext uri="{FF2B5EF4-FFF2-40B4-BE49-F238E27FC236}">
                <a16:creationId xmlns:a16="http://schemas.microsoft.com/office/drawing/2014/main" id="{794994E7-6349-43EB-A62A-7EF305137049}"/>
              </a:ext>
            </a:extLst>
          </p:cNvPr>
          <p:cNvSpPr txBox="1"/>
          <p:nvPr/>
        </p:nvSpPr>
        <p:spPr>
          <a:xfrm>
            <a:off x="795111" y="699825"/>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name the field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PrimaryKey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78839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240508"/>
            <a:ext cx="11396889" cy="1642653"/>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chose to name the primary key field ClientName since that name describes the contents of the field.</a:t>
            </a:r>
          </a:p>
          <a:p>
            <a:r>
              <a:rPr lang="en-US" dirty="0"/>
              <a:t>You’ve added fields for a client’s name, address, city, state, and ZIP code. Now you’re ready to add a field for the client's phone number. What data type is the best fit for this field?</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3156914"/>
            <a:ext cx="6300299" cy="1116505"/>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Short Text.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[Level3_Decision3_OptionA]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AutoNumber.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[Level3_Decision3_OptionB]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14549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378329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Level3_Decision3</a:t>
            </a:r>
          </a:p>
        </p:txBody>
      </p:sp>
      <p:sp>
        <p:nvSpPr>
          <p:cNvPr id="10" name="TextBox 9">
            <a:extLst>
              <a:ext uri="{FF2B5EF4-FFF2-40B4-BE49-F238E27FC236}">
                <a16:creationId xmlns:a16="http://schemas.microsoft.com/office/drawing/2014/main" id="{89B91C5C-3A68-48D7-BE7F-52581A1335D9}"/>
              </a:ext>
            </a:extLst>
          </p:cNvPr>
          <p:cNvSpPr txBox="1"/>
          <p:nvPr/>
        </p:nvSpPr>
        <p:spPr>
          <a:xfrm>
            <a:off x="795113" y="5448172"/>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Because this number will not be used in calculations, Short Text is the better choice.</a:t>
            </a:r>
          </a:p>
        </p:txBody>
      </p:sp>
      <p:sp>
        <p:nvSpPr>
          <p:cNvPr id="15" name="Arrow: Pentagon 14">
            <a:extLst>
              <a:ext uri="{FF2B5EF4-FFF2-40B4-BE49-F238E27FC236}">
                <a16:creationId xmlns:a16="http://schemas.microsoft.com/office/drawing/2014/main" id="{B6DE5717-A75D-42D0-9471-8B36C270B6FF}"/>
              </a:ext>
            </a:extLst>
          </p:cNvPr>
          <p:cNvSpPr/>
          <p:nvPr/>
        </p:nvSpPr>
        <p:spPr>
          <a:xfrm>
            <a:off x="91214" y="319323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6" name="TextBox 15">
            <a:extLst>
              <a:ext uri="{FF2B5EF4-FFF2-40B4-BE49-F238E27FC236}">
                <a16:creationId xmlns:a16="http://schemas.microsoft.com/office/drawing/2014/main" id="{A1A38781-D3B0-41F9-901A-39C1AF592E8C}"/>
              </a:ext>
            </a:extLst>
          </p:cNvPr>
          <p:cNvSpPr txBox="1"/>
          <p:nvPr/>
        </p:nvSpPr>
        <p:spPr>
          <a:xfrm>
            <a:off x="795113" y="6165105"/>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 validity check</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a:t>
            </a:r>
            <a:r>
              <a:rPr lang="en-US" kern="0" dirty="0">
                <a:solidFill>
                  <a:prstClr val="black"/>
                </a:solidFill>
              </a:rPr>
              <a:t>AutoNumber field doesn’t allow phone number entry.</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E2302386-719F-4626-8E8E-9AAD2CF102F0}"/>
              </a:ext>
            </a:extLst>
          </p:cNvPr>
          <p:cNvSpPr txBox="1"/>
          <p:nvPr/>
        </p:nvSpPr>
        <p:spPr>
          <a:xfrm>
            <a:off x="795111" y="7091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name the field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ClientName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1734096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116015"/>
            <a:ext cx="11396889" cy="2149700"/>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chose AutoNumber because you want to ensure that no letters or other characters are entered in the phone number field. </a:t>
            </a:r>
          </a:p>
          <a:p>
            <a:r>
              <a:rPr lang="en-US" dirty="0"/>
              <a:t>You add some more fields and then start trying to add data. However, it’s not working the way you intended. For one thing, the AutoNumber field doesn’t allow you to enter phone numbers–it populates the field automatically. You have a meeting tomorrow with Clarence to discuss your progress, and you continue to try to fix the issues in the meantime.</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3990219" cy="59340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Level3_Story1</a:t>
            </a:r>
          </a:p>
        </p:txBody>
      </p:sp>
      <p:sp>
        <p:nvSpPr>
          <p:cNvPr id="7" name="TextBox 6">
            <a:extLst>
              <a:ext uri="{FF2B5EF4-FFF2-40B4-BE49-F238E27FC236}">
                <a16:creationId xmlns:a16="http://schemas.microsoft.com/office/drawing/2014/main" id="{6FC1BECE-A2DA-41A8-AEA4-D412847C2C74}"/>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Clarence hires a consultant to do the work instead</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1EB6261A-533E-4388-9DC5-C7C7759CDA3C}"/>
              </a:ext>
            </a:extLst>
          </p:cNvPr>
          <p:cNvSpPr txBox="1"/>
          <p:nvPr/>
        </p:nvSpPr>
        <p:spPr>
          <a:xfrm>
            <a:off x="795111" y="587857"/>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the AutoNumber data type.</a:t>
            </a:r>
          </a:p>
        </p:txBody>
      </p:sp>
    </p:spTree>
    <p:extLst>
      <p:ext uri="{BB962C8B-B14F-4D97-AF65-F5344CB8AC3E}">
        <p14:creationId xmlns:p14="http://schemas.microsoft.com/office/powerpoint/2010/main" val="3510366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063225"/>
            <a:ext cx="11396889" cy="2631697"/>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chose short text, which was a good decision. The digits in the phone number won’t be used for calculations so a Number data type is not needed.</a:t>
            </a:r>
          </a:p>
          <a:p>
            <a:r>
              <a:rPr lang="en-US" dirty="0"/>
              <a:t>It’s really important that phone numbers are entered accurately in the table since they can be autodialed by customer service and sales representatives who need to reach a client. You decide to use a validity check that will ensure all client phone numbers, regardless of who enters them into the database, remain in the same format. </a:t>
            </a:r>
          </a:p>
          <a:p>
            <a:r>
              <a:rPr lang="en-US" dirty="0"/>
              <a:t>What validity check will be most helpful for the phone number field?</a:t>
            </a:r>
          </a:p>
        </p:txBody>
      </p:sp>
      <p:sp>
        <p:nvSpPr>
          <p:cNvPr id="7" name="TextBox 6">
            <a:extLst>
              <a:ext uri="{FF2B5EF4-FFF2-40B4-BE49-F238E27FC236}">
                <a16:creationId xmlns:a16="http://schemas.microsoft.com/office/drawing/2014/main" id="{40638D1B-4303-428C-B168-BC6714B92E66}"/>
              </a:ext>
            </a:extLst>
          </p:cNvPr>
          <p:cNvSpPr txBox="1"/>
          <p:nvPr/>
        </p:nvSpPr>
        <p:spPr>
          <a:xfrm>
            <a:off x="1563852" y="3862929"/>
            <a:ext cx="7449519" cy="1147608"/>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Format check with an input mask.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Uniqueness check.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44565" y="385150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47843" y="448930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Level4_Decision1</a:t>
            </a:r>
          </a:p>
        </p:txBody>
      </p:sp>
      <p:sp>
        <p:nvSpPr>
          <p:cNvPr id="12" name="TextBox 11">
            <a:extLst>
              <a:ext uri="{FF2B5EF4-FFF2-40B4-BE49-F238E27FC236}">
                <a16:creationId xmlns:a16="http://schemas.microsoft.com/office/drawing/2014/main" id="{0AA24FBF-D545-479F-A82B-9EAB9AAA4614}"/>
              </a:ext>
            </a:extLst>
          </p:cNvPr>
          <p:cNvSpPr txBox="1"/>
          <p:nvPr/>
        </p:nvSpPr>
        <p:spPr>
          <a:xfrm>
            <a:off x="795110" y="5284531"/>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An input mask can require the exact number of digits for a phone number, which helps remind database users to enter all the digits of a phone number.</a:t>
            </a:r>
          </a:p>
        </p:txBody>
      </p:sp>
      <p:sp>
        <p:nvSpPr>
          <p:cNvPr id="13" name="Arrow: Pentagon 12">
            <a:extLst>
              <a:ext uri="{FF2B5EF4-FFF2-40B4-BE49-F238E27FC236}">
                <a16:creationId xmlns:a16="http://schemas.microsoft.com/office/drawing/2014/main" id="{341F9733-B899-4181-A46E-784DACA4EE6A}"/>
              </a:ext>
            </a:extLst>
          </p:cNvPr>
          <p:cNvSpPr/>
          <p:nvPr/>
        </p:nvSpPr>
        <p:spPr>
          <a:xfrm>
            <a:off x="91214" y="389302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5A678C85-CFEB-4894-8A9C-4B1E2C11A39B}"/>
              </a:ext>
            </a:extLst>
          </p:cNvPr>
          <p:cNvSpPr txBox="1"/>
          <p:nvPr/>
        </p:nvSpPr>
        <p:spPr>
          <a:xfrm>
            <a:off x="795113" y="6379708"/>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relationship type</a:t>
            </a:r>
            <a:r>
              <a:rPr lang="en-US" dirty="0"/>
              <a:t>.</a:t>
            </a:r>
          </a:p>
        </p:txBody>
      </p:sp>
      <p:sp>
        <p:nvSpPr>
          <p:cNvPr id="15" name="TextBox 14">
            <a:extLst>
              <a:ext uri="{FF2B5EF4-FFF2-40B4-BE49-F238E27FC236}">
                <a16:creationId xmlns:a16="http://schemas.microsoft.com/office/drawing/2014/main" id="{6E07305F-B854-4562-8847-F447612E95E3}"/>
              </a:ext>
            </a:extLst>
          </p:cNvPr>
          <p:cNvSpPr txBox="1"/>
          <p:nvPr/>
        </p:nvSpPr>
        <p:spPr>
          <a:xfrm>
            <a:off x="795111" y="625181"/>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the Short Text data type.</a:t>
            </a:r>
          </a:p>
        </p:txBody>
      </p:sp>
    </p:spTree>
    <p:extLst>
      <p:ext uri="{BB962C8B-B14F-4D97-AF65-F5344CB8AC3E}">
        <p14:creationId xmlns:p14="http://schemas.microsoft.com/office/powerpoint/2010/main" val="1080053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508179"/>
            <a:ext cx="11396889" cy="1925490"/>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It’s really important that phone numbers are entered accurately in the table since they can be autodialed by customer service and sales representatives who need to reach a client. You decide to use a validity check that will ensure all client phone numbers, regardless of who enters them into the database, remain in the same format. </a:t>
            </a:r>
          </a:p>
          <a:p>
            <a:r>
              <a:rPr lang="en-US" dirty="0"/>
              <a:t>What validity check will be most helpful for the phone number field?</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9" y="3635885"/>
            <a:ext cx="7475956" cy="1109282"/>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Format check with an input mask.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Uniqueness check.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62446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426226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Level4_Decision2</a:t>
            </a:r>
          </a:p>
        </p:txBody>
      </p:sp>
      <p:sp>
        <p:nvSpPr>
          <p:cNvPr id="13" name="TextBox 12">
            <a:extLst>
              <a:ext uri="{FF2B5EF4-FFF2-40B4-BE49-F238E27FC236}">
                <a16:creationId xmlns:a16="http://schemas.microsoft.com/office/drawing/2014/main" id="{953B4F16-022E-4B7A-938B-EA2471746D17}"/>
              </a:ext>
            </a:extLst>
          </p:cNvPr>
          <p:cNvSpPr txBox="1"/>
          <p:nvPr/>
        </p:nvSpPr>
        <p:spPr>
          <a:xfrm>
            <a:off x="795113" y="5065613"/>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An input mask can require the exact number of digits for a phone number, which helps remind database users to enter all the digits of a phone number.</a:t>
            </a:r>
          </a:p>
        </p:txBody>
      </p:sp>
      <p:sp>
        <p:nvSpPr>
          <p:cNvPr id="14" name="Arrow: Pentagon 13">
            <a:extLst>
              <a:ext uri="{FF2B5EF4-FFF2-40B4-BE49-F238E27FC236}">
                <a16:creationId xmlns:a16="http://schemas.microsoft.com/office/drawing/2014/main" id="{FD086289-6B15-46A1-8A98-0B50CFED73C3}"/>
              </a:ext>
            </a:extLst>
          </p:cNvPr>
          <p:cNvSpPr/>
          <p:nvPr/>
        </p:nvSpPr>
        <p:spPr>
          <a:xfrm>
            <a:off x="91214" y="3650435"/>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D804F584-16A9-4889-8319-0EC31801DC73}"/>
              </a:ext>
            </a:extLst>
          </p:cNvPr>
          <p:cNvSpPr txBox="1"/>
          <p:nvPr/>
        </p:nvSpPr>
        <p:spPr>
          <a:xfrm>
            <a:off x="795113" y="6137112"/>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 </a:t>
            </a:r>
            <a:r>
              <a:rPr lang="en-US" kern="0" dirty="0">
                <a:solidFill>
                  <a:prstClr val="black"/>
                </a:solidFill>
              </a:rPr>
              <a:t>relationship type</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Some of the data is entered incorrectly.</a:t>
            </a:r>
          </a:p>
        </p:txBody>
      </p:sp>
      <p:sp>
        <p:nvSpPr>
          <p:cNvPr id="16" name="TextBox 15">
            <a:extLst>
              <a:ext uri="{FF2B5EF4-FFF2-40B4-BE49-F238E27FC236}">
                <a16:creationId xmlns:a16="http://schemas.microsoft.com/office/drawing/2014/main" id="{A1518294-4BF9-42A2-849F-5308DAFA5CC3}"/>
              </a:ext>
            </a:extLst>
          </p:cNvPr>
          <p:cNvSpPr txBox="1"/>
          <p:nvPr/>
        </p:nvSpPr>
        <p:spPr>
          <a:xfrm>
            <a:off x="795111" y="671834"/>
            <a:ext cx="10412617"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a:t>
            </a:r>
            <a:r>
              <a:rPr lang="en-US" dirty="0">
                <a:solidFill>
                  <a:prstClr val="black"/>
                </a:solidFill>
                <a:latin typeface="Calibri" panose="020F0502020204030204"/>
              </a:rPr>
              <a:t>chose the Number data type for the phone number field or, earlier, named the client ID field </a:t>
            </a:r>
            <a:r>
              <a:rPr lang="en-US" dirty="0" err="1">
                <a:solidFill>
                  <a:prstClr val="black"/>
                </a:solidFill>
                <a:latin typeface="Calibri" panose="020F0502020204030204"/>
              </a:rPr>
              <a:t>PrimaryKey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1079567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161557"/>
            <a:ext cx="11396889" cy="2246308"/>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chose short text, which was a good decision. The digits in the phone number won’t be used for calculations, and an AutoNumber field wouldn’t allow you to enter the phone numbers.</a:t>
            </a:r>
          </a:p>
          <a:p>
            <a:r>
              <a:rPr lang="en-US" dirty="0"/>
              <a:t>It’s really important that phone numbers are entered accurately in the table, since they can be autodialed by customer service and sales representatives who need to reach a client. You decide to use a validity check that will ensure all client phone numbers, regardless of who enters them into the database, remain in the same format. What validity check will be most helpful for the phone number field?</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3620336"/>
            <a:ext cx="7224029" cy="1231580"/>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Format check with an input mask.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[Level4_Decision3_OptionA]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Uniqueness check.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[Level4_Decision3_OptionB]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60891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424671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Level4_Decision3</a:t>
            </a:r>
          </a:p>
        </p:txBody>
      </p:sp>
      <p:sp>
        <p:nvSpPr>
          <p:cNvPr id="13" name="TextBox 12">
            <a:extLst>
              <a:ext uri="{FF2B5EF4-FFF2-40B4-BE49-F238E27FC236}">
                <a16:creationId xmlns:a16="http://schemas.microsoft.com/office/drawing/2014/main" id="{475F59F3-AD9D-4D30-9B08-1C5E8668E123}"/>
              </a:ext>
            </a:extLst>
          </p:cNvPr>
          <p:cNvSpPr txBox="1"/>
          <p:nvPr/>
        </p:nvSpPr>
        <p:spPr>
          <a:xfrm>
            <a:off x="795113" y="5056284"/>
            <a:ext cx="10412617" cy="92333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An input mask can require the exact number of digits for a phone number, which helps remind database users to enter all the digits of a phone number.</a:t>
            </a:r>
          </a:p>
        </p:txBody>
      </p:sp>
      <p:sp>
        <p:nvSpPr>
          <p:cNvPr id="14" name="Arrow: Pentagon 13">
            <a:extLst>
              <a:ext uri="{FF2B5EF4-FFF2-40B4-BE49-F238E27FC236}">
                <a16:creationId xmlns:a16="http://schemas.microsoft.com/office/drawing/2014/main" id="{FCD4ABBD-E386-4DC3-9CDD-1088461949AC}"/>
              </a:ext>
            </a:extLst>
          </p:cNvPr>
          <p:cNvSpPr/>
          <p:nvPr/>
        </p:nvSpPr>
        <p:spPr>
          <a:xfrm>
            <a:off x="91214" y="364110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4620BAE3-C070-412C-8589-923C0EF0D25B}"/>
              </a:ext>
            </a:extLst>
          </p:cNvPr>
          <p:cNvSpPr txBox="1"/>
          <p:nvPr/>
        </p:nvSpPr>
        <p:spPr>
          <a:xfrm>
            <a:off x="795113" y="6118450"/>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t>
            </a:r>
            <a:r>
              <a:rPr lang="en-US" kern="0" dirty="0">
                <a:solidFill>
                  <a:prstClr val="black"/>
                </a:solidFill>
              </a:rPr>
              <a:t>a relationship type</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a:t>
            </a:r>
            <a:r>
              <a:rPr lang="en-US" kern="0" dirty="0">
                <a:solidFill>
                  <a:prstClr val="black"/>
                </a:solidFill>
              </a:rPr>
              <a:t>Some of the data is entered incorrectly.</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516077E4-9943-4E52-94F0-1217917CBE00}"/>
              </a:ext>
            </a:extLst>
          </p:cNvPr>
          <p:cNvSpPr txBox="1"/>
          <p:nvPr/>
        </p:nvSpPr>
        <p:spPr>
          <a:xfrm>
            <a:off x="795111" y="671836"/>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the Short Text data type.</a:t>
            </a:r>
          </a:p>
        </p:txBody>
      </p:sp>
    </p:spTree>
    <p:extLst>
      <p:ext uri="{BB962C8B-B14F-4D97-AF65-F5344CB8AC3E}">
        <p14:creationId xmlns:p14="http://schemas.microsoft.com/office/powerpoint/2010/main" val="3891239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342306"/>
            <a:ext cx="11396889" cy="2277973"/>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finish building the table and start entering some test data. It doesn’t take long before you realize some clients have the same last name. Because the ClientName field is the table’s primary key, the database won’t allow you to use the same name for multiple clients. You have to go back and create a new field for a Client ID that can serve as the table’s primary key.</a:t>
            </a:r>
          </a:p>
          <a:p>
            <a:r>
              <a:rPr lang="en-US" dirty="0"/>
              <a:t>Once you have created the ClientID field as an AutoNumber field, you’re ready to continue with the next step.</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4149661"/>
            <a:ext cx="3169125" cy="5529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Level4_Story1</a:t>
            </a:r>
          </a:p>
        </p:txBody>
      </p:sp>
      <p:sp>
        <p:nvSpPr>
          <p:cNvPr id="7" name="TextBox 6">
            <a:extLst>
              <a:ext uri="{FF2B5EF4-FFF2-40B4-BE49-F238E27FC236}">
                <a16:creationId xmlns:a16="http://schemas.microsoft.com/office/drawing/2014/main" id="{CF732C77-E40C-4EF9-9364-1F688BD2CEBD}"/>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choose a relationship type</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F9A408E4-7D56-4FE7-9872-C3A07FDF86BB}"/>
              </a:ext>
            </a:extLst>
          </p:cNvPr>
          <p:cNvSpPr txBox="1"/>
          <p:nvPr/>
        </p:nvSpPr>
        <p:spPr>
          <a:xfrm>
            <a:off x="795111" y="746479"/>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an input mask.</a:t>
            </a:r>
          </a:p>
        </p:txBody>
      </p:sp>
    </p:spTree>
    <p:extLst>
      <p:ext uri="{BB962C8B-B14F-4D97-AF65-F5344CB8AC3E}">
        <p14:creationId xmlns:p14="http://schemas.microsoft.com/office/powerpoint/2010/main" val="196108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323646"/>
            <a:ext cx="11396889" cy="1587507"/>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add some more fields and then start trying to add data. However, it’s not working the way you intended. You realize that some of the data you entered is incorrect. </a:t>
            </a:r>
          </a:p>
          <a:p>
            <a:r>
              <a:rPr lang="en-US" dirty="0"/>
              <a:t>You have a meeting tomorrow with Clarence to discuss your progress, and you continue to try to fix the issues in the meantime.</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2254725" cy="52808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Level4_Story2</a:t>
            </a:r>
          </a:p>
        </p:txBody>
      </p:sp>
      <p:sp>
        <p:nvSpPr>
          <p:cNvPr id="8" name="TextBox 7">
            <a:extLst>
              <a:ext uri="{FF2B5EF4-FFF2-40B4-BE49-F238E27FC236}">
                <a16:creationId xmlns:a16="http://schemas.microsoft.com/office/drawing/2014/main" id="{E31F1A8A-3D04-49EC-8981-739DE0EB464E}"/>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Clarence hires a </a:t>
            </a:r>
            <a:r>
              <a:rPr lang="en-US" kern="0" dirty="0">
                <a:solidFill>
                  <a:prstClr val="black"/>
                </a:solidFill>
              </a:rPr>
              <a:t>consultant to do the work instead</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EB2C4E6D-C4D6-48BB-8570-5A574D3A04A2}"/>
              </a:ext>
            </a:extLst>
          </p:cNvPr>
          <p:cNvSpPr txBox="1"/>
          <p:nvPr/>
        </p:nvSpPr>
        <p:spPr>
          <a:xfrm>
            <a:off x="795111" y="681165"/>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a uniqueness check.</a:t>
            </a:r>
          </a:p>
        </p:txBody>
      </p:sp>
    </p:spTree>
    <p:extLst>
      <p:ext uri="{BB962C8B-B14F-4D97-AF65-F5344CB8AC3E}">
        <p14:creationId xmlns:p14="http://schemas.microsoft.com/office/powerpoint/2010/main" val="3432873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86708" y="1079665"/>
            <a:ext cx="11405291" cy="2214042"/>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created an input mask so that each number is formatted like this: (xxx) xxx-xxx. You try entering a phone number without the area code and are unable to. You’re satisfied you made the right choice in setting up the phone number field. </a:t>
            </a:r>
          </a:p>
          <a:p>
            <a:r>
              <a:rPr lang="en-US" dirty="0"/>
              <a:t>Now that you have the table set up, you need to create a relationship to another table. You decide to connect it to the Agents table to show how each client is assigned to an agent. What kind of relationship should you create between these tables?</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8" y="3366852"/>
            <a:ext cx="6029711" cy="1820967"/>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One-to-many.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[Level5_Decision1_OptionA]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One-to-one.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[Level5_Decision1_OptionB]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lang="en-US" dirty="0">
              <a:solidFill>
                <a:srgbClr val="44546A"/>
              </a:solidFill>
              <a:latin typeface="Calibri" panose="020F0502020204030204"/>
            </a:endParaRPr>
          </a:p>
          <a:p>
            <a:pPr>
              <a:defRPr/>
            </a:pPr>
            <a:r>
              <a:rPr lang="en-US" dirty="0">
                <a:solidFill>
                  <a:srgbClr val="44546A"/>
                </a:solidFill>
                <a:hlinkClick r:id="rId4" action="ppaction://hlinksldjump"/>
              </a:rPr>
              <a:t>Many-to-many. </a:t>
            </a:r>
            <a:r>
              <a:rPr lang="en-US" dirty="0">
                <a:solidFill>
                  <a:srgbClr val="44546A"/>
                </a:solidFill>
              </a:rPr>
              <a:t>[Level5_Decision1_OptionC]</a:t>
            </a: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35542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399322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Level5_Decision1</a:t>
            </a:r>
          </a:p>
        </p:txBody>
      </p:sp>
      <p:sp>
        <p:nvSpPr>
          <p:cNvPr id="10" name="Text Placeholder 3">
            <a:extLst>
              <a:ext uri="{FF2B5EF4-FFF2-40B4-BE49-F238E27FC236}">
                <a16:creationId xmlns:a16="http://schemas.microsoft.com/office/drawing/2014/main" id="{9379B9BD-AF54-40C0-BC08-F5063D9DC6D9}"/>
              </a:ext>
            </a:extLst>
          </p:cNvPr>
          <p:cNvSpPr txBox="1">
            <a:spLocks/>
          </p:cNvSpPr>
          <p:nvPr/>
        </p:nvSpPr>
        <p:spPr>
          <a:xfrm>
            <a:off x="1258729" y="460959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sz="2099" b="1" dirty="0">
                <a:solidFill>
                  <a:srgbClr val="4472C4">
                    <a:lumMod val="75000"/>
                  </a:srgbClr>
                </a:solidFill>
                <a:latin typeface="Calibri Light" panose="020F0302020204030204"/>
                <a:cs typeface="Titillium WebRegular"/>
              </a:rPr>
              <a:t>C</a:t>
            </a:r>
            <a:endPar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4" name="TextBox 13">
            <a:extLst>
              <a:ext uri="{FF2B5EF4-FFF2-40B4-BE49-F238E27FC236}">
                <a16:creationId xmlns:a16="http://schemas.microsoft.com/office/drawing/2014/main" id="{A32743EF-2A15-467F-85AF-9A0B48839BE7}"/>
              </a:ext>
            </a:extLst>
          </p:cNvPr>
          <p:cNvSpPr txBox="1"/>
          <p:nvPr/>
        </p:nvSpPr>
        <p:spPr>
          <a:xfrm>
            <a:off x="795113" y="5298881"/>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Each agent can have many clients, so a one-to-many relationship is required.</a:t>
            </a:r>
          </a:p>
        </p:txBody>
      </p:sp>
      <p:sp>
        <p:nvSpPr>
          <p:cNvPr id="15" name="Arrow: Pentagon 14">
            <a:extLst>
              <a:ext uri="{FF2B5EF4-FFF2-40B4-BE49-F238E27FC236}">
                <a16:creationId xmlns:a16="http://schemas.microsoft.com/office/drawing/2014/main" id="{77974045-F215-4CA8-8D93-DB82A3D65D82}"/>
              </a:ext>
            </a:extLst>
          </p:cNvPr>
          <p:cNvSpPr/>
          <p:nvPr/>
        </p:nvSpPr>
        <p:spPr>
          <a:xfrm>
            <a:off x="91214" y="3379840"/>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6" name="TextBox 15">
            <a:extLst>
              <a:ext uri="{FF2B5EF4-FFF2-40B4-BE49-F238E27FC236}">
                <a16:creationId xmlns:a16="http://schemas.microsoft.com/office/drawing/2014/main" id="{9699CB24-5F8C-4A6C-BC74-6A754A905F1F}"/>
              </a:ext>
            </a:extLst>
          </p:cNvPr>
          <p:cNvSpPr txBox="1"/>
          <p:nvPr/>
        </p:nvSpPr>
        <p:spPr>
          <a:xfrm>
            <a:off x="795113" y="6071798"/>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 query parameter</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or C: Clarence hires a </a:t>
            </a:r>
            <a:r>
              <a:rPr lang="en-US" kern="0" dirty="0">
                <a:solidFill>
                  <a:prstClr val="black"/>
                </a:solidFill>
              </a:rPr>
              <a:t>consultant to do the work instead.</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CADB331F-3FBB-47D3-AE16-58FF28FF6224}"/>
              </a:ext>
            </a:extLst>
          </p:cNvPr>
          <p:cNvSpPr txBox="1"/>
          <p:nvPr/>
        </p:nvSpPr>
        <p:spPr>
          <a:xfrm>
            <a:off x="795111" y="65317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an input mask.</a:t>
            </a:r>
          </a:p>
        </p:txBody>
      </p:sp>
    </p:spTree>
    <p:extLst>
      <p:ext uri="{BB962C8B-B14F-4D97-AF65-F5344CB8AC3E}">
        <p14:creationId xmlns:p14="http://schemas.microsoft.com/office/powerpoint/2010/main" val="2576101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352474"/>
            <a:ext cx="11396889" cy="1906974"/>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finish creating the remaining fields in the table so that when you complete the data entry, each client will have a unique ID, a phone number, mailing address, email address, contact name, website, and more.</a:t>
            </a:r>
          </a:p>
          <a:p>
            <a:r>
              <a:rPr lang="en-US" dirty="0"/>
              <a:t>Now that you have the table set up, you need to create a relationship to another table. You decide to connect it to the Agents table to show how each client is assigned to an agent. What kind of relationship should you create between these tables?</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9" y="3261105"/>
            <a:ext cx="5684478" cy="1908053"/>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One-to-many.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[Level5_Decision2_OptionA]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One-to-one.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[Level5_Decision2_OptionB]</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lang="en-US" dirty="0">
              <a:solidFill>
                <a:srgbClr val="44546A"/>
              </a:solidFill>
              <a:latin typeface="Calibri" panose="020F0502020204030204"/>
            </a:endParaRPr>
          </a:p>
          <a:p>
            <a:pPr>
              <a:defRPr/>
            </a:pPr>
            <a:r>
              <a:rPr lang="en-US" dirty="0">
                <a:solidFill>
                  <a:srgbClr val="44546A"/>
                </a:solidFill>
                <a:hlinkClick r:id="rId4" action="ppaction://hlinksldjump"/>
              </a:rPr>
              <a:t>Many-to-many. </a:t>
            </a:r>
            <a:r>
              <a:rPr lang="en-US" dirty="0">
                <a:solidFill>
                  <a:srgbClr val="44546A"/>
                </a:solidFill>
              </a:rPr>
              <a:t>[Level5_Decision2_OptionC]</a:t>
            </a: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24968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388748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Level5_Decision2</a:t>
            </a:r>
          </a:p>
        </p:txBody>
      </p:sp>
      <p:sp>
        <p:nvSpPr>
          <p:cNvPr id="10" name="Text Placeholder 3">
            <a:extLst>
              <a:ext uri="{FF2B5EF4-FFF2-40B4-BE49-F238E27FC236}">
                <a16:creationId xmlns:a16="http://schemas.microsoft.com/office/drawing/2014/main" id="{9379B9BD-AF54-40C0-BC08-F5063D9DC6D9}"/>
              </a:ext>
            </a:extLst>
          </p:cNvPr>
          <p:cNvSpPr txBox="1">
            <a:spLocks/>
          </p:cNvSpPr>
          <p:nvPr/>
        </p:nvSpPr>
        <p:spPr>
          <a:xfrm>
            <a:off x="1258729" y="450384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sz="2099" b="1" dirty="0">
                <a:solidFill>
                  <a:srgbClr val="4472C4">
                    <a:lumMod val="75000"/>
                  </a:srgbClr>
                </a:solidFill>
                <a:latin typeface="Calibri Light" panose="020F0302020204030204"/>
                <a:cs typeface="Titillium WebRegular"/>
              </a:rPr>
              <a:t>C</a:t>
            </a:r>
            <a:endPar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12" name="TextBox 11">
            <a:extLst>
              <a:ext uri="{FF2B5EF4-FFF2-40B4-BE49-F238E27FC236}">
                <a16:creationId xmlns:a16="http://schemas.microsoft.com/office/drawing/2014/main" id="{ABC6BE17-31A5-4A1C-84E0-9CB4633572DF}"/>
              </a:ext>
            </a:extLst>
          </p:cNvPr>
          <p:cNvSpPr txBox="1"/>
          <p:nvPr/>
        </p:nvSpPr>
        <p:spPr>
          <a:xfrm>
            <a:off x="795113" y="5298876"/>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Each agent can have many clients, so a one-to-many relationship is required.</a:t>
            </a:r>
          </a:p>
        </p:txBody>
      </p:sp>
      <p:sp>
        <p:nvSpPr>
          <p:cNvPr id="14" name="Arrow: Pentagon 13">
            <a:extLst>
              <a:ext uri="{FF2B5EF4-FFF2-40B4-BE49-F238E27FC236}">
                <a16:creationId xmlns:a16="http://schemas.microsoft.com/office/drawing/2014/main" id="{214B902A-7618-4A1A-8E8A-611C90F68BBC}"/>
              </a:ext>
            </a:extLst>
          </p:cNvPr>
          <p:cNvSpPr/>
          <p:nvPr/>
        </p:nvSpPr>
        <p:spPr>
          <a:xfrm>
            <a:off x="91214" y="327720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5" name="TextBox 14">
            <a:extLst>
              <a:ext uri="{FF2B5EF4-FFF2-40B4-BE49-F238E27FC236}">
                <a16:creationId xmlns:a16="http://schemas.microsoft.com/office/drawing/2014/main" id="{5C23DF08-91AE-416D-A4AC-A6AF1E65D181}"/>
              </a:ext>
            </a:extLst>
          </p:cNvPr>
          <p:cNvSpPr txBox="1"/>
          <p:nvPr/>
        </p:nvSpPr>
        <p:spPr>
          <a:xfrm>
            <a:off x="795113" y="6081126"/>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Student will need to choose a query parameter</a:t>
            </a:r>
            <a:r>
              <a:rPr lang="en-US" dirty="0"/>
              <a:t>.</a:t>
            </a:r>
          </a:p>
          <a:p>
            <a:pPr lvl="0">
              <a:defRPr/>
            </a:pPr>
            <a:r>
              <a:rPr lang="en-US" kern="0" dirty="0">
                <a:solidFill>
                  <a:prstClr val="black"/>
                </a:solidFill>
              </a:rPr>
              <a:t>If Option B or C: Clarence hires a consultant to do the work instead.</a:t>
            </a:r>
          </a:p>
        </p:txBody>
      </p:sp>
      <p:sp>
        <p:nvSpPr>
          <p:cNvPr id="16" name="TextBox 15">
            <a:extLst>
              <a:ext uri="{FF2B5EF4-FFF2-40B4-BE49-F238E27FC236}">
                <a16:creationId xmlns:a16="http://schemas.microsoft.com/office/drawing/2014/main" id="{1F0A985E-2082-4392-8DD0-D8EB14BBB19C}"/>
              </a:ext>
            </a:extLst>
          </p:cNvPr>
          <p:cNvSpPr txBox="1"/>
          <p:nvPr/>
        </p:nvSpPr>
        <p:spPr>
          <a:xfrm>
            <a:off x="795111" y="643843"/>
            <a:ext cx="10412617"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a uniqueness check or, earlier, to use a Number data type on the phone number field.</a:t>
            </a:r>
          </a:p>
        </p:txBody>
      </p:sp>
    </p:spTree>
    <p:extLst>
      <p:ext uri="{BB962C8B-B14F-4D97-AF65-F5344CB8AC3E}">
        <p14:creationId xmlns:p14="http://schemas.microsoft.com/office/powerpoint/2010/main" val="2264210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103139"/>
            <a:ext cx="11396889" cy="1860471"/>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created a one-to-many relationship between the Clients and Agents tables since each client only has one agent, but each agent has multiple clients.</a:t>
            </a:r>
          </a:p>
          <a:p>
            <a:r>
              <a:rPr lang="en-US" dirty="0"/>
              <a:t>You think the table is now set up. You complete a few rows of data to test how the table is working and decide to run a query to display a list of clients born after 1990. Which query parameter will give you this information?</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9" y="3396400"/>
            <a:ext cx="5339246" cy="1175600"/>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BirthYear &gt; 1990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[Level6_Decision1_OptionA]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BirthYear = 1990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[Level6_Decision1_OptionB]</a:t>
            </a: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384975"/>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402277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Level6_Decision1</a:t>
            </a:r>
          </a:p>
        </p:txBody>
      </p:sp>
      <p:sp>
        <p:nvSpPr>
          <p:cNvPr id="10" name="TextBox 9">
            <a:extLst>
              <a:ext uri="{FF2B5EF4-FFF2-40B4-BE49-F238E27FC236}">
                <a16:creationId xmlns:a16="http://schemas.microsoft.com/office/drawing/2014/main" id="{99E1E529-F728-4295-9C6B-5A7FB50C78D4}"/>
              </a:ext>
            </a:extLst>
          </p:cNvPr>
          <p:cNvSpPr txBox="1"/>
          <p:nvPr/>
        </p:nvSpPr>
        <p:spPr>
          <a:xfrm>
            <a:off x="795113" y="5270889"/>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The &gt; (greater than) symbol will give a list of clients whose birthday is after 1990.</a:t>
            </a:r>
          </a:p>
        </p:txBody>
      </p:sp>
      <p:sp>
        <p:nvSpPr>
          <p:cNvPr id="13" name="Arrow: Pentagon 12">
            <a:extLst>
              <a:ext uri="{FF2B5EF4-FFF2-40B4-BE49-F238E27FC236}">
                <a16:creationId xmlns:a16="http://schemas.microsoft.com/office/drawing/2014/main" id="{1BE09237-C27B-4827-9F42-50DA070DDA72}"/>
              </a:ext>
            </a:extLst>
          </p:cNvPr>
          <p:cNvSpPr/>
          <p:nvPr/>
        </p:nvSpPr>
        <p:spPr>
          <a:xfrm>
            <a:off x="91214" y="339850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3C3ECF0F-22E3-46A4-8C52-E556581F27F7}"/>
              </a:ext>
            </a:extLst>
          </p:cNvPr>
          <p:cNvSpPr txBox="1"/>
          <p:nvPr/>
        </p:nvSpPr>
        <p:spPr>
          <a:xfrm>
            <a:off x="795113" y="6071796"/>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The new table works beautifully</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Query must be reconfigured.</a:t>
            </a:r>
          </a:p>
        </p:txBody>
      </p:sp>
      <p:sp>
        <p:nvSpPr>
          <p:cNvPr id="15" name="TextBox 14">
            <a:extLst>
              <a:ext uri="{FF2B5EF4-FFF2-40B4-BE49-F238E27FC236}">
                <a16:creationId xmlns:a16="http://schemas.microsoft.com/office/drawing/2014/main" id="{EFE250D6-005F-4279-B7C3-C8730CA13A2C}"/>
              </a:ext>
            </a:extLst>
          </p:cNvPr>
          <p:cNvSpPr txBox="1"/>
          <p:nvPr/>
        </p:nvSpPr>
        <p:spPr>
          <a:xfrm>
            <a:off x="795111" y="671834"/>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a one-to-many relationship.</a:t>
            </a:r>
          </a:p>
        </p:txBody>
      </p:sp>
    </p:spTree>
    <p:extLst>
      <p:ext uri="{BB962C8B-B14F-4D97-AF65-F5344CB8AC3E}">
        <p14:creationId xmlns:p14="http://schemas.microsoft.com/office/powerpoint/2010/main" val="1203293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1" y="1147205"/>
            <a:ext cx="11396889" cy="1810604"/>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created a one-to-many relationship between the Clients and Agents tables since each client only has one agent, but each agent has multiple clients.</a:t>
            </a:r>
          </a:p>
          <a:p>
            <a:r>
              <a:rPr lang="en-US" dirty="0"/>
              <a:t>You think the table is now set up. You complete a few rows of data to test how the table is working and decide to run a query to display a list of clients born after 1990. Which query parameter will give you this information?</a:t>
            </a:r>
          </a:p>
        </p:txBody>
      </p:sp>
      <p:sp>
        <p:nvSpPr>
          <p:cNvPr id="7" name="TextBox 6">
            <a:extLst>
              <a:ext uri="{FF2B5EF4-FFF2-40B4-BE49-F238E27FC236}">
                <a16:creationId xmlns:a16="http://schemas.microsoft.com/office/drawing/2014/main" id="{40638D1B-4303-428C-B168-BC6714B92E66}"/>
              </a:ext>
            </a:extLst>
          </p:cNvPr>
          <p:cNvSpPr txBox="1"/>
          <p:nvPr/>
        </p:nvSpPr>
        <p:spPr>
          <a:xfrm>
            <a:off x="1574739" y="3261106"/>
            <a:ext cx="5917744" cy="1170935"/>
          </a:xfrm>
          <a:prstGeom prst="rect">
            <a:avLst/>
          </a:prstGeom>
        </p:spPr>
        <p:txBody>
          <a:bodyPr lIns="121891" tIns="60945" rIns="121891" bIns="60945" anchor="t">
            <a:noAutofit/>
          </a:bodyPr>
          <a:lstStyle>
            <a:defPPr>
              <a:defRPr lang="en-US"/>
            </a:defPPr>
            <a:lvl1pPr indent="0" defTabSz="457200">
              <a:spcBef>
                <a:spcPts val="0"/>
              </a:spcBef>
              <a:buFont typeface="Arial"/>
              <a:buNone/>
              <a:defRPr sz="2050">
                <a:solidFill>
                  <a:schemeClr val="tx2"/>
                </a:solidFill>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3" action="ppaction://hlinksldjump"/>
              </a:rPr>
              <a:t>BirthYear &gt; 1990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[Level6_Decision2_OptionA]</a:t>
            </a:r>
          </a:p>
          <a:p>
            <a:pPr marL="0" marR="0" lvl="0" indent="0" algn="l" defTabSz="457200" rtl="0" eaLnBrk="1" fontAlgn="auto" latinLnBrk="0" hangingPunct="1">
              <a:lnSpc>
                <a:spcPct val="100000"/>
              </a:lnSpc>
              <a:spcBef>
                <a:spcPts val="0"/>
              </a:spcBef>
              <a:spcAft>
                <a:spcPts val="0"/>
              </a:spcAft>
              <a:buClrTx/>
              <a:buSzTx/>
              <a:buFont typeface="Arial"/>
              <a:buNone/>
              <a:tabLst/>
              <a:defRPr/>
            </a:pPr>
            <a:endPar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hlinkClick r:id="rId4" action="ppaction://hlinksldjump"/>
              </a:rPr>
              <a:t>BirthYear = 1990 </a:t>
            </a:r>
            <a:r>
              <a:rPr kumimoji="0" lang="en-US" sz="2050" b="0" i="0" u="none" strike="noStrike" kern="1200" cap="none" spc="0" normalizeH="0" baseline="0" noProof="0" dirty="0">
                <a:ln>
                  <a:noFill/>
                </a:ln>
                <a:solidFill>
                  <a:srgbClr val="44546A"/>
                </a:solidFill>
                <a:effectLst/>
                <a:uLnTx/>
                <a:uFillTx/>
                <a:latin typeface="Calibri" panose="020F0502020204030204"/>
                <a:ea typeface="+mn-ea"/>
                <a:cs typeface="Calibri"/>
              </a:rPr>
              <a:t>[Level6_Decision2_OptionB]</a:t>
            </a:r>
          </a:p>
        </p:txBody>
      </p:sp>
      <p:sp>
        <p:nvSpPr>
          <p:cNvPr id="8" name="Text Placeholder 3">
            <a:extLst>
              <a:ext uri="{FF2B5EF4-FFF2-40B4-BE49-F238E27FC236}">
                <a16:creationId xmlns:a16="http://schemas.microsoft.com/office/drawing/2014/main" id="{CC44F20D-3FA5-4085-98D4-5D1A2C119650}"/>
              </a:ext>
            </a:extLst>
          </p:cNvPr>
          <p:cNvSpPr txBox="1">
            <a:spLocks/>
          </p:cNvSpPr>
          <p:nvPr/>
        </p:nvSpPr>
        <p:spPr>
          <a:xfrm>
            <a:off x="1255451" y="324968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A</a:t>
            </a:r>
          </a:p>
        </p:txBody>
      </p:sp>
      <p:sp>
        <p:nvSpPr>
          <p:cNvPr id="11" name="Text Placeholder 3">
            <a:extLst>
              <a:ext uri="{FF2B5EF4-FFF2-40B4-BE49-F238E27FC236}">
                <a16:creationId xmlns:a16="http://schemas.microsoft.com/office/drawing/2014/main" id="{D10A97AD-B951-47A3-9147-AA43A8DC0701}"/>
              </a:ext>
            </a:extLst>
          </p:cNvPr>
          <p:cNvSpPr txBox="1">
            <a:spLocks/>
          </p:cNvSpPr>
          <p:nvPr/>
        </p:nvSpPr>
        <p:spPr>
          <a:xfrm>
            <a:off x="1258729" y="388748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099"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Titillium WebRegular"/>
              </a:rPr>
              <a:t>B</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n-US" sz="2050" b="1" i="0" u="none" strike="noStrike" kern="1200" cap="none" spc="0" normalizeH="0" baseline="0" noProof="0" dirty="0">
              <a:ln>
                <a:noFill/>
              </a:ln>
              <a:solidFill>
                <a:srgbClr val="4472C4">
                  <a:lumMod val="75000"/>
                </a:srgbClr>
              </a:solidFill>
              <a:effectLst/>
              <a:uLnTx/>
              <a:uFillTx/>
              <a:latin typeface="Calibri Light" panose="020F0302020204030204"/>
              <a:ea typeface="+mn-ea"/>
              <a:cs typeface="Calibri Light"/>
            </a:endParaRPr>
          </a:p>
        </p:txBody>
      </p:sp>
      <p:sp>
        <p:nvSpPr>
          <p:cNvPr id="4" name="Title 3">
            <a:extLst>
              <a:ext uri="{FF2B5EF4-FFF2-40B4-BE49-F238E27FC236}">
                <a16:creationId xmlns:a16="http://schemas.microsoft.com/office/drawing/2014/main" id="{151C1ED5-DC4F-4A89-8B40-E2F0B6C30A4B}"/>
              </a:ext>
            </a:extLst>
          </p:cNvPr>
          <p:cNvSpPr>
            <a:spLocks noGrp="1"/>
          </p:cNvSpPr>
          <p:nvPr>
            <p:ph type="title" idx="4294967295"/>
          </p:nvPr>
        </p:nvSpPr>
        <p:spPr>
          <a:xfrm>
            <a:off x="838200" y="37626"/>
            <a:ext cx="10515600" cy="640080"/>
          </a:xfrm>
        </p:spPr>
        <p:txBody>
          <a:bodyPr>
            <a:normAutofit/>
          </a:bodyPr>
          <a:lstStyle/>
          <a:p>
            <a:r>
              <a:rPr lang="en-US" sz="3600" dirty="0"/>
              <a:t>Level6_Decision2</a:t>
            </a:r>
          </a:p>
        </p:txBody>
      </p:sp>
      <p:sp>
        <p:nvSpPr>
          <p:cNvPr id="10" name="TextBox 9">
            <a:extLst>
              <a:ext uri="{FF2B5EF4-FFF2-40B4-BE49-F238E27FC236}">
                <a16:creationId xmlns:a16="http://schemas.microsoft.com/office/drawing/2014/main" id="{17AF47EE-E70F-467A-8729-E66536C0EA54}"/>
              </a:ext>
            </a:extLst>
          </p:cNvPr>
          <p:cNvSpPr txBox="1"/>
          <p:nvPr/>
        </p:nvSpPr>
        <p:spPr>
          <a:xfrm>
            <a:off x="795113" y="5196243"/>
            <a:ext cx="10412617"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solidFill>
                  <a:srgbClr val="C00000"/>
                </a:solidFill>
              </a:rPr>
              <a:t>Explanation:</a:t>
            </a:r>
          </a:p>
          <a:p>
            <a:r>
              <a:rPr lang="en-US" dirty="0">
                <a:solidFill>
                  <a:srgbClr val="C00000"/>
                </a:solidFill>
              </a:rPr>
              <a:t>The &gt; (greater than) symbol will give a list of clients whose birthday is after 1990.</a:t>
            </a:r>
          </a:p>
        </p:txBody>
      </p:sp>
      <p:sp>
        <p:nvSpPr>
          <p:cNvPr id="13" name="Arrow: Pentagon 12">
            <a:extLst>
              <a:ext uri="{FF2B5EF4-FFF2-40B4-BE49-F238E27FC236}">
                <a16:creationId xmlns:a16="http://schemas.microsoft.com/office/drawing/2014/main" id="{B1188980-5792-4599-8E63-6A9981A55CEF}"/>
              </a:ext>
            </a:extLst>
          </p:cNvPr>
          <p:cNvSpPr/>
          <p:nvPr/>
        </p:nvSpPr>
        <p:spPr>
          <a:xfrm>
            <a:off x="91214" y="3267880"/>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4" name="TextBox 13">
            <a:extLst>
              <a:ext uri="{FF2B5EF4-FFF2-40B4-BE49-F238E27FC236}">
                <a16:creationId xmlns:a16="http://schemas.microsoft.com/office/drawing/2014/main" id="{C943947C-1C14-42E3-9CB8-A4641F510A22}"/>
              </a:ext>
            </a:extLst>
          </p:cNvPr>
          <p:cNvSpPr txBox="1"/>
          <p:nvPr/>
        </p:nvSpPr>
        <p:spPr>
          <a:xfrm>
            <a:off x="795113" y="6015814"/>
            <a:ext cx="10412615"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The query works well</a:t>
            </a:r>
            <a:r>
              <a:rPr lang="en-US" dirty="0"/>
              <a:t>.</a:t>
            </a:r>
          </a:p>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B: Query </a:t>
            </a:r>
            <a:r>
              <a:rPr kumimoji="0" lang="en-US" sz="1800" b="0" i="0" u="none" strike="noStrike" kern="0" cap="none" spc="0" normalizeH="0" baseline="0" noProof="0" dirty="0" err="1">
                <a:ln>
                  <a:noFill/>
                </a:ln>
                <a:solidFill>
                  <a:prstClr val="black"/>
                </a:solidFill>
                <a:effectLst/>
                <a:uLnTx/>
                <a:uFillTx/>
                <a:latin typeface="Calibri" panose="020F0502020204030204"/>
                <a:ea typeface="+mn-ea"/>
                <a:cs typeface="+mn-cs"/>
              </a:rPr>
              <a:t>mus</a:t>
            </a:r>
            <a:r>
              <a:rPr lang="en-US" kern="0" dirty="0">
                <a:solidFill>
                  <a:prstClr val="black"/>
                </a:solidFill>
                <a:latin typeface="Calibri" panose="020F0502020204030204"/>
              </a:rPr>
              <a:t>t be reconfigured</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t>
            </a:r>
          </a:p>
        </p:txBody>
      </p:sp>
      <p:sp>
        <p:nvSpPr>
          <p:cNvPr id="15" name="TextBox 14">
            <a:extLst>
              <a:ext uri="{FF2B5EF4-FFF2-40B4-BE49-F238E27FC236}">
                <a16:creationId xmlns:a16="http://schemas.microsoft.com/office/drawing/2014/main" id="{B87BC58F-5FA4-4707-8FD5-BC6B68353F1F}"/>
              </a:ext>
            </a:extLst>
          </p:cNvPr>
          <p:cNvSpPr txBox="1"/>
          <p:nvPr/>
        </p:nvSpPr>
        <p:spPr>
          <a:xfrm>
            <a:off x="795111" y="699829"/>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a:t>
            </a:r>
            <a:r>
              <a:rPr lang="en-US" dirty="0">
                <a:solidFill>
                  <a:prstClr val="black"/>
                </a:solidFill>
              </a:rPr>
              <a:t>a one-to-many relationship.</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3166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0" y="1323647"/>
            <a:ext cx="11396889" cy="1204949"/>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ran the report using the query parameter BirthYear = 1990. You only got two results, which seemed odd, so you did some research and realized that the correct parameter to get a list of clients who were born after 1990 is BirthYear &gt; 1990. You redo the query, and this time your list looks correct. </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2655942" cy="53741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Level6_Story1</a:t>
            </a:r>
          </a:p>
        </p:txBody>
      </p:sp>
      <p:sp>
        <p:nvSpPr>
          <p:cNvPr id="8" name="TextBox 7">
            <a:extLst>
              <a:ext uri="{FF2B5EF4-FFF2-40B4-BE49-F238E27FC236}">
                <a16:creationId xmlns:a16="http://schemas.microsoft.com/office/drawing/2014/main" id="{C68A4EA6-987B-41F5-B4BB-C721DC6F5154}"/>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The new table works beautifully</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E686BC44-192E-436A-AAA3-A1E0CA89F8B5}"/>
              </a:ext>
            </a:extLst>
          </p:cNvPr>
          <p:cNvSpPr txBox="1"/>
          <p:nvPr/>
        </p:nvSpPr>
        <p:spPr>
          <a:xfrm>
            <a:off x="795111" y="737148"/>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use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BirthYear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1990.</a:t>
            </a:r>
          </a:p>
        </p:txBody>
      </p:sp>
    </p:spTree>
    <p:extLst>
      <p:ext uri="{BB962C8B-B14F-4D97-AF65-F5344CB8AC3E}">
        <p14:creationId xmlns:p14="http://schemas.microsoft.com/office/powerpoint/2010/main" val="619360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1" y="1435612"/>
            <a:ext cx="11396889" cy="1009010"/>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ran the report using the query parameter BirthYear &gt; 1990 and the results look good. You verify that all of the clients on the report were born after 1990. </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2497321" cy="51875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Level6_Story2</a:t>
            </a:r>
          </a:p>
        </p:txBody>
      </p:sp>
      <p:sp>
        <p:nvSpPr>
          <p:cNvPr id="8" name="TextBox 7">
            <a:extLst>
              <a:ext uri="{FF2B5EF4-FFF2-40B4-BE49-F238E27FC236}">
                <a16:creationId xmlns:a16="http://schemas.microsoft.com/office/drawing/2014/main" id="{A93B84D0-DFD2-4B9F-9722-7A5F5FF38E42}"/>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Buyers are losing interest in the business</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40283108-D139-4F5E-99B4-0F14CC74414D}"/>
              </a:ext>
            </a:extLst>
          </p:cNvPr>
          <p:cNvSpPr txBox="1"/>
          <p:nvPr/>
        </p:nvSpPr>
        <p:spPr>
          <a:xfrm>
            <a:off x="795111" y="727821"/>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a:t>
            </a:r>
            <a:r>
              <a:rPr lang="en-US" dirty="0">
                <a:solidFill>
                  <a:prstClr val="black"/>
                </a:solidFill>
              </a:rPr>
              <a:t>use </a:t>
            </a:r>
            <a:r>
              <a:rPr lang="en-US" dirty="0" err="1">
                <a:solidFill>
                  <a:prstClr val="black"/>
                </a:solidFill>
              </a:rPr>
              <a:t>BirthYear</a:t>
            </a:r>
            <a:r>
              <a:rPr lang="en-US" dirty="0">
                <a:solidFill>
                  <a:prstClr val="black"/>
                </a:solidFill>
              </a:rPr>
              <a:t> &gt; 1990.</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046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364D84-E11F-4B9A-B23D-86EA2B8F6D85}"/>
              </a:ext>
            </a:extLst>
          </p:cNvPr>
          <p:cNvSpPr txBox="1"/>
          <p:nvPr/>
        </p:nvSpPr>
        <p:spPr>
          <a:xfrm>
            <a:off x="795112" y="1323648"/>
            <a:ext cx="11396888" cy="1214283"/>
          </a:xfrm>
          <a:prstGeom prst="rect">
            <a:avLst/>
          </a:prstGeom>
        </p:spPr>
        <p:txBody>
          <a:bodyPr lIns="121891" tIns="60945" rIns="121891" bIns="60945" anchor="t">
            <a:noAutofit/>
          </a:bodyPr>
          <a:lstStyle>
            <a:defPPr>
              <a:defRPr lang="en-US"/>
            </a:defPPr>
            <a:lvl1pPr marR="0" lvl="0" indent="0" defTabSz="457200" fontAlgn="auto">
              <a:lnSpc>
                <a:spcPct val="100000"/>
              </a:lnSpc>
              <a:spcBef>
                <a:spcPts val="0"/>
              </a:spcBef>
              <a:spcAft>
                <a:spcPts val="600"/>
              </a:spcAft>
              <a:buClrTx/>
              <a:buSzTx/>
              <a:buFont typeface="Arial"/>
              <a:buNone/>
              <a:tabLst/>
              <a:defRPr kumimoji="0" sz="2050" b="0" i="0" u="none" strike="noStrike" cap="none" spc="0" normalizeH="0" baseline="0">
                <a:ln>
                  <a:noFill/>
                </a:ln>
                <a:solidFill>
                  <a:srgbClr val="44546A"/>
                </a:solidFill>
                <a:effectLst/>
                <a:uLnTx/>
                <a:uFillTx/>
                <a:latin typeface="Calibri" panose="020F0502020204030204"/>
                <a:cs typeface="Calibri"/>
              </a:defRPr>
            </a:lvl1pPr>
            <a:lvl2pPr marL="742950" indent="-285750" defTabSz="457200">
              <a:spcBef>
                <a:spcPct val="20000"/>
              </a:spcBef>
              <a:buFont typeface="Arial"/>
              <a:buChar char="–"/>
              <a:defRPr sz="2000">
                <a:solidFill>
                  <a:srgbClr val="464D61"/>
                </a:solidFill>
              </a:defRPr>
            </a:lvl2pPr>
            <a:lvl3pPr marL="1143000" indent="-228600" defTabSz="457200">
              <a:spcBef>
                <a:spcPct val="20000"/>
              </a:spcBef>
              <a:buFont typeface="Arial"/>
              <a:buChar char="•"/>
              <a:defRPr>
                <a:solidFill>
                  <a:srgbClr val="464D61"/>
                </a:solidFill>
              </a:defRPr>
            </a:lvl3pPr>
            <a:lvl4pPr marL="1600200" indent="-228600" defTabSz="457200">
              <a:spcBef>
                <a:spcPct val="20000"/>
              </a:spcBef>
              <a:buFont typeface="Arial"/>
              <a:buChar char="–"/>
              <a:defRPr sz="1600">
                <a:solidFill>
                  <a:srgbClr val="464D61"/>
                </a:solidFill>
              </a:defRPr>
            </a:lvl4pPr>
            <a:lvl5pPr marL="2057400" indent="-228600" defTabSz="457200">
              <a:spcBef>
                <a:spcPct val="20000"/>
              </a:spcBef>
              <a:buFont typeface="Arial"/>
              <a:buChar char="»"/>
              <a:defRPr sz="1600">
                <a:solidFill>
                  <a:srgbClr val="464D61"/>
                </a:solidFil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dirty="0"/>
              <a:t>You ran the report using the query parameter BirthYear = 1990. You only got two results, which seemed odd, so you did some research and realized that the correct parameter to get a list of clients who were born after 1990 is BirthYear &gt; 1990. You redo the query, and this time your list looks correct. </a:t>
            </a:r>
          </a:p>
        </p:txBody>
      </p:sp>
      <p:sp>
        <p:nvSpPr>
          <p:cNvPr id="12" name="Text Placeholder 1">
            <a:extLst>
              <a:ext uri="{FF2B5EF4-FFF2-40B4-BE49-F238E27FC236}">
                <a16:creationId xmlns:a16="http://schemas.microsoft.com/office/drawing/2014/main" id="{20CBA8D9-019C-4C3A-9323-734CAD3D2F6A}"/>
              </a:ext>
            </a:extLst>
          </p:cNvPr>
          <p:cNvSpPr txBox="1">
            <a:spLocks/>
          </p:cNvSpPr>
          <p:nvPr/>
        </p:nvSpPr>
        <p:spPr>
          <a:xfrm>
            <a:off x="889691" y="3344118"/>
            <a:ext cx="2571966" cy="57473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b="1" dirty="0">
                <a:solidFill>
                  <a:schemeClr val="tx2"/>
                </a:solidFill>
                <a:ea typeface="Calibri"/>
                <a:cs typeface="Calibri"/>
                <a:hlinkClick r:id="rId3" action="ppaction://hlinksldjump"/>
              </a:rPr>
              <a:t>Continue</a:t>
            </a:r>
            <a:endParaRPr lang="en-US" sz="2050" b="1" dirty="0">
              <a:solidFill>
                <a:schemeClr val="tx2"/>
              </a:solidFill>
              <a:ea typeface="Calibri"/>
              <a:cs typeface="Calibri"/>
            </a:endParaRP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3" name="Title 2">
            <a:extLst>
              <a:ext uri="{FF2B5EF4-FFF2-40B4-BE49-F238E27FC236}">
                <a16:creationId xmlns:a16="http://schemas.microsoft.com/office/drawing/2014/main" id="{81A41137-B7DA-4777-B446-E842E1AAFD30}"/>
              </a:ext>
            </a:extLst>
          </p:cNvPr>
          <p:cNvSpPr>
            <a:spLocks noGrp="1"/>
          </p:cNvSpPr>
          <p:nvPr>
            <p:ph type="title" idx="4294967295"/>
          </p:nvPr>
        </p:nvSpPr>
        <p:spPr>
          <a:xfrm>
            <a:off x="838200" y="15268"/>
            <a:ext cx="10515600" cy="640080"/>
          </a:xfrm>
        </p:spPr>
        <p:txBody>
          <a:bodyPr>
            <a:normAutofit/>
          </a:bodyPr>
          <a:lstStyle/>
          <a:p>
            <a:r>
              <a:rPr lang="en-US" sz="3600" dirty="0"/>
              <a:t>Level6_Story3</a:t>
            </a:r>
          </a:p>
        </p:txBody>
      </p:sp>
      <p:sp>
        <p:nvSpPr>
          <p:cNvPr id="8" name="TextBox 7">
            <a:extLst>
              <a:ext uri="{FF2B5EF4-FFF2-40B4-BE49-F238E27FC236}">
                <a16:creationId xmlns:a16="http://schemas.microsoft.com/office/drawing/2014/main" id="{29E4D078-4386-45AA-B359-329C177EA96D}"/>
              </a:ext>
            </a:extLst>
          </p:cNvPr>
          <p:cNvSpPr txBox="1"/>
          <p:nvPr/>
        </p:nvSpPr>
        <p:spPr>
          <a:xfrm>
            <a:off x="795113" y="6165621"/>
            <a:ext cx="10412615"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Buyers are losing interest in the business</a:t>
            </a:r>
            <a:r>
              <a:rPr lang="en-US" dirty="0"/>
              <a: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8463E6BA-AAD0-484F-B21E-CE02219AB9D9}"/>
              </a:ext>
            </a:extLst>
          </p:cNvPr>
          <p:cNvSpPr txBox="1"/>
          <p:nvPr/>
        </p:nvSpPr>
        <p:spPr>
          <a:xfrm>
            <a:off x="795111" y="737152"/>
            <a:ext cx="10412617"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Previous step: Student chose to </a:t>
            </a:r>
            <a:r>
              <a:rPr lang="en-US" dirty="0">
                <a:solidFill>
                  <a:prstClr val="black"/>
                </a:solidFill>
              </a:rPr>
              <a:t>use </a:t>
            </a:r>
            <a:r>
              <a:rPr lang="en-US" dirty="0" err="1">
                <a:solidFill>
                  <a:prstClr val="black"/>
                </a:solidFill>
              </a:rPr>
              <a:t>BirthYear</a:t>
            </a:r>
            <a:r>
              <a:rPr lang="en-US" dirty="0">
                <a:solidFill>
                  <a:prstClr val="black"/>
                </a:solidFill>
              </a:rPr>
              <a:t> = 1990.</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2262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59D1C-5937-4C24-9BB7-1726603173CB}"/>
              </a:ext>
            </a:extLst>
          </p:cNvPr>
          <p:cNvSpPr txBox="1">
            <a:spLocks/>
          </p:cNvSpPr>
          <p:nvPr/>
        </p:nvSpPr>
        <p:spPr>
          <a:xfrm>
            <a:off x="838200" y="87047"/>
            <a:ext cx="10515600" cy="640080"/>
          </a:xfrm>
          <a:prstGeom prst="rect">
            <a:avLst/>
          </a:prstGeom>
        </p:spPr>
        <p:txBody>
          <a:bodyPr vert="horz" lIns="121954" tIns="60977" rIns="121954" bIns="60977" rtlCol="0" anchor="ctr">
            <a:normAutofit fontScale="97500" lnSpcReduction="100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pPr>
              <a:lnSpc>
                <a:spcPct val="100000"/>
              </a:lnSpc>
            </a:pPr>
            <a:r>
              <a:rPr lang="en-US" sz="3600" dirty="0">
                <a:solidFill>
                  <a:schemeClr val="tx1"/>
                </a:solidFill>
              </a:rPr>
              <a:t>Outcome 1</a:t>
            </a:r>
          </a:p>
        </p:txBody>
      </p:sp>
      <p:sp>
        <p:nvSpPr>
          <p:cNvPr id="3" name="Title 1">
            <a:extLst>
              <a:ext uri="{FF2B5EF4-FFF2-40B4-BE49-F238E27FC236}">
                <a16:creationId xmlns:a16="http://schemas.microsoft.com/office/drawing/2014/main" id="{FD52055D-3EC8-4129-BB19-C393F14761A7}"/>
              </a:ext>
            </a:extLst>
          </p:cNvPr>
          <p:cNvSpPr txBox="1">
            <a:spLocks/>
          </p:cNvSpPr>
          <p:nvPr/>
        </p:nvSpPr>
        <p:spPr>
          <a:xfrm>
            <a:off x="795113" y="1189829"/>
            <a:ext cx="10799124" cy="284063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t>The new Clients table is working beautifully in the database. Clarence is happy with the results, and the real estate agents are thrilled to have this information right at their fingertips. Two potential buyers of the business have shown increasing interest as they discover existing client information is well organized, valid, and already being used to create relationships between other tables. </a:t>
            </a:r>
          </a:p>
          <a:p>
            <a:endParaRPr lang="en-US" sz="2800" b="1" dirty="0">
              <a:cs typeface="Calibri Light"/>
            </a:endParaRPr>
          </a:p>
          <a:p>
            <a:endParaRPr lang="en-US" sz="2800" dirty="0">
              <a:cs typeface="Calibri Light"/>
            </a:endParaRPr>
          </a:p>
        </p:txBody>
      </p:sp>
      <p:sp>
        <p:nvSpPr>
          <p:cNvPr id="4" name="Text Placeholder 1">
            <a:extLst>
              <a:ext uri="{FF2B5EF4-FFF2-40B4-BE49-F238E27FC236}">
                <a16:creationId xmlns:a16="http://schemas.microsoft.com/office/drawing/2014/main" id="{46FF2412-E0EE-48D7-B842-13A35C5F8229}"/>
              </a:ext>
            </a:extLst>
          </p:cNvPr>
          <p:cNvSpPr txBox="1">
            <a:spLocks/>
          </p:cNvSpPr>
          <p:nvPr/>
        </p:nvSpPr>
        <p:spPr>
          <a:xfrm>
            <a:off x="795113" y="3583667"/>
            <a:ext cx="7729455" cy="6147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endParaRPr lang="en-US" sz="2050" dirty="0">
              <a:solidFill>
                <a:schemeClr val="tx1"/>
              </a:solidFill>
              <a:ea typeface="Calibri"/>
            </a:endParaRPr>
          </a:p>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5" name="Rectangle 4">
            <a:extLst>
              <a:ext uri="{FF2B5EF4-FFF2-40B4-BE49-F238E27FC236}">
                <a16:creationId xmlns:a16="http://schemas.microsoft.com/office/drawing/2014/main" id="{E041C561-8D65-4D8F-8183-684485C75470}"/>
              </a:ext>
            </a:extLst>
          </p:cNvPr>
          <p:cNvSpPr/>
          <p:nvPr/>
        </p:nvSpPr>
        <p:spPr>
          <a:xfrm>
            <a:off x="998352" y="4714220"/>
            <a:ext cx="3254387" cy="506071"/>
          </a:xfrm>
          <a:prstGeom prst="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3" action="ppaction://hlinksldjump"/>
              </a:rPr>
              <a:t>Start</a:t>
            </a:r>
            <a:r>
              <a:rPr lang="en-US" sz="2050" dirty="0">
                <a:solidFill>
                  <a:schemeClr val="bg1"/>
                </a:solidFill>
                <a:latin typeface="+mj-lt"/>
                <a:cs typeface="Calibri Light"/>
                <a:hlinkClick r:id="rId3" action="ppaction://hlinksldjump"/>
              </a:rPr>
              <a:t> Again</a:t>
            </a:r>
            <a:endParaRPr lang="en-US" sz="2099" dirty="0">
              <a:solidFill>
                <a:schemeClr val="bg1"/>
              </a:solidFill>
              <a:latin typeface="+mj-lt"/>
              <a:cs typeface="Titillium WebRegular"/>
            </a:endParaRPr>
          </a:p>
        </p:txBody>
      </p:sp>
    </p:spTree>
    <p:extLst>
      <p:ext uri="{BB962C8B-B14F-4D97-AF65-F5344CB8AC3E}">
        <p14:creationId xmlns:p14="http://schemas.microsoft.com/office/powerpoint/2010/main" val="3903202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CFA8D-9B69-44B8-A3AD-F302114BD656}"/>
              </a:ext>
            </a:extLst>
          </p:cNvPr>
          <p:cNvSpPr txBox="1">
            <a:spLocks/>
          </p:cNvSpPr>
          <p:nvPr/>
        </p:nvSpPr>
        <p:spPr>
          <a:xfrm>
            <a:off x="838200" y="87047"/>
            <a:ext cx="10515600" cy="640080"/>
          </a:xfrm>
          <a:prstGeom prst="rect">
            <a:avLst/>
          </a:prstGeom>
        </p:spPr>
        <p:txBody>
          <a:bodyPr vert="horz" lIns="121954" tIns="60977" rIns="121954" bIns="60977" rtlCol="0" anchor="ctr">
            <a:normAutofit fontScale="97500" lnSpcReduction="100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pPr>
              <a:lnSpc>
                <a:spcPct val="100000"/>
              </a:lnSpc>
            </a:pPr>
            <a:r>
              <a:rPr lang="en-US" sz="3600" dirty="0">
                <a:solidFill>
                  <a:schemeClr val="tx1"/>
                </a:solidFill>
              </a:rPr>
              <a:t>Outcome 2</a:t>
            </a:r>
          </a:p>
        </p:txBody>
      </p:sp>
      <p:sp>
        <p:nvSpPr>
          <p:cNvPr id="5" name="Title 1">
            <a:extLst>
              <a:ext uri="{FF2B5EF4-FFF2-40B4-BE49-F238E27FC236}">
                <a16:creationId xmlns:a16="http://schemas.microsoft.com/office/drawing/2014/main" id="{AD4C8D4C-30B7-4E53-81AA-C112652A75F2}"/>
              </a:ext>
            </a:extLst>
          </p:cNvPr>
          <p:cNvSpPr txBox="1">
            <a:spLocks/>
          </p:cNvSpPr>
          <p:nvPr/>
        </p:nvSpPr>
        <p:spPr>
          <a:xfrm>
            <a:off x="795113" y="1189829"/>
            <a:ext cx="10799124" cy="284063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t>The new Clients table isn't working well. It's disorganized, and some of the fields, such as the phone number, aren’t working correctly. Also, it seems like every time potential buyers of the business see the database, they suddenly lose interest and stop returning Clarence's calls.</a:t>
            </a:r>
            <a:endParaRPr lang="en-US" sz="2800" dirty="0">
              <a:cs typeface="Calibri Light"/>
            </a:endParaRPr>
          </a:p>
        </p:txBody>
      </p:sp>
      <p:sp>
        <p:nvSpPr>
          <p:cNvPr id="6" name="Text Placeholder 1">
            <a:extLst>
              <a:ext uri="{FF2B5EF4-FFF2-40B4-BE49-F238E27FC236}">
                <a16:creationId xmlns:a16="http://schemas.microsoft.com/office/drawing/2014/main" id="{FF739967-EBBD-48C6-8EA4-D45F871D043B}"/>
              </a:ext>
            </a:extLst>
          </p:cNvPr>
          <p:cNvSpPr txBox="1">
            <a:spLocks/>
          </p:cNvSpPr>
          <p:nvPr/>
        </p:nvSpPr>
        <p:spPr>
          <a:xfrm>
            <a:off x="795113" y="3583667"/>
            <a:ext cx="7729455" cy="6147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7" name="Rectangle 6">
            <a:extLst>
              <a:ext uri="{FF2B5EF4-FFF2-40B4-BE49-F238E27FC236}">
                <a16:creationId xmlns:a16="http://schemas.microsoft.com/office/drawing/2014/main" id="{24A79E35-CC1C-498D-8256-18FC6410CB7E}"/>
              </a:ext>
            </a:extLst>
          </p:cNvPr>
          <p:cNvSpPr/>
          <p:nvPr/>
        </p:nvSpPr>
        <p:spPr>
          <a:xfrm>
            <a:off x="998352" y="4714220"/>
            <a:ext cx="3254387" cy="506071"/>
          </a:xfrm>
          <a:prstGeom prst="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3" action="ppaction://hlinksldjump"/>
              </a:rPr>
              <a:t>Start</a:t>
            </a:r>
            <a:r>
              <a:rPr lang="en-US" sz="2050" dirty="0">
                <a:solidFill>
                  <a:schemeClr val="bg1"/>
                </a:solidFill>
                <a:latin typeface="+mj-lt"/>
                <a:cs typeface="Calibri Light"/>
                <a:hlinkClick r:id="rId3" action="ppaction://hlinksldjump"/>
              </a:rPr>
              <a:t> Again</a:t>
            </a:r>
            <a:endParaRPr lang="en-US" sz="2099" dirty="0">
              <a:solidFill>
                <a:schemeClr val="bg1"/>
              </a:solidFill>
              <a:latin typeface="+mj-lt"/>
              <a:cs typeface="Titillium WebRegular"/>
            </a:endParaRPr>
          </a:p>
        </p:txBody>
      </p:sp>
    </p:spTree>
    <p:extLst>
      <p:ext uri="{BB962C8B-B14F-4D97-AF65-F5344CB8AC3E}">
        <p14:creationId xmlns:p14="http://schemas.microsoft.com/office/powerpoint/2010/main" val="14611719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18920-F514-47A9-BBC0-CFA1DFFDE8DD}"/>
              </a:ext>
            </a:extLst>
          </p:cNvPr>
          <p:cNvSpPr txBox="1">
            <a:spLocks/>
          </p:cNvSpPr>
          <p:nvPr/>
        </p:nvSpPr>
        <p:spPr>
          <a:xfrm>
            <a:off x="838200" y="87047"/>
            <a:ext cx="10515600" cy="640080"/>
          </a:xfrm>
          <a:prstGeom prst="rect">
            <a:avLst/>
          </a:prstGeom>
        </p:spPr>
        <p:txBody>
          <a:bodyPr vert="horz" lIns="121954" tIns="60977" rIns="121954" bIns="60977" rtlCol="0" anchor="ctr">
            <a:normAutofit fontScale="97500" lnSpcReduction="10000"/>
          </a:bodyPr>
          <a:lstStyle>
            <a:lvl1pPr algn="l" defTabSz="914400" rtl="0" eaLnBrk="1" latinLnBrk="0" hangingPunct="1">
              <a:lnSpc>
                <a:spcPct val="90000"/>
              </a:lnSpc>
              <a:spcBef>
                <a:spcPct val="0"/>
              </a:spcBef>
              <a:buNone/>
              <a:defRPr lang="en-US" sz="4400" kern="1200" dirty="0">
                <a:solidFill>
                  <a:schemeClr val="accent3"/>
                </a:solidFill>
                <a:latin typeface="+mj-lt"/>
                <a:ea typeface="Titillium Web"/>
                <a:cs typeface="Titillium WebLight"/>
              </a:defRPr>
            </a:lvl1pPr>
          </a:lstStyle>
          <a:p>
            <a:pPr>
              <a:lnSpc>
                <a:spcPct val="100000"/>
              </a:lnSpc>
            </a:pPr>
            <a:r>
              <a:rPr lang="en-US" sz="3600" dirty="0">
                <a:solidFill>
                  <a:schemeClr val="tx1"/>
                </a:solidFill>
              </a:rPr>
              <a:t>Outcome 0</a:t>
            </a:r>
          </a:p>
        </p:txBody>
      </p:sp>
      <p:sp>
        <p:nvSpPr>
          <p:cNvPr id="3" name="Title 1">
            <a:extLst>
              <a:ext uri="{FF2B5EF4-FFF2-40B4-BE49-F238E27FC236}">
                <a16:creationId xmlns:a16="http://schemas.microsoft.com/office/drawing/2014/main" id="{5C37C330-5EDD-4F80-9D17-0455CAA05F47}"/>
              </a:ext>
            </a:extLst>
          </p:cNvPr>
          <p:cNvSpPr txBox="1">
            <a:spLocks/>
          </p:cNvSpPr>
          <p:nvPr/>
        </p:nvSpPr>
        <p:spPr>
          <a:xfrm>
            <a:off x="795113" y="1189829"/>
            <a:ext cx="10799124" cy="284063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t>The new Clients table isn't working well at all. You are getting errors as you work with the database, and you don’t know how to fix them. As you explain the problems you're having to Clarence, the two of you decide that this task is more complex for you to execute than you first realized. He reluctantly hires a consultant to make the changes to the database instead.</a:t>
            </a:r>
            <a:endParaRPr lang="en-US" sz="2800" dirty="0">
              <a:cs typeface="Calibri Light"/>
            </a:endParaRPr>
          </a:p>
        </p:txBody>
      </p:sp>
      <p:sp>
        <p:nvSpPr>
          <p:cNvPr id="4" name="Text Placeholder 1">
            <a:extLst>
              <a:ext uri="{FF2B5EF4-FFF2-40B4-BE49-F238E27FC236}">
                <a16:creationId xmlns:a16="http://schemas.microsoft.com/office/drawing/2014/main" id="{7CAA011F-9583-4A3C-B4A9-DFDAB9F6178C}"/>
              </a:ext>
            </a:extLst>
          </p:cNvPr>
          <p:cNvSpPr txBox="1">
            <a:spLocks/>
          </p:cNvSpPr>
          <p:nvPr/>
        </p:nvSpPr>
        <p:spPr>
          <a:xfrm>
            <a:off x="795113" y="3583667"/>
            <a:ext cx="7729455" cy="6147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
        <p:nvSpPr>
          <p:cNvPr id="5" name="Rectangle 4">
            <a:extLst>
              <a:ext uri="{FF2B5EF4-FFF2-40B4-BE49-F238E27FC236}">
                <a16:creationId xmlns:a16="http://schemas.microsoft.com/office/drawing/2014/main" id="{37AFDDC1-CA32-4DA0-AC78-E3EE085C6191}"/>
              </a:ext>
            </a:extLst>
          </p:cNvPr>
          <p:cNvSpPr/>
          <p:nvPr/>
        </p:nvSpPr>
        <p:spPr>
          <a:xfrm>
            <a:off x="998352" y="4714220"/>
            <a:ext cx="3254387" cy="506071"/>
          </a:xfrm>
          <a:prstGeom prst="rect">
            <a:avLst/>
          </a:prstGeom>
          <a:solidFill>
            <a:schemeClr val="tx2">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r>
              <a:rPr lang="en-US" sz="2050" dirty="0">
                <a:solidFill>
                  <a:schemeClr val="bg1"/>
                </a:solidFill>
                <a:latin typeface="+mj-lt"/>
                <a:cs typeface="Titillium WebRegular"/>
                <a:hlinkClick r:id="rId3" action="ppaction://hlinksldjump"/>
              </a:rPr>
              <a:t>Start</a:t>
            </a:r>
            <a:r>
              <a:rPr lang="en-US" sz="2050" dirty="0">
                <a:solidFill>
                  <a:schemeClr val="bg1"/>
                </a:solidFill>
                <a:latin typeface="+mj-lt"/>
                <a:cs typeface="Calibri Light"/>
                <a:hlinkClick r:id="rId3" action="ppaction://hlinksldjump"/>
              </a:rPr>
              <a:t> Again</a:t>
            </a:r>
            <a:endParaRPr lang="en-US" sz="2099" dirty="0">
              <a:solidFill>
                <a:schemeClr val="bg1"/>
              </a:solidFill>
              <a:latin typeface="+mj-lt"/>
              <a:cs typeface="Titillium WebRegular"/>
            </a:endParaRPr>
          </a:p>
        </p:txBody>
      </p:sp>
    </p:spTree>
    <p:extLst>
      <p:ext uri="{BB962C8B-B14F-4D97-AF65-F5344CB8AC3E}">
        <p14:creationId xmlns:p14="http://schemas.microsoft.com/office/powerpoint/2010/main" val="35081635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58"/>
  <p:tag name="ARTICULATE_USED_LAYOUT" val="3"/>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DADA31-4292-48AC-ACEF-1E316E848F62}"/>
</file>

<file path=customXml/itemProps2.xml><?xml version="1.0" encoding="utf-8"?>
<ds:datastoreItem xmlns:ds="http://schemas.openxmlformats.org/officeDocument/2006/customXml" ds:itemID="{4E37B062-C339-49F3-A8D5-A64625DFC6C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6CA4FCB-994D-47A6-AAA1-1A90F4E836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509</TotalTime>
  <Words>3574</Words>
  <Application>Microsoft Office PowerPoint</Application>
  <PresentationFormat>Widescreen</PresentationFormat>
  <Paragraphs>338</Paragraphs>
  <Slides>26</Slides>
  <Notes>26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Arial</vt:lpstr>
      <vt:lpstr>Calibri</vt:lpstr>
      <vt:lpstr>Calibri Light</vt:lpstr>
      <vt:lpstr>Titillium Web</vt:lpstr>
      <vt:lpstr>Wingdings</vt:lpstr>
      <vt:lpstr>1_Office Theme</vt:lpstr>
      <vt:lpstr>Office Theme</vt:lpstr>
      <vt:lpstr>Expand a Small Business’s Database</vt:lpstr>
      <vt:lpstr>Expand a Small Business’s Database</vt:lpstr>
      <vt:lpstr>Introduction</vt:lpstr>
      <vt:lpstr>Level1_Decision1</vt:lpstr>
      <vt:lpstr>Level2_Decision1</vt:lpstr>
      <vt:lpstr>Level2_Decision2</vt:lpstr>
      <vt:lpstr>Level2_Story1</vt:lpstr>
      <vt:lpstr>Level3_Decision1</vt:lpstr>
      <vt:lpstr>Level3_Decision2</vt:lpstr>
      <vt:lpstr>Level3_Decision3</vt:lpstr>
      <vt:lpstr>Level3_Story1</vt:lpstr>
      <vt:lpstr>Level4_Decision1</vt:lpstr>
      <vt:lpstr>Level4_Decision2</vt:lpstr>
      <vt:lpstr>Level4_Decision3</vt:lpstr>
      <vt:lpstr>Level4_Story1</vt:lpstr>
      <vt:lpstr>Level4_Story2</vt:lpstr>
      <vt:lpstr>Level5_Decision1</vt:lpstr>
      <vt:lpstr>Level5_Decision2</vt:lpstr>
      <vt:lpstr>Level6_Decision1</vt:lpstr>
      <vt:lpstr>Level6_Decision2</vt:lpstr>
      <vt:lpstr>Level6_Story1</vt:lpstr>
      <vt:lpstr>Level6_Story2</vt:lpstr>
      <vt:lpstr>Level6_Story3</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Jill West</dc:creator>
  <cp:lastModifiedBy>Molnar, Zenya</cp:lastModifiedBy>
  <cp:revision>24</cp:revision>
  <dcterms:created xsi:type="dcterms:W3CDTF">2020-01-29T23:57:56Z</dcterms:created>
  <dcterms:modified xsi:type="dcterms:W3CDTF">2020-04-03T19:09:48Z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0x010100CC237A0CA6CD2A4D8CE02E9AA9870115</vt:lpwstr>
  </property>
</Properties>
</file>