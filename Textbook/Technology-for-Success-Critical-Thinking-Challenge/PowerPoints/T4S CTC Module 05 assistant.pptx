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heme/theme2.xml" ContentType="application/vnd.openxmlformats-officedocument.theme+xml"/>
  <Override PartName="/ppt/tags/tag4.xml" ContentType="application/vnd.openxmlformats-officedocument.presentationml.tags+xml"/>
  <Override PartName="/ppt/notesSlides/notesSlide1.xml" ContentType="application/vnd.openxmlformats-officedocument.presentationml.notesSlide+xml"/>
  <Override PartName="/ppt/tags/tag5.xml" ContentType="application/vnd.openxmlformats-officedocument.presentationml.tags+xml"/>
  <Override PartName="/ppt/notesSlides/notesSlide2.xml" ContentType="application/vnd.openxmlformats-officedocument.presentationml.notesSlide+xml"/>
  <Override PartName="/ppt/tags/tag6.xml" ContentType="application/vnd.openxmlformats-officedocument.presentationml.tags+xml"/>
  <Override PartName="/ppt/notesSlides/notesSlide3.xml" ContentType="application/vnd.openxmlformats-officedocument.presentationml.notesSlide+xml"/>
  <Override PartName="/ppt/tags/tag7.xml" ContentType="application/vnd.openxmlformats-officedocument.presentationml.tags+xml"/>
  <Override PartName="/ppt/notesSlides/notesSlide4.xml" ContentType="application/vnd.openxmlformats-officedocument.presentationml.notesSlide+xml"/>
  <Override PartName="/ppt/tags/tag8.xml" ContentType="application/vnd.openxmlformats-officedocument.presentationml.tags+xml"/>
  <Override PartName="/ppt/notesSlides/notesSlide5.xml" ContentType="application/vnd.openxmlformats-officedocument.presentationml.notesSlide+xml"/>
  <Override PartName="/ppt/tags/tag9.xml" ContentType="application/vnd.openxmlformats-officedocument.presentationml.tags+xml"/>
  <Override PartName="/ppt/notesSlides/notesSlide6.xml" ContentType="application/vnd.openxmlformats-officedocument.presentationml.notesSlide+xml"/>
  <Override PartName="/ppt/tags/tag10.xml" ContentType="application/vnd.openxmlformats-officedocument.presentationml.tags+xml"/>
  <Override PartName="/ppt/notesSlides/notesSlide7.xml" ContentType="application/vnd.openxmlformats-officedocument.presentationml.notesSlide+xml"/>
  <Override PartName="/ppt/tags/tag11.xml" ContentType="application/vnd.openxmlformats-officedocument.presentationml.tags+xml"/>
  <Override PartName="/ppt/notesSlides/notesSlide8.xml" ContentType="application/vnd.openxmlformats-officedocument.presentationml.notesSlide+xml"/>
  <Override PartName="/ppt/tags/tag12.xml" ContentType="application/vnd.openxmlformats-officedocument.presentationml.tags+xml"/>
  <Override PartName="/ppt/notesSlides/notesSlide9.xml" ContentType="application/vnd.openxmlformats-officedocument.presentationml.notesSlide+xml"/>
  <Override PartName="/ppt/tags/tag13.xml" ContentType="application/vnd.openxmlformats-officedocument.presentationml.tags+xml"/>
  <Override PartName="/ppt/notesSlides/notesSlide10.xml" ContentType="application/vnd.openxmlformats-officedocument.presentationml.notesSlide+xml"/>
  <Override PartName="/ppt/tags/tag14.xml" ContentType="application/vnd.openxmlformats-officedocument.presentationml.tags+xml"/>
  <Override PartName="/ppt/notesSlides/notesSlide11.xml" ContentType="application/vnd.openxmlformats-officedocument.presentationml.notesSlide+xml"/>
  <Override PartName="/ppt/tags/tag15.xml" ContentType="application/vnd.openxmlformats-officedocument.presentationml.tags+xml"/>
  <Override PartName="/ppt/notesSlides/notesSlide12.xml" ContentType="application/vnd.openxmlformats-officedocument.presentationml.notesSlide+xml"/>
  <Override PartName="/ppt/tags/tag16.xml" ContentType="application/vnd.openxmlformats-officedocument.presentationml.tags+xml"/>
  <Override PartName="/ppt/notesSlides/notesSlide13.xml" ContentType="application/vnd.openxmlformats-officedocument.presentationml.notesSlide+xml"/>
  <Override PartName="/ppt/tags/tag17.xml" ContentType="application/vnd.openxmlformats-officedocument.presentationml.tags+xml"/>
  <Override PartName="/ppt/notesSlides/notesSlide14.xml" ContentType="application/vnd.openxmlformats-officedocument.presentationml.notesSlide+xml"/>
  <Override PartName="/ppt/tags/tag18.xml" ContentType="application/vnd.openxmlformats-officedocument.presentationml.tags+xml"/>
  <Override PartName="/ppt/notesSlides/notesSlide15.xml" ContentType="application/vnd.openxmlformats-officedocument.presentationml.notesSlide+xml"/>
  <Override PartName="/ppt/tags/tag19.xml" ContentType="application/vnd.openxmlformats-officedocument.presentationml.tags+xml"/>
  <Override PartName="/ppt/notesSlides/notesSlide16.xml" ContentType="application/vnd.openxmlformats-officedocument.presentationml.notesSlide+xml"/>
  <Override PartName="/ppt/tags/tag20.xml" ContentType="application/vnd.openxmlformats-officedocument.presentationml.tags+xml"/>
  <Override PartName="/ppt/notesSlides/notesSlide17.xml" ContentType="application/vnd.openxmlformats-officedocument.presentationml.notesSlide+xml"/>
  <Override PartName="/ppt/tags/tag21.xml" ContentType="application/vnd.openxmlformats-officedocument.presentationml.tags+xml"/>
  <Override PartName="/ppt/notesSlides/notesSlide18.xml" ContentType="application/vnd.openxmlformats-officedocument.presentationml.notesSlide+xml"/>
  <Override PartName="/ppt/tags/tag22.xml" ContentType="application/vnd.openxmlformats-officedocument.presentationml.tags+xml"/>
  <Override PartName="/ppt/notesSlides/notesSlide19.xml" ContentType="application/vnd.openxmlformats-officedocument.presentationml.notesSlide+xml"/>
  <Override PartName="/ppt/tags/tag23.xml" ContentType="application/vnd.openxmlformats-officedocument.presentationml.tags+xml"/>
  <Override PartName="/ppt/notesSlides/notesSlide20.xml" ContentType="application/vnd.openxmlformats-officedocument.presentationml.notesSlide+xml"/>
  <Override PartName="/ppt/tags/tag24.xml" ContentType="application/vnd.openxmlformats-officedocument.presentationml.tags+xml"/>
  <Override PartName="/ppt/notesSlides/notesSlide21.xml" ContentType="application/vnd.openxmlformats-officedocument.presentationml.notesSlide+xml"/>
  <Override PartName="/ppt/tags/tag25.xml" ContentType="application/vnd.openxmlformats-officedocument.presentationml.tags+xml"/>
  <Override PartName="/ppt/notesSlides/notesSlide22.xml" ContentType="application/vnd.openxmlformats-officedocument.presentationml.notesSlide+xml"/>
  <Override PartName="/ppt/tags/tag26.xml" ContentType="application/vnd.openxmlformats-officedocument.presentationml.tags+xml"/>
  <Override PartName="/ppt/notesSlides/notesSlide23.xml" ContentType="application/vnd.openxmlformats-officedocument.presentationml.notesSlide+xml"/>
  <Override PartName="/ppt/tags/tag27.xml" ContentType="application/vnd.openxmlformats-officedocument.presentationml.tags+xml"/>
  <Override PartName="/ppt/notesSlides/notesSlide24.xml" ContentType="application/vnd.openxmlformats-officedocument.presentationml.notesSlide+xml"/>
  <Override PartName="/ppt/tags/tag28.xml" ContentType="application/vnd.openxmlformats-officedocument.presentationml.tags+xml"/>
  <Override PartName="/ppt/notesSlides/notesSlide25.xml" ContentType="application/vnd.openxmlformats-officedocument.presentationml.notesSlide+xml"/>
  <Override PartName="/ppt/tags/tag29.xml" ContentType="application/vnd.openxmlformats-officedocument.presentationml.tags+xml"/>
  <Override PartName="/ppt/notesSlides/notesSlide26.xml" ContentType="application/vnd.openxmlformats-officedocument.presentationml.notesSlide+xml"/>
  <Override PartName="/ppt/tags/tag30.xml" ContentType="application/vnd.openxmlformats-officedocument.presentationml.tags+xml"/>
  <Override PartName="/ppt/notesSlides/notesSlide27.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4" r:id="rId6"/>
  </p:sldMasterIdLst>
  <p:notesMasterIdLst>
    <p:notesMasterId r:id="rId34"/>
  </p:notesMasterIdLst>
  <p:sldIdLst>
    <p:sldId id="258" r:id="rId7"/>
    <p:sldId id="260" r:id="rId8"/>
    <p:sldId id="295" r:id="rId9"/>
    <p:sldId id="397" r:id="rId10"/>
    <p:sldId id="374" r:id="rId11"/>
    <p:sldId id="377" r:id="rId12"/>
    <p:sldId id="375" r:id="rId13"/>
    <p:sldId id="379" r:id="rId14"/>
    <p:sldId id="398" r:id="rId15"/>
    <p:sldId id="380" r:id="rId16"/>
    <p:sldId id="390" r:id="rId17"/>
    <p:sldId id="378" r:id="rId18"/>
    <p:sldId id="382" r:id="rId19"/>
    <p:sldId id="391" r:id="rId20"/>
    <p:sldId id="392" r:id="rId21"/>
    <p:sldId id="381" r:id="rId22"/>
    <p:sldId id="384" r:id="rId23"/>
    <p:sldId id="385" r:id="rId24"/>
    <p:sldId id="393" r:id="rId25"/>
    <p:sldId id="383" r:id="rId26"/>
    <p:sldId id="394" r:id="rId27"/>
    <p:sldId id="386" r:id="rId28"/>
    <p:sldId id="395" r:id="rId29"/>
    <p:sldId id="389" r:id="rId30"/>
    <p:sldId id="396" r:id="rId31"/>
    <p:sldId id="353" r:id="rId32"/>
    <p:sldId id="286"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479D8A47-5A93-4DEB-AFB8-8554CB1F1CA0}">
          <p14:sldIdLst>
            <p14:sldId id="258"/>
            <p14:sldId id="260"/>
            <p14:sldId id="295"/>
            <p14:sldId id="397"/>
            <p14:sldId id="374"/>
            <p14:sldId id="377"/>
            <p14:sldId id="375"/>
            <p14:sldId id="379"/>
            <p14:sldId id="398"/>
            <p14:sldId id="380"/>
            <p14:sldId id="390"/>
            <p14:sldId id="378"/>
            <p14:sldId id="382"/>
            <p14:sldId id="391"/>
            <p14:sldId id="392"/>
            <p14:sldId id="381"/>
            <p14:sldId id="384"/>
            <p14:sldId id="385"/>
            <p14:sldId id="393"/>
            <p14:sldId id="383"/>
            <p14:sldId id="394"/>
            <p14:sldId id="386"/>
            <p14:sldId id="395"/>
            <p14:sldId id="389"/>
            <p14:sldId id="396"/>
            <p14:sldId id="353"/>
            <p14:sldId id="286"/>
          </p14:sldIdLst>
        </p14:section>
      </p14:sectionLst>
    </p:ex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Jill West" initials="JW" lastIdx="17" clrIdx="0">
    <p:extLst>
      <p:ext uri="{19B8F6BF-5375-455C-9EA6-DF929625EA0E}">
        <p15:presenceInfo xmlns:p15="http://schemas.microsoft.com/office/powerpoint/2012/main" userId="Jill West" providerId="None"/>
      </p:ext>
    </p:extLst>
  </p:cmAuthor>
  <p:cmAuthor id="2" name="Pope, Emily D" initials="PED" lastIdx="9" clrIdx="1">
    <p:extLst>
      <p:ext uri="{19B8F6BF-5375-455C-9EA6-DF929625EA0E}">
        <p15:presenceInfo xmlns:p15="http://schemas.microsoft.com/office/powerpoint/2012/main" userId="S-1-5-21-4027829005-1107895287-290554039-212238" providerId="AD"/>
      </p:ext>
    </p:extLst>
  </p:cmAuthor>
  <p:cmAuthor id="3" name="Jennifer Campbell" initials="JC" lastIdx="15" clrIdx="2">
    <p:extLst>
      <p:ext uri="{19B8F6BF-5375-455C-9EA6-DF929625EA0E}">
        <p15:presenceInfo xmlns:p15="http://schemas.microsoft.com/office/powerpoint/2012/main" userId="9252b8fd17e1143e"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33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339" autoAdjust="0"/>
    <p:restoredTop sz="87782" autoAdjust="0"/>
  </p:normalViewPr>
  <p:slideViewPr>
    <p:cSldViewPr snapToGrid="0">
      <p:cViewPr varScale="1">
        <p:scale>
          <a:sx n="38" d="100"/>
          <a:sy n="38" d="100"/>
        </p:scale>
        <p:origin x="60" y="664"/>
      </p:cViewPr>
      <p:guideLst/>
    </p:cSldViewPr>
  </p:slideViewPr>
  <p:outlineViewPr>
    <p:cViewPr>
      <p:scale>
        <a:sx n="33" d="100"/>
        <a:sy n="33" d="100"/>
      </p:scale>
      <p:origin x="0" y="-36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slide" Target="slides/slide15.xml"/><Relationship Id="rId34" Type="http://schemas.openxmlformats.org/officeDocument/2006/relationships/notesMaster" Target="notesMasters/notesMaster1.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slide" Target="slides/slide23.xml"/><Relationship Id="rId1" Type="http://schemas.openxmlformats.org/officeDocument/2006/relationships/customXml" Target="../customXml/item1.xml"/><Relationship Id="rId6" Type="http://schemas.openxmlformats.org/officeDocument/2006/relationships/slideMaster" Target="slideMasters/slideMaster1.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viewProps" Target="viewProps.xml"/><Relationship Id="rId40" Type="http://schemas.microsoft.com/office/2016/11/relationships/changesInfo" Target="changesInfos/changesInfo1.xml"/><Relationship Id="rId5" Type="http://schemas.openxmlformats.org/officeDocument/2006/relationships/customXml" Target="../customXml/item5.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presProps" Target="presProps.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slide" Target="slides/slide25.xml"/><Relationship Id="rId4" Type="http://schemas.openxmlformats.org/officeDocument/2006/relationships/customXml" Target="../customXml/item4.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commentAuthors" Target="commen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keandJill West" userId="0caeac936585bbb7" providerId="LiveId" clId="{E459D0A1-52A6-4E4A-8000-35F15CEF6BD4}"/>
    <pc:docChg chg="custSel modSld">
      <pc:chgData name="MikeandJill West" userId="0caeac936585bbb7" providerId="LiveId" clId="{E459D0A1-52A6-4E4A-8000-35F15CEF6BD4}" dt="2020-02-17T15:27:00.377" v="49" actId="113"/>
      <pc:docMkLst>
        <pc:docMk/>
      </pc:docMkLst>
      <pc:sldChg chg="modSp addCm delCm">
        <pc:chgData name="MikeandJill West" userId="0caeac936585bbb7" providerId="LiveId" clId="{E459D0A1-52A6-4E4A-8000-35F15CEF6BD4}" dt="2020-02-17T15:27:00.377" v="49" actId="113"/>
        <pc:sldMkLst>
          <pc:docMk/>
          <pc:sldMk cId="987616076" sldId="258"/>
        </pc:sldMkLst>
        <pc:spChg chg="mod">
          <ac:chgData name="MikeandJill West" userId="0caeac936585bbb7" providerId="LiveId" clId="{E459D0A1-52A6-4E4A-8000-35F15CEF6BD4}" dt="2020-02-17T15:27:00.377" v="49" actId="113"/>
          <ac:spMkLst>
            <pc:docMk/>
            <pc:sldMk cId="987616076" sldId="258"/>
            <ac:spMk id="26" creationId="{40184B40-508E-4CC0-A6B8-3111CAA042DC}"/>
          </ac:spMkLst>
        </pc:spChg>
      </pc:sldChg>
      <pc:sldChg chg="modSp">
        <pc:chgData name="MikeandJill West" userId="0caeac936585bbb7" providerId="LiveId" clId="{E459D0A1-52A6-4E4A-8000-35F15CEF6BD4}" dt="2020-02-16T21:39:32.205" v="47" actId="20577"/>
        <pc:sldMkLst>
          <pc:docMk/>
          <pc:sldMk cId="2122942798" sldId="389"/>
        </pc:sldMkLst>
        <pc:spChg chg="mod">
          <ac:chgData name="MikeandJill West" userId="0caeac936585bbb7" providerId="LiveId" clId="{E459D0A1-52A6-4E4A-8000-35F15CEF6BD4}" dt="2020-02-16T21:39:32.205" v="47" actId="20577"/>
          <ac:spMkLst>
            <pc:docMk/>
            <pc:sldMk cId="2122942798" sldId="389"/>
            <ac:spMk id="17" creationId="{8B18B785-74D3-4D89-9368-90821EEC93DF}"/>
          </ac:spMkLst>
        </pc:spChg>
      </pc:sldChg>
      <pc:sldChg chg="modSp">
        <pc:chgData name="MikeandJill West" userId="0caeac936585bbb7" providerId="LiveId" clId="{E459D0A1-52A6-4E4A-8000-35F15CEF6BD4}" dt="2020-02-16T21:39:41.118" v="48"/>
        <pc:sldMkLst>
          <pc:docMk/>
          <pc:sldMk cId="2016530634" sldId="396"/>
        </pc:sldMkLst>
        <pc:spChg chg="mod">
          <ac:chgData name="MikeandJill West" userId="0caeac936585bbb7" providerId="LiveId" clId="{E459D0A1-52A6-4E4A-8000-35F15CEF6BD4}" dt="2020-02-16T21:39:41.118" v="48"/>
          <ac:spMkLst>
            <pc:docMk/>
            <pc:sldMk cId="2016530634" sldId="396"/>
            <ac:spMk id="17" creationId="{4EE458A2-8EF9-45B3-B936-64D9139B9A09}"/>
          </ac:spMkLst>
        </pc:spChg>
      </pc:sldChg>
    </pc:docChg>
  </pc:docChgLst>
  <pc:docChgLst>
    <pc:chgData name="Molnar, Zenya" userId="d17daa46-33bc-45d8-ab7d-8dd45e08dac2" providerId="ADAL" clId="{E8139FA4-A1F6-458D-BE24-7A0EFA2BBFBB}"/>
    <pc:docChg chg="modSld">
      <pc:chgData name="Molnar, Zenya" userId="d17daa46-33bc-45d8-ab7d-8dd45e08dac2" providerId="ADAL" clId="{E8139FA4-A1F6-458D-BE24-7A0EFA2BBFBB}" dt="2020-03-05T16:03:29.600" v="3" actId="20577"/>
      <pc:docMkLst>
        <pc:docMk/>
      </pc:docMkLst>
      <pc:sldChg chg="modSp mod">
        <pc:chgData name="Molnar, Zenya" userId="d17daa46-33bc-45d8-ab7d-8dd45e08dac2" providerId="ADAL" clId="{E8139FA4-A1F6-458D-BE24-7A0EFA2BBFBB}" dt="2020-03-05T16:03:29.600" v="3" actId="20577"/>
        <pc:sldMkLst>
          <pc:docMk/>
          <pc:sldMk cId="747411846" sldId="377"/>
        </pc:sldMkLst>
        <pc:spChg chg="mod">
          <ac:chgData name="Molnar, Zenya" userId="d17daa46-33bc-45d8-ab7d-8dd45e08dac2" providerId="ADAL" clId="{E8139FA4-A1F6-458D-BE24-7A0EFA2BBFBB}" dt="2020-03-05T16:03:29.600" v="3" actId="20577"/>
          <ac:spMkLst>
            <pc:docMk/>
            <pc:sldMk cId="747411846" sldId="377"/>
            <ac:spMk id="14" creationId="{D83C4BCF-01C3-42D5-9FEC-81336167F229}"/>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48ED681-2264-4772-96D9-571C19ED82FB}" type="datetimeFigureOut">
              <a:rPr lang="en-US" smtClean="0"/>
              <a:t>3/5/2020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6CA19FE-9A12-437D-A6C3-5DD612832ED6}" type="slidenum">
              <a:rPr lang="en-US" smtClean="0"/>
              <a:t>‹#›</a:t>
            </a:fld>
            <a:endParaRPr lang="en-US"/>
          </a:p>
        </p:txBody>
      </p:sp>
    </p:spTree>
    <p:extLst>
      <p:ext uri="{BB962C8B-B14F-4D97-AF65-F5344CB8AC3E}">
        <p14:creationId xmlns:p14="http://schemas.microsoft.com/office/powerpoint/2010/main" val="15882054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2AA3592-D5F1-C049-A75C-8C2FAAE2A508}" type="slidenum">
              <a:rPr lang="en-US" smtClean="0"/>
              <a:t>1</a:t>
            </a:fld>
            <a:endParaRPr lang="en-US" dirty="0"/>
          </a:p>
        </p:txBody>
      </p:sp>
    </p:spTree>
    <p:extLst>
      <p:ext uri="{BB962C8B-B14F-4D97-AF65-F5344CB8AC3E}">
        <p14:creationId xmlns:p14="http://schemas.microsoft.com/office/powerpoint/2010/main" val="402991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2AA3592-D5F1-C049-A75C-8C2FAAE2A508}" type="slidenum">
              <a:rPr lang="en-US" smtClean="0"/>
              <a:t>2</a:t>
            </a:fld>
            <a:endParaRPr lang="en-US" dirty="0"/>
          </a:p>
        </p:txBody>
      </p:sp>
    </p:spTree>
    <p:extLst>
      <p:ext uri="{BB962C8B-B14F-4D97-AF65-F5344CB8AC3E}">
        <p14:creationId xmlns:p14="http://schemas.microsoft.com/office/powerpoint/2010/main" val="8557680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sz="1000" dirty="0"/>
          </a:p>
        </p:txBody>
      </p:sp>
      <p:sp>
        <p:nvSpPr>
          <p:cNvPr id="4" name="Slide Number Placeholder 3"/>
          <p:cNvSpPr>
            <a:spLocks noGrp="1"/>
          </p:cNvSpPr>
          <p:nvPr>
            <p:ph type="sldNum" sz="quarter" idx="10"/>
          </p:nvPr>
        </p:nvSpPr>
        <p:spPr/>
        <p:txBody>
          <a:bodyPr/>
          <a:lstStyle/>
          <a:p>
            <a:fld id="{E2AA3592-D5F1-C049-A75C-8C2FAAE2A508}" type="slidenum">
              <a:rPr lang="en-US" smtClean="0"/>
              <a:t>3</a:t>
            </a:fld>
            <a:endParaRPr lang="en-US" dirty="0"/>
          </a:p>
        </p:txBody>
      </p:sp>
    </p:spTree>
    <p:extLst>
      <p:ext uri="{BB962C8B-B14F-4D97-AF65-F5344CB8AC3E}">
        <p14:creationId xmlns:p14="http://schemas.microsoft.com/office/powerpoint/2010/main" val="11045286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sz="1000" dirty="0"/>
          </a:p>
        </p:txBody>
      </p:sp>
      <p:sp>
        <p:nvSpPr>
          <p:cNvPr id="4" name="Slide Number Placeholder 3"/>
          <p:cNvSpPr>
            <a:spLocks noGrp="1"/>
          </p:cNvSpPr>
          <p:nvPr>
            <p:ph type="sldNum" sz="quarter" idx="10"/>
          </p:nvPr>
        </p:nvSpPr>
        <p:spPr/>
        <p:txBody>
          <a:bodyPr/>
          <a:lstStyle/>
          <a:p>
            <a:fld id="{E2AA3592-D5F1-C049-A75C-8C2FAAE2A508}" type="slidenum">
              <a:rPr lang="en-US" smtClean="0"/>
              <a:t>4</a:t>
            </a:fld>
            <a:endParaRPr lang="en-US" dirty="0"/>
          </a:p>
        </p:txBody>
      </p:sp>
    </p:spTree>
    <p:extLst>
      <p:ext uri="{BB962C8B-B14F-4D97-AF65-F5344CB8AC3E}">
        <p14:creationId xmlns:p14="http://schemas.microsoft.com/office/powerpoint/2010/main" val="196689948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sz="1000" dirty="0"/>
          </a:p>
        </p:txBody>
      </p:sp>
      <p:sp>
        <p:nvSpPr>
          <p:cNvPr id="4" name="Slide Number Placeholder 3"/>
          <p:cNvSpPr>
            <a:spLocks noGrp="1"/>
          </p:cNvSpPr>
          <p:nvPr>
            <p:ph type="sldNum" sz="quarter" idx="10"/>
          </p:nvPr>
        </p:nvSpPr>
        <p:spPr/>
        <p:txBody>
          <a:bodyPr/>
          <a:lstStyle/>
          <a:p>
            <a:fld id="{E2AA3592-D5F1-C049-A75C-8C2FAAE2A508}" type="slidenum">
              <a:rPr lang="en-US" smtClean="0"/>
              <a:t>5</a:t>
            </a:fld>
            <a:endParaRPr lang="en-US" dirty="0"/>
          </a:p>
        </p:txBody>
      </p:sp>
    </p:spTree>
    <p:extLst>
      <p:ext uri="{BB962C8B-B14F-4D97-AF65-F5344CB8AC3E}">
        <p14:creationId xmlns:p14="http://schemas.microsoft.com/office/powerpoint/2010/main" val="5205024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sz="1000" dirty="0"/>
          </a:p>
        </p:txBody>
      </p:sp>
      <p:sp>
        <p:nvSpPr>
          <p:cNvPr id="4" name="Slide Number Placeholder 3"/>
          <p:cNvSpPr>
            <a:spLocks noGrp="1"/>
          </p:cNvSpPr>
          <p:nvPr>
            <p:ph type="sldNum" sz="quarter" idx="10"/>
          </p:nvPr>
        </p:nvSpPr>
        <p:spPr/>
        <p:txBody>
          <a:bodyPr/>
          <a:lstStyle/>
          <a:p>
            <a:fld id="{E2AA3592-D5F1-C049-A75C-8C2FAAE2A508}" type="slidenum">
              <a:rPr lang="en-US" smtClean="0"/>
              <a:t>6</a:t>
            </a:fld>
            <a:endParaRPr lang="en-US" dirty="0"/>
          </a:p>
        </p:txBody>
      </p:sp>
    </p:spTree>
    <p:extLst>
      <p:ext uri="{BB962C8B-B14F-4D97-AF65-F5344CB8AC3E}">
        <p14:creationId xmlns:p14="http://schemas.microsoft.com/office/powerpoint/2010/main" val="12234586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sz="1000" dirty="0"/>
          </a:p>
        </p:txBody>
      </p:sp>
      <p:sp>
        <p:nvSpPr>
          <p:cNvPr id="4" name="Slide Number Placeholder 3"/>
          <p:cNvSpPr>
            <a:spLocks noGrp="1"/>
          </p:cNvSpPr>
          <p:nvPr>
            <p:ph type="sldNum" sz="quarter" idx="10"/>
          </p:nvPr>
        </p:nvSpPr>
        <p:spPr/>
        <p:txBody>
          <a:bodyPr/>
          <a:lstStyle/>
          <a:p>
            <a:fld id="{E2AA3592-D5F1-C049-A75C-8C2FAAE2A508}" type="slidenum">
              <a:rPr lang="en-US" smtClean="0"/>
              <a:t>7</a:t>
            </a:fld>
            <a:endParaRPr lang="en-US" dirty="0"/>
          </a:p>
        </p:txBody>
      </p:sp>
    </p:spTree>
    <p:extLst>
      <p:ext uri="{BB962C8B-B14F-4D97-AF65-F5344CB8AC3E}">
        <p14:creationId xmlns:p14="http://schemas.microsoft.com/office/powerpoint/2010/main" val="411252557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sz="1000" dirty="0"/>
          </a:p>
        </p:txBody>
      </p:sp>
      <p:sp>
        <p:nvSpPr>
          <p:cNvPr id="4" name="Slide Number Placeholder 3"/>
          <p:cNvSpPr>
            <a:spLocks noGrp="1"/>
          </p:cNvSpPr>
          <p:nvPr>
            <p:ph type="sldNum" sz="quarter" idx="10"/>
          </p:nvPr>
        </p:nvSpPr>
        <p:spPr/>
        <p:txBody>
          <a:bodyPr/>
          <a:lstStyle/>
          <a:p>
            <a:fld id="{E2AA3592-D5F1-C049-A75C-8C2FAAE2A508}" type="slidenum">
              <a:rPr lang="en-US" smtClean="0"/>
              <a:t>8</a:t>
            </a:fld>
            <a:endParaRPr lang="en-US" dirty="0"/>
          </a:p>
        </p:txBody>
      </p:sp>
    </p:spTree>
    <p:extLst>
      <p:ext uri="{BB962C8B-B14F-4D97-AF65-F5344CB8AC3E}">
        <p14:creationId xmlns:p14="http://schemas.microsoft.com/office/powerpoint/2010/main" val="66218160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sz="1000" dirty="0"/>
          </a:p>
        </p:txBody>
      </p:sp>
      <p:sp>
        <p:nvSpPr>
          <p:cNvPr id="4" name="Slide Number Placeholder 3"/>
          <p:cNvSpPr>
            <a:spLocks noGrp="1"/>
          </p:cNvSpPr>
          <p:nvPr>
            <p:ph type="sldNum" sz="quarter" idx="10"/>
          </p:nvPr>
        </p:nvSpPr>
        <p:spPr/>
        <p:txBody>
          <a:bodyPr/>
          <a:lstStyle/>
          <a:p>
            <a:fld id="{E2AA3592-D5F1-C049-A75C-8C2FAAE2A508}" type="slidenum">
              <a:rPr lang="en-US" smtClean="0"/>
              <a:t>9</a:t>
            </a:fld>
            <a:endParaRPr lang="en-US" dirty="0"/>
          </a:p>
        </p:txBody>
      </p:sp>
    </p:spTree>
    <p:extLst>
      <p:ext uri="{BB962C8B-B14F-4D97-AF65-F5344CB8AC3E}">
        <p14:creationId xmlns:p14="http://schemas.microsoft.com/office/powerpoint/2010/main" val="4859525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sz="1000" dirty="0"/>
          </a:p>
        </p:txBody>
      </p:sp>
      <p:sp>
        <p:nvSpPr>
          <p:cNvPr id="4" name="Slide Number Placeholder 3"/>
          <p:cNvSpPr>
            <a:spLocks noGrp="1"/>
          </p:cNvSpPr>
          <p:nvPr>
            <p:ph type="sldNum" sz="quarter" idx="10"/>
          </p:nvPr>
        </p:nvSpPr>
        <p:spPr/>
        <p:txBody>
          <a:bodyPr/>
          <a:lstStyle/>
          <a:p>
            <a:fld id="{E2AA3592-D5F1-C049-A75C-8C2FAAE2A508}" type="slidenum">
              <a:rPr lang="en-US" smtClean="0"/>
              <a:t>10</a:t>
            </a:fld>
            <a:endParaRPr lang="en-US" dirty="0"/>
          </a:p>
        </p:txBody>
      </p:sp>
    </p:spTree>
    <p:extLst>
      <p:ext uri="{BB962C8B-B14F-4D97-AF65-F5344CB8AC3E}">
        <p14:creationId xmlns:p14="http://schemas.microsoft.com/office/powerpoint/2010/main" val="261897523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sz="1000" dirty="0"/>
          </a:p>
        </p:txBody>
      </p:sp>
      <p:sp>
        <p:nvSpPr>
          <p:cNvPr id="4" name="Slide Number Placeholder 3"/>
          <p:cNvSpPr>
            <a:spLocks noGrp="1"/>
          </p:cNvSpPr>
          <p:nvPr>
            <p:ph type="sldNum" sz="quarter" idx="10"/>
          </p:nvPr>
        </p:nvSpPr>
        <p:spPr/>
        <p:txBody>
          <a:bodyPr/>
          <a:lstStyle/>
          <a:p>
            <a:fld id="{E2AA3592-D5F1-C049-A75C-8C2FAAE2A508}" type="slidenum">
              <a:rPr lang="en-US" smtClean="0"/>
              <a:t>11</a:t>
            </a:fld>
            <a:endParaRPr lang="en-US" dirty="0"/>
          </a:p>
        </p:txBody>
      </p:sp>
    </p:spTree>
    <p:extLst>
      <p:ext uri="{BB962C8B-B14F-4D97-AF65-F5344CB8AC3E}">
        <p14:creationId xmlns:p14="http://schemas.microsoft.com/office/powerpoint/2010/main" val="10787423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sz="1000" dirty="0"/>
          </a:p>
        </p:txBody>
      </p:sp>
      <p:sp>
        <p:nvSpPr>
          <p:cNvPr id="4" name="Slide Number Placeholder 3"/>
          <p:cNvSpPr>
            <a:spLocks noGrp="1"/>
          </p:cNvSpPr>
          <p:nvPr>
            <p:ph type="sldNum" sz="quarter" idx="10"/>
          </p:nvPr>
        </p:nvSpPr>
        <p:spPr/>
        <p:txBody>
          <a:bodyPr/>
          <a:lstStyle/>
          <a:p>
            <a:fld id="{E2AA3592-D5F1-C049-A75C-8C2FAAE2A508}" type="slidenum">
              <a:rPr lang="en-US" smtClean="0"/>
              <a:t>12</a:t>
            </a:fld>
            <a:endParaRPr lang="en-US" dirty="0"/>
          </a:p>
        </p:txBody>
      </p:sp>
    </p:spTree>
    <p:extLst>
      <p:ext uri="{BB962C8B-B14F-4D97-AF65-F5344CB8AC3E}">
        <p14:creationId xmlns:p14="http://schemas.microsoft.com/office/powerpoint/2010/main" val="311060708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sz="1000" dirty="0"/>
          </a:p>
        </p:txBody>
      </p:sp>
      <p:sp>
        <p:nvSpPr>
          <p:cNvPr id="4" name="Slide Number Placeholder 3"/>
          <p:cNvSpPr>
            <a:spLocks noGrp="1"/>
          </p:cNvSpPr>
          <p:nvPr>
            <p:ph type="sldNum" sz="quarter" idx="10"/>
          </p:nvPr>
        </p:nvSpPr>
        <p:spPr/>
        <p:txBody>
          <a:bodyPr/>
          <a:lstStyle/>
          <a:p>
            <a:fld id="{E2AA3592-D5F1-C049-A75C-8C2FAAE2A508}" type="slidenum">
              <a:rPr lang="en-US" smtClean="0"/>
              <a:t>13</a:t>
            </a:fld>
            <a:endParaRPr lang="en-US" dirty="0"/>
          </a:p>
        </p:txBody>
      </p:sp>
    </p:spTree>
    <p:extLst>
      <p:ext uri="{BB962C8B-B14F-4D97-AF65-F5344CB8AC3E}">
        <p14:creationId xmlns:p14="http://schemas.microsoft.com/office/powerpoint/2010/main" val="189436840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sz="1000" dirty="0"/>
          </a:p>
        </p:txBody>
      </p:sp>
      <p:sp>
        <p:nvSpPr>
          <p:cNvPr id="4" name="Slide Number Placeholder 3"/>
          <p:cNvSpPr>
            <a:spLocks noGrp="1"/>
          </p:cNvSpPr>
          <p:nvPr>
            <p:ph type="sldNum" sz="quarter" idx="10"/>
          </p:nvPr>
        </p:nvSpPr>
        <p:spPr/>
        <p:txBody>
          <a:bodyPr/>
          <a:lstStyle/>
          <a:p>
            <a:fld id="{E2AA3592-D5F1-C049-A75C-8C2FAAE2A508}" type="slidenum">
              <a:rPr lang="en-US" smtClean="0"/>
              <a:t>14</a:t>
            </a:fld>
            <a:endParaRPr lang="en-US" dirty="0"/>
          </a:p>
        </p:txBody>
      </p:sp>
    </p:spTree>
    <p:extLst>
      <p:ext uri="{BB962C8B-B14F-4D97-AF65-F5344CB8AC3E}">
        <p14:creationId xmlns:p14="http://schemas.microsoft.com/office/powerpoint/2010/main" val="170220369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sz="1000" dirty="0"/>
          </a:p>
        </p:txBody>
      </p:sp>
      <p:sp>
        <p:nvSpPr>
          <p:cNvPr id="4" name="Slide Number Placeholder 3"/>
          <p:cNvSpPr>
            <a:spLocks noGrp="1"/>
          </p:cNvSpPr>
          <p:nvPr>
            <p:ph type="sldNum" sz="quarter" idx="10"/>
          </p:nvPr>
        </p:nvSpPr>
        <p:spPr/>
        <p:txBody>
          <a:bodyPr/>
          <a:lstStyle/>
          <a:p>
            <a:fld id="{E2AA3592-D5F1-C049-A75C-8C2FAAE2A508}" type="slidenum">
              <a:rPr lang="en-US" smtClean="0"/>
              <a:t>15</a:t>
            </a:fld>
            <a:endParaRPr lang="en-US" dirty="0"/>
          </a:p>
        </p:txBody>
      </p:sp>
    </p:spTree>
    <p:extLst>
      <p:ext uri="{BB962C8B-B14F-4D97-AF65-F5344CB8AC3E}">
        <p14:creationId xmlns:p14="http://schemas.microsoft.com/office/powerpoint/2010/main" val="184203024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sz="1000" dirty="0"/>
          </a:p>
        </p:txBody>
      </p:sp>
      <p:sp>
        <p:nvSpPr>
          <p:cNvPr id="4" name="Slide Number Placeholder 3"/>
          <p:cNvSpPr>
            <a:spLocks noGrp="1"/>
          </p:cNvSpPr>
          <p:nvPr>
            <p:ph type="sldNum" sz="quarter" idx="10"/>
          </p:nvPr>
        </p:nvSpPr>
        <p:spPr/>
        <p:txBody>
          <a:bodyPr/>
          <a:lstStyle/>
          <a:p>
            <a:fld id="{E2AA3592-D5F1-C049-A75C-8C2FAAE2A508}" type="slidenum">
              <a:rPr lang="en-US" smtClean="0"/>
              <a:t>16</a:t>
            </a:fld>
            <a:endParaRPr lang="en-US" dirty="0"/>
          </a:p>
        </p:txBody>
      </p:sp>
    </p:spTree>
    <p:extLst>
      <p:ext uri="{BB962C8B-B14F-4D97-AF65-F5344CB8AC3E}">
        <p14:creationId xmlns:p14="http://schemas.microsoft.com/office/powerpoint/2010/main" val="378953744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dirty="0"/>
          </a:p>
        </p:txBody>
      </p:sp>
      <p:sp>
        <p:nvSpPr>
          <p:cNvPr id="4" name="Slide Number Placeholder 3"/>
          <p:cNvSpPr>
            <a:spLocks noGrp="1"/>
          </p:cNvSpPr>
          <p:nvPr>
            <p:ph type="sldNum" sz="quarter" idx="10"/>
          </p:nvPr>
        </p:nvSpPr>
        <p:spPr/>
        <p:txBody>
          <a:bodyPr/>
          <a:lstStyle/>
          <a:p>
            <a:fld id="{E2AA3592-D5F1-C049-A75C-8C2FAAE2A508}" type="slidenum">
              <a:rPr lang="en-US" smtClean="0"/>
              <a:t>17</a:t>
            </a:fld>
            <a:endParaRPr lang="en-US" dirty="0"/>
          </a:p>
        </p:txBody>
      </p:sp>
    </p:spTree>
    <p:extLst>
      <p:ext uri="{BB962C8B-B14F-4D97-AF65-F5344CB8AC3E}">
        <p14:creationId xmlns:p14="http://schemas.microsoft.com/office/powerpoint/2010/main" val="15329195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sz="1000" dirty="0"/>
          </a:p>
        </p:txBody>
      </p:sp>
      <p:sp>
        <p:nvSpPr>
          <p:cNvPr id="4" name="Slide Number Placeholder 3"/>
          <p:cNvSpPr>
            <a:spLocks noGrp="1"/>
          </p:cNvSpPr>
          <p:nvPr>
            <p:ph type="sldNum" sz="quarter" idx="10"/>
          </p:nvPr>
        </p:nvSpPr>
        <p:spPr/>
        <p:txBody>
          <a:bodyPr/>
          <a:lstStyle/>
          <a:p>
            <a:fld id="{E2AA3592-D5F1-C049-A75C-8C2FAAE2A508}" type="slidenum">
              <a:rPr lang="en-US" smtClean="0"/>
              <a:t>18</a:t>
            </a:fld>
            <a:endParaRPr lang="en-US" dirty="0"/>
          </a:p>
        </p:txBody>
      </p:sp>
    </p:spTree>
    <p:extLst>
      <p:ext uri="{BB962C8B-B14F-4D97-AF65-F5344CB8AC3E}">
        <p14:creationId xmlns:p14="http://schemas.microsoft.com/office/powerpoint/2010/main" val="356995024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dirty="0"/>
          </a:p>
        </p:txBody>
      </p:sp>
      <p:sp>
        <p:nvSpPr>
          <p:cNvPr id="4" name="Slide Number Placeholder 3"/>
          <p:cNvSpPr>
            <a:spLocks noGrp="1"/>
          </p:cNvSpPr>
          <p:nvPr>
            <p:ph type="sldNum" sz="quarter" idx="10"/>
          </p:nvPr>
        </p:nvSpPr>
        <p:spPr/>
        <p:txBody>
          <a:bodyPr/>
          <a:lstStyle/>
          <a:p>
            <a:fld id="{E2AA3592-D5F1-C049-A75C-8C2FAAE2A508}" type="slidenum">
              <a:rPr lang="en-US" smtClean="0"/>
              <a:t>19</a:t>
            </a:fld>
            <a:endParaRPr lang="en-US" dirty="0"/>
          </a:p>
        </p:txBody>
      </p:sp>
    </p:spTree>
    <p:extLst>
      <p:ext uri="{BB962C8B-B14F-4D97-AF65-F5344CB8AC3E}">
        <p14:creationId xmlns:p14="http://schemas.microsoft.com/office/powerpoint/2010/main" val="305397174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sz="1000" dirty="0"/>
          </a:p>
        </p:txBody>
      </p:sp>
      <p:sp>
        <p:nvSpPr>
          <p:cNvPr id="4" name="Slide Number Placeholder 3"/>
          <p:cNvSpPr>
            <a:spLocks noGrp="1"/>
          </p:cNvSpPr>
          <p:nvPr>
            <p:ph type="sldNum" sz="quarter" idx="10"/>
          </p:nvPr>
        </p:nvSpPr>
        <p:spPr/>
        <p:txBody>
          <a:bodyPr/>
          <a:lstStyle/>
          <a:p>
            <a:fld id="{E2AA3592-D5F1-C049-A75C-8C2FAAE2A508}" type="slidenum">
              <a:rPr lang="en-US" smtClean="0"/>
              <a:t>20</a:t>
            </a:fld>
            <a:endParaRPr lang="en-US" dirty="0"/>
          </a:p>
        </p:txBody>
      </p:sp>
    </p:spTree>
    <p:extLst>
      <p:ext uri="{BB962C8B-B14F-4D97-AF65-F5344CB8AC3E}">
        <p14:creationId xmlns:p14="http://schemas.microsoft.com/office/powerpoint/2010/main" val="415061195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sz="1000" dirty="0"/>
          </a:p>
        </p:txBody>
      </p:sp>
      <p:sp>
        <p:nvSpPr>
          <p:cNvPr id="4" name="Slide Number Placeholder 3"/>
          <p:cNvSpPr>
            <a:spLocks noGrp="1"/>
          </p:cNvSpPr>
          <p:nvPr>
            <p:ph type="sldNum" sz="quarter" idx="10"/>
          </p:nvPr>
        </p:nvSpPr>
        <p:spPr/>
        <p:txBody>
          <a:bodyPr/>
          <a:lstStyle/>
          <a:p>
            <a:fld id="{E2AA3592-D5F1-C049-A75C-8C2FAAE2A508}" type="slidenum">
              <a:rPr lang="en-US" smtClean="0"/>
              <a:t>21</a:t>
            </a:fld>
            <a:endParaRPr lang="en-US" dirty="0"/>
          </a:p>
        </p:txBody>
      </p:sp>
    </p:spTree>
    <p:extLst>
      <p:ext uri="{BB962C8B-B14F-4D97-AF65-F5344CB8AC3E}">
        <p14:creationId xmlns:p14="http://schemas.microsoft.com/office/powerpoint/2010/main" val="165448240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sz="1000" dirty="0"/>
          </a:p>
        </p:txBody>
      </p:sp>
      <p:sp>
        <p:nvSpPr>
          <p:cNvPr id="4" name="Slide Number Placeholder 3"/>
          <p:cNvSpPr>
            <a:spLocks noGrp="1"/>
          </p:cNvSpPr>
          <p:nvPr>
            <p:ph type="sldNum" sz="quarter" idx="10"/>
          </p:nvPr>
        </p:nvSpPr>
        <p:spPr/>
        <p:txBody>
          <a:bodyPr/>
          <a:lstStyle/>
          <a:p>
            <a:fld id="{E2AA3592-D5F1-C049-A75C-8C2FAAE2A508}" type="slidenum">
              <a:rPr lang="en-US" smtClean="0"/>
              <a:t>22</a:t>
            </a:fld>
            <a:endParaRPr lang="en-US" dirty="0"/>
          </a:p>
        </p:txBody>
      </p:sp>
    </p:spTree>
    <p:extLst>
      <p:ext uri="{BB962C8B-B14F-4D97-AF65-F5344CB8AC3E}">
        <p14:creationId xmlns:p14="http://schemas.microsoft.com/office/powerpoint/2010/main" val="26391641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sz="1000" dirty="0"/>
          </a:p>
        </p:txBody>
      </p:sp>
      <p:sp>
        <p:nvSpPr>
          <p:cNvPr id="4" name="Slide Number Placeholder 3"/>
          <p:cNvSpPr>
            <a:spLocks noGrp="1"/>
          </p:cNvSpPr>
          <p:nvPr>
            <p:ph type="sldNum" sz="quarter" idx="10"/>
          </p:nvPr>
        </p:nvSpPr>
        <p:spPr/>
        <p:txBody>
          <a:bodyPr/>
          <a:lstStyle/>
          <a:p>
            <a:fld id="{E2AA3592-D5F1-C049-A75C-8C2FAAE2A508}" type="slidenum">
              <a:rPr lang="en-US" smtClean="0"/>
              <a:t>23</a:t>
            </a:fld>
            <a:endParaRPr lang="en-US" dirty="0"/>
          </a:p>
        </p:txBody>
      </p:sp>
    </p:spTree>
    <p:extLst>
      <p:ext uri="{BB962C8B-B14F-4D97-AF65-F5344CB8AC3E}">
        <p14:creationId xmlns:p14="http://schemas.microsoft.com/office/powerpoint/2010/main" val="298157646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sz="1000" dirty="0"/>
          </a:p>
        </p:txBody>
      </p:sp>
      <p:sp>
        <p:nvSpPr>
          <p:cNvPr id="4" name="Slide Number Placeholder 3"/>
          <p:cNvSpPr>
            <a:spLocks noGrp="1"/>
          </p:cNvSpPr>
          <p:nvPr>
            <p:ph type="sldNum" sz="quarter" idx="10"/>
          </p:nvPr>
        </p:nvSpPr>
        <p:spPr/>
        <p:txBody>
          <a:bodyPr/>
          <a:lstStyle/>
          <a:p>
            <a:fld id="{E2AA3592-D5F1-C049-A75C-8C2FAAE2A508}" type="slidenum">
              <a:rPr lang="en-US" smtClean="0"/>
              <a:t>24</a:t>
            </a:fld>
            <a:endParaRPr lang="en-US" dirty="0"/>
          </a:p>
        </p:txBody>
      </p:sp>
    </p:spTree>
    <p:extLst>
      <p:ext uri="{BB962C8B-B14F-4D97-AF65-F5344CB8AC3E}">
        <p14:creationId xmlns:p14="http://schemas.microsoft.com/office/powerpoint/2010/main" val="246289064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sz="1000" dirty="0"/>
          </a:p>
        </p:txBody>
      </p:sp>
      <p:sp>
        <p:nvSpPr>
          <p:cNvPr id="4" name="Slide Number Placeholder 3"/>
          <p:cNvSpPr>
            <a:spLocks noGrp="1"/>
          </p:cNvSpPr>
          <p:nvPr>
            <p:ph type="sldNum" sz="quarter" idx="10"/>
          </p:nvPr>
        </p:nvSpPr>
        <p:spPr/>
        <p:txBody>
          <a:bodyPr/>
          <a:lstStyle/>
          <a:p>
            <a:fld id="{E2AA3592-D5F1-C049-A75C-8C2FAAE2A508}" type="slidenum">
              <a:rPr lang="en-US" smtClean="0"/>
              <a:t>25</a:t>
            </a:fld>
            <a:endParaRPr lang="en-US" dirty="0"/>
          </a:p>
        </p:txBody>
      </p:sp>
    </p:spTree>
    <p:extLst>
      <p:ext uri="{BB962C8B-B14F-4D97-AF65-F5344CB8AC3E}">
        <p14:creationId xmlns:p14="http://schemas.microsoft.com/office/powerpoint/2010/main" val="51324074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2AA3592-D5F1-C049-A75C-8C2FAAE2A508}" type="slidenum">
              <a:rPr lang="en-US" smtClean="0"/>
              <a:t>26</a:t>
            </a:fld>
            <a:endParaRPr lang="en-US" dirty="0"/>
          </a:p>
        </p:txBody>
      </p:sp>
    </p:spTree>
    <p:extLst>
      <p:ext uri="{BB962C8B-B14F-4D97-AF65-F5344CB8AC3E}">
        <p14:creationId xmlns:p14="http://schemas.microsoft.com/office/powerpoint/2010/main" val="361186523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2AA3592-D5F1-C049-A75C-8C2FAAE2A508}" type="slidenum">
              <a:rPr lang="en-US" smtClean="0"/>
              <a:t>27</a:t>
            </a:fld>
            <a:endParaRPr lang="en-US" dirty="0"/>
          </a:p>
        </p:txBody>
      </p:sp>
    </p:spTree>
    <p:extLst>
      <p:ext uri="{BB962C8B-B14F-4D97-AF65-F5344CB8AC3E}">
        <p14:creationId xmlns:p14="http://schemas.microsoft.com/office/powerpoint/2010/main" val="19859773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xml"/></Relationships>
</file>

<file path=ppt/slideLayouts/_rels/slideLayout1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xml"/></Relationships>
</file>

<file path=ppt/slideLayouts/_rels/slideLayout1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p:cNvSpPr>
            <a:spLocks noGrp="1"/>
          </p:cNvSpPr>
          <p:nvPr>
            <p:ph type="dt" sz="half" idx="10"/>
          </p:nvPr>
        </p:nvSpPr>
        <p:spPr/>
        <p:txBody>
          <a:bodyPr/>
          <a:lstStyle/>
          <a:p>
            <a:fld id="{0D0C2072-8BD3-4A25-9A71-B353EDA33FFA}" type="datetimeFigureOut">
              <a:rPr lang="en-US" smtClean="0"/>
              <a:t>3/5/2020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959F4CF-452D-4B53-922A-3D4908B867D0}" type="slidenum">
              <a:rPr lang="en-US" smtClean="0"/>
              <a:t>‹#›</a:t>
            </a:fld>
            <a:endParaRPr lang="en-US"/>
          </a:p>
        </p:txBody>
      </p:sp>
    </p:spTree>
    <p:extLst>
      <p:ext uri="{BB962C8B-B14F-4D97-AF65-F5344CB8AC3E}">
        <p14:creationId xmlns:p14="http://schemas.microsoft.com/office/powerpoint/2010/main" val="3267907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0D0C2072-8BD3-4A25-9A71-B353EDA33FFA}" type="datetimeFigureOut">
              <a:rPr lang="en-US" smtClean="0"/>
              <a:t>3/5/2020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959F4CF-452D-4B53-922A-3D4908B867D0}" type="slidenum">
              <a:rPr lang="en-US" smtClean="0"/>
              <a:t>‹#›</a:t>
            </a:fld>
            <a:endParaRPr lang="en-US"/>
          </a:p>
        </p:txBody>
      </p:sp>
    </p:spTree>
    <p:extLst>
      <p:ext uri="{BB962C8B-B14F-4D97-AF65-F5344CB8AC3E}">
        <p14:creationId xmlns:p14="http://schemas.microsoft.com/office/powerpoint/2010/main" val="29472852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dirty="0"/>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Edit Master text styles</a:t>
            </a:r>
          </a:p>
        </p:txBody>
      </p:sp>
      <p:sp>
        <p:nvSpPr>
          <p:cNvPr id="4" name="Date Placeholder 3"/>
          <p:cNvSpPr>
            <a:spLocks noGrp="1"/>
          </p:cNvSpPr>
          <p:nvPr>
            <p:ph type="dt" sz="half" idx="10"/>
          </p:nvPr>
        </p:nvSpPr>
        <p:spPr/>
        <p:txBody>
          <a:bodyPr/>
          <a:lstStyle/>
          <a:p>
            <a:fld id="{0D0C2072-8BD3-4A25-9A71-B353EDA33FFA}" type="datetimeFigureOut">
              <a:rPr lang="en-US" smtClean="0"/>
              <a:t>3/5/2020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959F4CF-452D-4B53-922A-3D4908B867D0}" type="slidenum">
              <a:rPr lang="en-US" smtClean="0"/>
              <a:t>‹#›</a:t>
            </a:fld>
            <a:endParaRPr lang="en-US"/>
          </a:p>
        </p:txBody>
      </p:sp>
    </p:spTree>
    <p:extLst>
      <p:ext uri="{BB962C8B-B14F-4D97-AF65-F5344CB8AC3E}">
        <p14:creationId xmlns:p14="http://schemas.microsoft.com/office/powerpoint/2010/main" val="27906708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0D0C2072-8BD3-4A25-9A71-B353EDA33FFA}" type="datetimeFigureOut">
              <a:rPr lang="en-US" smtClean="0"/>
              <a:t>3/5/2020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959F4CF-452D-4B53-922A-3D4908B867D0}" type="slidenum">
              <a:rPr lang="en-US" smtClean="0"/>
              <a:t>‹#›</a:t>
            </a:fld>
            <a:endParaRPr lang="en-US"/>
          </a:p>
        </p:txBody>
      </p:sp>
    </p:spTree>
    <p:extLst>
      <p:ext uri="{BB962C8B-B14F-4D97-AF65-F5344CB8AC3E}">
        <p14:creationId xmlns:p14="http://schemas.microsoft.com/office/powerpoint/2010/main" val="11734767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dirty="0"/>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0D0C2072-8BD3-4A25-9A71-B353EDA33FFA}" type="datetimeFigureOut">
              <a:rPr lang="en-US" smtClean="0"/>
              <a:t>3/5/2020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959F4CF-452D-4B53-922A-3D4908B867D0}" type="slidenum">
              <a:rPr lang="en-US" smtClean="0"/>
              <a:t>‹#›</a:t>
            </a:fld>
            <a:endParaRPr lang="en-US"/>
          </a:p>
        </p:txBody>
      </p:sp>
    </p:spTree>
    <p:extLst>
      <p:ext uri="{BB962C8B-B14F-4D97-AF65-F5344CB8AC3E}">
        <p14:creationId xmlns:p14="http://schemas.microsoft.com/office/powerpoint/2010/main" val="38211101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Date Placeholder 2"/>
          <p:cNvSpPr>
            <a:spLocks noGrp="1"/>
          </p:cNvSpPr>
          <p:nvPr>
            <p:ph type="dt" sz="half" idx="10"/>
          </p:nvPr>
        </p:nvSpPr>
        <p:spPr/>
        <p:txBody>
          <a:bodyPr/>
          <a:lstStyle/>
          <a:p>
            <a:fld id="{0D0C2072-8BD3-4A25-9A71-B353EDA33FFA}" type="datetimeFigureOut">
              <a:rPr lang="en-US" smtClean="0"/>
              <a:t>3/5/2020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959F4CF-452D-4B53-922A-3D4908B867D0}" type="slidenum">
              <a:rPr lang="en-US" smtClean="0"/>
              <a:t>‹#›</a:t>
            </a:fld>
            <a:endParaRPr lang="en-US"/>
          </a:p>
        </p:txBody>
      </p:sp>
    </p:spTree>
    <p:extLst>
      <p:ext uri="{BB962C8B-B14F-4D97-AF65-F5344CB8AC3E}">
        <p14:creationId xmlns:p14="http://schemas.microsoft.com/office/powerpoint/2010/main" val="17625137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D0C2072-8BD3-4A25-9A71-B353EDA33FFA}" type="datetimeFigureOut">
              <a:rPr lang="en-US" smtClean="0"/>
              <a:t>3/5/2020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959F4CF-452D-4B53-922A-3D4908B867D0}" type="slidenum">
              <a:rPr lang="en-US" smtClean="0"/>
              <a:t>‹#›</a:t>
            </a:fld>
            <a:endParaRPr lang="en-US"/>
          </a:p>
        </p:txBody>
      </p:sp>
    </p:spTree>
    <p:extLst>
      <p:ext uri="{BB962C8B-B14F-4D97-AF65-F5344CB8AC3E}">
        <p14:creationId xmlns:p14="http://schemas.microsoft.com/office/powerpoint/2010/main" val="8624827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dirty="0"/>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Edit Master text styles</a:t>
            </a:r>
          </a:p>
        </p:txBody>
      </p:sp>
      <p:sp>
        <p:nvSpPr>
          <p:cNvPr id="5" name="Date Placeholder 4"/>
          <p:cNvSpPr>
            <a:spLocks noGrp="1"/>
          </p:cNvSpPr>
          <p:nvPr>
            <p:ph type="dt" sz="half" idx="10"/>
          </p:nvPr>
        </p:nvSpPr>
        <p:spPr/>
        <p:txBody>
          <a:bodyPr/>
          <a:lstStyle/>
          <a:p>
            <a:fld id="{0D0C2072-8BD3-4A25-9A71-B353EDA33FFA}" type="datetimeFigureOut">
              <a:rPr lang="en-US" smtClean="0"/>
              <a:t>3/5/2020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959F4CF-452D-4B53-922A-3D4908B867D0}" type="slidenum">
              <a:rPr lang="en-US" smtClean="0"/>
              <a:t>‹#›</a:t>
            </a:fld>
            <a:endParaRPr lang="en-US"/>
          </a:p>
        </p:txBody>
      </p:sp>
    </p:spTree>
    <p:extLst>
      <p:ext uri="{BB962C8B-B14F-4D97-AF65-F5344CB8AC3E}">
        <p14:creationId xmlns:p14="http://schemas.microsoft.com/office/powerpoint/2010/main" val="12864725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dirty="0"/>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Edit Master text styles</a:t>
            </a:r>
          </a:p>
        </p:txBody>
      </p:sp>
      <p:sp>
        <p:nvSpPr>
          <p:cNvPr id="5" name="Date Placeholder 4"/>
          <p:cNvSpPr>
            <a:spLocks noGrp="1"/>
          </p:cNvSpPr>
          <p:nvPr>
            <p:ph type="dt" sz="half" idx="10"/>
          </p:nvPr>
        </p:nvSpPr>
        <p:spPr/>
        <p:txBody>
          <a:bodyPr/>
          <a:lstStyle/>
          <a:p>
            <a:fld id="{0D0C2072-8BD3-4A25-9A71-B353EDA33FFA}" type="datetimeFigureOut">
              <a:rPr lang="en-US" smtClean="0"/>
              <a:t>3/5/2020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959F4CF-452D-4B53-922A-3D4908B867D0}" type="slidenum">
              <a:rPr lang="en-US" smtClean="0"/>
              <a:t>‹#›</a:t>
            </a:fld>
            <a:endParaRPr lang="en-US"/>
          </a:p>
        </p:txBody>
      </p:sp>
    </p:spTree>
    <p:extLst>
      <p:ext uri="{BB962C8B-B14F-4D97-AF65-F5344CB8AC3E}">
        <p14:creationId xmlns:p14="http://schemas.microsoft.com/office/powerpoint/2010/main" val="39359630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Vertical Text Placeholder 2"/>
          <p:cNvSpPr>
            <a:spLocks noGrp="1"/>
          </p:cNvSpPr>
          <p:nvPr>
            <p:ph type="body" orient="vert" idx="1"/>
          </p:nvPr>
        </p:nvSpPr>
        <p:spPr/>
        <p:txBody>
          <a:bodyPr vert="eaVert"/>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0D0C2072-8BD3-4A25-9A71-B353EDA33FFA}" type="datetimeFigureOut">
              <a:rPr lang="en-US" smtClean="0"/>
              <a:t>3/5/2020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959F4CF-452D-4B53-922A-3D4908B867D0}" type="slidenum">
              <a:rPr lang="en-US" smtClean="0"/>
              <a:t>‹#›</a:t>
            </a:fld>
            <a:endParaRPr lang="en-US"/>
          </a:p>
        </p:txBody>
      </p:sp>
    </p:spTree>
    <p:extLst>
      <p:ext uri="{BB962C8B-B14F-4D97-AF65-F5344CB8AC3E}">
        <p14:creationId xmlns:p14="http://schemas.microsoft.com/office/powerpoint/2010/main" val="34409374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dirty="0"/>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0D0C2072-8BD3-4A25-9A71-B353EDA33FFA}" type="datetimeFigureOut">
              <a:rPr lang="en-US" smtClean="0"/>
              <a:t>3/5/2020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959F4CF-452D-4B53-922A-3D4908B867D0}" type="slidenum">
              <a:rPr lang="en-US" smtClean="0"/>
              <a:t>‹#›</a:t>
            </a:fld>
            <a:endParaRPr lang="en-US"/>
          </a:p>
        </p:txBody>
      </p:sp>
    </p:spTree>
    <p:extLst>
      <p:ext uri="{BB962C8B-B14F-4D97-AF65-F5344CB8AC3E}">
        <p14:creationId xmlns:p14="http://schemas.microsoft.com/office/powerpoint/2010/main" val="348370246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High">
    <p:spTree>
      <p:nvGrpSpPr>
        <p:cNvPr id="1" name=""/>
        <p:cNvGrpSpPr/>
        <p:nvPr/>
      </p:nvGrpSpPr>
      <p:grpSpPr>
        <a:xfrm>
          <a:off x="0" y="0"/>
          <a:ext cx="0" cy="0"/>
          <a:chOff x="0" y="0"/>
          <a:chExt cx="0" cy="0"/>
        </a:xfrm>
      </p:grpSpPr>
      <p:sp>
        <p:nvSpPr>
          <p:cNvPr id="6" name="Picture Placeholder 5"/>
          <p:cNvSpPr>
            <a:spLocks noGrp="1"/>
          </p:cNvSpPr>
          <p:nvPr>
            <p:ph type="pic" sz="quarter" idx="12"/>
          </p:nvPr>
        </p:nvSpPr>
        <p:spPr>
          <a:xfrm>
            <a:off x="0" y="0"/>
            <a:ext cx="12192000" cy="6858000"/>
          </a:xfrm>
        </p:spPr>
        <p:txBody>
          <a:bodyPr/>
          <a:lstStyle/>
          <a:p>
            <a:r>
              <a:rPr lang="en-US" dirty="0"/>
              <a:t>Click icon to add picture</a:t>
            </a:r>
          </a:p>
        </p:txBody>
      </p:sp>
      <p:sp>
        <p:nvSpPr>
          <p:cNvPr id="4" name="Slide Number Placeholder 3"/>
          <p:cNvSpPr>
            <a:spLocks noGrp="1"/>
          </p:cNvSpPr>
          <p:nvPr>
            <p:ph type="sldNum" sz="quarter" idx="11"/>
          </p:nvPr>
        </p:nvSpPr>
        <p:spPr>
          <a:xfrm>
            <a:off x="312" y="2203704"/>
            <a:ext cx="611681" cy="365125"/>
          </a:xfrm>
        </p:spPr>
        <p:txBody>
          <a:bodyPr/>
          <a:lstStyle/>
          <a:p>
            <a:fld id="{2760AF0F-E753-4DD9-B8E5-577C039A067C}" type="slidenum">
              <a:rPr lang="en-JM" smtClean="0"/>
              <a:t>‹#›</a:t>
            </a:fld>
            <a:endParaRPr lang="en-JM" dirty="0"/>
          </a:p>
        </p:txBody>
      </p:sp>
      <p:sp>
        <p:nvSpPr>
          <p:cNvPr id="2" name="Title 1"/>
          <p:cNvSpPr>
            <a:spLocks noGrp="1"/>
          </p:cNvSpPr>
          <p:nvPr>
            <p:ph type="title"/>
          </p:nvPr>
        </p:nvSpPr>
        <p:spPr>
          <a:xfrm>
            <a:off x="994035" y="2148840"/>
            <a:ext cx="10412618" cy="1143000"/>
          </a:xfrm>
        </p:spPr>
        <p:txBody>
          <a:bodyPr vert="horz" lIns="121954" tIns="60977" rIns="121954" bIns="60977" rtlCol="0" anchor="ctr">
            <a:normAutofit/>
          </a:bodyPr>
          <a:lstStyle>
            <a:lvl1pPr>
              <a:defRPr lang="en-US" dirty="0">
                <a:solidFill>
                  <a:schemeClr val="accent3"/>
                </a:solidFill>
                <a:ea typeface="Titillium Web"/>
                <a:cs typeface="Titillium WebLight"/>
              </a:defRPr>
            </a:lvl1pPr>
          </a:lstStyle>
          <a:p>
            <a:pPr marL="0" lvl="0">
              <a:spcBef>
                <a:spcPts val="3199"/>
              </a:spcBef>
            </a:pPr>
            <a:r>
              <a:rPr lang="en-US"/>
              <a:t>Click to edit Master title style</a:t>
            </a:r>
            <a:endParaRPr lang="en-US" dirty="0"/>
          </a:p>
        </p:txBody>
      </p:sp>
    </p:spTree>
    <p:custDataLst>
      <p:tags r:id="rId1"/>
    </p:custDataLst>
    <p:extLst>
      <p:ext uri="{BB962C8B-B14F-4D97-AF65-F5344CB8AC3E}">
        <p14:creationId xmlns:p14="http://schemas.microsoft.com/office/powerpoint/2010/main" val="10390179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790836" y="447650"/>
            <a:ext cx="10412618" cy="1143000"/>
          </a:xfrm>
        </p:spPr>
        <p:txBody>
          <a:bodyPr>
            <a:normAutofit/>
          </a:bodyPr>
          <a:lstStyle>
            <a:lvl1pPr>
              <a:defRPr sz="3698">
                <a:solidFill>
                  <a:schemeClr val="tx2"/>
                </a:solidFill>
              </a:defRPr>
            </a:lvl1pPr>
          </a:lstStyle>
          <a:p>
            <a:r>
              <a:rPr lang="en-US"/>
              <a:t>Click to edit Master title style</a:t>
            </a:r>
            <a:endParaRPr lang="en-US" dirty="0"/>
          </a:p>
        </p:txBody>
      </p:sp>
      <p:sp>
        <p:nvSpPr>
          <p:cNvPr id="3" name="Content Placeholder 2"/>
          <p:cNvSpPr>
            <a:spLocks noGrp="1"/>
          </p:cNvSpPr>
          <p:nvPr>
            <p:ph idx="1"/>
          </p:nvPr>
        </p:nvSpPr>
        <p:spPr>
          <a:xfrm>
            <a:off x="790836" y="1816101"/>
            <a:ext cx="10412618" cy="4668185"/>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Rectangle 5"/>
          <p:cNvSpPr/>
          <p:nvPr userDrawn="1"/>
        </p:nvSpPr>
        <p:spPr>
          <a:xfrm>
            <a:off x="312" y="503539"/>
            <a:ext cx="611681" cy="324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lIns="121891" tIns="60945" rIns="121891" bIns="60945" rtlCol="0" anchor="ctr">
            <a:noAutofit/>
          </a:bodyPr>
          <a:lstStyle/>
          <a:p>
            <a:pPr algn="ctr"/>
            <a:endParaRPr lang="en-US" sz="1599" dirty="0">
              <a:solidFill>
                <a:schemeClr val="bg1"/>
              </a:solidFill>
              <a:latin typeface="Titillium Web" panose="00000500000000000000" pitchFamily="2" charset="0"/>
              <a:cs typeface="Titillium WebRegular"/>
            </a:endParaRPr>
          </a:p>
        </p:txBody>
      </p:sp>
      <p:sp>
        <p:nvSpPr>
          <p:cNvPr id="5" name="Text Placeholder 4"/>
          <p:cNvSpPr>
            <a:spLocks noGrp="1"/>
          </p:cNvSpPr>
          <p:nvPr>
            <p:ph type="body" sz="quarter" idx="10" hasCustomPrompt="1"/>
          </p:nvPr>
        </p:nvSpPr>
        <p:spPr>
          <a:xfrm>
            <a:off x="792483" y="447919"/>
            <a:ext cx="10411884" cy="349251"/>
          </a:xfrm>
        </p:spPr>
        <p:txBody>
          <a:bodyPr vert="horz" lIns="134149" tIns="60977" rIns="121954" bIns="60977" rtlCol="0" anchor="ctr">
            <a:noAutofit/>
          </a:bodyPr>
          <a:lstStyle>
            <a:lvl1pPr>
              <a:defRPr lang="en-JM" sz="2099" kern="100" spc="0" baseline="0" dirty="0">
                <a:solidFill>
                  <a:schemeClr val="accent1">
                    <a:lumMod val="75000"/>
                  </a:schemeClr>
                </a:solidFill>
                <a:latin typeface="+mj-lt"/>
              </a:defRPr>
            </a:lvl1pPr>
          </a:lstStyle>
          <a:p>
            <a:pPr marL="0" lvl="0" indent="0">
              <a:buFontTx/>
              <a:buNone/>
            </a:pPr>
            <a:r>
              <a:rPr lang="en-JM" dirty="0"/>
              <a:t>Click to add text</a:t>
            </a:r>
          </a:p>
        </p:txBody>
      </p:sp>
      <p:sp>
        <p:nvSpPr>
          <p:cNvPr id="7" name="Slide Number Placeholder 2"/>
          <p:cNvSpPr>
            <a:spLocks noGrp="1"/>
          </p:cNvSpPr>
          <p:nvPr>
            <p:ph type="sldNum" sz="quarter" idx="12"/>
          </p:nvPr>
        </p:nvSpPr>
        <p:spPr>
          <a:xfrm>
            <a:off x="312" y="487606"/>
            <a:ext cx="611681" cy="365125"/>
          </a:xfrm>
        </p:spPr>
        <p:txBody>
          <a:bodyPr/>
          <a:lstStyle/>
          <a:p>
            <a:fld id="{2760AF0F-E753-4DD9-B8E5-577C039A067C}" type="slidenum">
              <a:rPr lang="en-JM" smtClean="0"/>
              <a:t>‹#›</a:t>
            </a:fld>
            <a:endParaRPr lang="en-JM" dirty="0"/>
          </a:p>
        </p:txBody>
      </p:sp>
    </p:spTree>
    <p:custDataLst>
      <p:tags r:id="rId1"/>
    </p:custDataLst>
    <p:extLst>
      <p:ext uri="{BB962C8B-B14F-4D97-AF65-F5344CB8AC3E}">
        <p14:creationId xmlns:p14="http://schemas.microsoft.com/office/powerpoint/2010/main" val="256226349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Picture Right">
    <p:spTree>
      <p:nvGrpSpPr>
        <p:cNvPr id="1" name=""/>
        <p:cNvGrpSpPr/>
        <p:nvPr/>
      </p:nvGrpSpPr>
      <p:grpSpPr>
        <a:xfrm>
          <a:off x="0" y="0"/>
          <a:ext cx="0" cy="0"/>
          <a:chOff x="0" y="0"/>
          <a:chExt cx="0" cy="0"/>
        </a:xfrm>
      </p:grpSpPr>
      <p:sp>
        <p:nvSpPr>
          <p:cNvPr id="5" name="Picture Placeholder 4"/>
          <p:cNvSpPr>
            <a:spLocks noGrp="1"/>
          </p:cNvSpPr>
          <p:nvPr>
            <p:ph type="pic" sz="quarter" idx="10"/>
          </p:nvPr>
        </p:nvSpPr>
        <p:spPr>
          <a:xfrm>
            <a:off x="7733358" y="-5061"/>
            <a:ext cx="4458642" cy="6863061"/>
          </a:xfrm>
        </p:spPr>
        <p:txBody>
          <a:bodyPr>
            <a:normAutofit/>
          </a:bodyPr>
          <a:lstStyle>
            <a:lvl1pPr>
              <a:defRPr sz="1599"/>
            </a:lvl1pPr>
          </a:lstStyle>
          <a:p>
            <a:r>
              <a:rPr lang="en-US" dirty="0"/>
              <a:t>Click icon to add picture</a:t>
            </a:r>
          </a:p>
        </p:txBody>
      </p:sp>
      <p:sp>
        <p:nvSpPr>
          <p:cNvPr id="7" name="Title 1"/>
          <p:cNvSpPr>
            <a:spLocks noGrp="1"/>
          </p:cNvSpPr>
          <p:nvPr>
            <p:ph type="title"/>
          </p:nvPr>
        </p:nvSpPr>
        <p:spPr>
          <a:xfrm>
            <a:off x="790836" y="447650"/>
            <a:ext cx="10412618" cy="1143000"/>
          </a:xfrm>
        </p:spPr>
        <p:txBody>
          <a:bodyPr>
            <a:normAutofit/>
          </a:bodyPr>
          <a:lstStyle>
            <a:lvl1pPr>
              <a:defRPr sz="3698">
                <a:solidFill>
                  <a:schemeClr val="tx2"/>
                </a:solidFill>
              </a:defRPr>
            </a:lvl1pPr>
          </a:lstStyle>
          <a:p>
            <a:r>
              <a:rPr lang="en-US"/>
              <a:t>Click to edit Master title style</a:t>
            </a:r>
            <a:endParaRPr lang="en-US" dirty="0"/>
          </a:p>
        </p:txBody>
      </p:sp>
      <p:sp>
        <p:nvSpPr>
          <p:cNvPr id="8" name="Text Placeholder 4"/>
          <p:cNvSpPr>
            <a:spLocks noGrp="1"/>
          </p:cNvSpPr>
          <p:nvPr>
            <p:ph type="body" sz="quarter" idx="11" hasCustomPrompt="1"/>
          </p:nvPr>
        </p:nvSpPr>
        <p:spPr>
          <a:xfrm>
            <a:off x="792483" y="447919"/>
            <a:ext cx="10411884" cy="349251"/>
          </a:xfrm>
        </p:spPr>
        <p:txBody>
          <a:bodyPr vert="horz" lIns="134149" tIns="60977" rIns="121954" bIns="60977" rtlCol="0" anchor="ctr">
            <a:noAutofit/>
          </a:bodyPr>
          <a:lstStyle>
            <a:lvl1pPr>
              <a:defRPr lang="en-JM" sz="2099" kern="100" spc="0" baseline="0" dirty="0">
                <a:solidFill>
                  <a:schemeClr val="accent1">
                    <a:lumMod val="75000"/>
                  </a:schemeClr>
                </a:solidFill>
                <a:latin typeface="+mj-lt"/>
              </a:defRPr>
            </a:lvl1pPr>
          </a:lstStyle>
          <a:p>
            <a:pPr marL="0" lvl="0" indent="0">
              <a:buFontTx/>
              <a:buNone/>
            </a:pPr>
            <a:r>
              <a:rPr lang="en-JM" dirty="0"/>
              <a:t>Click to add text</a:t>
            </a:r>
          </a:p>
        </p:txBody>
      </p:sp>
    </p:spTree>
    <p:custDataLst>
      <p:tags r:id="rId1"/>
    </p:custDataLst>
    <p:extLst>
      <p:ext uri="{BB962C8B-B14F-4D97-AF65-F5344CB8AC3E}">
        <p14:creationId xmlns:p14="http://schemas.microsoft.com/office/powerpoint/2010/main" val="1474530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D0C2072-8BD3-4A25-9A71-B353EDA33FFA}" type="datetimeFigureOut">
              <a:rPr lang="en-US" smtClean="0"/>
              <a:t>3/5/2020</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959F4CF-452D-4B53-922A-3D4908B867D0}" type="slidenum">
              <a:rPr lang="en-US" smtClean="0"/>
              <a:t>‹#›</a:t>
            </a:fld>
            <a:endParaRPr lang="en-US"/>
          </a:p>
        </p:txBody>
      </p:sp>
    </p:spTree>
    <p:extLst>
      <p:ext uri="{BB962C8B-B14F-4D97-AF65-F5344CB8AC3E}">
        <p14:creationId xmlns:p14="http://schemas.microsoft.com/office/powerpoint/2010/main" val="781080806"/>
      </p:ext>
    </p:extLst>
  </p:cSld>
  <p:clrMap bg1="lt1" tx1="dk1" bg2="lt2" tx2="dk2" accent1="accent1" accent2="accent2" accent3="accent3" accent4="accent4" accent5="accent5" accent6="accent6" hlink="hlink" folHlink="folHlink"/>
  <p:sldLayoutIdLst>
    <p:sldLayoutId id="2147483665" r:id="rId1"/>
    <p:sldLayoutId id="2147483666" r:id="rId2"/>
    <p:sldLayoutId id="2147483667" r:id="rId3"/>
    <p:sldLayoutId id="2147483668" r:id="rId4"/>
    <p:sldLayoutId id="2147483669" r:id="rId5"/>
    <p:sldLayoutId id="2147483670" r:id="rId6"/>
    <p:sldLayoutId id="2147483671" r:id="rId7"/>
    <p:sldLayoutId id="2147483672" r:id="rId8"/>
    <p:sldLayoutId id="2147483673" r:id="rId9"/>
    <p:sldLayoutId id="2147483674" r:id="rId10"/>
    <p:sldLayoutId id="2147483675" r:id="rId11"/>
    <p:sldLayoutId id="2147483676" r:id="rId12"/>
    <p:sldLayoutId id="2147483677" r:id="rId13"/>
    <p:sldLayoutId id="2147483678"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2.xml"/><Relationship Id="rId1" Type="http://schemas.openxmlformats.org/officeDocument/2006/relationships/tags" Target="../tags/tag4.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3.xml"/><Relationship Id="rId1" Type="http://schemas.openxmlformats.org/officeDocument/2006/relationships/tags" Target="../tags/tag5.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4.xml"/><Relationship Id="rId1" Type="http://schemas.openxmlformats.org/officeDocument/2006/relationships/tags" Target="../tags/tag6.xml"/><Relationship Id="rId6" Type="http://schemas.openxmlformats.org/officeDocument/2006/relationships/image" Target="../media/image2.svg"/><Relationship Id="rId5" Type="http://schemas.openxmlformats.org/officeDocument/2006/relationships/image" Target="../media/image1.png"/><Relationship Id="rId4" Type="http://schemas.openxmlformats.org/officeDocument/2006/relationships/slide" Target="slide4.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7" Type="http://schemas.openxmlformats.org/officeDocument/2006/relationships/image" Target="../media/image2.svg"/><Relationship Id="rId2" Type="http://schemas.openxmlformats.org/officeDocument/2006/relationships/slideLayout" Target="../slideLayouts/slideLayout14.xml"/><Relationship Id="rId1" Type="http://schemas.openxmlformats.org/officeDocument/2006/relationships/tags" Target="../tags/tag7.xml"/><Relationship Id="rId6" Type="http://schemas.openxmlformats.org/officeDocument/2006/relationships/image" Target="../media/image1.png"/><Relationship Id="rId5" Type="http://schemas.openxmlformats.org/officeDocument/2006/relationships/slide" Target="slide6.xml"/><Relationship Id="rId4" Type="http://schemas.openxmlformats.org/officeDocument/2006/relationships/slide" Target="slide5.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7" Type="http://schemas.openxmlformats.org/officeDocument/2006/relationships/slide" Target="slide8.xml"/><Relationship Id="rId2" Type="http://schemas.openxmlformats.org/officeDocument/2006/relationships/slideLayout" Target="../slideLayouts/slideLayout14.xml"/><Relationship Id="rId1" Type="http://schemas.openxmlformats.org/officeDocument/2006/relationships/tags" Target="../tags/tag8.xml"/><Relationship Id="rId6" Type="http://schemas.openxmlformats.org/officeDocument/2006/relationships/slide" Target="slide7.xml"/><Relationship Id="rId5" Type="http://schemas.openxmlformats.org/officeDocument/2006/relationships/image" Target="../media/image2.svg"/><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7" Type="http://schemas.openxmlformats.org/officeDocument/2006/relationships/slide" Target="slide11.xml"/><Relationship Id="rId2" Type="http://schemas.openxmlformats.org/officeDocument/2006/relationships/slideLayout" Target="../slideLayouts/slideLayout14.xml"/><Relationship Id="rId1" Type="http://schemas.openxmlformats.org/officeDocument/2006/relationships/tags" Target="../tags/tag9.xml"/><Relationship Id="rId6" Type="http://schemas.openxmlformats.org/officeDocument/2006/relationships/slide" Target="slide10.xml"/><Relationship Id="rId5" Type="http://schemas.openxmlformats.org/officeDocument/2006/relationships/image" Target="../media/image2.svg"/><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4.xml"/><Relationship Id="rId1" Type="http://schemas.openxmlformats.org/officeDocument/2006/relationships/tags" Target="../tags/tag10.xml"/><Relationship Id="rId6" Type="http://schemas.openxmlformats.org/officeDocument/2006/relationships/image" Target="../media/image2.svg"/><Relationship Id="rId5" Type="http://schemas.openxmlformats.org/officeDocument/2006/relationships/image" Target="../media/image1.png"/><Relationship Id="rId4" Type="http://schemas.openxmlformats.org/officeDocument/2006/relationships/slide" Target="slide27.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4.xml"/><Relationship Id="rId1" Type="http://schemas.openxmlformats.org/officeDocument/2006/relationships/tags" Target="../tags/tag11.xml"/><Relationship Id="rId6" Type="http://schemas.openxmlformats.org/officeDocument/2006/relationships/image" Target="../media/image2.svg"/><Relationship Id="rId5" Type="http://schemas.openxmlformats.org/officeDocument/2006/relationships/image" Target="../media/image1.png"/><Relationship Id="rId4" Type="http://schemas.openxmlformats.org/officeDocument/2006/relationships/slide" Target="slide9.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7" Type="http://schemas.openxmlformats.org/officeDocument/2006/relationships/image" Target="../media/image2.svg"/><Relationship Id="rId2" Type="http://schemas.openxmlformats.org/officeDocument/2006/relationships/slideLayout" Target="../slideLayouts/slideLayout14.xml"/><Relationship Id="rId1" Type="http://schemas.openxmlformats.org/officeDocument/2006/relationships/tags" Target="../tags/tag12.xml"/><Relationship Id="rId6" Type="http://schemas.openxmlformats.org/officeDocument/2006/relationships/image" Target="../media/image1.png"/><Relationship Id="rId5" Type="http://schemas.openxmlformats.org/officeDocument/2006/relationships/slide" Target="slide13.xml"/><Relationship Id="rId4" Type="http://schemas.openxmlformats.org/officeDocument/2006/relationships/slide" Target="slide12.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7" Type="http://schemas.openxmlformats.org/officeDocument/2006/relationships/image" Target="../media/image2.svg"/><Relationship Id="rId2" Type="http://schemas.openxmlformats.org/officeDocument/2006/relationships/slideLayout" Target="../slideLayouts/slideLayout14.xml"/><Relationship Id="rId1" Type="http://schemas.openxmlformats.org/officeDocument/2006/relationships/tags" Target="../tags/tag13.xml"/><Relationship Id="rId6" Type="http://schemas.openxmlformats.org/officeDocument/2006/relationships/image" Target="../media/image1.png"/><Relationship Id="rId5" Type="http://schemas.openxmlformats.org/officeDocument/2006/relationships/slide" Target="slide13.xml"/><Relationship Id="rId4" Type="http://schemas.openxmlformats.org/officeDocument/2006/relationships/slide" Target="slide12.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7" Type="http://schemas.openxmlformats.org/officeDocument/2006/relationships/image" Target="../media/image2.svg"/><Relationship Id="rId2" Type="http://schemas.openxmlformats.org/officeDocument/2006/relationships/slideLayout" Target="../slideLayouts/slideLayout14.xml"/><Relationship Id="rId1" Type="http://schemas.openxmlformats.org/officeDocument/2006/relationships/tags" Target="../tags/tag14.xml"/><Relationship Id="rId6" Type="http://schemas.openxmlformats.org/officeDocument/2006/relationships/image" Target="../media/image1.png"/><Relationship Id="rId5" Type="http://schemas.openxmlformats.org/officeDocument/2006/relationships/slide" Target="slide15.xml"/><Relationship Id="rId4" Type="http://schemas.openxmlformats.org/officeDocument/2006/relationships/slide" Target="slide14.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4.xml"/><Relationship Id="rId1" Type="http://schemas.openxmlformats.org/officeDocument/2006/relationships/tags" Target="../tags/tag15.xml"/><Relationship Id="rId6" Type="http://schemas.openxmlformats.org/officeDocument/2006/relationships/image" Target="../media/image2.svg"/><Relationship Id="rId5" Type="http://schemas.openxmlformats.org/officeDocument/2006/relationships/image" Target="../media/image1.png"/><Relationship Id="rId4" Type="http://schemas.openxmlformats.org/officeDocument/2006/relationships/slide" Target="slide16.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4.xml"/><Relationship Id="rId1" Type="http://schemas.openxmlformats.org/officeDocument/2006/relationships/tags" Target="../tags/tag16.xml"/><Relationship Id="rId6" Type="http://schemas.openxmlformats.org/officeDocument/2006/relationships/image" Target="../media/image2.svg"/><Relationship Id="rId5" Type="http://schemas.openxmlformats.org/officeDocument/2006/relationships/image" Target="../media/image1.png"/><Relationship Id="rId4" Type="http://schemas.openxmlformats.org/officeDocument/2006/relationships/slide" Target="slide17.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4.xml"/><Relationship Id="rId1" Type="http://schemas.openxmlformats.org/officeDocument/2006/relationships/tags" Target="../tags/tag17.xml"/><Relationship Id="rId6" Type="http://schemas.openxmlformats.org/officeDocument/2006/relationships/image" Target="../media/image2.svg"/><Relationship Id="rId5" Type="http://schemas.openxmlformats.org/officeDocument/2006/relationships/image" Target="../media/image1.png"/><Relationship Id="rId4" Type="http://schemas.openxmlformats.org/officeDocument/2006/relationships/slide" Target="slide18.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4.xml"/><Relationship Id="rId1" Type="http://schemas.openxmlformats.org/officeDocument/2006/relationships/tags" Target="../tags/tag18.xml"/><Relationship Id="rId6" Type="http://schemas.openxmlformats.org/officeDocument/2006/relationships/image" Target="../media/image2.svg"/><Relationship Id="rId5" Type="http://schemas.openxmlformats.org/officeDocument/2006/relationships/image" Target="../media/image1.png"/><Relationship Id="rId4" Type="http://schemas.openxmlformats.org/officeDocument/2006/relationships/slide" Target="slide19.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7" Type="http://schemas.openxmlformats.org/officeDocument/2006/relationships/image" Target="../media/image2.svg"/><Relationship Id="rId2" Type="http://schemas.openxmlformats.org/officeDocument/2006/relationships/slideLayout" Target="../slideLayouts/slideLayout14.xml"/><Relationship Id="rId1" Type="http://schemas.openxmlformats.org/officeDocument/2006/relationships/tags" Target="../tags/tag19.xml"/><Relationship Id="rId6" Type="http://schemas.openxmlformats.org/officeDocument/2006/relationships/image" Target="../media/image1.png"/><Relationship Id="rId5" Type="http://schemas.openxmlformats.org/officeDocument/2006/relationships/slide" Target="slide21.xml"/><Relationship Id="rId4" Type="http://schemas.openxmlformats.org/officeDocument/2006/relationships/slide" Target="slide20.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7" Type="http://schemas.openxmlformats.org/officeDocument/2006/relationships/image" Target="../media/image2.svg"/><Relationship Id="rId2" Type="http://schemas.openxmlformats.org/officeDocument/2006/relationships/slideLayout" Target="../slideLayouts/slideLayout14.xml"/><Relationship Id="rId1" Type="http://schemas.openxmlformats.org/officeDocument/2006/relationships/tags" Target="../tags/tag20.xml"/><Relationship Id="rId6" Type="http://schemas.openxmlformats.org/officeDocument/2006/relationships/image" Target="../media/image1.png"/><Relationship Id="rId5" Type="http://schemas.openxmlformats.org/officeDocument/2006/relationships/slide" Target="slide21.xml"/><Relationship Id="rId4" Type="http://schemas.openxmlformats.org/officeDocument/2006/relationships/slide" Target="slide20.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7" Type="http://schemas.openxmlformats.org/officeDocument/2006/relationships/image" Target="../media/image2.svg"/><Relationship Id="rId2" Type="http://schemas.openxmlformats.org/officeDocument/2006/relationships/slideLayout" Target="../slideLayouts/slideLayout14.xml"/><Relationship Id="rId1" Type="http://schemas.openxmlformats.org/officeDocument/2006/relationships/tags" Target="../tags/tag21.xml"/><Relationship Id="rId6" Type="http://schemas.openxmlformats.org/officeDocument/2006/relationships/image" Target="../media/image1.png"/><Relationship Id="rId5" Type="http://schemas.openxmlformats.org/officeDocument/2006/relationships/slide" Target="slide21.xml"/><Relationship Id="rId4" Type="http://schemas.openxmlformats.org/officeDocument/2006/relationships/slide" Target="slide20.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4.xml"/><Relationship Id="rId1" Type="http://schemas.openxmlformats.org/officeDocument/2006/relationships/tags" Target="../tags/tag22.xml"/><Relationship Id="rId6" Type="http://schemas.openxmlformats.org/officeDocument/2006/relationships/image" Target="../media/image2.svg"/><Relationship Id="rId5" Type="http://schemas.openxmlformats.org/officeDocument/2006/relationships/image" Target="../media/image1.png"/><Relationship Id="rId4" Type="http://schemas.openxmlformats.org/officeDocument/2006/relationships/slide" Target="slide21.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7" Type="http://schemas.openxmlformats.org/officeDocument/2006/relationships/image" Target="../media/image2.svg"/><Relationship Id="rId2" Type="http://schemas.openxmlformats.org/officeDocument/2006/relationships/slideLayout" Target="../slideLayouts/slideLayout14.xml"/><Relationship Id="rId1" Type="http://schemas.openxmlformats.org/officeDocument/2006/relationships/tags" Target="../tags/tag23.xml"/><Relationship Id="rId6" Type="http://schemas.openxmlformats.org/officeDocument/2006/relationships/image" Target="../media/image1.png"/><Relationship Id="rId5" Type="http://schemas.openxmlformats.org/officeDocument/2006/relationships/slide" Target="slide23.xml"/><Relationship Id="rId4" Type="http://schemas.openxmlformats.org/officeDocument/2006/relationships/slide" Target="slide22.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14.xml"/><Relationship Id="rId1" Type="http://schemas.openxmlformats.org/officeDocument/2006/relationships/tags" Target="../tags/tag24.xml"/><Relationship Id="rId6" Type="http://schemas.openxmlformats.org/officeDocument/2006/relationships/image" Target="../media/image2.svg"/><Relationship Id="rId5" Type="http://schemas.openxmlformats.org/officeDocument/2006/relationships/image" Target="../media/image1.png"/><Relationship Id="rId4" Type="http://schemas.openxmlformats.org/officeDocument/2006/relationships/slide" Target="slide23.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7" Type="http://schemas.openxmlformats.org/officeDocument/2006/relationships/image" Target="../media/image2.svg"/><Relationship Id="rId2" Type="http://schemas.openxmlformats.org/officeDocument/2006/relationships/slideLayout" Target="../slideLayouts/slideLayout14.xml"/><Relationship Id="rId1" Type="http://schemas.openxmlformats.org/officeDocument/2006/relationships/tags" Target="../tags/tag25.xml"/><Relationship Id="rId6" Type="http://schemas.openxmlformats.org/officeDocument/2006/relationships/image" Target="../media/image1.png"/><Relationship Id="rId5" Type="http://schemas.openxmlformats.org/officeDocument/2006/relationships/slide" Target="slide25.xml"/><Relationship Id="rId4" Type="http://schemas.openxmlformats.org/officeDocument/2006/relationships/slide" Target="slide24.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14.xml"/><Relationship Id="rId1" Type="http://schemas.openxmlformats.org/officeDocument/2006/relationships/tags" Target="../tags/tag26.xml"/><Relationship Id="rId6" Type="http://schemas.openxmlformats.org/officeDocument/2006/relationships/image" Target="../media/image2.svg"/><Relationship Id="rId5" Type="http://schemas.openxmlformats.org/officeDocument/2006/relationships/image" Target="../media/image1.png"/><Relationship Id="rId4" Type="http://schemas.openxmlformats.org/officeDocument/2006/relationships/slide" Target="slide25.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7" Type="http://schemas.openxmlformats.org/officeDocument/2006/relationships/image" Target="../media/image2.svg"/><Relationship Id="rId2" Type="http://schemas.openxmlformats.org/officeDocument/2006/relationships/slideLayout" Target="../slideLayouts/slideLayout14.xml"/><Relationship Id="rId1" Type="http://schemas.openxmlformats.org/officeDocument/2006/relationships/tags" Target="../tags/tag27.xml"/><Relationship Id="rId6" Type="http://schemas.openxmlformats.org/officeDocument/2006/relationships/image" Target="../media/image1.png"/><Relationship Id="rId5" Type="http://schemas.openxmlformats.org/officeDocument/2006/relationships/slide" Target="slide27.xml"/><Relationship Id="rId4" Type="http://schemas.openxmlformats.org/officeDocument/2006/relationships/slide" Target="slide26.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14.xml"/><Relationship Id="rId1" Type="http://schemas.openxmlformats.org/officeDocument/2006/relationships/tags" Target="../tags/tag28.xml"/><Relationship Id="rId4" Type="http://schemas.openxmlformats.org/officeDocument/2006/relationships/slide" Target="slide27.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12.xml"/><Relationship Id="rId1" Type="http://schemas.openxmlformats.org/officeDocument/2006/relationships/tags" Target="../tags/tag29.xml"/><Relationship Id="rId4" Type="http://schemas.openxmlformats.org/officeDocument/2006/relationships/slide" Target="slide3.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12.xml"/><Relationship Id="rId1" Type="http://schemas.openxmlformats.org/officeDocument/2006/relationships/tags" Target="../tags/tag30.xml"/><Relationship Id="rId4" Type="http://schemas.openxmlformats.org/officeDocument/2006/relationships/slide" Target="slide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EDC8A4C7-E8B8-4E33-B044-CC3D5091BE98}"/>
              </a:ext>
            </a:extLst>
          </p:cNvPr>
          <p:cNvSpPr/>
          <p:nvPr/>
        </p:nvSpPr>
        <p:spPr>
          <a:xfrm>
            <a:off x="0" y="3572"/>
            <a:ext cx="12191998" cy="6836640"/>
          </a:xfrm>
          <a:prstGeom prst="rect">
            <a:avLst/>
          </a:prstGeom>
          <a:ln/>
        </p:spPr>
        <p:style>
          <a:lnRef idx="1">
            <a:schemeClr val="accent1"/>
          </a:lnRef>
          <a:fillRef idx="2">
            <a:schemeClr val="accent1"/>
          </a:fillRef>
          <a:effectRef idx="1">
            <a:schemeClr val="accent1"/>
          </a:effectRef>
          <a:fontRef idx="minor">
            <a:schemeClr val="dk1"/>
          </a:fontRef>
        </p:style>
        <p:txBody>
          <a:bodyPr lIns="121891" tIns="60945" rIns="121891" bIns="60945" rtlCol="0" anchor="ctr">
            <a:noAutofit/>
          </a:bodyPr>
          <a:lstStyle/>
          <a:p>
            <a:pPr marL="342900" indent="-342900" algn="ctr">
              <a:buAutoNum type="arabicPeriod" startAt="3"/>
            </a:pPr>
            <a:endParaRPr lang="en-US" sz="2350" dirty="0">
              <a:cs typeface="Calibri"/>
            </a:endParaRPr>
          </a:p>
          <a:p>
            <a:pPr algn="ctr"/>
            <a:endParaRPr lang="en-US" sz="2350" dirty="0">
              <a:cs typeface="Calibri"/>
            </a:endParaRPr>
          </a:p>
        </p:txBody>
      </p:sp>
      <p:sp>
        <p:nvSpPr>
          <p:cNvPr id="12" name="Rectangle 11">
            <a:extLst>
              <a:ext uri="{FF2B5EF4-FFF2-40B4-BE49-F238E27FC236}">
                <a16:creationId xmlns:a16="http://schemas.microsoft.com/office/drawing/2014/main" id="{4BAADD30-BF56-4928-A2B1-5C319A183DE3}"/>
              </a:ext>
            </a:extLst>
          </p:cNvPr>
          <p:cNvSpPr/>
          <p:nvPr/>
        </p:nvSpPr>
        <p:spPr>
          <a:xfrm>
            <a:off x="0" y="2172065"/>
            <a:ext cx="12192000" cy="4668147"/>
          </a:xfrm>
          <a:prstGeom prst="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27" name="Content Placeholder 3">
            <a:extLst>
              <a:ext uri="{FF2B5EF4-FFF2-40B4-BE49-F238E27FC236}">
                <a16:creationId xmlns:a16="http://schemas.microsoft.com/office/drawing/2014/main" id="{578918F1-B05F-4C66-87EE-3C54FF84F74A}"/>
              </a:ext>
            </a:extLst>
          </p:cNvPr>
          <p:cNvSpPr txBox="1">
            <a:spLocks/>
          </p:cNvSpPr>
          <p:nvPr/>
        </p:nvSpPr>
        <p:spPr>
          <a:xfrm>
            <a:off x="723868" y="2532256"/>
            <a:ext cx="11468129" cy="3942972"/>
          </a:xfrm>
          <a:prstGeom prst="rect">
            <a:avLst/>
          </a:prstGeom>
        </p:spPr>
        <p:txBody>
          <a:bodyPr vert="horz" lIns="121954" tIns="60977" rIns="121954" bIns="60977" rtlCol="0" anchor="t">
            <a:noAutofit/>
          </a:bodyPr>
          <a:lstStyle>
            <a:lvl1pPr marL="457097" indent="-457097" algn="l" defTabSz="609463" rtl="0" eaLnBrk="1" latinLnBrk="0" hangingPunct="1">
              <a:spcBef>
                <a:spcPct val="20000"/>
              </a:spcBef>
              <a:buFont typeface="Arial"/>
              <a:buChar char="•"/>
              <a:defRPr sz="2699" kern="1200">
                <a:solidFill>
                  <a:schemeClr val="accent2"/>
                </a:solidFill>
                <a:latin typeface="+mn-lt"/>
                <a:ea typeface="+mn-ea"/>
                <a:cs typeface="+mn-cs"/>
              </a:defRPr>
            </a:lvl1pPr>
            <a:lvl2pPr marL="990377" indent="-380914" algn="l" defTabSz="609463" rtl="0" eaLnBrk="1" latinLnBrk="0" hangingPunct="1">
              <a:spcBef>
                <a:spcPct val="20000"/>
              </a:spcBef>
              <a:buFont typeface="Arial"/>
              <a:buChar char="–"/>
              <a:defRPr sz="2399" kern="1200">
                <a:solidFill>
                  <a:schemeClr val="accent2"/>
                </a:solidFill>
                <a:latin typeface="+mn-lt"/>
                <a:ea typeface="+mn-ea"/>
                <a:cs typeface="+mn-cs"/>
              </a:defRPr>
            </a:lvl2pPr>
            <a:lvl3pPr marL="1523657" indent="-304732" algn="l" defTabSz="609463" rtl="0" eaLnBrk="1" latinLnBrk="0" hangingPunct="1">
              <a:spcBef>
                <a:spcPct val="20000"/>
              </a:spcBef>
              <a:buFont typeface="Arial"/>
              <a:buChar char="•"/>
              <a:defRPr sz="2099" kern="1200">
                <a:solidFill>
                  <a:schemeClr val="accent2"/>
                </a:solidFill>
                <a:latin typeface="+mn-lt"/>
                <a:ea typeface="+mn-ea"/>
                <a:cs typeface="+mn-cs"/>
              </a:defRPr>
            </a:lvl3pPr>
            <a:lvl4pPr marL="2133120" indent="-304732" algn="l" defTabSz="609463" rtl="0" eaLnBrk="1" latinLnBrk="0" hangingPunct="1">
              <a:spcBef>
                <a:spcPct val="20000"/>
              </a:spcBef>
              <a:buFont typeface="Arial"/>
              <a:buChar char="–"/>
              <a:defRPr sz="1899" kern="1200">
                <a:solidFill>
                  <a:schemeClr val="accent2"/>
                </a:solidFill>
                <a:latin typeface="+mn-lt"/>
                <a:ea typeface="+mn-ea"/>
                <a:cs typeface="+mn-cs"/>
              </a:defRPr>
            </a:lvl4pPr>
            <a:lvl5pPr marL="2742582" indent="-304732" algn="l" defTabSz="609463" rtl="0" eaLnBrk="1" latinLnBrk="0" hangingPunct="1">
              <a:spcBef>
                <a:spcPct val="20000"/>
              </a:spcBef>
              <a:buFont typeface="Arial"/>
              <a:buChar char="»"/>
              <a:defRPr sz="1899" kern="1200">
                <a:solidFill>
                  <a:schemeClr val="accent2"/>
                </a:solidFill>
                <a:latin typeface="+mn-lt"/>
                <a:ea typeface="+mn-ea"/>
                <a:cs typeface="+mn-cs"/>
              </a:defRPr>
            </a:lvl5pPr>
            <a:lvl6pPr marL="3352045" indent="-304732" algn="l" defTabSz="609463" rtl="0" eaLnBrk="1" latinLnBrk="0" hangingPunct="1">
              <a:spcBef>
                <a:spcPct val="20000"/>
              </a:spcBef>
              <a:buFont typeface="Arial"/>
              <a:buChar char="•"/>
              <a:defRPr sz="2699" kern="1200">
                <a:solidFill>
                  <a:schemeClr val="tx1"/>
                </a:solidFill>
                <a:latin typeface="+mn-lt"/>
                <a:ea typeface="+mn-ea"/>
                <a:cs typeface="+mn-cs"/>
              </a:defRPr>
            </a:lvl6pPr>
            <a:lvl7pPr marL="3961508" indent="-304732" algn="l" defTabSz="609463" rtl="0" eaLnBrk="1" latinLnBrk="0" hangingPunct="1">
              <a:spcBef>
                <a:spcPct val="20000"/>
              </a:spcBef>
              <a:buFont typeface="Arial"/>
              <a:buChar char="•"/>
              <a:defRPr sz="2699" kern="1200">
                <a:solidFill>
                  <a:schemeClr val="tx1"/>
                </a:solidFill>
                <a:latin typeface="+mn-lt"/>
                <a:ea typeface="+mn-ea"/>
                <a:cs typeface="+mn-cs"/>
              </a:defRPr>
            </a:lvl7pPr>
            <a:lvl8pPr marL="4570970" indent="-304732" algn="l" defTabSz="609463" rtl="0" eaLnBrk="1" latinLnBrk="0" hangingPunct="1">
              <a:spcBef>
                <a:spcPct val="20000"/>
              </a:spcBef>
              <a:buFont typeface="Arial"/>
              <a:buChar char="•"/>
              <a:defRPr sz="2699" kern="1200">
                <a:solidFill>
                  <a:schemeClr val="tx1"/>
                </a:solidFill>
                <a:latin typeface="+mn-lt"/>
                <a:ea typeface="+mn-ea"/>
                <a:cs typeface="+mn-cs"/>
              </a:defRPr>
            </a:lvl8pPr>
            <a:lvl9pPr marL="5180433" indent="-304732" algn="l" defTabSz="609463" rtl="0" eaLnBrk="1" latinLnBrk="0" hangingPunct="1">
              <a:spcBef>
                <a:spcPct val="20000"/>
              </a:spcBef>
              <a:buFont typeface="Arial"/>
              <a:buChar char="•"/>
              <a:defRPr sz="2699" kern="1200">
                <a:solidFill>
                  <a:schemeClr val="tx1"/>
                </a:solidFill>
                <a:latin typeface="+mn-lt"/>
                <a:ea typeface="+mn-ea"/>
                <a:cs typeface="+mn-cs"/>
              </a:defRPr>
            </a:lvl9pPr>
          </a:lstStyle>
          <a:p>
            <a:pPr marL="0" indent="0">
              <a:buNone/>
            </a:pPr>
            <a:r>
              <a:rPr lang="en-US" sz="2400" b="1" dirty="0">
                <a:solidFill>
                  <a:schemeClr val="tx1"/>
                </a:solidFill>
                <a:latin typeface="+mj-lt"/>
                <a:cs typeface="Titillium WebSemiBold"/>
              </a:rPr>
              <a:t>Module 5</a:t>
            </a:r>
            <a:r>
              <a:rPr lang="en-US" sz="2400" dirty="0">
                <a:solidFill>
                  <a:schemeClr val="tx1"/>
                </a:solidFill>
                <a:latin typeface="+mj-lt"/>
                <a:cs typeface="Titillium WebSemiBold"/>
              </a:rPr>
              <a:t>: Software and Apps</a:t>
            </a:r>
          </a:p>
          <a:p>
            <a:pPr marL="0" indent="0">
              <a:buNone/>
            </a:pPr>
            <a:r>
              <a:rPr lang="en-US" sz="2400" b="1" dirty="0">
                <a:solidFill>
                  <a:schemeClr val="tx1"/>
                </a:solidFill>
                <a:latin typeface="+mj-lt"/>
                <a:cs typeface="Calibri Light"/>
              </a:rPr>
              <a:t>Lesson objective 5.2: </a:t>
            </a:r>
            <a:r>
              <a:rPr lang="en-US" sz="2400" dirty="0">
                <a:solidFill>
                  <a:schemeClr val="tx1"/>
                </a:solidFill>
                <a:latin typeface="+mj-lt"/>
                <a:cs typeface="Calibri Light"/>
              </a:rPr>
              <a:t>Use common features of productivity and graphics apps.</a:t>
            </a:r>
          </a:p>
          <a:p>
            <a:pPr marL="0" indent="0">
              <a:buNone/>
            </a:pPr>
            <a:r>
              <a:rPr lang="en-US" sz="2400" b="1" i="1" dirty="0">
                <a:solidFill>
                  <a:schemeClr val="tx1"/>
                </a:solidFill>
                <a:latin typeface="+mj-lt"/>
                <a:cs typeface="Calibri Light"/>
              </a:rPr>
              <a:t>Learning objectives:</a:t>
            </a:r>
          </a:p>
          <a:p>
            <a:pPr marL="0" indent="0">
              <a:buNone/>
            </a:pPr>
            <a:r>
              <a:rPr lang="en-US" sz="2400" dirty="0">
                <a:solidFill>
                  <a:schemeClr val="tx1"/>
                </a:solidFill>
                <a:latin typeface="+mj-lt"/>
                <a:cs typeface="Calibri Light"/>
              </a:rPr>
              <a:t>5.2.1 Understand the features of common productivity suites.</a:t>
            </a:r>
          </a:p>
          <a:p>
            <a:pPr marL="0" indent="0">
              <a:buNone/>
            </a:pPr>
            <a:r>
              <a:rPr lang="en-US" sz="2400" dirty="0">
                <a:solidFill>
                  <a:schemeClr val="tx1"/>
                </a:solidFill>
                <a:latin typeface="+mj-lt"/>
                <a:cs typeface="Calibri Light"/>
              </a:rPr>
              <a:t>5.2.3 Use spreadsheet software to manage basic workbooks.</a:t>
            </a:r>
          </a:p>
          <a:p>
            <a:pPr marL="0" indent="0">
              <a:buNone/>
            </a:pPr>
            <a:r>
              <a:rPr lang="en-US" sz="2400" dirty="0">
                <a:solidFill>
                  <a:schemeClr val="tx1"/>
                </a:solidFill>
                <a:latin typeface="+mj-lt"/>
                <a:cs typeface="Calibri Light"/>
              </a:rPr>
              <a:t>5.2.4 Use presentation software to create and share basic presentations.</a:t>
            </a:r>
          </a:p>
          <a:p>
            <a:pPr marL="0" indent="0">
              <a:buNone/>
            </a:pPr>
            <a:r>
              <a:rPr lang="en-US" sz="2400" dirty="0">
                <a:solidFill>
                  <a:schemeClr val="tx1"/>
                </a:solidFill>
                <a:latin typeface="+mj-lt"/>
                <a:cs typeface="Calibri Light"/>
              </a:rPr>
              <a:t>5.2.5 Use database software to manage basic databases.</a:t>
            </a:r>
          </a:p>
          <a:p>
            <a:pPr marL="0" indent="0">
              <a:buNone/>
            </a:pPr>
            <a:r>
              <a:rPr lang="en-US" sz="2400" dirty="0">
                <a:solidFill>
                  <a:schemeClr val="tx1"/>
                </a:solidFill>
                <a:latin typeface="+mj-lt"/>
                <a:cs typeface="Calibri Light"/>
              </a:rPr>
              <a:t>5.2.6 Use graphics software.</a:t>
            </a:r>
          </a:p>
        </p:txBody>
      </p:sp>
      <p:sp>
        <p:nvSpPr>
          <p:cNvPr id="26" name="Title 2">
            <a:extLst>
              <a:ext uri="{FF2B5EF4-FFF2-40B4-BE49-F238E27FC236}">
                <a16:creationId xmlns:a16="http://schemas.microsoft.com/office/drawing/2014/main" id="{40184B40-508E-4CC0-A6B8-3111CAA042DC}"/>
              </a:ext>
            </a:extLst>
          </p:cNvPr>
          <p:cNvSpPr>
            <a:spLocks noGrp="1"/>
          </p:cNvSpPr>
          <p:nvPr>
            <p:ph type="title"/>
          </p:nvPr>
        </p:nvSpPr>
        <p:spPr>
          <a:xfrm>
            <a:off x="1657293" y="637661"/>
            <a:ext cx="7914250" cy="1143000"/>
          </a:xfrm>
        </p:spPr>
        <p:txBody>
          <a:bodyPr>
            <a:noAutofit/>
          </a:bodyPr>
          <a:lstStyle/>
          <a:p>
            <a:pPr algn="ctr"/>
            <a:r>
              <a:rPr lang="en-US" sz="5400" dirty="0">
                <a:solidFill>
                  <a:schemeClr val="tx1"/>
                </a:solidFill>
                <a:cs typeface="Calibri Light"/>
              </a:rPr>
              <a:t>Working with Applications</a:t>
            </a:r>
          </a:p>
        </p:txBody>
      </p:sp>
    </p:spTree>
    <p:custDataLst>
      <p:tags r:id="rId1"/>
    </p:custDataLst>
    <p:extLst>
      <p:ext uri="{BB962C8B-B14F-4D97-AF65-F5344CB8AC3E}">
        <p14:creationId xmlns:p14="http://schemas.microsoft.com/office/powerpoint/2010/main" val="9876160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90836" y="350874"/>
            <a:ext cx="10412618" cy="680484"/>
          </a:xfrm>
        </p:spPr>
        <p:txBody>
          <a:bodyPr/>
          <a:lstStyle/>
          <a:p>
            <a:r>
              <a:rPr lang="en-US" sz="3650" dirty="0"/>
              <a:t>Working with Applications</a:t>
            </a:r>
            <a:endParaRPr lang="en-JM" dirty="0"/>
          </a:p>
        </p:txBody>
      </p:sp>
      <p:sp>
        <p:nvSpPr>
          <p:cNvPr id="18" name="TextBox 17">
            <a:extLst>
              <a:ext uri="{FF2B5EF4-FFF2-40B4-BE49-F238E27FC236}">
                <a16:creationId xmlns:a16="http://schemas.microsoft.com/office/drawing/2014/main" id="{B73303BB-9630-42BF-B9F7-283167EE8A0D}"/>
              </a:ext>
            </a:extLst>
          </p:cNvPr>
          <p:cNvSpPr txBox="1"/>
          <p:nvPr/>
        </p:nvSpPr>
        <p:spPr>
          <a:xfrm>
            <a:off x="705817" y="4416200"/>
            <a:ext cx="914400" cy="548640"/>
          </a:xfrm>
          <a:prstGeom prst="rect">
            <a:avLst/>
          </a:prstGeom>
          <a:noFill/>
        </p:spPr>
        <p:txBody>
          <a:bodyPr wrap="square" lIns="121891" tIns="60945" rIns="121891" bIns="60945" rtlCol="0" anchor="ctr">
            <a:noAutofit/>
          </a:bodyPr>
          <a:lstStyle>
            <a:defPPr>
              <a:defRPr lang="en-US"/>
            </a:defPPr>
            <a:lvl1pPr>
              <a:defRPr sz="3698">
                <a:solidFill>
                  <a:schemeClr val="accent1"/>
                </a:solidFill>
                <a:latin typeface="+mj-lt"/>
                <a:cs typeface="Titillium WebRegular"/>
              </a:defRPr>
            </a:lvl1pPr>
          </a:lstStyle>
          <a:p>
            <a:endParaRPr lang="en-US" sz="3650" dirty="0">
              <a:cs typeface="Calibri Light"/>
            </a:endParaRPr>
          </a:p>
        </p:txBody>
      </p:sp>
      <p:sp>
        <p:nvSpPr>
          <p:cNvPr id="24" name="Text Placeholder 5">
            <a:extLst>
              <a:ext uri="{FF2B5EF4-FFF2-40B4-BE49-F238E27FC236}">
                <a16:creationId xmlns:a16="http://schemas.microsoft.com/office/drawing/2014/main" id="{C49F1E56-53F7-440A-BB14-B8F4D4D1AD90}"/>
              </a:ext>
            </a:extLst>
          </p:cNvPr>
          <p:cNvSpPr txBox="1">
            <a:spLocks/>
          </p:cNvSpPr>
          <p:nvPr/>
        </p:nvSpPr>
        <p:spPr>
          <a:xfrm>
            <a:off x="790835" y="1156996"/>
            <a:ext cx="11217663" cy="5430416"/>
          </a:xfrm>
          <a:prstGeom prst="rect">
            <a:avLst/>
          </a:prstGeom>
        </p:spPr>
        <p:txBody>
          <a:bodyPr lIns="121891" tIns="60945" rIns="121891" bIns="60945" anchor="t">
            <a:noAutofit/>
          </a:bodyPr>
          <a:lstStyle>
            <a:lvl1pPr marL="342900" indent="-342900" algn="l" defTabSz="914400" rtl="0" eaLnBrk="1" latinLnBrk="0" hangingPunct="1">
              <a:spcBef>
                <a:spcPct val="20000"/>
              </a:spcBef>
              <a:buFont typeface="Arial" pitchFamily="34" charset="0"/>
              <a:buChar char="•"/>
              <a:defRPr sz="2000" kern="1200">
                <a:solidFill>
                  <a:schemeClr val="tx1">
                    <a:lumMod val="85000"/>
                    <a:lumOff val="1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800" kern="1200">
                <a:solidFill>
                  <a:schemeClr val="tx1">
                    <a:lumMod val="85000"/>
                    <a:lumOff val="1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600" kern="1200">
                <a:solidFill>
                  <a:schemeClr val="tx1">
                    <a:lumMod val="85000"/>
                    <a:lumOff val="1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400" kern="1200">
                <a:solidFill>
                  <a:schemeClr val="tx1">
                    <a:lumMod val="85000"/>
                    <a:lumOff val="1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400" kern="1200">
                <a:solidFill>
                  <a:schemeClr val="tx1">
                    <a:lumMod val="85000"/>
                    <a:lumOff val="1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None/>
            </a:pPr>
            <a:r>
              <a:rPr lang="en-US" i="1" dirty="0">
                <a:solidFill>
                  <a:schemeClr val="tx2"/>
                </a:solidFill>
              </a:rPr>
              <a:t>Student Takeaways</a:t>
            </a:r>
          </a:p>
          <a:p>
            <a:pPr>
              <a:buNone/>
            </a:pPr>
            <a:r>
              <a:rPr lang="en-US" dirty="0">
                <a:solidFill>
                  <a:schemeClr val="tx2"/>
                </a:solidFill>
              </a:rPr>
              <a:t>In this simulation, students must decide:</a:t>
            </a:r>
          </a:p>
          <a:p>
            <a:pPr>
              <a:buNone/>
            </a:pPr>
            <a:r>
              <a:rPr lang="en-US" dirty="0">
                <a:solidFill>
                  <a:schemeClr val="tx2"/>
                </a:solidFill>
              </a:rPr>
              <a:t>•	How/when to use Access to gather data</a:t>
            </a:r>
          </a:p>
          <a:p>
            <a:pPr>
              <a:buNone/>
            </a:pPr>
            <a:r>
              <a:rPr lang="en-US" dirty="0">
                <a:solidFill>
                  <a:schemeClr val="tx2"/>
                </a:solidFill>
              </a:rPr>
              <a:t>•	How to present data visually</a:t>
            </a:r>
          </a:p>
          <a:p>
            <a:pPr>
              <a:buNone/>
            </a:pPr>
            <a:r>
              <a:rPr lang="en-US" dirty="0">
                <a:solidFill>
                  <a:schemeClr val="tx2"/>
                </a:solidFill>
              </a:rPr>
              <a:t>•	How to prepare a presentation</a:t>
            </a:r>
          </a:p>
          <a:p>
            <a:pPr>
              <a:buNone/>
            </a:pPr>
            <a:endParaRPr lang="en-US" dirty="0">
              <a:solidFill>
                <a:schemeClr val="tx2"/>
              </a:solidFill>
            </a:endParaRPr>
          </a:p>
          <a:p>
            <a:pPr>
              <a:buNone/>
            </a:pPr>
            <a:r>
              <a:rPr lang="en-US" i="1" dirty="0">
                <a:solidFill>
                  <a:schemeClr val="tx2"/>
                </a:solidFill>
              </a:rPr>
              <a:t>Student Tips</a:t>
            </a:r>
          </a:p>
          <a:p>
            <a:pPr>
              <a:buFont typeface="Wingdings" panose="05000000000000000000" pitchFamily="2" charset="2"/>
              <a:buChar char="ü"/>
            </a:pPr>
            <a:r>
              <a:rPr lang="en-US" dirty="0">
                <a:solidFill>
                  <a:schemeClr val="tx2"/>
                </a:solidFill>
              </a:rPr>
              <a:t>This scenario gives you the opportunity to practice working with different kinds of applications. At each step, think carefully about which app will best accomplish your goals, and what features within the app will perform the tasks you need.</a:t>
            </a:r>
          </a:p>
          <a:p>
            <a:pPr>
              <a:buFont typeface="Wingdings" panose="05000000000000000000" pitchFamily="2" charset="2"/>
              <a:buChar char="ü"/>
            </a:pPr>
            <a:r>
              <a:rPr lang="en-US" dirty="0">
                <a:solidFill>
                  <a:schemeClr val="tx2"/>
                </a:solidFill>
              </a:rPr>
              <a:t>Be careful to choose the best tool for the job at each step along the way.</a:t>
            </a:r>
          </a:p>
          <a:p>
            <a:pPr>
              <a:buFont typeface="Wingdings" panose="05000000000000000000" pitchFamily="2" charset="2"/>
              <a:buChar char="ü"/>
            </a:pPr>
            <a:r>
              <a:rPr lang="en-US" dirty="0">
                <a:solidFill>
                  <a:schemeClr val="tx2"/>
                </a:solidFill>
              </a:rPr>
              <a:t>Remember to take your time in forming your proposal so it has the best chance of going over well with the boss.</a:t>
            </a:r>
          </a:p>
          <a:p>
            <a:pPr>
              <a:buFont typeface="Wingdings" panose="05000000000000000000" pitchFamily="2" charset="2"/>
              <a:buChar char="ü"/>
            </a:pPr>
            <a:r>
              <a:rPr lang="en-JM" dirty="0">
                <a:solidFill>
                  <a:schemeClr val="tx2"/>
                </a:solidFill>
              </a:rPr>
              <a:t>Consider the best sources of information on which to build your proposal.</a:t>
            </a:r>
          </a:p>
          <a:p>
            <a:pPr>
              <a:buFont typeface="Wingdings" panose="05000000000000000000" pitchFamily="2" charset="2"/>
              <a:buChar char="ü"/>
            </a:pPr>
            <a:r>
              <a:rPr lang="en-JM" dirty="0">
                <a:solidFill>
                  <a:schemeClr val="tx2"/>
                </a:solidFill>
              </a:rPr>
              <a:t>Make sure you present your findings in a clean, professional, and efficient manner.</a:t>
            </a:r>
          </a:p>
        </p:txBody>
      </p:sp>
    </p:spTree>
    <p:custDataLst>
      <p:tags r:id="rId1"/>
    </p:custDataLst>
    <p:extLst>
      <p:ext uri="{BB962C8B-B14F-4D97-AF65-F5344CB8AC3E}">
        <p14:creationId xmlns:p14="http://schemas.microsoft.com/office/powerpoint/2010/main" val="14137060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
          <p:cNvSpPr txBox="1">
            <a:spLocks/>
          </p:cNvSpPr>
          <p:nvPr/>
        </p:nvSpPr>
        <p:spPr>
          <a:xfrm>
            <a:off x="795113" y="603053"/>
            <a:ext cx="11079729" cy="4471296"/>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2"/>
                </a:solidFill>
                <a:ea typeface="Calibri"/>
                <a:cs typeface="Calibri"/>
              </a:rPr>
              <a:t>You’re working as a staff accountant for a company that owns and manages apartment complexes. One of your responsibilities is to reconcile payroll expenses. One day as you’re working, you start to notice a pattern that a lot of people call in sick on Fridays, and these unscheduled days off are costing the company a lot of money in lost productivity and administrative costs. You’ve also heard some complaints in the lunchroom about how hard it is to get in doctor appointments or run errands during lunch.</a:t>
            </a: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r>
              <a:rPr lang="en-US" sz="2050" dirty="0">
                <a:solidFill>
                  <a:schemeClr val="tx2"/>
                </a:solidFill>
                <a:ea typeface="Calibri"/>
                <a:cs typeface="Calibri"/>
              </a:rPr>
              <a:t>As you think over this situation, you start to wonder if the company and employees might all be happier with a variation on the normal work week. For example, you have a friend at another company who, every other week, works four 10-hour days rather than five 8-hour days, and she says she really likes it. As you chat about this idea with some coworkers, everyone starts to get excited about it and says they would love to have that option.</a:t>
            </a:r>
            <a:endParaRPr lang="en-US" sz="2050" dirty="0">
              <a:solidFill>
                <a:schemeClr val="tx2"/>
              </a:solidFill>
              <a:cs typeface="Calibri"/>
            </a:endParaRPr>
          </a:p>
          <a:p>
            <a:pPr marL="0" indent="0">
              <a:spcBef>
                <a:spcPts val="0"/>
              </a:spcBef>
              <a:buNone/>
              <a:defRPr/>
            </a:pPr>
            <a:endParaRPr lang="en-US" dirty="0">
              <a:solidFill>
                <a:schemeClr val="tx2"/>
              </a:solidFill>
            </a:endParaRPr>
          </a:p>
        </p:txBody>
      </p:sp>
      <p:sp>
        <p:nvSpPr>
          <p:cNvPr id="12" name="Text Placeholder 1"/>
          <p:cNvSpPr txBox="1">
            <a:spLocks/>
          </p:cNvSpPr>
          <p:nvPr/>
        </p:nvSpPr>
        <p:spPr>
          <a:xfrm>
            <a:off x="795113" y="5509260"/>
            <a:ext cx="10677482" cy="1165860"/>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2"/>
                </a:solidFill>
                <a:ea typeface="Calibri"/>
                <a:cs typeface="Calibri"/>
                <a:hlinkClick r:id="rId4" action="ppaction://hlinksldjump"/>
              </a:rPr>
              <a:t>Continue</a:t>
            </a:r>
            <a:endParaRPr lang="en-US" sz="2050" dirty="0">
              <a:solidFill>
                <a:schemeClr val="tx2"/>
              </a:solidFill>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p:txBody>
      </p:sp>
      <p:pic>
        <p:nvPicPr>
          <p:cNvPr id="7" name="Graphic 6" descr="Volume">
            <a:extLst>
              <a:ext uri="{FF2B5EF4-FFF2-40B4-BE49-F238E27FC236}">
                <a16:creationId xmlns:a16="http://schemas.microsoft.com/office/drawing/2014/main" id="{98858AF6-4306-4AB2-9A31-F2CF2E76360E}"/>
              </a:ext>
            </a:extLst>
          </p:cNvPr>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43363" y="510636"/>
            <a:ext cx="430491" cy="356827"/>
          </a:xfrm>
          <a:prstGeom prst="rect">
            <a:avLst/>
          </a:prstGeom>
        </p:spPr>
      </p:pic>
      <p:sp>
        <p:nvSpPr>
          <p:cNvPr id="2" name="Title 1">
            <a:extLst>
              <a:ext uri="{FF2B5EF4-FFF2-40B4-BE49-F238E27FC236}">
                <a16:creationId xmlns:a16="http://schemas.microsoft.com/office/drawing/2014/main" id="{AAE4B061-1973-4598-99F6-EBDFEBA643E0}"/>
              </a:ext>
            </a:extLst>
          </p:cNvPr>
          <p:cNvSpPr>
            <a:spLocks noGrp="1"/>
          </p:cNvSpPr>
          <p:nvPr>
            <p:ph type="title"/>
          </p:nvPr>
        </p:nvSpPr>
        <p:spPr>
          <a:xfrm>
            <a:off x="795113" y="5074"/>
            <a:ext cx="10412618" cy="505562"/>
          </a:xfrm>
        </p:spPr>
        <p:txBody>
          <a:bodyPr>
            <a:normAutofit fontScale="90000"/>
          </a:bodyPr>
          <a:lstStyle/>
          <a:p>
            <a:r>
              <a:rPr lang="en-US" dirty="0"/>
              <a:t>Introduction</a:t>
            </a:r>
          </a:p>
        </p:txBody>
      </p:sp>
    </p:spTree>
    <p:custDataLst>
      <p:tags r:id="rId1"/>
    </p:custDataLst>
    <p:extLst>
      <p:ext uri="{BB962C8B-B14F-4D97-AF65-F5344CB8AC3E}">
        <p14:creationId xmlns:p14="http://schemas.microsoft.com/office/powerpoint/2010/main" val="41360026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
          <p:cNvSpPr txBox="1">
            <a:spLocks/>
          </p:cNvSpPr>
          <p:nvPr/>
        </p:nvSpPr>
        <p:spPr>
          <a:xfrm>
            <a:off x="743062" y="689049"/>
            <a:ext cx="10412618" cy="4471296"/>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2"/>
                </a:solidFill>
                <a:ea typeface="Calibri"/>
                <a:cs typeface="Calibri"/>
              </a:rPr>
              <a:t>Over the weekend, you decide to approach management with your suggestion. But first, you need to gather some data. Which of the following applications will work best to give you information on the company’s employees and their attendance records for the past year?</a:t>
            </a:r>
            <a:endParaRPr lang="en-US" sz="2050" b="1" dirty="0">
              <a:solidFill>
                <a:srgbClr val="FF0000"/>
              </a:solidFill>
              <a:ea typeface="Calibri"/>
              <a:cs typeface="Calibri"/>
            </a:endParaRPr>
          </a:p>
          <a:p>
            <a:pPr marL="0" indent="0">
              <a:spcBef>
                <a:spcPts val="0"/>
              </a:spcBef>
              <a:buNone/>
              <a:defRPr/>
            </a:pPr>
            <a:endParaRPr lang="en-US" sz="2050" dirty="0">
              <a:solidFill>
                <a:schemeClr val="tx2"/>
              </a:solidFill>
              <a:cs typeface="Calibri"/>
            </a:endParaRPr>
          </a:p>
          <a:p>
            <a:pPr marL="0" indent="0">
              <a:spcBef>
                <a:spcPts val="0"/>
              </a:spcBef>
              <a:buNone/>
              <a:defRPr/>
            </a:pPr>
            <a:endParaRPr lang="en-US" dirty="0">
              <a:solidFill>
                <a:schemeClr val="tx2"/>
              </a:solidFill>
            </a:endParaRPr>
          </a:p>
        </p:txBody>
      </p:sp>
      <p:sp>
        <p:nvSpPr>
          <p:cNvPr id="12" name="Text Placeholder 1"/>
          <p:cNvSpPr txBox="1">
            <a:spLocks/>
          </p:cNvSpPr>
          <p:nvPr/>
        </p:nvSpPr>
        <p:spPr>
          <a:xfrm>
            <a:off x="1803822" y="2663456"/>
            <a:ext cx="9403909" cy="1165860"/>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2"/>
                </a:solidFill>
                <a:ea typeface="Calibri"/>
                <a:cs typeface="Calibri"/>
                <a:hlinkClick r:id="rId4" action="ppaction://hlinksldjump"/>
              </a:rPr>
              <a:t>Outlook, the company’s email client</a:t>
            </a:r>
            <a:r>
              <a:rPr lang="en-US" sz="2050" b="1" dirty="0">
                <a:solidFill>
                  <a:schemeClr val="tx2"/>
                </a:solidFill>
                <a:ea typeface="Calibri"/>
                <a:cs typeface="Calibri"/>
                <a:hlinkClick r:id="rId4" action="ppaction://hlinksldjump"/>
              </a:rPr>
              <a:t> [Level1_Decision1_OptionA]</a:t>
            </a:r>
            <a:endParaRPr lang="en-US" sz="2050" b="1" dirty="0">
              <a:solidFill>
                <a:schemeClr val="tx2"/>
              </a:solidFill>
              <a:ea typeface="Calibri"/>
              <a:cs typeface="Calibri"/>
            </a:endParaRPr>
          </a:p>
          <a:p>
            <a:pPr marL="0" indent="0">
              <a:spcBef>
                <a:spcPts val="0"/>
              </a:spcBef>
              <a:buNone/>
              <a:defRPr/>
            </a:pPr>
            <a:endParaRPr lang="en-US" sz="2050" dirty="0">
              <a:solidFill>
                <a:srgbClr val="AD7318"/>
              </a:solidFill>
              <a:ea typeface="Calibri"/>
              <a:cs typeface="Calibri"/>
            </a:endParaRPr>
          </a:p>
          <a:p>
            <a:pPr marL="0" indent="0">
              <a:spcBef>
                <a:spcPts val="0"/>
              </a:spcBef>
              <a:buNone/>
              <a:defRPr/>
            </a:pPr>
            <a:r>
              <a:rPr lang="en-US" sz="2050" dirty="0">
                <a:solidFill>
                  <a:schemeClr val="tx2"/>
                </a:solidFill>
                <a:ea typeface="Calibri"/>
                <a:cs typeface="Calibri"/>
                <a:hlinkClick r:id="rId5" action="ppaction://hlinksldjump"/>
              </a:rPr>
              <a:t>Access, the company’s database application </a:t>
            </a:r>
            <a:r>
              <a:rPr lang="en-US" sz="2050" b="1" dirty="0">
                <a:solidFill>
                  <a:schemeClr val="tx2"/>
                </a:solidFill>
                <a:ea typeface="Calibri"/>
                <a:cs typeface="Calibri"/>
                <a:hlinkClick r:id="rId5" action="ppaction://hlinksldjump"/>
              </a:rPr>
              <a:t>[Level1_Decision1_OptionB]</a:t>
            </a:r>
            <a:endParaRPr lang="en-US" sz="2050" b="1" dirty="0">
              <a:solidFill>
                <a:schemeClr val="tx2"/>
              </a:solidFill>
              <a:ea typeface="Calibri"/>
              <a:cs typeface="Calibri"/>
            </a:endParaRPr>
          </a:p>
          <a:p>
            <a:pPr marL="0" indent="0">
              <a:spcBef>
                <a:spcPts val="0"/>
              </a:spcBef>
              <a:buNone/>
              <a:defRPr/>
            </a:pPr>
            <a:endParaRPr lang="en-US" sz="2050" dirty="0">
              <a:solidFill>
                <a:schemeClr val="tx2"/>
              </a:solidFill>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p:txBody>
      </p:sp>
      <p:sp>
        <p:nvSpPr>
          <p:cNvPr id="15" name="Text Placeholder 3"/>
          <p:cNvSpPr txBox="1">
            <a:spLocks/>
          </p:cNvSpPr>
          <p:nvPr/>
        </p:nvSpPr>
        <p:spPr>
          <a:xfrm>
            <a:off x="1431410" y="2652430"/>
            <a:ext cx="549746" cy="531764"/>
          </a:xfrm>
          <a:prstGeom prst="rect">
            <a:avLst/>
          </a:prstGeom>
        </p:spPr>
        <p:txBody>
          <a:bodyPr lIns="121891" tIns="60945" rIns="121891" bIns="60945">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A</a:t>
            </a:r>
          </a:p>
        </p:txBody>
      </p:sp>
      <p:sp>
        <p:nvSpPr>
          <p:cNvPr id="20" name="Text Placeholder 3">
            <a:extLst>
              <a:ext uri="{FF2B5EF4-FFF2-40B4-BE49-F238E27FC236}">
                <a16:creationId xmlns:a16="http://schemas.microsoft.com/office/drawing/2014/main" id="{59084517-AE3F-42B9-B673-1937206652FE}"/>
              </a:ext>
            </a:extLst>
          </p:cNvPr>
          <p:cNvSpPr txBox="1">
            <a:spLocks/>
          </p:cNvSpPr>
          <p:nvPr/>
        </p:nvSpPr>
        <p:spPr>
          <a:xfrm>
            <a:off x="1431411" y="3276610"/>
            <a:ext cx="562408" cy="4023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B</a:t>
            </a: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p:txBody>
      </p:sp>
      <p:pic>
        <p:nvPicPr>
          <p:cNvPr id="7" name="Graphic 6" descr="Volume">
            <a:extLst>
              <a:ext uri="{FF2B5EF4-FFF2-40B4-BE49-F238E27FC236}">
                <a16:creationId xmlns:a16="http://schemas.microsoft.com/office/drawing/2014/main" id="{98858AF6-4306-4AB2-9A31-F2CF2E76360E}"/>
              </a:ext>
            </a:extLst>
          </p:cNvP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43363" y="510636"/>
            <a:ext cx="430491" cy="356827"/>
          </a:xfrm>
          <a:prstGeom prst="rect">
            <a:avLst/>
          </a:prstGeom>
        </p:spPr>
      </p:pic>
      <p:sp>
        <p:nvSpPr>
          <p:cNvPr id="2" name="Title 1">
            <a:extLst>
              <a:ext uri="{FF2B5EF4-FFF2-40B4-BE49-F238E27FC236}">
                <a16:creationId xmlns:a16="http://schemas.microsoft.com/office/drawing/2014/main" id="{AAE4B061-1973-4598-99F6-EBDFEBA643E0}"/>
              </a:ext>
            </a:extLst>
          </p:cNvPr>
          <p:cNvSpPr>
            <a:spLocks noGrp="1"/>
          </p:cNvSpPr>
          <p:nvPr>
            <p:ph type="title"/>
          </p:nvPr>
        </p:nvSpPr>
        <p:spPr>
          <a:xfrm>
            <a:off x="795113" y="5074"/>
            <a:ext cx="10412618" cy="505562"/>
          </a:xfrm>
        </p:spPr>
        <p:txBody>
          <a:bodyPr>
            <a:normAutofit fontScale="90000"/>
          </a:bodyPr>
          <a:lstStyle/>
          <a:p>
            <a:r>
              <a:rPr lang="en-US" dirty="0"/>
              <a:t>Level1_Decision1</a:t>
            </a:r>
          </a:p>
        </p:txBody>
      </p:sp>
      <p:sp>
        <p:nvSpPr>
          <p:cNvPr id="8" name="Arrow: Pentagon 7">
            <a:extLst>
              <a:ext uri="{FF2B5EF4-FFF2-40B4-BE49-F238E27FC236}">
                <a16:creationId xmlns:a16="http://schemas.microsoft.com/office/drawing/2014/main" id="{E110A7D8-B088-4E12-BB55-29397C05E358}"/>
              </a:ext>
            </a:extLst>
          </p:cNvPr>
          <p:cNvSpPr/>
          <p:nvPr/>
        </p:nvSpPr>
        <p:spPr>
          <a:xfrm>
            <a:off x="358608" y="3276610"/>
            <a:ext cx="1066800" cy="402368"/>
          </a:xfrm>
          <a:prstGeom prst="homePlate">
            <a:avLst/>
          </a:prstGeom>
        </p:spPr>
        <p:style>
          <a:lnRef idx="1">
            <a:schemeClr val="accent6"/>
          </a:lnRef>
          <a:fillRef idx="2">
            <a:schemeClr val="accent6"/>
          </a:fillRef>
          <a:effectRef idx="1">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Optimal</a:t>
            </a:r>
          </a:p>
        </p:txBody>
      </p:sp>
      <p:sp>
        <p:nvSpPr>
          <p:cNvPr id="16" name="TextBox 15">
            <a:extLst>
              <a:ext uri="{FF2B5EF4-FFF2-40B4-BE49-F238E27FC236}">
                <a16:creationId xmlns:a16="http://schemas.microsoft.com/office/drawing/2014/main" id="{4D2E1C03-385F-4A31-A50A-EFFB863250B7}"/>
              </a:ext>
            </a:extLst>
          </p:cNvPr>
          <p:cNvSpPr txBox="1"/>
          <p:nvPr/>
        </p:nvSpPr>
        <p:spPr>
          <a:xfrm>
            <a:off x="795113" y="5882996"/>
            <a:ext cx="10412618" cy="646331"/>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If Option A: Student will need to choose a tool to send an email.</a:t>
            </a:r>
          </a:p>
          <a:p>
            <a:r>
              <a:rPr lang="en-US" dirty="0">
                <a:solidFill>
                  <a:prstClr val="black"/>
                </a:solidFill>
              </a:rPr>
              <a:t>If Option B: Student will need to choose a tool in Access.</a:t>
            </a:r>
          </a:p>
        </p:txBody>
      </p:sp>
      <p:sp>
        <p:nvSpPr>
          <p:cNvPr id="17" name="TextBox 16">
            <a:extLst>
              <a:ext uri="{FF2B5EF4-FFF2-40B4-BE49-F238E27FC236}">
                <a16:creationId xmlns:a16="http://schemas.microsoft.com/office/drawing/2014/main" id="{EA63935F-4F66-440A-9083-EE48FFDCFB79}"/>
              </a:ext>
            </a:extLst>
          </p:cNvPr>
          <p:cNvSpPr txBox="1"/>
          <p:nvPr/>
        </p:nvSpPr>
        <p:spPr>
          <a:xfrm>
            <a:off x="795113" y="4724268"/>
            <a:ext cx="10412618" cy="923330"/>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defPPr>
              <a:defRPr lang="en-US"/>
            </a:defPPr>
            <a:lvl1pPr>
              <a:defRPr>
                <a:solidFill>
                  <a:srgbClr val="FF0000"/>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C00000"/>
                </a:solidFill>
                <a:effectLst/>
                <a:uLnTx/>
                <a:uFillTx/>
                <a:latin typeface="Calibri" panose="020F0502020204030204"/>
                <a:ea typeface="+mn-ea"/>
                <a:cs typeface="+mn-cs"/>
              </a:rPr>
              <a:t>Explanation: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rgbClr val="C00000"/>
                </a:solidFill>
                <a:latin typeface="Calibri" panose="020F0502020204030204"/>
              </a:rPr>
              <a:t>An accountant likely has access to the company’s Access database and can pull data that way. Outlook could be used to ask someone else about attendance trends, but it’s not the best way.</a:t>
            </a:r>
            <a:endParaRPr kumimoji="0" lang="en-US" sz="1800" b="0" i="0" u="none" strike="noStrike" kern="1200" cap="none" spc="0" normalizeH="0" baseline="0" noProof="0" dirty="0">
              <a:ln>
                <a:noFill/>
              </a:ln>
              <a:solidFill>
                <a:srgbClr val="C00000"/>
              </a:solidFill>
              <a:effectLst/>
              <a:uLnTx/>
              <a:uFillTx/>
              <a:latin typeface="Calibri" panose="020F0502020204030204"/>
              <a:ea typeface="+mn-ea"/>
              <a:cs typeface="+mn-cs"/>
            </a:endParaRPr>
          </a:p>
        </p:txBody>
      </p:sp>
    </p:spTree>
    <p:custDataLst>
      <p:tags r:id="rId1"/>
    </p:custDataLst>
    <p:extLst>
      <p:ext uri="{BB962C8B-B14F-4D97-AF65-F5344CB8AC3E}">
        <p14:creationId xmlns:p14="http://schemas.microsoft.com/office/powerpoint/2010/main" val="23092198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
          <p:cNvSpPr txBox="1">
            <a:spLocks/>
          </p:cNvSpPr>
          <p:nvPr/>
        </p:nvSpPr>
        <p:spPr>
          <a:xfrm>
            <a:off x="795114" y="1017991"/>
            <a:ext cx="10412618" cy="33288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2"/>
                </a:solidFill>
                <a:ea typeface="Calibri"/>
                <a:cs typeface="Calibri"/>
              </a:rPr>
              <a:t>You’ve decided to use Outlook to send an email. You could send a quick email from your phone right now to your boss asking if this work schedule has been tried before. Or you could wait until you get back to your desk, and then send a longer email to your friend Miguel in HR explaining your idea and asking to see what information he might have that would help you make your case. </a:t>
            </a:r>
          </a:p>
          <a:p>
            <a:pPr marL="0" indent="0">
              <a:spcBef>
                <a:spcPts val="0"/>
              </a:spcBef>
              <a:buNone/>
              <a:defRPr/>
            </a:pPr>
            <a:endParaRPr lang="en-US" sz="2050" dirty="0">
              <a:solidFill>
                <a:schemeClr val="tx2"/>
              </a:solidFill>
              <a:cs typeface="Calibri"/>
            </a:endParaRPr>
          </a:p>
          <a:p>
            <a:pPr marL="0" indent="0">
              <a:spcBef>
                <a:spcPts val="0"/>
              </a:spcBef>
              <a:buNone/>
              <a:defRPr/>
            </a:pPr>
            <a:r>
              <a:rPr lang="en-US" sz="2050" dirty="0">
                <a:solidFill>
                  <a:schemeClr val="tx2"/>
                </a:solidFill>
                <a:cs typeface="Calibri"/>
              </a:rPr>
              <a:t>What’s your next step?</a:t>
            </a:r>
          </a:p>
        </p:txBody>
      </p:sp>
      <p:pic>
        <p:nvPicPr>
          <p:cNvPr id="7" name="Graphic 6" descr="Volume">
            <a:extLst>
              <a:ext uri="{FF2B5EF4-FFF2-40B4-BE49-F238E27FC236}">
                <a16:creationId xmlns:a16="http://schemas.microsoft.com/office/drawing/2014/main" id="{98858AF6-4306-4AB2-9A31-F2CF2E76360E}"/>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43363" y="510636"/>
            <a:ext cx="430491" cy="356827"/>
          </a:xfrm>
          <a:prstGeom prst="rect">
            <a:avLst/>
          </a:prstGeom>
        </p:spPr>
      </p:pic>
      <p:sp>
        <p:nvSpPr>
          <p:cNvPr id="2" name="Title 1">
            <a:extLst>
              <a:ext uri="{FF2B5EF4-FFF2-40B4-BE49-F238E27FC236}">
                <a16:creationId xmlns:a16="http://schemas.microsoft.com/office/drawing/2014/main" id="{AAE4B061-1973-4598-99F6-EBDFEBA643E0}"/>
              </a:ext>
            </a:extLst>
          </p:cNvPr>
          <p:cNvSpPr>
            <a:spLocks noGrp="1"/>
          </p:cNvSpPr>
          <p:nvPr>
            <p:ph type="title"/>
          </p:nvPr>
        </p:nvSpPr>
        <p:spPr>
          <a:xfrm>
            <a:off x="795113" y="5074"/>
            <a:ext cx="10412618" cy="505562"/>
          </a:xfrm>
        </p:spPr>
        <p:txBody>
          <a:bodyPr>
            <a:normAutofit fontScale="90000"/>
          </a:bodyPr>
          <a:lstStyle/>
          <a:p>
            <a:r>
              <a:rPr lang="en-US" dirty="0"/>
              <a:t>Level2_Decision1</a:t>
            </a:r>
          </a:p>
        </p:txBody>
      </p:sp>
      <p:sp>
        <p:nvSpPr>
          <p:cNvPr id="18" name="Text Placeholder 1">
            <a:extLst>
              <a:ext uri="{FF2B5EF4-FFF2-40B4-BE49-F238E27FC236}">
                <a16:creationId xmlns:a16="http://schemas.microsoft.com/office/drawing/2014/main" id="{6C0B82C3-066F-4C07-88FE-1A0379690085}"/>
              </a:ext>
            </a:extLst>
          </p:cNvPr>
          <p:cNvSpPr txBox="1">
            <a:spLocks/>
          </p:cNvSpPr>
          <p:nvPr/>
        </p:nvSpPr>
        <p:spPr>
          <a:xfrm>
            <a:off x="1569759" y="3332133"/>
            <a:ext cx="9637970" cy="1635480"/>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2"/>
                </a:solidFill>
                <a:ea typeface="Calibri"/>
                <a:cs typeface="Calibri"/>
                <a:hlinkClick r:id="rId6" action="ppaction://hlinksldjump"/>
              </a:rPr>
              <a:t>Use smartphone to send a quick email to your boss </a:t>
            </a:r>
            <a:r>
              <a:rPr lang="en-US" sz="2050" b="1" dirty="0">
                <a:solidFill>
                  <a:schemeClr val="tx2"/>
                </a:solidFill>
                <a:ea typeface="Calibri"/>
                <a:cs typeface="Calibri"/>
                <a:hlinkClick r:id="rId6" action="ppaction://hlinksldjump"/>
              </a:rPr>
              <a:t>[Level2_Decision1_OptionA]</a:t>
            </a:r>
            <a:endParaRPr lang="en-US" sz="2050" b="1" dirty="0">
              <a:solidFill>
                <a:schemeClr val="tx2"/>
              </a:solidFill>
              <a:ea typeface="Calibri"/>
              <a:cs typeface="Calibri"/>
            </a:endParaRPr>
          </a:p>
          <a:p>
            <a:pPr marL="0" indent="0">
              <a:spcBef>
                <a:spcPts val="0"/>
              </a:spcBef>
              <a:buNone/>
              <a:defRPr/>
            </a:pPr>
            <a:endParaRPr lang="en-US" sz="2050" dirty="0">
              <a:solidFill>
                <a:srgbClr val="AD7318"/>
              </a:solidFill>
              <a:ea typeface="Calibri"/>
              <a:cs typeface="Calibri"/>
            </a:endParaRPr>
          </a:p>
          <a:p>
            <a:pPr marL="0" indent="0">
              <a:spcBef>
                <a:spcPts val="0"/>
              </a:spcBef>
              <a:buNone/>
              <a:defRPr/>
            </a:pPr>
            <a:r>
              <a:rPr lang="en-US" sz="2050" dirty="0">
                <a:solidFill>
                  <a:schemeClr val="tx2"/>
                </a:solidFill>
                <a:ea typeface="Calibri"/>
                <a:cs typeface="Calibri"/>
                <a:hlinkClick r:id="rId7" action="ppaction://hlinksldjump"/>
              </a:rPr>
              <a:t>Use desktop computer to send a longer email to your friend in HR </a:t>
            </a:r>
            <a:r>
              <a:rPr lang="en-US" sz="2050" b="1" dirty="0">
                <a:solidFill>
                  <a:schemeClr val="tx2"/>
                </a:solidFill>
                <a:ea typeface="Calibri"/>
                <a:cs typeface="Calibri"/>
                <a:hlinkClick r:id="rId7" action="ppaction://hlinksldjump"/>
              </a:rPr>
              <a:t>[Level2_Decision1_OptionB]</a:t>
            </a:r>
            <a:endParaRPr lang="en-US" sz="2050" b="1" dirty="0">
              <a:solidFill>
                <a:schemeClr val="tx2"/>
              </a:solidFill>
              <a:ea typeface="Calibri"/>
              <a:cs typeface="Calibri"/>
            </a:endParaRPr>
          </a:p>
          <a:p>
            <a:pPr marL="0" indent="0">
              <a:spcBef>
                <a:spcPts val="0"/>
              </a:spcBef>
              <a:buNone/>
              <a:defRPr/>
            </a:pPr>
            <a:endParaRPr lang="en-US" sz="2050" dirty="0">
              <a:solidFill>
                <a:schemeClr val="tx2"/>
              </a:solidFill>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p:txBody>
      </p:sp>
      <p:sp>
        <p:nvSpPr>
          <p:cNvPr id="19" name="Text Placeholder 3">
            <a:extLst>
              <a:ext uri="{FF2B5EF4-FFF2-40B4-BE49-F238E27FC236}">
                <a16:creationId xmlns:a16="http://schemas.microsoft.com/office/drawing/2014/main" id="{1DA2E0F3-A80C-48F3-B4F3-EE3FD9399F3C}"/>
              </a:ext>
            </a:extLst>
          </p:cNvPr>
          <p:cNvSpPr txBox="1">
            <a:spLocks/>
          </p:cNvSpPr>
          <p:nvPr/>
        </p:nvSpPr>
        <p:spPr>
          <a:xfrm>
            <a:off x="1192463" y="3371341"/>
            <a:ext cx="563429" cy="484204"/>
          </a:xfrm>
          <a:prstGeom prst="rect">
            <a:avLst/>
          </a:prstGeom>
        </p:spPr>
        <p:txBody>
          <a:bodyPr lIns="121891" tIns="60945" rIns="121891" bIns="60945">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A</a:t>
            </a:r>
          </a:p>
        </p:txBody>
      </p:sp>
      <p:sp>
        <p:nvSpPr>
          <p:cNvPr id="20" name="Text Placeholder 3">
            <a:extLst>
              <a:ext uri="{FF2B5EF4-FFF2-40B4-BE49-F238E27FC236}">
                <a16:creationId xmlns:a16="http://schemas.microsoft.com/office/drawing/2014/main" id="{1A602D33-42BF-49F0-B2A8-2DBCB29178EA}"/>
              </a:ext>
            </a:extLst>
          </p:cNvPr>
          <p:cNvSpPr txBox="1">
            <a:spLocks/>
          </p:cNvSpPr>
          <p:nvPr/>
        </p:nvSpPr>
        <p:spPr>
          <a:xfrm>
            <a:off x="1179486" y="3963706"/>
            <a:ext cx="576406" cy="366381"/>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B</a:t>
            </a: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p:txBody>
      </p:sp>
      <p:sp>
        <p:nvSpPr>
          <p:cNvPr id="8" name="Arrow: Pentagon 7">
            <a:extLst>
              <a:ext uri="{FF2B5EF4-FFF2-40B4-BE49-F238E27FC236}">
                <a16:creationId xmlns:a16="http://schemas.microsoft.com/office/drawing/2014/main" id="{D8089083-73B0-4672-BD23-B22ABFF82CE3}"/>
              </a:ext>
            </a:extLst>
          </p:cNvPr>
          <p:cNvSpPr/>
          <p:nvPr/>
        </p:nvSpPr>
        <p:spPr>
          <a:xfrm>
            <a:off x="126125" y="3986804"/>
            <a:ext cx="1056312" cy="402368"/>
          </a:xfrm>
          <a:prstGeom prst="homePlate">
            <a:avLst/>
          </a:prstGeom>
        </p:spPr>
        <p:style>
          <a:lnRef idx="1">
            <a:schemeClr val="accent6"/>
          </a:lnRef>
          <a:fillRef idx="2">
            <a:schemeClr val="accent6"/>
          </a:fillRef>
          <a:effectRef idx="1">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Optimal</a:t>
            </a:r>
          </a:p>
        </p:txBody>
      </p:sp>
      <p:sp>
        <p:nvSpPr>
          <p:cNvPr id="12" name="TextBox 11">
            <a:extLst>
              <a:ext uri="{FF2B5EF4-FFF2-40B4-BE49-F238E27FC236}">
                <a16:creationId xmlns:a16="http://schemas.microsoft.com/office/drawing/2014/main" id="{0DD38208-998D-4A39-95A8-649AF2C80F65}"/>
              </a:ext>
            </a:extLst>
          </p:cNvPr>
          <p:cNvSpPr txBox="1"/>
          <p:nvPr/>
        </p:nvSpPr>
        <p:spPr>
          <a:xfrm>
            <a:off x="795112" y="6080878"/>
            <a:ext cx="10412617" cy="646331"/>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r>
              <a:rPr lang="en-US" dirty="0">
                <a:solidFill>
                  <a:prstClr val="black"/>
                </a:solidFill>
              </a:rPr>
              <a:t>If Option A: The boss vetoes the idea.</a:t>
            </a:r>
          </a:p>
          <a:p>
            <a:r>
              <a:rPr lang="en-US" dirty="0">
                <a:solidFill>
                  <a:prstClr val="black"/>
                </a:solidFill>
              </a:rPr>
              <a:t>If Option B: Student will need to choose an application.</a:t>
            </a:r>
          </a:p>
        </p:txBody>
      </p:sp>
      <p:sp>
        <p:nvSpPr>
          <p:cNvPr id="13" name="TextBox 12">
            <a:extLst>
              <a:ext uri="{FF2B5EF4-FFF2-40B4-BE49-F238E27FC236}">
                <a16:creationId xmlns:a16="http://schemas.microsoft.com/office/drawing/2014/main" id="{5D0E0F2A-065A-4EC6-B02B-A5856A6C266F}"/>
              </a:ext>
            </a:extLst>
          </p:cNvPr>
          <p:cNvSpPr txBox="1"/>
          <p:nvPr/>
        </p:nvSpPr>
        <p:spPr>
          <a:xfrm>
            <a:off x="795112" y="5032383"/>
            <a:ext cx="10412617" cy="923330"/>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defPPr>
              <a:defRPr lang="en-US"/>
            </a:defPPr>
            <a:lvl1pPr>
              <a:defRPr>
                <a:solidFill>
                  <a:srgbClr val="FF0000"/>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C00000"/>
                </a:solidFill>
                <a:effectLst/>
                <a:uLnTx/>
                <a:uFillTx/>
                <a:latin typeface="Calibri" panose="020F0502020204030204"/>
                <a:ea typeface="+mn-ea"/>
                <a:cs typeface="+mn-cs"/>
              </a:rPr>
              <a:t>Explanation: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rgbClr val="C00000"/>
                </a:solidFill>
                <a:latin typeface="Calibri" panose="020F0502020204030204"/>
              </a:rPr>
              <a:t>To be taken seriously, a longer email to request additional information will be more helpful than proposing the idea too soon to the decision maker without enough supporting data.</a:t>
            </a:r>
            <a:endParaRPr kumimoji="0" lang="en-US" sz="1800" b="0" i="0" u="none" strike="noStrike" kern="1200" cap="none" spc="0" normalizeH="0" baseline="0" noProof="0" dirty="0">
              <a:ln>
                <a:noFill/>
              </a:ln>
              <a:solidFill>
                <a:srgbClr val="C00000"/>
              </a:solidFill>
              <a:effectLst/>
              <a:uLnTx/>
              <a:uFillTx/>
              <a:latin typeface="Calibri" panose="020F0502020204030204"/>
              <a:ea typeface="+mn-ea"/>
              <a:cs typeface="+mn-cs"/>
            </a:endParaRPr>
          </a:p>
        </p:txBody>
      </p:sp>
      <p:sp>
        <p:nvSpPr>
          <p:cNvPr id="14" name="TextBox 13">
            <a:extLst>
              <a:ext uri="{FF2B5EF4-FFF2-40B4-BE49-F238E27FC236}">
                <a16:creationId xmlns:a16="http://schemas.microsoft.com/office/drawing/2014/main" id="{CDE46A3F-C257-46C9-B12C-5B603C0FB52F}"/>
              </a:ext>
            </a:extLst>
          </p:cNvPr>
          <p:cNvSpPr txBox="1"/>
          <p:nvPr/>
        </p:nvSpPr>
        <p:spPr>
          <a:xfrm>
            <a:off x="795111" y="577780"/>
            <a:ext cx="10412617" cy="369332"/>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Previous step: Student chose to use Outlook.</a:t>
            </a:r>
          </a:p>
        </p:txBody>
      </p:sp>
    </p:spTree>
    <p:custDataLst>
      <p:tags r:id="rId1"/>
    </p:custDataLst>
    <p:extLst>
      <p:ext uri="{BB962C8B-B14F-4D97-AF65-F5344CB8AC3E}">
        <p14:creationId xmlns:p14="http://schemas.microsoft.com/office/powerpoint/2010/main" val="37039267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
          <p:cNvSpPr txBox="1">
            <a:spLocks/>
          </p:cNvSpPr>
          <p:nvPr/>
        </p:nvSpPr>
        <p:spPr>
          <a:xfrm>
            <a:off x="795111" y="995083"/>
            <a:ext cx="10886816" cy="3334743"/>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2"/>
                </a:solidFill>
                <a:ea typeface="Calibri"/>
                <a:cs typeface="Calibri"/>
              </a:rPr>
              <a:t>You’ve decided to use Access to collect some information from the company database. You want information on employee attendance records for the past year so you can show the pattern you noticed before—that employees tend to take unscheduled days off on Fridays more than any other day of the week. If you can show how big of a problem this is, you’re hoping that management will seriously consider your suggestion of the alternative work week. First you need to decide how to collect this information from the employee database.</a:t>
            </a:r>
          </a:p>
          <a:p>
            <a:pPr marL="0" indent="0">
              <a:spcBef>
                <a:spcPts val="0"/>
              </a:spcBef>
              <a:buNone/>
              <a:defRPr/>
            </a:pPr>
            <a:endParaRPr lang="en-US" sz="2050" dirty="0">
              <a:solidFill>
                <a:schemeClr val="tx2"/>
              </a:solidFill>
              <a:cs typeface="Calibri"/>
            </a:endParaRPr>
          </a:p>
          <a:p>
            <a:pPr marL="0" indent="0">
              <a:spcBef>
                <a:spcPts val="0"/>
              </a:spcBef>
              <a:buNone/>
              <a:defRPr/>
            </a:pPr>
            <a:r>
              <a:rPr lang="en-US" sz="2050" dirty="0">
                <a:solidFill>
                  <a:schemeClr val="tx2"/>
                </a:solidFill>
                <a:cs typeface="Calibri"/>
              </a:rPr>
              <a:t>Which tool in Access will give you a detailed report showing the most accurate and complete picture of employee attendance grouped by days of the week over the past year?</a:t>
            </a:r>
          </a:p>
          <a:p>
            <a:pPr marL="0" indent="0">
              <a:spcBef>
                <a:spcPts val="0"/>
              </a:spcBef>
              <a:buNone/>
              <a:defRPr/>
            </a:pPr>
            <a:endParaRPr lang="en-US" dirty="0">
              <a:solidFill>
                <a:schemeClr val="tx2"/>
              </a:solidFill>
            </a:endParaRPr>
          </a:p>
        </p:txBody>
      </p:sp>
      <p:pic>
        <p:nvPicPr>
          <p:cNvPr id="7" name="Graphic 6" descr="Volume">
            <a:extLst>
              <a:ext uri="{FF2B5EF4-FFF2-40B4-BE49-F238E27FC236}">
                <a16:creationId xmlns:a16="http://schemas.microsoft.com/office/drawing/2014/main" id="{98858AF6-4306-4AB2-9A31-F2CF2E76360E}"/>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43363" y="510636"/>
            <a:ext cx="430491" cy="356827"/>
          </a:xfrm>
          <a:prstGeom prst="rect">
            <a:avLst/>
          </a:prstGeom>
        </p:spPr>
      </p:pic>
      <p:sp>
        <p:nvSpPr>
          <p:cNvPr id="2" name="Title 1">
            <a:extLst>
              <a:ext uri="{FF2B5EF4-FFF2-40B4-BE49-F238E27FC236}">
                <a16:creationId xmlns:a16="http://schemas.microsoft.com/office/drawing/2014/main" id="{AAE4B061-1973-4598-99F6-EBDFEBA643E0}"/>
              </a:ext>
            </a:extLst>
          </p:cNvPr>
          <p:cNvSpPr>
            <a:spLocks noGrp="1"/>
          </p:cNvSpPr>
          <p:nvPr>
            <p:ph type="title"/>
          </p:nvPr>
        </p:nvSpPr>
        <p:spPr>
          <a:xfrm>
            <a:off x="795113" y="5074"/>
            <a:ext cx="10412618" cy="505562"/>
          </a:xfrm>
        </p:spPr>
        <p:txBody>
          <a:bodyPr>
            <a:normAutofit fontScale="90000"/>
          </a:bodyPr>
          <a:lstStyle/>
          <a:p>
            <a:r>
              <a:rPr lang="en-US" dirty="0"/>
              <a:t>Level2_Decision2</a:t>
            </a:r>
          </a:p>
        </p:txBody>
      </p:sp>
      <p:sp>
        <p:nvSpPr>
          <p:cNvPr id="15" name="Text Placeholder 1">
            <a:extLst>
              <a:ext uri="{FF2B5EF4-FFF2-40B4-BE49-F238E27FC236}">
                <a16:creationId xmlns:a16="http://schemas.microsoft.com/office/drawing/2014/main" id="{750BCC29-EC62-4272-8A3D-8EFBBE483FF4}"/>
              </a:ext>
            </a:extLst>
          </p:cNvPr>
          <p:cNvSpPr txBox="1">
            <a:spLocks/>
          </p:cNvSpPr>
          <p:nvPr/>
        </p:nvSpPr>
        <p:spPr>
          <a:xfrm>
            <a:off x="1637011" y="3961343"/>
            <a:ext cx="9579868" cy="1796121"/>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2"/>
                </a:solidFill>
                <a:ea typeface="Calibri"/>
                <a:cs typeface="Calibri"/>
                <a:hlinkClick r:id="rId6" action="ppaction://hlinksldjump"/>
              </a:rPr>
              <a:t>Query </a:t>
            </a:r>
            <a:r>
              <a:rPr lang="en-US" sz="2050" b="1" dirty="0">
                <a:solidFill>
                  <a:schemeClr val="tx2"/>
                </a:solidFill>
                <a:ea typeface="Calibri"/>
                <a:cs typeface="Calibri"/>
                <a:hlinkClick r:id="rId6" action="ppaction://hlinksldjump"/>
              </a:rPr>
              <a:t>[Level2_Decision2_OptionA]</a:t>
            </a:r>
            <a:endParaRPr lang="en-US" sz="2050" b="1" dirty="0">
              <a:solidFill>
                <a:schemeClr val="tx2"/>
              </a:solidFill>
              <a:ea typeface="Calibri"/>
              <a:cs typeface="Calibri"/>
            </a:endParaRPr>
          </a:p>
          <a:p>
            <a:pPr marL="0" indent="0">
              <a:spcBef>
                <a:spcPts val="0"/>
              </a:spcBef>
              <a:buNone/>
              <a:defRPr/>
            </a:pPr>
            <a:endParaRPr lang="en-US" sz="2050" dirty="0">
              <a:solidFill>
                <a:srgbClr val="AD7318"/>
              </a:solidFill>
              <a:ea typeface="Calibri"/>
              <a:cs typeface="Calibri"/>
            </a:endParaRPr>
          </a:p>
          <a:p>
            <a:pPr marL="0" indent="0">
              <a:spcBef>
                <a:spcPts val="0"/>
              </a:spcBef>
              <a:buNone/>
              <a:defRPr/>
            </a:pPr>
            <a:r>
              <a:rPr lang="en-US" sz="2050" dirty="0">
                <a:solidFill>
                  <a:schemeClr val="tx2"/>
                </a:solidFill>
                <a:ea typeface="Calibri"/>
                <a:cs typeface="Calibri"/>
                <a:hlinkClick r:id="rId7" action="ppaction://hlinksldjump"/>
              </a:rPr>
              <a:t>Filter </a:t>
            </a:r>
            <a:r>
              <a:rPr lang="en-US" sz="2050" b="1" dirty="0">
                <a:solidFill>
                  <a:schemeClr val="tx2"/>
                </a:solidFill>
                <a:ea typeface="Calibri"/>
                <a:cs typeface="Calibri"/>
                <a:hlinkClick r:id="rId7" action="ppaction://hlinksldjump"/>
              </a:rPr>
              <a:t>[Level2_Decision2_OptionB]</a:t>
            </a:r>
            <a:endParaRPr lang="en-US" sz="2050" b="1" dirty="0">
              <a:solidFill>
                <a:schemeClr val="tx2"/>
              </a:solidFill>
              <a:ea typeface="Calibri"/>
              <a:cs typeface="Calibri"/>
            </a:endParaRPr>
          </a:p>
          <a:p>
            <a:pPr marL="0" indent="0">
              <a:spcBef>
                <a:spcPts val="0"/>
              </a:spcBef>
              <a:buNone/>
              <a:defRPr/>
            </a:pPr>
            <a:endParaRPr lang="en-US" sz="2050" dirty="0">
              <a:solidFill>
                <a:schemeClr val="tx2"/>
              </a:solidFill>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p:txBody>
      </p:sp>
      <p:sp>
        <p:nvSpPr>
          <p:cNvPr id="16" name="Text Placeholder 3">
            <a:extLst>
              <a:ext uri="{FF2B5EF4-FFF2-40B4-BE49-F238E27FC236}">
                <a16:creationId xmlns:a16="http://schemas.microsoft.com/office/drawing/2014/main" id="{06E89FA9-1360-4D4C-8409-55802D572DFA}"/>
              </a:ext>
            </a:extLst>
          </p:cNvPr>
          <p:cNvSpPr txBox="1">
            <a:spLocks/>
          </p:cNvSpPr>
          <p:nvPr/>
        </p:nvSpPr>
        <p:spPr>
          <a:xfrm>
            <a:off x="1264599" y="4012668"/>
            <a:ext cx="560032" cy="531764"/>
          </a:xfrm>
          <a:prstGeom prst="rect">
            <a:avLst/>
          </a:prstGeom>
        </p:spPr>
        <p:txBody>
          <a:bodyPr lIns="121891" tIns="60945" rIns="121891" bIns="60945">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A</a:t>
            </a:r>
          </a:p>
        </p:txBody>
      </p:sp>
      <p:sp>
        <p:nvSpPr>
          <p:cNvPr id="17" name="Text Placeholder 3">
            <a:extLst>
              <a:ext uri="{FF2B5EF4-FFF2-40B4-BE49-F238E27FC236}">
                <a16:creationId xmlns:a16="http://schemas.microsoft.com/office/drawing/2014/main" id="{50A2D96C-922B-4D98-BAED-F0F980E0B0D4}"/>
              </a:ext>
            </a:extLst>
          </p:cNvPr>
          <p:cNvSpPr txBox="1">
            <a:spLocks/>
          </p:cNvSpPr>
          <p:nvPr/>
        </p:nvSpPr>
        <p:spPr>
          <a:xfrm>
            <a:off x="1264599" y="4592404"/>
            <a:ext cx="572931" cy="4023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B</a:t>
            </a: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p:txBody>
      </p:sp>
      <p:sp>
        <p:nvSpPr>
          <p:cNvPr id="8" name="Arrow: Pentagon 7">
            <a:extLst>
              <a:ext uri="{FF2B5EF4-FFF2-40B4-BE49-F238E27FC236}">
                <a16:creationId xmlns:a16="http://schemas.microsoft.com/office/drawing/2014/main" id="{292D123D-8873-4819-9A02-9645A3E43BBE}"/>
              </a:ext>
            </a:extLst>
          </p:cNvPr>
          <p:cNvSpPr/>
          <p:nvPr/>
        </p:nvSpPr>
        <p:spPr>
          <a:xfrm>
            <a:off x="197799" y="4023301"/>
            <a:ext cx="1066800" cy="402368"/>
          </a:xfrm>
          <a:prstGeom prst="homePlate">
            <a:avLst/>
          </a:prstGeom>
        </p:spPr>
        <p:style>
          <a:lnRef idx="1">
            <a:schemeClr val="accent6"/>
          </a:lnRef>
          <a:fillRef idx="2">
            <a:schemeClr val="accent6"/>
          </a:fillRef>
          <a:effectRef idx="1">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Optimal</a:t>
            </a:r>
          </a:p>
        </p:txBody>
      </p:sp>
      <p:sp>
        <p:nvSpPr>
          <p:cNvPr id="12" name="TextBox 11">
            <a:extLst>
              <a:ext uri="{FF2B5EF4-FFF2-40B4-BE49-F238E27FC236}">
                <a16:creationId xmlns:a16="http://schemas.microsoft.com/office/drawing/2014/main" id="{45C9E6A2-35B0-4D4E-A2E3-92ABBBFC5246}"/>
              </a:ext>
            </a:extLst>
          </p:cNvPr>
          <p:cNvSpPr txBox="1"/>
          <p:nvPr/>
        </p:nvSpPr>
        <p:spPr>
          <a:xfrm>
            <a:off x="795113" y="6327887"/>
            <a:ext cx="10412618" cy="369332"/>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Next step for both options: Student will need to choose an application.</a:t>
            </a:r>
          </a:p>
        </p:txBody>
      </p:sp>
      <p:sp>
        <p:nvSpPr>
          <p:cNvPr id="13" name="TextBox 12">
            <a:extLst>
              <a:ext uri="{FF2B5EF4-FFF2-40B4-BE49-F238E27FC236}">
                <a16:creationId xmlns:a16="http://schemas.microsoft.com/office/drawing/2014/main" id="{E435C18E-7EA7-4FF4-99BB-D3C83D914813}"/>
              </a:ext>
            </a:extLst>
          </p:cNvPr>
          <p:cNvSpPr txBox="1"/>
          <p:nvPr/>
        </p:nvSpPr>
        <p:spPr>
          <a:xfrm>
            <a:off x="795113" y="5468827"/>
            <a:ext cx="10412618" cy="646331"/>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defPPr>
              <a:defRPr lang="en-US"/>
            </a:defPPr>
            <a:lvl1pPr>
              <a:defRPr>
                <a:solidFill>
                  <a:srgbClr val="FF0000"/>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C00000"/>
                </a:solidFill>
                <a:effectLst/>
                <a:uLnTx/>
                <a:uFillTx/>
                <a:latin typeface="Calibri" panose="020F0502020204030204"/>
                <a:ea typeface="+mn-ea"/>
                <a:cs typeface="+mn-cs"/>
              </a:rPr>
              <a:t>Explanation: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rgbClr val="C00000"/>
                </a:solidFill>
                <a:latin typeface="Calibri" panose="020F0502020204030204"/>
              </a:rPr>
              <a:t>A query will pull more detailed information for this kind of complex question.</a:t>
            </a:r>
            <a:endParaRPr kumimoji="0" lang="en-US" sz="1800" b="0" i="0" u="none" strike="noStrike" kern="1200" cap="none" spc="0" normalizeH="0" baseline="0" noProof="0" dirty="0">
              <a:ln>
                <a:noFill/>
              </a:ln>
              <a:solidFill>
                <a:srgbClr val="C00000"/>
              </a:solidFill>
              <a:effectLst/>
              <a:uLnTx/>
              <a:uFillTx/>
              <a:latin typeface="Calibri" panose="020F0502020204030204"/>
              <a:ea typeface="+mn-ea"/>
              <a:cs typeface="+mn-cs"/>
            </a:endParaRPr>
          </a:p>
        </p:txBody>
      </p:sp>
      <p:sp>
        <p:nvSpPr>
          <p:cNvPr id="14" name="TextBox 13">
            <a:extLst>
              <a:ext uri="{FF2B5EF4-FFF2-40B4-BE49-F238E27FC236}">
                <a16:creationId xmlns:a16="http://schemas.microsoft.com/office/drawing/2014/main" id="{D83C4BCF-01C3-42D5-9FEC-81336167F229}"/>
              </a:ext>
            </a:extLst>
          </p:cNvPr>
          <p:cNvSpPr txBox="1"/>
          <p:nvPr/>
        </p:nvSpPr>
        <p:spPr>
          <a:xfrm>
            <a:off x="795111" y="577780"/>
            <a:ext cx="10412617" cy="369332"/>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Previous step: Student </a:t>
            </a: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chose to use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Access.</a:t>
            </a:r>
          </a:p>
        </p:txBody>
      </p:sp>
    </p:spTree>
    <p:custDataLst>
      <p:tags r:id="rId1"/>
    </p:custDataLst>
    <p:extLst>
      <p:ext uri="{BB962C8B-B14F-4D97-AF65-F5344CB8AC3E}">
        <p14:creationId xmlns:p14="http://schemas.microsoft.com/office/powerpoint/2010/main" val="7474118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
          <p:cNvSpPr txBox="1">
            <a:spLocks/>
          </p:cNvSpPr>
          <p:nvPr/>
        </p:nvSpPr>
        <p:spPr>
          <a:xfrm>
            <a:off x="795113" y="1124313"/>
            <a:ext cx="11079729" cy="3687746"/>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2"/>
                </a:solidFill>
                <a:ea typeface="Calibri"/>
                <a:cs typeface="Calibri"/>
              </a:rPr>
              <a:t>On your phone, you type up a quick email to your boss saying that you and your coworkers would really like to be able to take Fridays off in exchange for working longer days earlier in the week. You explain this would be easier for all of you. You then ask her if the company has ever tried this kind of schedule before, and what does she think about it?</a:t>
            </a:r>
          </a:p>
          <a:p>
            <a:pPr marL="0" indent="0">
              <a:spcBef>
                <a:spcPts val="0"/>
              </a:spcBef>
              <a:buNone/>
              <a:defRPr/>
            </a:pPr>
            <a:endParaRPr lang="en-US" sz="2050" dirty="0">
              <a:solidFill>
                <a:schemeClr val="tx2"/>
              </a:solidFill>
              <a:cs typeface="Calibri"/>
            </a:endParaRPr>
          </a:p>
          <a:p>
            <a:pPr marL="0" indent="0">
              <a:spcBef>
                <a:spcPts val="0"/>
              </a:spcBef>
              <a:buNone/>
              <a:defRPr/>
            </a:pPr>
            <a:endParaRPr lang="en-US" dirty="0">
              <a:solidFill>
                <a:schemeClr val="tx2"/>
              </a:solidFill>
            </a:endParaRPr>
          </a:p>
        </p:txBody>
      </p:sp>
      <p:sp>
        <p:nvSpPr>
          <p:cNvPr id="12" name="Text Placeholder 1"/>
          <p:cNvSpPr txBox="1">
            <a:spLocks/>
          </p:cNvSpPr>
          <p:nvPr/>
        </p:nvSpPr>
        <p:spPr>
          <a:xfrm>
            <a:off x="795113" y="2784799"/>
            <a:ext cx="11079729" cy="1796121"/>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2"/>
                </a:solidFill>
                <a:ea typeface="Calibri"/>
                <a:cs typeface="Calibri"/>
                <a:hlinkClick r:id="rId4" action="ppaction://hlinksldjump"/>
              </a:rPr>
              <a:t>Continue</a:t>
            </a:r>
            <a:endParaRPr lang="en-US" sz="2050" b="1" dirty="0">
              <a:solidFill>
                <a:schemeClr val="tx2"/>
              </a:solidFill>
              <a:ea typeface="Calibri"/>
              <a:cs typeface="Calibri"/>
            </a:endParaRPr>
          </a:p>
          <a:p>
            <a:pPr marL="0" indent="0">
              <a:spcBef>
                <a:spcPts val="0"/>
              </a:spcBef>
              <a:buNone/>
              <a:defRPr/>
            </a:pPr>
            <a:endParaRPr lang="en-US" sz="2099" dirty="0">
              <a:solidFill>
                <a:srgbClr val="AD7318"/>
              </a:solidFill>
              <a:ea typeface="Calibri"/>
              <a:cs typeface="Calibri"/>
            </a:endParaRPr>
          </a:p>
          <a:p>
            <a:pPr marL="0" indent="0">
              <a:spcBef>
                <a:spcPts val="0"/>
              </a:spcBef>
              <a:buNone/>
              <a:defRPr/>
            </a:pPr>
            <a:endParaRPr lang="en-US" sz="2050" dirty="0">
              <a:solidFill>
                <a:srgbClr val="AD7318"/>
              </a:solidFill>
              <a:ea typeface="Calibri"/>
              <a:cs typeface="Calibri"/>
            </a:endParaRPr>
          </a:p>
          <a:p>
            <a:pPr marL="0" indent="0">
              <a:spcBef>
                <a:spcPts val="0"/>
              </a:spcBef>
              <a:buNone/>
              <a:defRPr/>
            </a:pPr>
            <a:endParaRPr lang="en-US" sz="2050" dirty="0">
              <a:solidFill>
                <a:schemeClr val="tx2"/>
              </a:solidFill>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p:txBody>
      </p:sp>
      <p:pic>
        <p:nvPicPr>
          <p:cNvPr id="7" name="Graphic 6" descr="Volume">
            <a:extLst>
              <a:ext uri="{FF2B5EF4-FFF2-40B4-BE49-F238E27FC236}">
                <a16:creationId xmlns:a16="http://schemas.microsoft.com/office/drawing/2014/main" id="{98858AF6-4306-4AB2-9A31-F2CF2E76360E}"/>
              </a:ext>
            </a:extLst>
          </p:cNvPr>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43363" y="510636"/>
            <a:ext cx="430491" cy="356827"/>
          </a:xfrm>
          <a:prstGeom prst="rect">
            <a:avLst/>
          </a:prstGeom>
        </p:spPr>
      </p:pic>
      <p:sp>
        <p:nvSpPr>
          <p:cNvPr id="2" name="Title 1">
            <a:extLst>
              <a:ext uri="{FF2B5EF4-FFF2-40B4-BE49-F238E27FC236}">
                <a16:creationId xmlns:a16="http://schemas.microsoft.com/office/drawing/2014/main" id="{AAE4B061-1973-4598-99F6-EBDFEBA643E0}"/>
              </a:ext>
            </a:extLst>
          </p:cNvPr>
          <p:cNvSpPr>
            <a:spLocks noGrp="1"/>
          </p:cNvSpPr>
          <p:nvPr>
            <p:ph type="title"/>
          </p:nvPr>
        </p:nvSpPr>
        <p:spPr>
          <a:xfrm>
            <a:off x="795113" y="5074"/>
            <a:ext cx="10412618" cy="505562"/>
          </a:xfrm>
        </p:spPr>
        <p:txBody>
          <a:bodyPr>
            <a:normAutofit fontScale="90000"/>
          </a:bodyPr>
          <a:lstStyle/>
          <a:p>
            <a:r>
              <a:rPr lang="en-US" dirty="0"/>
              <a:t>Story_Slide9</a:t>
            </a:r>
          </a:p>
        </p:txBody>
      </p:sp>
      <p:sp>
        <p:nvSpPr>
          <p:cNvPr id="6" name="TextBox 5">
            <a:extLst>
              <a:ext uri="{FF2B5EF4-FFF2-40B4-BE49-F238E27FC236}">
                <a16:creationId xmlns:a16="http://schemas.microsoft.com/office/drawing/2014/main" id="{A5DCB024-B4C6-4385-80C0-82626734C2FD}"/>
              </a:ext>
            </a:extLst>
          </p:cNvPr>
          <p:cNvSpPr txBox="1"/>
          <p:nvPr/>
        </p:nvSpPr>
        <p:spPr>
          <a:xfrm>
            <a:off x="795111" y="577780"/>
            <a:ext cx="10412617" cy="369332"/>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Previous step: Student chose to use their smartphone to send a quick email to the boss.</a:t>
            </a:r>
          </a:p>
        </p:txBody>
      </p:sp>
      <p:sp>
        <p:nvSpPr>
          <p:cNvPr id="8" name="TextBox 7">
            <a:extLst>
              <a:ext uri="{FF2B5EF4-FFF2-40B4-BE49-F238E27FC236}">
                <a16:creationId xmlns:a16="http://schemas.microsoft.com/office/drawing/2014/main" id="{C5BBD993-F46A-4161-9C43-7F97AB6F0650}"/>
              </a:ext>
            </a:extLst>
          </p:cNvPr>
          <p:cNvSpPr txBox="1"/>
          <p:nvPr/>
        </p:nvSpPr>
        <p:spPr>
          <a:xfrm>
            <a:off x="795111" y="5868642"/>
            <a:ext cx="10412617" cy="369332"/>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lvl="0">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Next step: </a:t>
            </a:r>
            <a:r>
              <a:rPr lang="en-US" dirty="0">
                <a:solidFill>
                  <a:prstClr val="black"/>
                </a:solidFill>
              </a:rPr>
              <a:t>The boss vetoes the idea.</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ustDataLst>
      <p:tags r:id="rId1"/>
    </p:custDataLst>
    <p:extLst>
      <p:ext uri="{BB962C8B-B14F-4D97-AF65-F5344CB8AC3E}">
        <p14:creationId xmlns:p14="http://schemas.microsoft.com/office/powerpoint/2010/main" val="20786638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
          <p:cNvSpPr txBox="1">
            <a:spLocks/>
          </p:cNvSpPr>
          <p:nvPr/>
        </p:nvSpPr>
        <p:spPr>
          <a:xfrm>
            <a:off x="795113" y="1031545"/>
            <a:ext cx="11079729" cy="4443844"/>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2"/>
                </a:solidFill>
                <a:ea typeface="Calibri"/>
                <a:cs typeface="Calibri"/>
              </a:rPr>
              <a:t>Back at your desk, you open Outlook and carefully compose an email to Miguel in HR. You explain your idea and ask him what he thinks of this alternative weekly schedule. You also ask what information he thinks might help you make a good case in a meeting with your boss and a couple of other department managers. </a:t>
            </a: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r>
              <a:rPr lang="en-US" sz="2050" dirty="0">
                <a:solidFill>
                  <a:schemeClr val="tx2"/>
                </a:solidFill>
                <a:ea typeface="Calibri"/>
                <a:cs typeface="Calibri"/>
              </a:rPr>
              <a:t>The next day, you receive an email from Miguel saying he likes the idea and he’s attached some information from the employee database. He also mentions that you could have pulled this information yourself, so if you need more information, to pull the reports directly from Access.</a:t>
            </a: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r>
              <a:rPr lang="en-US" sz="2050" dirty="0">
                <a:solidFill>
                  <a:schemeClr val="tx2"/>
                </a:solidFill>
                <a:ea typeface="Calibri"/>
                <a:cs typeface="Calibri"/>
              </a:rPr>
              <a:t>The reports are exciting because the attendance pattern is even more obvious than you expected. Unscheduled absences are especially high on Fridays, and by addressing this problem, the company will save money by reducing absenteeism, raising morale, and helping employees focus their work time more efficiently. </a:t>
            </a:r>
            <a:endParaRPr lang="en-US" sz="2050" dirty="0">
              <a:solidFill>
                <a:schemeClr val="tx2"/>
              </a:solidFill>
              <a:cs typeface="Calibri"/>
            </a:endParaRPr>
          </a:p>
          <a:p>
            <a:pPr marL="0" indent="0">
              <a:spcBef>
                <a:spcPts val="0"/>
              </a:spcBef>
              <a:buNone/>
              <a:defRPr/>
            </a:pPr>
            <a:endParaRPr lang="en-US" dirty="0">
              <a:solidFill>
                <a:schemeClr val="tx2"/>
              </a:solidFill>
            </a:endParaRPr>
          </a:p>
        </p:txBody>
      </p:sp>
      <p:sp>
        <p:nvSpPr>
          <p:cNvPr id="12" name="Text Placeholder 1"/>
          <p:cNvSpPr txBox="1">
            <a:spLocks/>
          </p:cNvSpPr>
          <p:nvPr/>
        </p:nvSpPr>
        <p:spPr>
          <a:xfrm>
            <a:off x="795113" y="5311167"/>
            <a:ext cx="10677482" cy="1796121"/>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2"/>
                </a:solidFill>
                <a:ea typeface="Calibri"/>
                <a:cs typeface="Calibri"/>
                <a:hlinkClick r:id="rId4" action="ppaction://hlinksldjump"/>
              </a:rPr>
              <a:t>Continue</a:t>
            </a:r>
            <a:endParaRPr lang="en-US" sz="2050" b="1" dirty="0">
              <a:solidFill>
                <a:schemeClr val="tx2"/>
              </a:solidFill>
              <a:ea typeface="Calibri"/>
              <a:cs typeface="Calibri"/>
            </a:endParaRPr>
          </a:p>
          <a:p>
            <a:pPr marL="0" indent="0">
              <a:spcBef>
                <a:spcPts val="0"/>
              </a:spcBef>
              <a:buNone/>
              <a:defRPr/>
            </a:pPr>
            <a:endParaRPr lang="en-US" sz="2099" dirty="0">
              <a:solidFill>
                <a:srgbClr val="AD7318"/>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p:txBody>
      </p:sp>
      <p:pic>
        <p:nvPicPr>
          <p:cNvPr id="7" name="Graphic 6" descr="Volume">
            <a:extLst>
              <a:ext uri="{FF2B5EF4-FFF2-40B4-BE49-F238E27FC236}">
                <a16:creationId xmlns:a16="http://schemas.microsoft.com/office/drawing/2014/main" id="{98858AF6-4306-4AB2-9A31-F2CF2E76360E}"/>
              </a:ext>
            </a:extLst>
          </p:cNvPr>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43363" y="510636"/>
            <a:ext cx="430491" cy="356827"/>
          </a:xfrm>
          <a:prstGeom prst="rect">
            <a:avLst/>
          </a:prstGeom>
        </p:spPr>
      </p:pic>
      <p:sp>
        <p:nvSpPr>
          <p:cNvPr id="2" name="Title 1">
            <a:extLst>
              <a:ext uri="{FF2B5EF4-FFF2-40B4-BE49-F238E27FC236}">
                <a16:creationId xmlns:a16="http://schemas.microsoft.com/office/drawing/2014/main" id="{AAE4B061-1973-4598-99F6-EBDFEBA643E0}"/>
              </a:ext>
            </a:extLst>
          </p:cNvPr>
          <p:cNvSpPr>
            <a:spLocks noGrp="1"/>
          </p:cNvSpPr>
          <p:nvPr>
            <p:ph type="title"/>
          </p:nvPr>
        </p:nvSpPr>
        <p:spPr>
          <a:xfrm>
            <a:off x="795113" y="5074"/>
            <a:ext cx="10412618" cy="505562"/>
          </a:xfrm>
        </p:spPr>
        <p:txBody>
          <a:bodyPr>
            <a:normAutofit fontScale="90000"/>
          </a:bodyPr>
          <a:lstStyle/>
          <a:p>
            <a:r>
              <a:rPr lang="en-US" dirty="0"/>
              <a:t>Story_Slide10</a:t>
            </a:r>
          </a:p>
        </p:txBody>
      </p:sp>
      <p:sp>
        <p:nvSpPr>
          <p:cNvPr id="9" name="TextBox 8">
            <a:extLst>
              <a:ext uri="{FF2B5EF4-FFF2-40B4-BE49-F238E27FC236}">
                <a16:creationId xmlns:a16="http://schemas.microsoft.com/office/drawing/2014/main" id="{2914827A-9AE2-4351-99DF-C5B171068C1F}"/>
              </a:ext>
            </a:extLst>
          </p:cNvPr>
          <p:cNvSpPr txBox="1"/>
          <p:nvPr/>
        </p:nvSpPr>
        <p:spPr>
          <a:xfrm>
            <a:off x="795111" y="577780"/>
            <a:ext cx="10412617" cy="369332"/>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Previous step: Student chose to use the desktop computer to email a coworker for more information.</a:t>
            </a:r>
          </a:p>
        </p:txBody>
      </p:sp>
      <p:sp>
        <p:nvSpPr>
          <p:cNvPr id="10" name="TextBox 9">
            <a:extLst>
              <a:ext uri="{FF2B5EF4-FFF2-40B4-BE49-F238E27FC236}">
                <a16:creationId xmlns:a16="http://schemas.microsoft.com/office/drawing/2014/main" id="{E69CF5DE-C701-41D9-B1FD-D12FE0EFC6D2}"/>
              </a:ext>
            </a:extLst>
          </p:cNvPr>
          <p:cNvSpPr txBox="1"/>
          <p:nvPr/>
        </p:nvSpPr>
        <p:spPr>
          <a:xfrm>
            <a:off x="795111" y="5868642"/>
            <a:ext cx="10412617" cy="369332"/>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Next step: Student will need to choose an application.</a:t>
            </a:r>
          </a:p>
        </p:txBody>
      </p:sp>
    </p:spTree>
    <p:custDataLst>
      <p:tags r:id="rId1"/>
    </p:custDataLst>
    <p:extLst>
      <p:ext uri="{BB962C8B-B14F-4D97-AF65-F5344CB8AC3E}">
        <p14:creationId xmlns:p14="http://schemas.microsoft.com/office/powerpoint/2010/main" val="33136947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
          <p:cNvSpPr txBox="1">
            <a:spLocks/>
          </p:cNvSpPr>
          <p:nvPr/>
        </p:nvSpPr>
        <p:spPr>
          <a:xfrm>
            <a:off x="795114" y="1302773"/>
            <a:ext cx="10412618" cy="4443844"/>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2"/>
                </a:solidFill>
                <a:ea typeface="Calibri"/>
                <a:cs typeface="Calibri"/>
              </a:rPr>
              <a:t>Now you’re ready to create some data charts to show these attendance patterns. You also want some charts showing how the company will save money with the new work schedule. What kind of application should you use to create these charts so the graphics will show accurate and insightful representations of the data?</a:t>
            </a:r>
          </a:p>
          <a:p>
            <a:pPr marL="0" indent="0">
              <a:spcBef>
                <a:spcPts val="0"/>
              </a:spcBef>
              <a:buNone/>
              <a:defRPr/>
            </a:pPr>
            <a:endParaRPr lang="en-US" sz="2050" dirty="0">
              <a:solidFill>
                <a:schemeClr val="tx2"/>
              </a:solidFill>
              <a:cs typeface="Calibri"/>
            </a:endParaRPr>
          </a:p>
          <a:p>
            <a:pPr marL="0" indent="0">
              <a:spcBef>
                <a:spcPts val="0"/>
              </a:spcBef>
              <a:buNone/>
              <a:defRPr/>
            </a:pPr>
            <a:endParaRPr lang="en-US" dirty="0">
              <a:solidFill>
                <a:schemeClr val="tx2"/>
              </a:solidFill>
            </a:endParaRPr>
          </a:p>
        </p:txBody>
      </p:sp>
      <p:sp>
        <p:nvSpPr>
          <p:cNvPr id="12" name="Text Placeholder 1"/>
          <p:cNvSpPr txBox="1">
            <a:spLocks/>
          </p:cNvSpPr>
          <p:nvPr/>
        </p:nvSpPr>
        <p:spPr>
          <a:xfrm>
            <a:off x="1612030" y="3231813"/>
            <a:ext cx="9595701" cy="1796121"/>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2"/>
                </a:solidFill>
                <a:ea typeface="Calibri"/>
                <a:cs typeface="Calibri"/>
                <a:hlinkClick r:id="rId4" action="ppaction://hlinksldjump"/>
              </a:rPr>
              <a:t>Spreadsheet application </a:t>
            </a:r>
            <a:r>
              <a:rPr lang="en-US" sz="2050" b="1" dirty="0">
                <a:solidFill>
                  <a:schemeClr val="tx2"/>
                </a:solidFill>
                <a:ea typeface="Calibri"/>
                <a:cs typeface="Calibri"/>
                <a:hlinkClick r:id="rId4" action="ppaction://hlinksldjump"/>
              </a:rPr>
              <a:t>[Level3_Decision1_OptionA]</a:t>
            </a:r>
            <a:endParaRPr lang="en-US" sz="2050" b="1" dirty="0">
              <a:solidFill>
                <a:schemeClr val="tx2"/>
              </a:solidFill>
              <a:ea typeface="Calibri"/>
              <a:cs typeface="Calibri"/>
            </a:endParaRPr>
          </a:p>
          <a:p>
            <a:pPr marL="0" indent="0">
              <a:spcBef>
                <a:spcPts val="0"/>
              </a:spcBef>
              <a:buNone/>
              <a:defRPr/>
            </a:pPr>
            <a:endParaRPr lang="en-US" sz="2099" dirty="0">
              <a:solidFill>
                <a:srgbClr val="AD7318"/>
              </a:solidFill>
              <a:ea typeface="Calibri"/>
              <a:cs typeface="Calibri"/>
            </a:endParaRPr>
          </a:p>
          <a:p>
            <a:pPr marL="0" indent="0">
              <a:spcBef>
                <a:spcPts val="0"/>
              </a:spcBef>
              <a:buNone/>
              <a:defRPr/>
            </a:pPr>
            <a:r>
              <a:rPr lang="en-US" sz="2050" dirty="0">
                <a:solidFill>
                  <a:schemeClr val="tx2"/>
                </a:solidFill>
                <a:ea typeface="Calibri"/>
                <a:cs typeface="Calibri"/>
                <a:hlinkClick r:id="rId5" action="ppaction://hlinksldjump"/>
              </a:rPr>
              <a:t>Graphics application </a:t>
            </a:r>
            <a:r>
              <a:rPr lang="en-US" sz="2050" b="1" dirty="0">
                <a:solidFill>
                  <a:schemeClr val="tx2"/>
                </a:solidFill>
                <a:ea typeface="Calibri"/>
                <a:cs typeface="Calibri"/>
                <a:hlinkClick r:id="rId5" action="ppaction://hlinksldjump"/>
              </a:rPr>
              <a:t>[Level3_Decision1_OptionB]</a:t>
            </a:r>
            <a:endParaRPr lang="en-US" sz="2050" b="1" dirty="0">
              <a:solidFill>
                <a:schemeClr val="tx2"/>
              </a:solidFill>
              <a:ea typeface="Calibri"/>
              <a:cs typeface="Calibri"/>
            </a:endParaRPr>
          </a:p>
          <a:p>
            <a:pPr marL="0" indent="0">
              <a:spcBef>
                <a:spcPts val="0"/>
              </a:spcBef>
              <a:buNone/>
              <a:defRPr/>
            </a:pPr>
            <a:endParaRPr lang="en-US" sz="2050" dirty="0">
              <a:solidFill>
                <a:schemeClr val="tx2"/>
              </a:solidFill>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p:txBody>
      </p:sp>
      <p:pic>
        <p:nvPicPr>
          <p:cNvPr id="7" name="Graphic 6" descr="Volume">
            <a:extLst>
              <a:ext uri="{FF2B5EF4-FFF2-40B4-BE49-F238E27FC236}">
                <a16:creationId xmlns:a16="http://schemas.microsoft.com/office/drawing/2014/main" id="{98858AF6-4306-4AB2-9A31-F2CF2E76360E}"/>
              </a:ext>
            </a:extLst>
          </p:cNvP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43363" y="510636"/>
            <a:ext cx="430491" cy="356827"/>
          </a:xfrm>
          <a:prstGeom prst="rect">
            <a:avLst/>
          </a:prstGeom>
        </p:spPr>
      </p:pic>
      <p:sp>
        <p:nvSpPr>
          <p:cNvPr id="2" name="Title 1">
            <a:extLst>
              <a:ext uri="{FF2B5EF4-FFF2-40B4-BE49-F238E27FC236}">
                <a16:creationId xmlns:a16="http://schemas.microsoft.com/office/drawing/2014/main" id="{AAE4B061-1973-4598-99F6-EBDFEBA643E0}"/>
              </a:ext>
            </a:extLst>
          </p:cNvPr>
          <p:cNvSpPr>
            <a:spLocks noGrp="1"/>
          </p:cNvSpPr>
          <p:nvPr>
            <p:ph type="title"/>
          </p:nvPr>
        </p:nvSpPr>
        <p:spPr>
          <a:xfrm>
            <a:off x="795113" y="5074"/>
            <a:ext cx="10412618" cy="505562"/>
          </a:xfrm>
        </p:spPr>
        <p:txBody>
          <a:bodyPr>
            <a:normAutofit fontScale="90000"/>
          </a:bodyPr>
          <a:lstStyle/>
          <a:p>
            <a:r>
              <a:rPr lang="en-US" dirty="0"/>
              <a:t>Level3_Decision1</a:t>
            </a:r>
          </a:p>
        </p:txBody>
      </p:sp>
      <p:sp>
        <p:nvSpPr>
          <p:cNvPr id="8" name="Text Placeholder 3">
            <a:extLst>
              <a:ext uri="{FF2B5EF4-FFF2-40B4-BE49-F238E27FC236}">
                <a16:creationId xmlns:a16="http://schemas.microsoft.com/office/drawing/2014/main" id="{B5CE21A4-EFBD-4B90-ACD8-0159F888003A}"/>
              </a:ext>
            </a:extLst>
          </p:cNvPr>
          <p:cNvSpPr txBox="1">
            <a:spLocks/>
          </p:cNvSpPr>
          <p:nvPr/>
        </p:nvSpPr>
        <p:spPr>
          <a:xfrm>
            <a:off x="1239618" y="3219340"/>
            <a:ext cx="560958" cy="531764"/>
          </a:xfrm>
          <a:prstGeom prst="rect">
            <a:avLst/>
          </a:prstGeom>
        </p:spPr>
        <p:txBody>
          <a:bodyPr lIns="121891" tIns="60945" rIns="121891" bIns="60945">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A</a:t>
            </a:r>
          </a:p>
        </p:txBody>
      </p:sp>
      <p:sp>
        <p:nvSpPr>
          <p:cNvPr id="9" name="Text Placeholder 3">
            <a:extLst>
              <a:ext uri="{FF2B5EF4-FFF2-40B4-BE49-F238E27FC236}">
                <a16:creationId xmlns:a16="http://schemas.microsoft.com/office/drawing/2014/main" id="{7BA7EB68-7706-476E-A698-BCA0BD7BA336}"/>
              </a:ext>
            </a:extLst>
          </p:cNvPr>
          <p:cNvSpPr txBox="1">
            <a:spLocks/>
          </p:cNvSpPr>
          <p:nvPr/>
        </p:nvSpPr>
        <p:spPr>
          <a:xfrm>
            <a:off x="1239619" y="3866380"/>
            <a:ext cx="573878" cy="4023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B</a:t>
            </a: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p:txBody>
      </p:sp>
      <p:sp>
        <p:nvSpPr>
          <p:cNvPr id="10" name="Arrow: Pentagon 9">
            <a:extLst>
              <a:ext uri="{FF2B5EF4-FFF2-40B4-BE49-F238E27FC236}">
                <a16:creationId xmlns:a16="http://schemas.microsoft.com/office/drawing/2014/main" id="{6A3388BD-E29D-46E7-B6FC-F0B56A1CB11E}"/>
              </a:ext>
            </a:extLst>
          </p:cNvPr>
          <p:cNvSpPr/>
          <p:nvPr/>
        </p:nvSpPr>
        <p:spPr>
          <a:xfrm>
            <a:off x="172818" y="3231813"/>
            <a:ext cx="1066800" cy="402368"/>
          </a:xfrm>
          <a:prstGeom prst="homePlate">
            <a:avLst/>
          </a:prstGeom>
        </p:spPr>
        <p:style>
          <a:lnRef idx="1">
            <a:schemeClr val="accent6"/>
          </a:lnRef>
          <a:fillRef idx="2">
            <a:schemeClr val="accent6"/>
          </a:fillRef>
          <a:effectRef idx="1">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Optimal</a:t>
            </a:r>
          </a:p>
        </p:txBody>
      </p:sp>
      <p:sp>
        <p:nvSpPr>
          <p:cNvPr id="15" name="TextBox 14">
            <a:extLst>
              <a:ext uri="{FF2B5EF4-FFF2-40B4-BE49-F238E27FC236}">
                <a16:creationId xmlns:a16="http://schemas.microsoft.com/office/drawing/2014/main" id="{C1D486A7-ACEB-49BC-8FC3-55FD015C11E8}"/>
              </a:ext>
            </a:extLst>
          </p:cNvPr>
          <p:cNvSpPr txBox="1"/>
          <p:nvPr/>
        </p:nvSpPr>
        <p:spPr>
          <a:xfrm>
            <a:off x="795113" y="5882996"/>
            <a:ext cx="10412618" cy="646331"/>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lvl="0">
              <a:defRPr/>
            </a:pPr>
            <a:r>
              <a:rPr lang="en-US" dirty="0">
                <a:solidFill>
                  <a:prstClr val="black"/>
                </a:solidFill>
              </a:rPr>
              <a:t>If Option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 Student will need to choose an application.</a:t>
            </a:r>
          </a:p>
          <a:p>
            <a:r>
              <a:rPr lang="en-US" dirty="0">
                <a:solidFill>
                  <a:prstClr val="black"/>
                </a:solidFill>
              </a:rPr>
              <a:t>If Option B: Student will need to choose a type of application.</a:t>
            </a:r>
          </a:p>
        </p:txBody>
      </p:sp>
      <p:sp>
        <p:nvSpPr>
          <p:cNvPr id="16" name="TextBox 15">
            <a:extLst>
              <a:ext uri="{FF2B5EF4-FFF2-40B4-BE49-F238E27FC236}">
                <a16:creationId xmlns:a16="http://schemas.microsoft.com/office/drawing/2014/main" id="{6E42A153-07FB-4907-8402-2217487AE9AD}"/>
              </a:ext>
            </a:extLst>
          </p:cNvPr>
          <p:cNvSpPr txBox="1"/>
          <p:nvPr/>
        </p:nvSpPr>
        <p:spPr>
          <a:xfrm>
            <a:off x="795113" y="4724268"/>
            <a:ext cx="10412618" cy="646331"/>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defPPr>
              <a:defRPr lang="en-US"/>
            </a:defPPr>
            <a:lvl1pPr>
              <a:defRPr>
                <a:solidFill>
                  <a:srgbClr val="FF0000"/>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C00000"/>
                </a:solidFill>
                <a:effectLst/>
                <a:uLnTx/>
                <a:uFillTx/>
                <a:latin typeface="Calibri" panose="020F0502020204030204"/>
                <a:ea typeface="+mn-ea"/>
                <a:cs typeface="+mn-cs"/>
              </a:rPr>
              <a:t>Explanation: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rgbClr val="C00000"/>
                </a:solidFill>
                <a:latin typeface="Calibri" panose="020F0502020204030204"/>
              </a:rPr>
              <a:t>The spreadsheet application is able to natively interpret data through visual charts and other graphics.</a:t>
            </a:r>
            <a:endParaRPr kumimoji="0" lang="en-US" sz="1800" b="0" i="0" u="none" strike="noStrike" kern="1200" cap="none" spc="0" normalizeH="0" baseline="0" noProof="0" dirty="0">
              <a:ln>
                <a:noFill/>
              </a:ln>
              <a:solidFill>
                <a:srgbClr val="C00000"/>
              </a:solidFill>
              <a:effectLst/>
              <a:uLnTx/>
              <a:uFillTx/>
              <a:latin typeface="Calibri" panose="020F0502020204030204"/>
              <a:ea typeface="+mn-ea"/>
              <a:cs typeface="+mn-cs"/>
            </a:endParaRPr>
          </a:p>
        </p:txBody>
      </p:sp>
      <p:sp>
        <p:nvSpPr>
          <p:cNvPr id="17" name="TextBox 16">
            <a:extLst>
              <a:ext uri="{FF2B5EF4-FFF2-40B4-BE49-F238E27FC236}">
                <a16:creationId xmlns:a16="http://schemas.microsoft.com/office/drawing/2014/main" id="{9E9EA935-541A-475A-8C78-00E119AB0BD5}"/>
              </a:ext>
            </a:extLst>
          </p:cNvPr>
          <p:cNvSpPr txBox="1"/>
          <p:nvPr/>
        </p:nvSpPr>
        <p:spPr>
          <a:xfrm>
            <a:off x="795111" y="577780"/>
            <a:ext cx="10412617" cy="369332"/>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lvl="0">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Previous step: Student chose </a:t>
            </a:r>
            <a:r>
              <a:rPr lang="en-US" dirty="0">
                <a:solidFill>
                  <a:prstClr val="black"/>
                </a:solidFill>
              </a:rPr>
              <a:t>to use the desktop computer to email a coworker for more information.</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ustDataLst>
      <p:tags r:id="rId1"/>
    </p:custDataLst>
    <p:extLst>
      <p:ext uri="{BB962C8B-B14F-4D97-AF65-F5344CB8AC3E}">
        <p14:creationId xmlns:p14="http://schemas.microsoft.com/office/powerpoint/2010/main" val="16576726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
          <p:cNvSpPr txBox="1">
            <a:spLocks/>
          </p:cNvSpPr>
          <p:nvPr/>
        </p:nvSpPr>
        <p:spPr>
          <a:xfrm>
            <a:off x="795114" y="995856"/>
            <a:ext cx="10412618" cy="3043691"/>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2"/>
                </a:solidFill>
                <a:ea typeface="Calibri"/>
                <a:cs typeface="Calibri"/>
              </a:rPr>
              <a:t>Back at your desk, you open up Access and carefully compose a couple of queries for the information you’ll need. Then you start to study the reports Access spits out in response to your queries. </a:t>
            </a: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r>
              <a:rPr lang="en-US" sz="2050" dirty="0">
                <a:solidFill>
                  <a:schemeClr val="tx2"/>
                </a:solidFill>
                <a:ea typeface="Calibri"/>
                <a:cs typeface="Calibri"/>
              </a:rPr>
              <a:t>The reports are exciting because the attendance pattern is even more obvious than you expected. Now you’re ready to create some data charts to show these attendance patterns. You also want some charts showing your suggestions about how the company will save money with the new work schedule. What kind of application should you use to create these charts so the graphics will show accurate and insightful representations of the data?</a:t>
            </a:r>
          </a:p>
          <a:p>
            <a:pPr marL="0" indent="0">
              <a:spcBef>
                <a:spcPts val="0"/>
              </a:spcBef>
              <a:buNone/>
              <a:defRPr/>
            </a:pPr>
            <a:endParaRPr lang="en-US" sz="2050" dirty="0">
              <a:solidFill>
                <a:schemeClr val="tx2"/>
              </a:solidFill>
              <a:cs typeface="Calibri"/>
            </a:endParaRPr>
          </a:p>
          <a:p>
            <a:pPr marL="0" indent="0">
              <a:spcBef>
                <a:spcPts val="0"/>
              </a:spcBef>
              <a:buNone/>
              <a:defRPr/>
            </a:pPr>
            <a:endParaRPr lang="en-US" dirty="0">
              <a:solidFill>
                <a:schemeClr val="tx2"/>
              </a:solidFill>
            </a:endParaRPr>
          </a:p>
        </p:txBody>
      </p:sp>
      <p:sp>
        <p:nvSpPr>
          <p:cNvPr id="12" name="Text Placeholder 1"/>
          <p:cNvSpPr txBox="1">
            <a:spLocks/>
          </p:cNvSpPr>
          <p:nvPr/>
        </p:nvSpPr>
        <p:spPr>
          <a:xfrm>
            <a:off x="1601279" y="4146799"/>
            <a:ext cx="9531906" cy="1157101"/>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2"/>
                </a:solidFill>
                <a:ea typeface="Calibri"/>
                <a:cs typeface="Calibri"/>
                <a:hlinkClick r:id="rId4" action="ppaction://hlinksldjump"/>
              </a:rPr>
              <a:t>Spreadsheet application </a:t>
            </a:r>
            <a:r>
              <a:rPr lang="en-US" sz="2050" b="1" dirty="0">
                <a:solidFill>
                  <a:schemeClr val="tx2"/>
                </a:solidFill>
                <a:ea typeface="Calibri"/>
                <a:cs typeface="Calibri"/>
                <a:hlinkClick r:id="rId4" action="ppaction://hlinksldjump"/>
              </a:rPr>
              <a:t>[Level3_Decision2_OptionA]</a:t>
            </a:r>
            <a:endParaRPr lang="en-US" sz="2050" b="1" dirty="0">
              <a:solidFill>
                <a:schemeClr val="tx2"/>
              </a:solidFill>
              <a:ea typeface="Calibri"/>
              <a:cs typeface="Calibri"/>
            </a:endParaRPr>
          </a:p>
          <a:p>
            <a:pPr marL="0" indent="0">
              <a:spcBef>
                <a:spcPts val="0"/>
              </a:spcBef>
              <a:buNone/>
              <a:defRPr/>
            </a:pPr>
            <a:endParaRPr lang="en-US" sz="2099" dirty="0">
              <a:solidFill>
                <a:srgbClr val="AD7318"/>
              </a:solidFill>
              <a:ea typeface="Calibri"/>
              <a:cs typeface="Calibri"/>
            </a:endParaRPr>
          </a:p>
          <a:p>
            <a:pPr marL="0" indent="0">
              <a:spcBef>
                <a:spcPts val="0"/>
              </a:spcBef>
              <a:buNone/>
              <a:defRPr/>
            </a:pPr>
            <a:r>
              <a:rPr lang="en-US" sz="2050" dirty="0">
                <a:solidFill>
                  <a:schemeClr val="tx2"/>
                </a:solidFill>
                <a:ea typeface="Calibri"/>
                <a:cs typeface="Calibri"/>
                <a:hlinkClick r:id="rId5" action="ppaction://hlinksldjump"/>
              </a:rPr>
              <a:t>Graphics application </a:t>
            </a:r>
            <a:r>
              <a:rPr lang="en-US" sz="2050" b="1" dirty="0">
                <a:solidFill>
                  <a:schemeClr val="tx2"/>
                </a:solidFill>
                <a:ea typeface="Calibri"/>
                <a:cs typeface="Calibri"/>
                <a:hlinkClick r:id="rId5" action="ppaction://hlinksldjump"/>
              </a:rPr>
              <a:t>[Level3_Decision2_OptionB]</a:t>
            </a:r>
            <a:endParaRPr lang="en-US" sz="2050" b="1" dirty="0">
              <a:solidFill>
                <a:schemeClr val="tx2"/>
              </a:solidFill>
              <a:ea typeface="Calibri"/>
              <a:cs typeface="Calibri"/>
            </a:endParaRPr>
          </a:p>
          <a:p>
            <a:pPr marL="0" indent="0">
              <a:spcBef>
                <a:spcPts val="0"/>
              </a:spcBef>
              <a:buNone/>
              <a:defRPr/>
            </a:pPr>
            <a:endParaRPr lang="en-US" sz="2050" dirty="0">
              <a:solidFill>
                <a:schemeClr val="tx2"/>
              </a:solidFill>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p:txBody>
      </p:sp>
      <p:pic>
        <p:nvPicPr>
          <p:cNvPr id="7" name="Graphic 6" descr="Volume">
            <a:extLst>
              <a:ext uri="{FF2B5EF4-FFF2-40B4-BE49-F238E27FC236}">
                <a16:creationId xmlns:a16="http://schemas.microsoft.com/office/drawing/2014/main" id="{98858AF6-4306-4AB2-9A31-F2CF2E76360E}"/>
              </a:ext>
            </a:extLst>
          </p:cNvP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43363" y="510636"/>
            <a:ext cx="430491" cy="356827"/>
          </a:xfrm>
          <a:prstGeom prst="rect">
            <a:avLst/>
          </a:prstGeom>
        </p:spPr>
      </p:pic>
      <p:sp>
        <p:nvSpPr>
          <p:cNvPr id="2" name="Title 1">
            <a:extLst>
              <a:ext uri="{FF2B5EF4-FFF2-40B4-BE49-F238E27FC236}">
                <a16:creationId xmlns:a16="http://schemas.microsoft.com/office/drawing/2014/main" id="{AAE4B061-1973-4598-99F6-EBDFEBA643E0}"/>
              </a:ext>
            </a:extLst>
          </p:cNvPr>
          <p:cNvSpPr>
            <a:spLocks noGrp="1"/>
          </p:cNvSpPr>
          <p:nvPr>
            <p:ph type="title"/>
          </p:nvPr>
        </p:nvSpPr>
        <p:spPr>
          <a:xfrm>
            <a:off x="795113" y="5074"/>
            <a:ext cx="10412618" cy="505562"/>
          </a:xfrm>
        </p:spPr>
        <p:txBody>
          <a:bodyPr>
            <a:normAutofit fontScale="90000"/>
          </a:bodyPr>
          <a:lstStyle/>
          <a:p>
            <a:r>
              <a:rPr lang="en-US" dirty="0"/>
              <a:t>Level3_Decision2</a:t>
            </a:r>
          </a:p>
        </p:txBody>
      </p:sp>
      <p:sp>
        <p:nvSpPr>
          <p:cNvPr id="8" name="Text Placeholder 3">
            <a:extLst>
              <a:ext uri="{FF2B5EF4-FFF2-40B4-BE49-F238E27FC236}">
                <a16:creationId xmlns:a16="http://schemas.microsoft.com/office/drawing/2014/main" id="{B5CE21A4-EFBD-4B90-ACD8-0159F888003A}"/>
              </a:ext>
            </a:extLst>
          </p:cNvPr>
          <p:cNvSpPr txBox="1">
            <a:spLocks/>
          </p:cNvSpPr>
          <p:nvPr/>
        </p:nvSpPr>
        <p:spPr>
          <a:xfrm>
            <a:off x="1316248" y="4168944"/>
            <a:ext cx="557228" cy="531764"/>
          </a:xfrm>
          <a:prstGeom prst="rect">
            <a:avLst/>
          </a:prstGeom>
        </p:spPr>
        <p:txBody>
          <a:bodyPr lIns="121891" tIns="60945" rIns="121891" bIns="60945">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A</a:t>
            </a:r>
          </a:p>
        </p:txBody>
      </p:sp>
      <p:sp>
        <p:nvSpPr>
          <p:cNvPr id="9" name="Text Placeholder 3">
            <a:extLst>
              <a:ext uri="{FF2B5EF4-FFF2-40B4-BE49-F238E27FC236}">
                <a16:creationId xmlns:a16="http://schemas.microsoft.com/office/drawing/2014/main" id="{7BA7EB68-7706-476E-A698-BCA0BD7BA336}"/>
              </a:ext>
            </a:extLst>
          </p:cNvPr>
          <p:cNvSpPr txBox="1">
            <a:spLocks/>
          </p:cNvSpPr>
          <p:nvPr/>
        </p:nvSpPr>
        <p:spPr>
          <a:xfrm>
            <a:off x="1316248" y="4799431"/>
            <a:ext cx="570063" cy="4023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B</a:t>
            </a: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p:txBody>
      </p:sp>
      <p:sp>
        <p:nvSpPr>
          <p:cNvPr id="10" name="Arrow: Pentagon 9">
            <a:extLst>
              <a:ext uri="{FF2B5EF4-FFF2-40B4-BE49-F238E27FC236}">
                <a16:creationId xmlns:a16="http://schemas.microsoft.com/office/drawing/2014/main" id="{3A481DAB-3F7F-4F3B-A740-9126B5A248EE}"/>
              </a:ext>
            </a:extLst>
          </p:cNvPr>
          <p:cNvSpPr/>
          <p:nvPr/>
        </p:nvSpPr>
        <p:spPr>
          <a:xfrm>
            <a:off x="249448" y="4168944"/>
            <a:ext cx="1066800" cy="402368"/>
          </a:xfrm>
          <a:prstGeom prst="homePlate">
            <a:avLst/>
          </a:prstGeom>
        </p:spPr>
        <p:style>
          <a:lnRef idx="1">
            <a:schemeClr val="accent6"/>
          </a:lnRef>
          <a:fillRef idx="2">
            <a:schemeClr val="accent6"/>
          </a:fillRef>
          <a:effectRef idx="1">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Optimal</a:t>
            </a:r>
          </a:p>
        </p:txBody>
      </p:sp>
      <p:sp>
        <p:nvSpPr>
          <p:cNvPr id="13" name="TextBox 12">
            <a:extLst>
              <a:ext uri="{FF2B5EF4-FFF2-40B4-BE49-F238E27FC236}">
                <a16:creationId xmlns:a16="http://schemas.microsoft.com/office/drawing/2014/main" id="{F11CD414-1A6D-48FB-A3F8-DD4EE5EAC921}"/>
              </a:ext>
            </a:extLst>
          </p:cNvPr>
          <p:cNvSpPr txBox="1"/>
          <p:nvPr/>
        </p:nvSpPr>
        <p:spPr>
          <a:xfrm>
            <a:off x="795113" y="6120430"/>
            <a:ext cx="10412618" cy="646331"/>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lvl="0">
              <a:defRPr/>
            </a:pPr>
            <a:r>
              <a:rPr lang="en-US" dirty="0">
                <a:solidFill>
                  <a:prstClr val="black"/>
                </a:solidFill>
              </a:rPr>
              <a:t>If Option A: Student will need to choose an application.</a:t>
            </a:r>
          </a:p>
          <a:p>
            <a:r>
              <a:rPr lang="en-US" dirty="0">
                <a:solidFill>
                  <a:prstClr val="black"/>
                </a:solidFill>
              </a:rPr>
              <a:t>If Option B: Student will need to choose a type of application.</a:t>
            </a:r>
          </a:p>
        </p:txBody>
      </p:sp>
      <p:sp>
        <p:nvSpPr>
          <p:cNvPr id="14" name="TextBox 13">
            <a:extLst>
              <a:ext uri="{FF2B5EF4-FFF2-40B4-BE49-F238E27FC236}">
                <a16:creationId xmlns:a16="http://schemas.microsoft.com/office/drawing/2014/main" id="{035883FC-0E5F-460C-90C8-97086671569A}"/>
              </a:ext>
            </a:extLst>
          </p:cNvPr>
          <p:cNvSpPr txBox="1"/>
          <p:nvPr/>
        </p:nvSpPr>
        <p:spPr>
          <a:xfrm>
            <a:off x="795113" y="5303900"/>
            <a:ext cx="10412618" cy="646331"/>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defPPr>
              <a:defRPr lang="en-US"/>
            </a:defPPr>
            <a:lvl1pPr>
              <a:defRPr>
                <a:solidFill>
                  <a:srgbClr val="FF0000"/>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C00000"/>
                </a:solidFill>
                <a:effectLst/>
                <a:uLnTx/>
                <a:uFillTx/>
                <a:latin typeface="Calibri" panose="020F0502020204030204"/>
                <a:ea typeface="+mn-ea"/>
                <a:cs typeface="+mn-cs"/>
              </a:rPr>
              <a:t>Explanation:</a:t>
            </a:r>
          </a:p>
          <a:p>
            <a:pPr lvl="0">
              <a:defRPr/>
            </a:pPr>
            <a:r>
              <a:rPr lang="en-US" dirty="0">
                <a:solidFill>
                  <a:srgbClr val="C00000"/>
                </a:solidFill>
              </a:rPr>
              <a:t>The spreadsheet application is able to natively interpret data through visual charts and other graphics.</a:t>
            </a:r>
            <a:endParaRPr kumimoji="0" lang="en-US" sz="1800" b="0" i="0" u="none" strike="noStrike" kern="1200" cap="none" spc="0" normalizeH="0" baseline="0" noProof="0" dirty="0">
              <a:ln>
                <a:noFill/>
              </a:ln>
              <a:solidFill>
                <a:srgbClr val="C00000"/>
              </a:solidFill>
              <a:effectLst/>
              <a:uLnTx/>
              <a:uFillTx/>
              <a:latin typeface="Calibri" panose="020F0502020204030204"/>
              <a:ea typeface="+mn-ea"/>
              <a:cs typeface="+mn-cs"/>
            </a:endParaRPr>
          </a:p>
        </p:txBody>
      </p:sp>
      <p:sp>
        <p:nvSpPr>
          <p:cNvPr id="15" name="TextBox 14">
            <a:extLst>
              <a:ext uri="{FF2B5EF4-FFF2-40B4-BE49-F238E27FC236}">
                <a16:creationId xmlns:a16="http://schemas.microsoft.com/office/drawing/2014/main" id="{DD1A5813-02A4-4E4C-A7C7-25701DCC1CC2}"/>
              </a:ext>
            </a:extLst>
          </p:cNvPr>
          <p:cNvSpPr txBox="1"/>
          <p:nvPr/>
        </p:nvSpPr>
        <p:spPr>
          <a:xfrm>
            <a:off x="795111" y="556514"/>
            <a:ext cx="10412617" cy="369332"/>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Previous step: Student chose to run a query in Access.</a:t>
            </a:r>
          </a:p>
        </p:txBody>
      </p:sp>
    </p:spTree>
    <p:custDataLst>
      <p:tags r:id="rId1"/>
    </p:custDataLst>
    <p:extLst>
      <p:ext uri="{BB962C8B-B14F-4D97-AF65-F5344CB8AC3E}">
        <p14:creationId xmlns:p14="http://schemas.microsoft.com/office/powerpoint/2010/main" val="6953373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
          <p:cNvSpPr txBox="1">
            <a:spLocks/>
          </p:cNvSpPr>
          <p:nvPr/>
        </p:nvSpPr>
        <p:spPr>
          <a:xfrm>
            <a:off x="795111" y="988763"/>
            <a:ext cx="11253526" cy="2903619"/>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2"/>
                </a:solidFill>
                <a:ea typeface="Calibri"/>
                <a:cs typeface="Calibri"/>
              </a:rPr>
              <a:t>Back at your desk, you open up Access and run a few filters trying to gather the information you’ll need. Then you start to study the data Access shows in response to your filters. </a:t>
            </a: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r>
              <a:rPr lang="en-US" sz="2050" dirty="0">
                <a:solidFill>
                  <a:schemeClr val="tx2"/>
                </a:solidFill>
                <a:ea typeface="Calibri"/>
                <a:cs typeface="Calibri"/>
              </a:rPr>
              <a:t>The filtered data is not really showing what you wanted it to—the data seems ambiguous and clumsy, and you can’t seem to get the output you’re looking for. You start to wonder if the pattern you noticed was all that significant.  At any rate, you decide to try creating some data charts to show the attendance patterns you’re finding. You also want some charts showing your suggestions about how the company will save money with the new work schedule. What kind of application should you use to create these charts so the graphics will show accurate and insightful representations of the data?</a:t>
            </a:r>
          </a:p>
          <a:p>
            <a:pPr marL="0" indent="0">
              <a:spcBef>
                <a:spcPts val="0"/>
              </a:spcBef>
              <a:buNone/>
              <a:defRPr/>
            </a:pPr>
            <a:endParaRPr lang="en-US" sz="2050" dirty="0">
              <a:solidFill>
                <a:schemeClr val="tx2"/>
              </a:solidFill>
              <a:cs typeface="Calibri"/>
            </a:endParaRPr>
          </a:p>
          <a:p>
            <a:pPr marL="0" indent="0">
              <a:spcBef>
                <a:spcPts val="0"/>
              </a:spcBef>
              <a:buNone/>
              <a:defRPr/>
            </a:pPr>
            <a:endParaRPr lang="en-US" dirty="0">
              <a:solidFill>
                <a:schemeClr val="tx2"/>
              </a:solidFill>
            </a:endParaRPr>
          </a:p>
        </p:txBody>
      </p:sp>
      <p:sp>
        <p:nvSpPr>
          <p:cNvPr id="12" name="Text Placeholder 1"/>
          <p:cNvSpPr txBox="1">
            <a:spLocks/>
          </p:cNvSpPr>
          <p:nvPr/>
        </p:nvSpPr>
        <p:spPr>
          <a:xfrm>
            <a:off x="1574291" y="4068602"/>
            <a:ext cx="9693213" cy="122314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2"/>
                </a:solidFill>
                <a:ea typeface="Calibri"/>
                <a:cs typeface="Calibri"/>
                <a:hlinkClick r:id="rId4" action="ppaction://hlinksldjump"/>
              </a:rPr>
              <a:t>Spreadsheet application </a:t>
            </a:r>
            <a:r>
              <a:rPr lang="en-US" sz="2050" b="1" dirty="0">
                <a:solidFill>
                  <a:schemeClr val="tx2"/>
                </a:solidFill>
                <a:ea typeface="Calibri"/>
                <a:cs typeface="Calibri"/>
                <a:hlinkClick r:id="rId4" action="ppaction://hlinksldjump"/>
              </a:rPr>
              <a:t>[Level3_Decision3_OptionA]</a:t>
            </a:r>
            <a:endParaRPr lang="en-US" sz="2050" b="1" dirty="0">
              <a:solidFill>
                <a:schemeClr val="tx2"/>
              </a:solidFill>
              <a:ea typeface="Calibri"/>
              <a:cs typeface="Calibri"/>
            </a:endParaRPr>
          </a:p>
          <a:p>
            <a:pPr marL="0" indent="0">
              <a:spcBef>
                <a:spcPts val="0"/>
              </a:spcBef>
              <a:buNone/>
              <a:defRPr/>
            </a:pPr>
            <a:endParaRPr lang="en-US" sz="2050" dirty="0">
              <a:solidFill>
                <a:srgbClr val="AD7318"/>
              </a:solidFill>
              <a:ea typeface="Calibri"/>
              <a:cs typeface="Calibri"/>
            </a:endParaRPr>
          </a:p>
          <a:p>
            <a:pPr marL="0" indent="0">
              <a:spcBef>
                <a:spcPts val="0"/>
              </a:spcBef>
              <a:buNone/>
              <a:defRPr/>
            </a:pPr>
            <a:r>
              <a:rPr lang="en-US" sz="2050" dirty="0">
                <a:solidFill>
                  <a:schemeClr val="tx2"/>
                </a:solidFill>
                <a:ea typeface="Calibri"/>
                <a:cs typeface="Calibri"/>
                <a:hlinkClick r:id="rId5" action="ppaction://hlinksldjump"/>
              </a:rPr>
              <a:t>Graphics application </a:t>
            </a:r>
            <a:r>
              <a:rPr lang="en-US" sz="2050" b="1" dirty="0">
                <a:solidFill>
                  <a:schemeClr val="tx2"/>
                </a:solidFill>
                <a:ea typeface="Calibri"/>
                <a:cs typeface="Calibri"/>
                <a:hlinkClick r:id="rId5" action="ppaction://hlinksldjump"/>
              </a:rPr>
              <a:t>[Level3_Decision3_OptionB]</a:t>
            </a:r>
            <a:endParaRPr lang="en-US" sz="2050" b="1" dirty="0">
              <a:solidFill>
                <a:schemeClr val="tx2"/>
              </a:solidFill>
              <a:ea typeface="Calibri"/>
              <a:cs typeface="Calibri"/>
            </a:endParaRPr>
          </a:p>
          <a:p>
            <a:pPr marL="0" indent="0">
              <a:spcBef>
                <a:spcPts val="0"/>
              </a:spcBef>
              <a:buNone/>
              <a:defRPr/>
            </a:pPr>
            <a:endParaRPr lang="en-US" sz="2050" dirty="0">
              <a:solidFill>
                <a:schemeClr val="tx2"/>
              </a:solidFill>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p:txBody>
      </p:sp>
      <p:pic>
        <p:nvPicPr>
          <p:cNvPr id="7" name="Graphic 6" descr="Volume">
            <a:extLst>
              <a:ext uri="{FF2B5EF4-FFF2-40B4-BE49-F238E27FC236}">
                <a16:creationId xmlns:a16="http://schemas.microsoft.com/office/drawing/2014/main" id="{98858AF6-4306-4AB2-9A31-F2CF2E76360E}"/>
              </a:ext>
            </a:extLst>
          </p:cNvP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43363" y="510636"/>
            <a:ext cx="430491" cy="356827"/>
          </a:xfrm>
          <a:prstGeom prst="rect">
            <a:avLst/>
          </a:prstGeom>
        </p:spPr>
      </p:pic>
      <p:sp>
        <p:nvSpPr>
          <p:cNvPr id="2" name="Title 1">
            <a:extLst>
              <a:ext uri="{FF2B5EF4-FFF2-40B4-BE49-F238E27FC236}">
                <a16:creationId xmlns:a16="http://schemas.microsoft.com/office/drawing/2014/main" id="{AAE4B061-1973-4598-99F6-EBDFEBA643E0}"/>
              </a:ext>
            </a:extLst>
          </p:cNvPr>
          <p:cNvSpPr>
            <a:spLocks noGrp="1"/>
          </p:cNvSpPr>
          <p:nvPr>
            <p:ph type="title"/>
          </p:nvPr>
        </p:nvSpPr>
        <p:spPr>
          <a:xfrm>
            <a:off x="795113" y="5074"/>
            <a:ext cx="10412618" cy="505562"/>
          </a:xfrm>
        </p:spPr>
        <p:txBody>
          <a:bodyPr>
            <a:normAutofit fontScale="90000"/>
          </a:bodyPr>
          <a:lstStyle/>
          <a:p>
            <a:r>
              <a:rPr lang="en-US" dirty="0"/>
              <a:t>Level3_Decision3</a:t>
            </a:r>
          </a:p>
        </p:txBody>
      </p:sp>
      <p:sp>
        <p:nvSpPr>
          <p:cNvPr id="8" name="Text Placeholder 3">
            <a:extLst>
              <a:ext uri="{FF2B5EF4-FFF2-40B4-BE49-F238E27FC236}">
                <a16:creationId xmlns:a16="http://schemas.microsoft.com/office/drawing/2014/main" id="{B5CE21A4-EFBD-4B90-ACD8-0159F888003A}"/>
              </a:ext>
            </a:extLst>
          </p:cNvPr>
          <p:cNvSpPr txBox="1">
            <a:spLocks/>
          </p:cNvSpPr>
          <p:nvPr/>
        </p:nvSpPr>
        <p:spPr>
          <a:xfrm>
            <a:off x="1290962" y="4084839"/>
            <a:ext cx="566658" cy="531764"/>
          </a:xfrm>
          <a:prstGeom prst="rect">
            <a:avLst/>
          </a:prstGeom>
        </p:spPr>
        <p:txBody>
          <a:bodyPr lIns="121891" tIns="60945" rIns="121891" bIns="60945">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A</a:t>
            </a:r>
          </a:p>
        </p:txBody>
      </p:sp>
      <p:sp>
        <p:nvSpPr>
          <p:cNvPr id="9" name="Text Placeholder 3">
            <a:extLst>
              <a:ext uri="{FF2B5EF4-FFF2-40B4-BE49-F238E27FC236}">
                <a16:creationId xmlns:a16="http://schemas.microsoft.com/office/drawing/2014/main" id="{7BA7EB68-7706-476E-A698-BCA0BD7BA336}"/>
              </a:ext>
            </a:extLst>
          </p:cNvPr>
          <p:cNvSpPr txBox="1">
            <a:spLocks/>
          </p:cNvSpPr>
          <p:nvPr/>
        </p:nvSpPr>
        <p:spPr>
          <a:xfrm>
            <a:off x="1290962" y="4764652"/>
            <a:ext cx="579710" cy="4023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B</a:t>
            </a: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p:txBody>
      </p:sp>
      <p:sp>
        <p:nvSpPr>
          <p:cNvPr id="10" name="Arrow: Pentagon 9">
            <a:extLst>
              <a:ext uri="{FF2B5EF4-FFF2-40B4-BE49-F238E27FC236}">
                <a16:creationId xmlns:a16="http://schemas.microsoft.com/office/drawing/2014/main" id="{C6B29D43-5780-4565-8AB2-960C5582DF25}"/>
              </a:ext>
            </a:extLst>
          </p:cNvPr>
          <p:cNvSpPr/>
          <p:nvPr/>
        </p:nvSpPr>
        <p:spPr>
          <a:xfrm>
            <a:off x="143363" y="4149537"/>
            <a:ext cx="1066800" cy="402368"/>
          </a:xfrm>
          <a:prstGeom prst="homePlate">
            <a:avLst/>
          </a:prstGeom>
        </p:spPr>
        <p:style>
          <a:lnRef idx="1">
            <a:schemeClr val="accent6"/>
          </a:lnRef>
          <a:fillRef idx="2">
            <a:schemeClr val="accent6"/>
          </a:fillRef>
          <a:effectRef idx="1">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Optimal</a:t>
            </a:r>
          </a:p>
        </p:txBody>
      </p:sp>
      <p:sp>
        <p:nvSpPr>
          <p:cNvPr id="13" name="TextBox 12">
            <a:extLst>
              <a:ext uri="{FF2B5EF4-FFF2-40B4-BE49-F238E27FC236}">
                <a16:creationId xmlns:a16="http://schemas.microsoft.com/office/drawing/2014/main" id="{5977E1C5-DA74-4357-8FAA-EE336FEFE612}"/>
              </a:ext>
            </a:extLst>
          </p:cNvPr>
          <p:cNvSpPr txBox="1"/>
          <p:nvPr/>
        </p:nvSpPr>
        <p:spPr>
          <a:xfrm>
            <a:off x="795113" y="6120426"/>
            <a:ext cx="10412618" cy="646331"/>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lvl="0">
              <a:defRPr/>
            </a:pPr>
            <a:r>
              <a:rPr lang="en-US" dirty="0">
                <a:solidFill>
                  <a:prstClr val="black"/>
                </a:solidFill>
              </a:rPr>
              <a:t>If Option A: Student will need to choose an application.</a:t>
            </a:r>
          </a:p>
          <a:p>
            <a:r>
              <a:rPr lang="en-US" dirty="0">
                <a:solidFill>
                  <a:prstClr val="black"/>
                </a:solidFill>
              </a:rPr>
              <a:t>If Option B: Student will need to choose a type of application.</a:t>
            </a:r>
          </a:p>
        </p:txBody>
      </p:sp>
      <p:sp>
        <p:nvSpPr>
          <p:cNvPr id="14" name="TextBox 13">
            <a:extLst>
              <a:ext uri="{FF2B5EF4-FFF2-40B4-BE49-F238E27FC236}">
                <a16:creationId xmlns:a16="http://schemas.microsoft.com/office/drawing/2014/main" id="{6183C0E0-E947-4351-941B-571639DE84D6}"/>
              </a:ext>
            </a:extLst>
          </p:cNvPr>
          <p:cNvSpPr txBox="1"/>
          <p:nvPr/>
        </p:nvSpPr>
        <p:spPr>
          <a:xfrm>
            <a:off x="795113" y="5291749"/>
            <a:ext cx="10412618" cy="646331"/>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defPPr>
              <a:defRPr lang="en-US"/>
            </a:defPPr>
            <a:lvl1pPr>
              <a:defRPr>
                <a:solidFill>
                  <a:srgbClr val="FF0000"/>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C00000"/>
                </a:solidFill>
                <a:effectLst/>
                <a:uLnTx/>
                <a:uFillTx/>
                <a:latin typeface="Calibri" panose="020F0502020204030204"/>
                <a:ea typeface="+mn-ea"/>
                <a:cs typeface="+mn-cs"/>
              </a:rPr>
              <a:t>Explanation:</a:t>
            </a:r>
          </a:p>
          <a:p>
            <a:pPr lvl="0">
              <a:defRPr/>
            </a:pPr>
            <a:r>
              <a:rPr lang="en-US" dirty="0">
                <a:solidFill>
                  <a:srgbClr val="C00000"/>
                </a:solidFill>
              </a:rPr>
              <a:t>The spreadsheet application is able to natively interpret data through visual charts and other graphics.</a:t>
            </a:r>
            <a:endParaRPr kumimoji="0" lang="en-US" sz="1800" b="0" i="0" u="none" strike="noStrike" kern="1200" cap="none" spc="0" normalizeH="0" baseline="0" noProof="0" dirty="0">
              <a:ln>
                <a:noFill/>
              </a:ln>
              <a:solidFill>
                <a:srgbClr val="C00000"/>
              </a:solidFill>
              <a:effectLst/>
              <a:uLnTx/>
              <a:uFillTx/>
              <a:latin typeface="Calibri" panose="020F0502020204030204"/>
              <a:ea typeface="+mn-ea"/>
              <a:cs typeface="+mn-cs"/>
            </a:endParaRPr>
          </a:p>
        </p:txBody>
      </p:sp>
      <p:sp>
        <p:nvSpPr>
          <p:cNvPr id="15" name="TextBox 14">
            <a:extLst>
              <a:ext uri="{FF2B5EF4-FFF2-40B4-BE49-F238E27FC236}">
                <a16:creationId xmlns:a16="http://schemas.microsoft.com/office/drawing/2014/main" id="{2C8C2805-7C86-46D5-B39B-16B91A764DE5}"/>
              </a:ext>
            </a:extLst>
          </p:cNvPr>
          <p:cNvSpPr txBox="1"/>
          <p:nvPr/>
        </p:nvSpPr>
        <p:spPr>
          <a:xfrm>
            <a:off x="795111" y="577780"/>
            <a:ext cx="10412617" cy="369332"/>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Previous step: Student chose to apply a filter in Access.</a:t>
            </a:r>
          </a:p>
        </p:txBody>
      </p:sp>
    </p:spTree>
    <p:custDataLst>
      <p:tags r:id="rId1"/>
    </p:custDataLst>
    <p:extLst>
      <p:ext uri="{BB962C8B-B14F-4D97-AF65-F5344CB8AC3E}">
        <p14:creationId xmlns:p14="http://schemas.microsoft.com/office/powerpoint/2010/main" val="822725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
          <p:cNvSpPr txBox="1">
            <a:spLocks/>
          </p:cNvSpPr>
          <p:nvPr/>
        </p:nvSpPr>
        <p:spPr>
          <a:xfrm>
            <a:off x="791030" y="1032421"/>
            <a:ext cx="10412617" cy="1365482"/>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2"/>
                </a:solidFill>
                <a:ea typeface="Calibri"/>
                <a:cs typeface="Calibri"/>
              </a:rPr>
              <a:t>You’ve got some great data to work with, and you’ve decided that a spreadsheet will give you the best shot at showcasing that information well. Now to choose a spreadsheet application. Which application would you rather work with? </a:t>
            </a:r>
          </a:p>
          <a:p>
            <a:pPr marL="0" indent="0">
              <a:spcBef>
                <a:spcPts val="0"/>
              </a:spcBef>
              <a:buNone/>
              <a:defRPr/>
            </a:pPr>
            <a:endParaRPr lang="en-US" sz="2050" dirty="0">
              <a:solidFill>
                <a:schemeClr val="tx2"/>
              </a:solidFill>
              <a:cs typeface="Calibri"/>
            </a:endParaRPr>
          </a:p>
          <a:p>
            <a:pPr marL="0" indent="0">
              <a:spcBef>
                <a:spcPts val="0"/>
              </a:spcBef>
              <a:buNone/>
              <a:defRPr/>
            </a:pPr>
            <a:endParaRPr lang="en-US" dirty="0">
              <a:solidFill>
                <a:schemeClr val="tx2"/>
              </a:solidFill>
            </a:endParaRPr>
          </a:p>
        </p:txBody>
      </p:sp>
      <p:sp>
        <p:nvSpPr>
          <p:cNvPr id="12" name="Text Placeholder 1"/>
          <p:cNvSpPr txBox="1">
            <a:spLocks/>
          </p:cNvSpPr>
          <p:nvPr/>
        </p:nvSpPr>
        <p:spPr>
          <a:xfrm>
            <a:off x="1516647" y="2655850"/>
            <a:ext cx="9691084" cy="1796121"/>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2"/>
                </a:solidFill>
                <a:ea typeface="Calibri"/>
                <a:cs typeface="Calibri"/>
                <a:hlinkClick r:id="rId4" action="ppaction://hlinksldjump"/>
              </a:rPr>
              <a:t>Microsoft Excel </a:t>
            </a:r>
            <a:r>
              <a:rPr lang="en-US" sz="2050" b="1" dirty="0">
                <a:solidFill>
                  <a:schemeClr val="tx2"/>
                </a:solidFill>
                <a:ea typeface="Calibri"/>
                <a:cs typeface="Calibri"/>
                <a:hlinkClick r:id="rId4" action="ppaction://hlinksldjump"/>
              </a:rPr>
              <a:t>[Level4_Decision1_OptionA]</a:t>
            </a:r>
            <a:endParaRPr lang="en-US" sz="2050" b="1" dirty="0">
              <a:solidFill>
                <a:schemeClr val="tx2"/>
              </a:solidFill>
              <a:ea typeface="Calibri"/>
              <a:cs typeface="Calibri"/>
            </a:endParaRPr>
          </a:p>
          <a:p>
            <a:pPr marL="0" indent="0">
              <a:spcBef>
                <a:spcPts val="0"/>
              </a:spcBef>
              <a:buNone/>
              <a:defRPr/>
            </a:pPr>
            <a:endParaRPr lang="en-US" sz="2099" dirty="0">
              <a:solidFill>
                <a:srgbClr val="AD7318"/>
              </a:solidFill>
              <a:ea typeface="Calibri"/>
              <a:cs typeface="Calibri"/>
            </a:endParaRPr>
          </a:p>
          <a:p>
            <a:pPr marL="0" indent="0">
              <a:spcBef>
                <a:spcPts val="0"/>
              </a:spcBef>
              <a:buNone/>
              <a:defRPr/>
            </a:pPr>
            <a:endParaRPr lang="en-US" sz="2050" dirty="0">
              <a:solidFill>
                <a:srgbClr val="AD7318"/>
              </a:solidFill>
              <a:ea typeface="Calibri"/>
              <a:cs typeface="Calibri"/>
            </a:endParaRPr>
          </a:p>
          <a:p>
            <a:pPr marL="0" indent="0">
              <a:spcBef>
                <a:spcPts val="0"/>
              </a:spcBef>
              <a:buNone/>
              <a:defRPr/>
            </a:pPr>
            <a:r>
              <a:rPr lang="en-US" sz="2050" dirty="0">
                <a:solidFill>
                  <a:schemeClr val="tx2"/>
                </a:solidFill>
                <a:ea typeface="Calibri"/>
                <a:cs typeface="Calibri"/>
                <a:hlinkClick r:id="rId4" action="ppaction://hlinksldjump"/>
              </a:rPr>
              <a:t>Google Sheets </a:t>
            </a:r>
            <a:r>
              <a:rPr lang="en-US" sz="2050" b="1" dirty="0">
                <a:solidFill>
                  <a:schemeClr val="tx2"/>
                </a:solidFill>
                <a:ea typeface="Calibri"/>
                <a:cs typeface="Calibri"/>
                <a:hlinkClick r:id="rId4" action="ppaction://hlinksldjump"/>
              </a:rPr>
              <a:t>[Level4_Decision1_OptionB]</a:t>
            </a:r>
            <a:endParaRPr lang="en-US" sz="2050" b="1" dirty="0">
              <a:solidFill>
                <a:schemeClr val="tx2"/>
              </a:solidFill>
              <a:ea typeface="Calibri"/>
              <a:cs typeface="Calibri"/>
            </a:endParaRPr>
          </a:p>
          <a:p>
            <a:pPr marL="0" indent="0">
              <a:spcBef>
                <a:spcPts val="0"/>
              </a:spcBef>
              <a:buNone/>
              <a:defRPr/>
            </a:pPr>
            <a:endParaRPr lang="en-US" sz="2050" dirty="0">
              <a:solidFill>
                <a:schemeClr val="tx2"/>
              </a:solidFill>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p:txBody>
      </p:sp>
      <p:pic>
        <p:nvPicPr>
          <p:cNvPr id="7" name="Graphic 6" descr="Volume">
            <a:extLst>
              <a:ext uri="{FF2B5EF4-FFF2-40B4-BE49-F238E27FC236}">
                <a16:creationId xmlns:a16="http://schemas.microsoft.com/office/drawing/2014/main" id="{98858AF6-4306-4AB2-9A31-F2CF2E76360E}"/>
              </a:ext>
            </a:extLst>
          </p:cNvPr>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43363" y="510636"/>
            <a:ext cx="430491" cy="356827"/>
          </a:xfrm>
          <a:prstGeom prst="rect">
            <a:avLst/>
          </a:prstGeom>
        </p:spPr>
      </p:pic>
      <p:sp>
        <p:nvSpPr>
          <p:cNvPr id="2" name="Title 1">
            <a:extLst>
              <a:ext uri="{FF2B5EF4-FFF2-40B4-BE49-F238E27FC236}">
                <a16:creationId xmlns:a16="http://schemas.microsoft.com/office/drawing/2014/main" id="{AAE4B061-1973-4598-99F6-EBDFEBA643E0}"/>
              </a:ext>
            </a:extLst>
          </p:cNvPr>
          <p:cNvSpPr>
            <a:spLocks noGrp="1"/>
          </p:cNvSpPr>
          <p:nvPr>
            <p:ph type="title"/>
          </p:nvPr>
        </p:nvSpPr>
        <p:spPr>
          <a:xfrm>
            <a:off x="795113" y="5074"/>
            <a:ext cx="10412618" cy="505562"/>
          </a:xfrm>
        </p:spPr>
        <p:txBody>
          <a:bodyPr>
            <a:normAutofit fontScale="90000"/>
          </a:bodyPr>
          <a:lstStyle/>
          <a:p>
            <a:r>
              <a:rPr lang="en-US" dirty="0"/>
              <a:t>Level4_Decision1</a:t>
            </a:r>
          </a:p>
        </p:txBody>
      </p:sp>
      <p:sp>
        <p:nvSpPr>
          <p:cNvPr id="8" name="Text Placeholder 3">
            <a:extLst>
              <a:ext uri="{FF2B5EF4-FFF2-40B4-BE49-F238E27FC236}">
                <a16:creationId xmlns:a16="http://schemas.microsoft.com/office/drawing/2014/main" id="{B5CE21A4-EFBD-4B90-ACD8-0159F888003A}"/>
              </a:ext>
            </a:extLst>
          </p:cNvPr>
          <p:cNvSpPr txBox="1">
            <a:spLocks/>
          </p:cNvSpPr>
          <p:nvPr/>
        </p:nvSpPr>
        <p:spPr>
          <a:xfrm>
            <a:off x="1144235" y="2643377"/>
            <a:ext cx="624198" cy="531764"/>
          </a:xfrm>
          <a:prstGeom prst="rect">
            <a:avLst/>
          </a:prstGeom>
        </p:spPr>
        <p:txBody>
          <a:bodyPr lIns="121891" tIns="60945" rIns="121891" bIns="60945">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A</a:t>
            </a:r>
          </a:p>
        </p:txBody>
      </p:sp>
      <p:sp>
        <p:nvSpPr>
          <p:cNvPr id="9" name="Text Placeholder 3">
            <a:extLst>
              <a:ext uri="{FF2B5EF4-FFF2-40B4-BE49-F238E27FC236}">
                <a16:creationId xmlns:a16="http://schemas.microsoft.com/office/drawing/2014/main" id="{7BA7EB68-7706-476E-A698-BCA0BD7BA336}"/>
              </a:ext>
            </a:extLst>
          </p:cNvPr>
          <p:cNvSpPr txBox="1">
            <a:spLocks/>
          </p:cNvSpPr>
          <p:nvPr/>
        </p:nvSpPr>
        <p:spPr>
          <a:xfrm>
            <a:off x="1144235" y="3576167"/>
            <a:ext cx="638575" cy="4023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B</a:t>
            </a: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p:txBody>
      </p:sp>
      <p:sp>
        <p:nvSpPr>
          <p:cNvPr id="10" name="Arrow: Pentagon 9">
            <a:extLst>
              <a:ext uri="{FF2B5EF4-FFF2-40B4-BE49-F238E27FC236}">
                <a16:creationId xmlns:a16="http://schemas.microsoft.com/office/drawing/2014/main" id="{4C611930-AE17-4820-8271-ED00F1557DAC}"/>
              </a:ext>
            </a:extLst>
          </p:cNvPr>
          <p:cNvSpPr/>
          <p:nvPr/>
        </p:nvSpPr>
        <p:spPr>
          <a:xfrm>
            <a:off x="77435" y="3553911"/>
            <a:ext cx="1066800" cy="402368"/>
          </a:xfrm>
          <a:prstGeom prst="homePlate">
            <a:avLst/>
          </a:prstGeom>
        </p:spPr>
        <p:style>
          <a:lnRef idx="1">
            <a:schemeClr val="accent6"/>
          </a:lnRef>
          <a:fillRef idx="2">
            <a:schemeClr val="accent6"/>
          </a:fillRef>
          <a:effectRef idx="1">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Optimal</a:t>
            </a:r>
          </a:p>
        </p:txBody>
      </p:sp>
      <p:sp>
        <p:nvSpPr>
          <p:cNvPr id="13" name="Arrow: Pentagon 12">
            <a:extLst>
              <a:ext uri="{FF2B5EF4-FFF2-40B4-BE49-F238E27FC236}">
                <a16:creationId xmlns:a16="http://schemas.microsoft.com/office/drawing/2014/main" id="{DA9D99B7-2DAC-43F5-8C9D-F2C6D18E710B}"/>
              </a:ext>
            </a:extLst>
          </p:cNvPr>
          <p:cNvSpPr/>
          <p:nvPr/>
        </p:nvSpPr>
        <p:spPr>
          <a:xfrm>
            <a:off x="77435" y="2708075"/>
            <a:ext cx="1066800" cy="402368"/>
          </a:xfrm>
          <a:prstGeom prst="homePlate">
            <a:avLst/>
          </a:prstGeom>
        </p:spPr>
        <p:style>
          <a:lnRef idx="1">
            <a:schemeClr val="accent6"/>
          </a:lnRef>
          <a:fillRef idx="2">
            <a:schemeClr val="accent6"/>
          </a:fillRef>
          <a:effectRef idx="1">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Optimal</a:t>
            </a:r>
          </a:p>
        </p:txBody>
      </p:sp>
      <p:sp>
        <p:nvSpPr>
          <p:cNvPr id="16" name="TextBox 15">
            <a:extLst>
              <a:ext uri="{FF2B5EF4-FFF2-40B4-BE49-F238E27FC236}">
                <a16:creationId xmlns:a16="http://schemas.microsoft.com/office/drawing/2014/main" id="{568BD2E7-83AB-4C52-B2B2-0134883621C9}"/>
              </a:ext>
            </a:extLst>
          </p:cNvPr>
          <p:cNvSpPr txBox="1"/>
          <p:nvPr/>
        </p:nvSpPr>
        <p:spPr>
          <a:xfrm>
            <a:off x="795113" y="5968718"/>
            <a:ext cx="10412618" cy="369332"/>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Next step for both options: Student will need to choose a chart type.</a:t>
            </a:r>
          </a:p>
        </p:txBody>
      </p:sp>
      <p:sp>
        <p:nvSpPr>
          <p:cNvPr id="17" name="TextBox 16">
            <a:extLst>
              <a:ext uri="{FF2B5EF4-FFF2-40B4-BE49-F238E27FC236}">
                <a16:creationId xmlns:a16="http://schemas.microsoft.com/office/drawing/2014/main" id="{167D8B73-E6F9-4A67-8892-8944915C61D5}"/>
              </a:ext>
            </a:extLst>
          </p:cNvPr>
          <p:cNvSpPr txBox="1"/>
          <p:nvPr/>
        </p:nvSpPr>
        <p:spPr>
          <a:xfrm>
            <a:off x="795113" y="4895053"/>
            <a:ext cx="10412618" cy="646331"/>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defPPr>
              <a:defRPr lang="en-US"/>
            </a:defPPr>
            <a:lvl1pPr>
              <a:defRPr>
                <a:solidFill>
                  <a:srgbClr val="FF0000"/>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C00000"/>
                </a:solidFill>
                <a:effectLst/>
                <a:uLnTx/>
                <a:uFillTx/>
                <a:latin typeface="Calibri" panose="020F0502020204030204"/>
                <a:ea typeface="+mn-ea"/>
                <a:cs typeface="+mn-cs"/>
              </a:rPr>
              <a:t>Explanation: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rgbClr val="C00000"/>
                </a:solidFill>
                <a:latin typeface="Calibri" panose="020F0502020204030204"/>
              </a:rPr>
              <a:t>Either Microsoft Excel or Google Sheets will do what’s needed here.</a:t>
            </a:r>
            <a:endParaRPr kumimoji="0" lang="en-US" sz="1800" b="0" i="0" u="none" strike="noStrike" kern="1200" cap="none" spc="0" normalizeH="0" baseline="0" noProof="0" dirty="0">
              <a:ln>
                <a:noFill/>
              </a:ln>
              <a:solidFill>
                <a:srgbClr val="C00000"/>
              </a:solidFill>
              <a:effectLst/>
              <a:uLnTx/>
              <a:uFillTx/>
              <a:latin typeface="Calibri" panose="020F0502020204030204"/>
              <a:ea typeface="+mn-ea"/>
              <a:cs typeface="+mn-cs"/>
            </a:endParaRPr>
          </a:p>
        </p:txBody>
      </p:sp>
      <p:sp>
        <p:nvSpPr>
          <p:cNvPr id="18" name="TextBox 17">
            <a:extLst>
              <a:ext uri="{FF2B5EF4-FFF2-40B4-BE49-F238E27FC236}">
                <a16:creationId xmlns:a16="http://schemas.microsoft.com/office/drawing/2014/main" id="{8A84DA59-08DC-4077-B6E6-3E47D882A557}"/>
              </a:ext>
            </a:extLst>
          </p:cNvPr>
          <p:cNvSpPr txBox="1"/>
          <p:nvPr/>
        </p:nvSpPr>
        <p:spPr>
          <a:xfrm>
            <a:off x="795111" y="577780"/>
            <a:ext cx="10412617" cy="369332"/>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Previous step: Student chose to use spreadsheet software.</a:t>
            </a:r>
          </a:p>
        </p:txBody>
      </p:sp>
    </p:spTree>
    <p:custDataLst>
      <p:tags r:id="rId1"/>
    </p:custDataLst>
    <p:extLst>
      <p:ext uri="{BB962C8B-B14F-4D97-AF65-F5344CB8AC3E}">
        <p14:creationId xmlns:p14="http://schemas.microsoft.com/office/powerpoint/2010/main" val="41590724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
          <p:cNvSpPr txBox="1">
            <a:spLocks/>
          </p:cNvSpPr>
          <p:nvPr/>
        </p:nvSpPr>
        <p:spPr>
          <a:xfrm>
            <a:off x="795114" y="911662"/>
            <a:ext cx="10412618" cy="3687746"/>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2"/>
                </a:solidFill>
                <a:ea typeface="Calibri"/>
                <a:cs typeface="Calibri"/>
              </a:rPr>
              <a:t>You’ve got some great data to work with, and you’ve decided that drawing some charts in a graphics app will give you the best shot at showcasing that information well. Now to choose a graphics application. Would you rather work with a native app or a web-based app?</a:t>
            </a:r>
            <a:endParaRPr lang="en-US" sz="2050" dirty="0">
              <a:solidFill>
                <a:schemeClr val="tx2"/>
              </a:solidFill>
              <a:cs typeface="Calibri"/>
            </a:endParaRPr>
          </a:p>
          <a:p>
            <a:pPr marL="0" indent="0">
              <a:spcBef>
                <a:spcPts val="0"/>
              </a:spcBef>
              <a:buNone/>
              <a:defRPr/>
            </a:pPr>
            <a:endParaRPr lang="en-US" dirty="0">
              <a:solidFill>
                <a:schemeClr val="tx2"/>
              </a:solidFill>
            </a:endParaRPr>
          </a:p>
        </p:txBody>
      </p:sp>
      <p:sp>
        <p:nvSpPr>
          <p:cNvPr id="12" name="Text Placeholder 1"/>
          <p:cNvSpPr txBox="1">
            <a:spLocks/>
          </p:cNvSpPr>
          <p:nvPr/>
        </p:nvSpPr>
        <p:spPr>
          <a:xfrm>
            <a:off x="1567762" y="2755535"/>
            <a:ext cx="9500008" cy="1796121"/>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2"/>
                </a:solidFill>
                <a:ea typeface="Calibri"/>
                <a:cs typeface="Calibri"/>
                <a:hlinkClick r:id="rId4" action="ppaction://hlinksldjump"/>
              </a:rPr>
              <a:t>Microsoft Paint, a drawing app that comes with Windows </a:t>
            </a:r>
            <a:r>
              <a:rPr lang="en-US" sz="2050" b="1" dirty="0">
                <a:solidFill>
                  <a:schemeClr val="tx2"/>
                </a:solidFill>
                <a:ea typeface="Calibri"/>
                <a:cs typeface="Calibri"/>
                <a:hlinkClick r:id="rId4" action="ppaction://hlinksldjump"/>
              </a:rPr>
              <a:t>[Level4_Decision2_OptionA]</a:t>
            </a:r>
            <a:endParaRPr lang="en-US" sz="2050" b="1" dirty="0">
              <a:solidFill>
                <a:schemeClr val="tx2"/>
              </a:solidFill>
              <a:ea typeface="Calibri"/>
              <a:cs typeface="Calibri"/>
            </a:endParaRPr>
          </a:p>
          <a:p>
            <a:pPr marL="0" indent="0">
              <a:spcBef>
                <a:spcPts val="0"/>
              </a:spcBef>
              <a:buNone/>
              <a:defRPr/>
            </a:pPr>
            <a:endParaRPr lang="en-US" sz="2099" dirty="0">
              <a:solidFill>
                <a:srgbClr val="AD7318"/>
              </a:solidFill>
              <a:ea typeface="Calibri"/>
              <a:cs typeface="Calibri"/>
            </a:endParaRPr>
          </a:p>
          <a:p>
            <a:pPr marL="0" indent="0">
              <a:spcBef>
                <a:spcPts val="0"/>
              </a:spcBef>
              <a:buNone/>
              <a:defRPr/>
            </a:pPr>
            <a:endParaRPr lang="en-US" sz="2050" dirty="0">
              <a:solidFill>
                <a:srgbClr val="AD7318"/>
              </a:solidFill>
              <a:ea typeface="Calibri"/>
              <a:cs typeface="Calibri"/>
            </a:endParaRPr>
          </a:p>
          <a:p>
            <a:pPr marL="0" indent="0">
              <a:spcBef>
                <a:spcPts val="0"/>
              </a:spcBef>
              <a:buNone/>
              <a:defRPr/>
            </a:pPr>
            <a:r>
              <a:rPr lang="en-US" sz="2050" dirty="0">
                <a:solidFill>
                  <a:schemeClr val="tx2"/>
                </a:solidFill>
                <a:ea typeface="Calibri"/>
                <a:cs typeface="Calibri"/>
                <a:hlinkClick r:id="rId4" action="ppaction://hlinksldjump"/>
              </a:rPr>
              <a:t>draw.io, an online diagram drawing app </a:t>
            </a:r>
            <a:r>
              <a:rPr lang="en-US" sz="2050" b="1" dirty="0">
                <a:solidFill>
                  <a:schemeClr val="tx2"/>
                </a:solidFill>
                <a:ea typeface="Calibri"/>
                <a:cs typeface="Calibri"/>
                <a:hlinkClick r:id="rId4" action="ppaction://hlinksldjump"/>
              </a:rPr>
              <a:t>[Level4_Decision2_OptionB]</a:t>
            </a:r>
            <a:endParaRPr lang="en-US" sz="2050" b="1" dirty="0">
              <a:solidFill>
                <a:schemeClr val="tx2"/>
              </a:solidFill>
              <a:ea typeface="Calibri"/>
              <a:cs typeface="Calibri"/>
            </a:endParaRPr>
          </a:p>
          <a:p>
            <a:pPr marL="0" indent="0">
              <a:spcBef>
                <a:spcPts val="0"/>
              </a:spcBef>
              <a:buNone/>
              <a:defRPr/>
            </a:pPr>
            <a:endParaRPr lang="en-US" sz="2050" dirty="0">
              <a:solidFill>
                <a:schemeClr val="tx2"/>
              </a:solidFill>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p:txBody>
      </p:sp>
      <p:pic>
        <p:nvPicPr>
          <p:cNvPr id="7" name="Graphic 6" descr="Volume">
            <a:extLst>
              <a:ext uri="{FF2B5EF4-FFF2-40B4-BE49-F238E27FC236}">
                <a16:creationId xmlns:a16="http://schemas.microsoft.com/office/drawing/2014/main" id="{98858AF6-4306-4AB2-9A31-F2CF2E76360E}"/>
              </a:ext>
            </a:extLst>
          </p:cNvPr>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43363" y="510636"/>
            <a:ext cx="430491" cy="356827"/>
          </a:xfrm>
          <a:prstGeom prst="rect">
            <a:avLst/>
          </a:prstGeom>
        </p:spPr>
      </p:pic>
      <p:sp>
        <p:nvSpPr>
          <p:cNvPr id="2" name="Title 1">
            <a:extLst>
              <a:ext uri="{FF2B5EF4-FFF2-40B4-BE49-F238E27FC236}">
                <a16:creationId xmlns:a16="http://schemas.microsoft.com/office/drawing/2014/main" id="{AAE4B061-1973-4598-99F6-EBDFEBA643E0}"/>
              </a:ext>
            </a:extLst>
          </p:cNvPr>
          <p:cNvSpPr>
            <a:spLocks noGrp="1"/>
          </p:cNvSpPr>
          <p:nvPr>
            <p:ph type="title"/>
          </p:nvPr>
        </p:nvSpPr>
        <p:spPr>
          <a:xfrm>
            <a:off x="795113" y="5074"/>
            <a:ext cx="10412618" cy="505562"/>
          </a:xfrm>
        </p:spPr>
        <p:txBody>
          <a:bodyPr>
            <a:normAutofit fontScale="90000"/>
          </a:bodyPr>
          <a:lstStyle/>
          <a:p>
            <a:r>
              <a:rPr lang="en-US" dirty="0"/>
              <a:t>Level4_Decision2</a:t>
            </a:r>
          </a:p>
        </p:txBody>
      </p:sp>
      <p:sp>
        <p:nvSpPr>
          <p:cNvPr id="8" name="Text Placeholder 3">
            <a:extLst>
              <a:ext uri="{FF2B5EF4-FFF2-40B4-BE49-F238E27FC236}">
                <a16:creationId xmlns:a16="http://schemas.microsoft.com/office/drawing/2014/main" id="{B5CE21A4-EFBD-4B90-ACD8-0159F888003A}"/>
              </a:ext>
            </a:extLst>
          </p:cNvPr>
          <p:cNvSpPr txBox="1">
            <a:spLocks/>
          </p:cNvSpPr>
          <p:nvPr/>
        </p:nvSpPr>
        <p:spPr>
          <a:xfrm>
            <a:off x="1195350" y="2743062"/>
            <a:ext cx="555364" cy="531764"/>
          </a:xfrm>
          <a:prstGeom prst="rect">
            <a:avLst/>
          </a:prstGeom>
        </p:spPr>
        <p:txBody>
          <a:bodyPr lIns="121891" tIns="60945" rIns="121891" bIns="60945">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A</a:t>
            </a:r>
          </a:p>
        </p:txBody>
      </p:sp>
      <p:sp>
        <p:nvSpPr>
          <p:cNvPr id="9" name="Text Placeholder 3">
            <a:extLst>
              <a:ext uri="{FF2B5EF4-FFF2-40B4-BE49-F238E27FC236}">
                <a16:creationId xmlns:a16="http://schemas.microsoft.com/office/drawing/2014/main" id="{7BA7EB68-7706-476E-A698-BCA0BD7BA336}"/>
              </a:ext>
            </a:extLst>
          </p:cNvPr>
          <p:cNvSpPr txBox="1">
            <a:spLocks/>
          </p:cNvSpPr>
          <p:nvPr/>
        </p:nvSpPr>
        <p:spPr>
          <a:xfrm>
            <a:off x="1195350" y="3675852"/>
            <a:ext cx="568155" cy="4023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B</a:t>
            </a: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p:txBody>
      </p:sp>
      <p:sp>
        <p:nvSpPr>
          <p:cNvPr id="10" name="Arrow: Pentagon 9">
            <a:extLst>
              <a:ext uri="{FF2B5EF4-FFF2-40B4-BE49-F238E27FC236}">
                <a16:creationId xmlns:a16="http://schemas.microsoft.com/office/drawing/2014/main" id="{C0143BC1-58A7-4335-BBA4-582283B4D007}"/>
              </a:ext>
            </a:extLst>
          </p:cNvPr>
          <p:cNvSpPr/>
          <p:nvPr/>
        </p:nvSpPr>
        <p:spPr>
          <a:xfrm>
            <a:off x="121752" y="3695156"/>
            <a:ext cx="1066800" cy="402368"/>
          </a:xfrm>
          <a:prstGeom prst="homePlate">
            <a:avLst/>
          </a:prstGeom>
        </p:spPr>
        <p:style>
          <a:lnRef idx="1">
            <a:schemeClr val="accent6"/>
          </a:lnRef>
          <a:fillRef idx="2">
            <a:schemeClr val="accent6"/>
          </a:fillRef>
          <a:effectRef idx="1">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Optimal</a:t>
            </a:r>
          </a:p>
        </p:txBody>
      </p:sp>
      <p:sp>
        <p:nvSpPr>
          <p:cNvPr id="13" name="Arrow: Pentagon 12">
            <a:extLst>
              <a:ext uri="{FF2B5EF4-FFF2-40B4-BE49-F238E27FC236}">
                <a16:creationId xmlns:a16="http://schemas.microsoft.com/office/drawing/2014/main" id="{5575851D-EF00-404E-B0DD-41927E0B9D58}"/>
              </a:ext>
            </a:extLst>
          </p:cNvPr>
          <p:cNvSpPr/>
          <p:nvPr/>
        </p:nvSpPr>
        <p:spPr>
          <a:xfrm>
            <a:off x="118853" y="2807760"/>
            <a:ext cx="1066800" cy="402368"/>
          </a:xfrm>
          <a:prstGeom prst="homePlate">
            <a:avLst/>
          </a:prstGeom>
        </p:spPr>
        <p:style>
          <a:lnRef idx="1">
            <a:schemeClr val="accent6"/>
          </a:lnRef>
          <a:fillRef idx="2">
            <a:schemeClr val="accent6"/>
          </a:fillRef>
          <a:effectRef idx="1">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Optimal</a:t>
            </a:r>
          </a:p>
        </p:txBody>
      </p:sp>
      <p:sp>
        <p:nvSpPr>
          <p:cNvPr id="15" name="TextBox 14">
            <a:extLst>
              <a:ext uri="{FF2B5EF4-FFF2-40B4-BE49-F238E27FC236}">
                <a16:creationId xmlns:a16="http://schemas.microsoft.com/office/drawing/2014/main" id="{FB258FB1-7842-4A2D-9E7E-DE6461879C3A}"/>
              </a:ext>
            </a:extLst>
          </p:cNvPr>
          <p:cNvSpPr txBox="1"/>
          <p:nvPr/>
        </p:nvSpPr>
        <p:spPr>
          <a:xfrm>
            <a:off x="795113" y="5968718"/>
            <a:ext cx="10412618" cy="369332"/>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Next step for both options: Student will need to choose a file type.</a:t>
            </a:r>
          </a:p>
        </p:txBody>
      </p:sp>
      <p:sp>
        <p:nvSpPr>
          <p:cNvPr id="16" name="TextBox 15">
            <a:extLst>
              <a:ext uri="{FF2B5EF4-FFF2-40B4-BE49-F238E27FC236}">
                <a16:creationId xmlns:a16="http://schemas.microsoft.com/office/drawing/2014/main" id="{F844551A-C05C-46AE-ADD9-EEDCAC5E3FB5}"/>
              </a:ext>
            </a:extLst>
          </p:cNvPr>
          <p:cNvSpPr txBox="1"/>
          <p:nvPr/>
        </p:nvSpPr>
        <p:spPr>
          <a:xfrm>
            <a:off x="795113" y="4895053"/>
            <a:ext cx="10412618" cy="646331"/>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defPPr>
              <a:defRPr lang="en-US"/>
            </a:defPPr>
            <a:lvl1pPr>
              <a:defRPr>
                <a:solidFill>
                  <a:srgbClr val="FF0000"/>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C00000"/>
                </a:solidFill>
                <a:effectLst/>
                <a:uLnTx/>
                <a:uFillTx/>
                <a:latin typeface="Calibri" panose="020F0502020204030204"/>
                <a:ea typeface="+mn-ea"/>
                <a:cs typeface="+mn-cs"/>
              </a:rPr>
              <a:t>Explanation:</a:t>
            </a:r>
          </a:p>
          <a:p>
            <a:pPr lvl="0">
              <a:defRPr/>
            </a:pPr>
            <a:r>
              <a:rPr lang="en-US" dirty="0">
                <a:solidFill>
                  <a:srgbClr val="C00000"/>
                </a:solidFill>
              </a:rPr>
              <a:t>Either Microsoft Paint or draw.io online will do what’s needed here.</a:t>
            </a:r>
            <a:endParaRPr kumimoji="0" lang="en-US" sz="1800" b="0" i="0" u="none" strike="noStrike" kern="1200" cap="none" spc="0" normalizeH="0" baseline="0" noProof="0" dirty="0">
              <a:ln>
                <a:noFill/>
              </a:ln>
              <a:solidFill>
                <a:srgbClr val="C00000"/>
              </a:solidFill>
              <a:effectLst/>
              <a:uLnTx/>
              <a:uFillTx/>
              <a:latin typeface="Calibri" panose="020F0502020204030204"/>
              <a:ea typeface="+mn-ea"/>
              <a:cs typeface="+mn-cs"/>
            </a:endParaRPr>
          </a:p>
        </p:txBody>
      </p:sp>
      <p:sp>
        <p:nvSpPr>
          <p:cNvPr id="17" name="TextBox 16">
            <a:extLst>
              <a:ext uri="{FF2B5EF4-FFF2-40B4-BE49-F238E27FC236}">
                <a16:creationId xmlns:a16="http://schemas.microsoft.com/office/drawing/2014/main" id="{098F7C36-5294-432A-A1BE-01102C45D17B}"/>
              </a:ext>
            </a:extLst>
          </p:cNvPr>
          <p:cNvSpPr txBox="1"/>
          <p:nvPr/>
        </p:nvSpPr>
        <p:spPr>
          <a:xfrm>
            <a:off x="795111" y="577780"/>
            <a:ext cx="10412617" cy="369332"/>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Previous step: Student chose to use graphics software.</a:t>
            </a:r>
          </a:p>
        </p:txBody>
      </p:sp>
    </p:spTree>
    <p:custDataLst>
      <p:tags r:id="rId1"/>
    </p:custDataLst>
    <p:extLst>
      <p:ext uri="{BB962C8B-B14F-4D97-AF65-F5344CB8AC3E}">
        <p14:creationId xmlns:p14="http://schemas.microsoft.com/office/powerpoint/2010/main" val="18098718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
          <p:cNvSpPr txBox="1">
            <a:spLocks/>
          </p:cNvSpPr>
          <p:nvPr/>
        </p:nvSpPr>
        <p:spPr>
          <a:xfrm>
            <a:off x="795113" y="947112"/>
            <a:ext cx="11079729" cy="3652296"/>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2"/>
                </a:solidFill>
                <a:ea typeface="Calibri"/>
                <a:cs typeface="Calibri"/>
              </a:rPr>
              <a:t>Your data isn’t very strong, but you’ve decided that a spreadsheet will give you the best shot at showcasing the information well. Now to choose a spreadsheet application. Which office suite would you rather work with? </a:t>
            </a:r>
          </a:p>
          <a:p>
            <a:pPr marL="0" indent="0">
              <a:spcBef>
                <a:spcPts val="0"/>
              </a:spcBef>
              <a:buNone/>
              <a:defRPr/>
            </a:pPr>
            <a:endParaRPr lang="en-US" sz="2050" dirty="0">
              <a:solidFill>
                <a:schemeClr val="tx2"/>
              </a:solidFill>
              <a:cs typeface="Calibri"/>
            </a:endParaRPr>
          </a:p>
          <a:p>
            <a:pPr marL="0" indent="0">
              <a:spcBef>
                <a:spcPts val="0"/>
              </a:spcBef>
              <a:buNone/>
              <a:defRPr/>
            </a:pPr>
            <a:endParaRPr lang="en-US" dirty="0">
              <a:solidFill>
                <a:schemeClr val="tx2"/>
              </a:solidFill>
            </a:endParaRPr>
          </a:p>
        </p:txBody>
      </p:sp>
      <p:sp>
        <p:nvSpPr>
          <p:cNvPr id="12" name="Text Placeholder 1"/>
          <p:cNvSpPr txBox="1">
            <a:spLocks/>
          </p:cNvSpPr>
          <p:nvPr/>
        </p:nvSpPr>
        <p:spPr>
          <a:xfrm>
            <a:off x="1514518" y="2803287"/>
            <a:ext cx="10677482" cy="1796121"/>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2"/>
                </a:solidFill>
                <a:ea typeface="Calibri"/>
                <a:cs typeface="Calibri"/>
                <a:hlinkClick r:id="rId4" action="ppaction://hlinksldjump"/>
              </a:rPr>
              <a:t>Microsoft Excel </a:t>
            </a:r>
            <a:r>
              <a:rPr lang="en-US" sz="2050" b="1" dirty="0">
                <a:solidFill>
                  <a:schemeClr val="tx2"/>
                </a:solidFill>
                <a:ea typeface="Calibri"/>
                <a:cs typeface="Calibri"/>
                <a:hlinkClick r:id="rId4" action="ppaction://hlinksldjump"/>
              </a:rPr>
              <a:t>[Level4_Decision3_OptionA]</a:t>
            </a:r>
            <a:endParaRPr lang="en-US" sz="2050" b="1" dirty="0">
              <a:solidFill>
                <a:schemeClr val="tx2"/>
              </a:solidFill>
              <a:ea typeface="Calibri"/>
              <a:cs typeface="Calibri"/>
            </a:endParaRPr>
          </a:p>
          <a:p>
            <a:pPr marL="0" indent="0">
              <a:spcBef>
                <a:spcPts val="0"/>
              </a:spcBef>
              <a:buNone/>
              <a:defRPr/>
            </a:pPr>
            <a:endParaRPr lang="en-US" sz="2099" dirty="0">
              <a:solidFill>
                <a:srgbClr val="AD7318"/>
              </a:solidFill>
              <a:ea typeface="Calibri"/>
              <a:cs typeface="Calibri"/>
            </a:endParaRPr>
          </a:p>
          <a:p>
            <a:pPr marL="0" indent="0">
              <a:spcBef>
                <a:spcPts val="0"/>
              </a:spcBef>
              <a:buNone/>
              <a:defRPr/>
            </a:pPr>
            <a:endParaRPr lang="en-US" sz="2050" dirty="0">
              <a:solidFill>
                <a:srgbClr val="AD7318"/>
              </a:solidFill>
              <a:ea typeface="Calibri"/>
              <a:cs typeface="Calibri"/>
            </a:endParaRPr>
          </a:p>
          <a:p>
            <a:pPr marL="0" indent="0">
              <a:spcBef>
                <a:spcPts val="0"/>
              </a:spcBef>
              <a:buNone/>
              <a:defRPr/>
            </a:pPr>
            <a:r>
              <a:rPr lang="en-US" sz="2050" dirty="0">
                <a:solidFill>
                  <a:schemeClr val="tx2"/>
                </a:solidFill>
                <a:ea typeface="Calibri"/>
                <a:cs typeface="Calibri"/>
                <a:hlinkClick r:id="rId4" action="ppaction://hlinksldjump"/>
              </a:rPr>
              <a:t>Google Sheets </a:t>
            </a:r>
            <a:r>
              <a:rPr lang="en-US" sz="2050" b="1" dirty="0">
                <a:solidFill>
                  <a:schemeClr val="tx2"/>
                </a:solidFill>
                <a:ea typeface="Calibri"/>
                <a:cs typeface="Calibri"/>
                <a:hlinkClick r:id="rId4" action="ppaction://hlinksldjump"/>
              </a:rPr>
              <a:t>[Level4_Decision3_OptionB]</a:t>
            </a:r>
            <a:endParaRPr lang="en-US" sz="2050" b="1" dirty="0">
              <a:solidFill>
                <a:schemeClr val="tx2"/>
              </a:solidFill>
              <a:ea typeface="Calibri"/>
              <a:cs typeface="Calibri"/>
            </a:endParaRPr>
          </a:p>
          <a:p>
            <a:pPr marL="0" indent="0">
              <a:spcBef>
                <a:spcPts val="0"/>
              </a:spcBef>
              <a:buNone/>
              <a:defRPr/>
            </a:pPr>
            <a:endParaRPr lang="en-US" sz="2050" dirty="0">
              <a:solidFill>
                <a:schemeClr val="tx2"/>
              </a:solidFill>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p:txBody>
      </p:sp>
      <p:pic>
        <p:nvPicPr>
          <p:cNvPr id="7" name="Graphic 6" descr="Volume">
            <a:extLst>
              <a:ext uri="{FF2B5EF4-FFF2-40B4-BE49-F238E27FC236}">
                <a16:creationId xmlns:a16="http://schemas.microsoft.com/office/drawing/2014/main" id="{98858AF6-4306-4AB2-9A31-F2CF2E76360E}"/>
              </a:ext>
            </a:extLst>
          </p:cNvPr>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43363" y="510636"/>
            <a:ext cx="430491" cy="356827"/>
          </a:xfrm>
          <a:prstGeom prst="rect">
            <a:avLst/>
          </a:prstGeom>
        </p:spPr>
      </p:pic>
      <p:sp>
        <p:nvSpPr>
          <p:cNvPr id="2" name="Title 1">
            <a:extLst>
              <a:ext uri="{FF2B5EF4-FFF2-40B4-BE49-F238E27FC236}">
                <a16:creationId xmlns:a16="http://schemas.microsoft.com/office/drawing/2014/main" id="{AAE4B061-1973-4598-99F6-EBDFEBA643E0}"/>
              </a:ext>
            </a:extLst>
          </p:cNvPr>
          <p:cNvSpPr>
            <a:spLocks noGrp="1"/>
          </p:cNvSpPr>
          <p:nvPr>
            <p:ph type="title"/>
          </p:nvPr>
        </p:nvSpPr>
        <p:spPr>
          <a:xfrm>
            <a:off x="795113" y="5074"/>
            <a:ext cx="10412618" cy="505562"/>
          </a:xfrm>
        </p:spPr>
        <p:txBody>
          <a:bodyPr>
            <a:normAutofit fontScale="90000"/>
          </a:bodyPr>
          <a:lstStyle/>
          <a:p>
            <a:r>
              <a:rPr lang="en-US" dirty="0"/>
              <a:t>Level4_Decision3</a:t>
            </a:r>
          </a:p>
        </p:txBody>
      </p:sp>
      <p:sp>
        <p:nvSpPr>
          <p:cNvPr id="8" name="Text Placeholder 3">
            <a:extLst>
              <a:ext uri="{FF2B5EF4-FFF2-40B4-BE49-F238E27FC236}">
                <a16:creationId xmlns:a16="http://schemas.microsoft.com/office/drawing/2014/main" id="{B5CE21A4-EFBD-4B90-ACD8-0159F888003A}"/>
              </a:ext>
            </a:extLst>
          </p:cNvPr>
          <p:cNvSpPr txBox="1">
            <a:spLocks/>
          </p:cNvSpPr>
          <p:nvPr/>
        </p:nvSpPr>
        <p:spPr>
          <a:xfrm>
            <a:off x="1142106" y="2790814"/>
            <a:ext cx="624198" cy="531764"/>
          </a:xfrm>
          <a:prstGeom prst="rect">
            <a:avLst/>
          </a:prstGeom>
        </p:spPr>
        <p:txBody>
          <a:bodyPr lIns="121891" tIns="60945" rIns="121891" bIns="60945">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A</a:t>
            </a:r>
          </a:p>
        </p:txBody>
      </p:sp>
      <p:sp>
        <p:nvSpPr>
          <p:cNvPr id="9" name="Text Placeholder 3">
            <a:extLst>
              <a:ext uri="{FF2B5EF4-FFF2-40B4-BE49-F238E27FC236}">
                <a16:creationId xmlns:a16="http://schemas.microsoft.com/office/drawing/2014/main" id="{7BA7EB68-7706-476E-A698-BCA0BD7BA336}"/>
              </a:ext>
            </a:extLst>
          </p:cNvPr>
          <p:cNvSpPr txBox="1">
            <a:spLocks/>
          </p:cNvSpPr>
          <p:nvPr/>
        </p:nvSpPr>
        <p:spPr>
          <a:xfrm>
            <a:off x="1142106" y="3723604"/>
            <a:ext cx="638575" cy="4023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B</a:t>
            </a: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p:txBody>
      </p:sp>
      <p:sp>
        <p:nvSpPr>
          <p:cNvPr id="10" name="Arrow: Pentagon 9">
            <a:extLst>
              <a:ext uri="{FF2B5EF4-FFF2-40B4-BE49-F238E27FC236}">
                <a16:creationId xmlns:a16="http://schemas.microsoft.com/office/drawing/2014/main" id="{77475E11-0B91-403A-9C5A-053396DDB7C7}"/>
              </a:ext>
            </a:extLst>
          </p:cNvPr>
          <p:cNvSpPr/>
          <p:nvPr/>
        </p:nvSpPr>
        <p:spPr>
          <a:xfrm>
            <a:off x="130560" y="3759138"/>
            <a:ext cx="1066800" cy="402368"/>
          </a:xfrm>
          <a:prstGeom prst="homePlate">
            <a:avLst/>
          </a:prstGeom>
        </p:spPr>
        <p:style>
          <a:lnRef idx="1">
            <a:schemeClr val="accent6"/>
          </a:lnRef>
          <a:fillRef idx="2">
            <a:schemeClr val="accent6"/>
          </a:fillRef>
          <a:effectRef idx="1">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Optimal</a:t>
            </a:r>
          </a:p>
        </p:txBody>
      </p:sp>
      <p:sp>
        <p:nvSpPr>
          <p:cNvPr id="13" name="Arrow: Pentagon 12">
            <a:extLst>
              <a:ext uri="{FF2B5EF4-FFF2-40B4-BE49-F238E27FC236}">
                <a16:creationId xmlns:a16="http://schemas.microsoft.com/office/drawing/2014/main" id="{3E42F4A9-22C2-4371-997C-8408AE130109}"/>
              </a:ext>
            </a:extLst>
          </p:cNvPr>
          <p:cNvSpPr/>
          <p:nvPr/>
        </p:nvSpPr>
        <p:spPr>
          <a:xfrm>
            <a:off x="130560" y="2831851"/>
            <a:ext cx="1066800" cy="402368"/>
          </a:xfrm>
          <a:prstGeom prst="homePlate">
            <a:avLst/>
          </a:prstGeom>
        </p:spPr>
        <p:style>
          <a:lnRef idx="1">
            <a:schemeClr val="accent6"/>
          </a:lnRef>
          <a:fillRef idx="2">
            <a:schemeClr val="accent6"/>
          </a:fillRef>
          <a:effectRef idx="1">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Optimal</a:t>
            </a:r>
          </a:p>
        </p:txBody>
      </p:sp>
      <p:sp>
        <p:nvSpPr>
          <p:cNvPr id="14" name="TextBox 13">
            <a:extLst>
              <a:ext uri="{FF2B5EF4-FFF2-40B4-BE49-F238E27FC236}">
                <a16:creationId xmlns:a16="http://schemas.microsoft.com/office/drawing/2014/main" id="{99445361-0345-478C-B2DA-EF81962F1ED3}"/>
              </a:ext>
            </a:extLst>
          </p:cNvPr>
          <p:cNvSpPr txBox="1"/>
          <p:nvPr/>
        </p:nvSpPr>
        <p:spPr>
          <a:xfrm>
            <a:off x="795113" y="5968718"/>
            <a:ext cx="10412618" cy="369332"/>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Next step for both options: Student will need to choose a chart type.</a:t>
            </a:r>
          </a:p>
        </p:txBody>
      </p:sp>
      <p:sp>
        <p:nvSpPr>
          <p:cNvPr id="15" name="TextBox 14">
            <a:extLst>
              <a:ext uri="{FF2B5EF4-FFF2-40B4-BE49-F238E27FC236}">
                <a16:creationId xmlns:a16="http://schemas.microsoft.com/office/drawing/2014/main" id="{F10BC13A-A4C7-4FCB-AE3A-B5521917C42F}"/>
              </a:ext>
            </a:extLst>
          </p:cNvPr>
          <p:cNvSpPr txBox="1"/>
          <p:nvPr/>
        </p:nvSpPr>
        <p:spPr>
          <a:xfrm>
            <a:off x="795113" y="4895053"/>
            <a:ext cx="10412618" cy="646331"/>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defPPr>
              <a:defRPr lang="en-US"/>
            </a:defPPr>
            <a:lvl1pPr>
              <a:defRPr>
                <a:solidFill>
                  <a:srgbClr val="FF0000"/>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C00000"/>
                </a:solidFill>
                <a:effectLst/>
                <a:uLnTx/>
                <a:uFillTx/>
                <a:latin typeface="Calibri" panose="020F0502020204030204"/>
                <a:ea typeface="+mn-ea"/>
                <a:cs typeface="+mn-cs"/>
              </a:rPr>
              <a:t>Explanation:</a:t>
            </a:r>
          </a:p>
          <a:p>
            <a:pPr lvl="0">
              <a:defRPr/>
            </a:pPr>
            <a:r>
              <a:rPr lang="en-US" dirty="0">
                <a:solidFill>
                  <a:srgbClr val="C00000"/>
                </a:solidFill>
              </a:rPr>
              <a:t>Either Microsoft Excel or Google Sheets will do what’s needed here.</a:t>
            </a:r>
            <a:endParaRPr kumimoji="0" lang="en-US" sz="1800" b="0" i="0" u="none" strike="noStrike" kern="1200" cap="none" spc="0" normalizeH="0" baseline="0" noProof="0" dirty="0">
              <a:ln>
                <a:noFill/>
              </a:ln>
              <a:solidFill>
                <a:srgbClr val="C00000"/>
              </a:solidFill>
              <a:effectLst/>
              <a:uLnTx/>
              <a:uFillTx/>
              <a:latin typeface="Calibri" panose="020F0502020204030204"/>
              <a:ea typeface="+mn-ea"/>
              <a:cs typeface="+mn-cs"/>
            </a:endParaRPr>
          </a:p>
        </p:txBody>
      </p:sp>
      <p:sp>
        <p:nvSpPr>
          <p:cNvPr id="16" name="TextBox 15">
            <a:extLst>
              <a:ext uri="{FF2B5EF4-FFF2-40B4-BE49-F238E27FC236}">
                <a16:creationId xmlns:a16="http://schemas.microsoft.com/office/drawing/2014/main" id="{1F994610-4506-43FA-8DE0-B25E224541FB}"/>
              </a:ext>
            </a:extLst>
          </p:cNvPr>
          <p:cNvSpPr txBox="1"/>
          <p:nvPr/>
        </p:nvSpPr>
        <p:spPr>
          <a:xfrm>
            <a:off x="795111" y="577780"/>
            <a:ext cx="10412617" cy="369332"/>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Previous step: Student chose to use spreadsheet software.</a:t>
            </a:r>
          </a:p>
        </p:txBody>
      </p:sp>
    </p:spTree>
    <p:custDataLst>
      <p:tags r:id="rId1"/>
    </p:custDataLst>
    <p:extLst>
      <p:ext uri="{BB962C8B-B14F-4D97-AF65-F5344CB8AC3E}">
        <p14:creationId xmlns:p14="http://schemas.microsoft.com/office/powerpoint/2010/main" val="11746606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
          <p:cNvSpPr txBox="1">
            <a:spLocks/>
          </p:cNvSpPr>
          <p:nvPr/>
        </p:nvSpPr>
        <p:spPr>
          <a:xfrm>
            <a:off x="795114" y="1039616"/>
            <a:ext cx="10412618" cy="3559791"/>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2"/>
                </a:solidFill>
                <a:ea typeface="Calibri"/>
                <a:cs typeface="Calibri"/>
              </a:rPr>
              <a:t>Your data isn’t very strong, but you’ve decided that drawing some charts in a graphics app will give you the best shot at showcasing the information well. Now to choose a graphics application. Would you rather work with a native app or a web-based app?</a:t>
            </a:r>
            <a:endParaRPr lang="en-US" sz="2050" dirty="0">
              <a:solidFill>
                <a:schemeClr val="tx2"/>
              </a:solidFill>
              <a:cs typeface="Calibri"/>
            </a:endParaRPr>
          </a:p>
          <a:p>
            <a:pPr marL="0" indent="0">
              <a:spcBef>
                <a:spcPts val="0"/>
              </a:spcBef>
              <a:buNone/>
              <a:defRPr/>
            </a:pPr>
            <a:endParaRPr lang="en-US" dirty="0">
              <a:solidFill>
                <a:schemeClr val="tx2"/>
              </a:solidFill>
            </a:endParaRPr>
          </a:p>
        </p:txBody>
      </p:sp>
      <p:sp>
        <p:nvSpPr>
          <p:cNvPr id="12" name="Text Placeholder 1"/>
          <p:cNvSpPr txBox="1">
            <a:spLocks/>
          </p:cNvSpPr>
          <p:nvPr/>
        </p:nvSpPr>
        <p:spPr>
          <a:xfrm>
            <a:off x="1410011" y="2803287"/>
            <a:ext cx="9797720" cy="1796121"/>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2"/>
                </a:solidFill>
                <a:ea typeface="Calibri"/>
                <a:cs typeface="Calibri"/>
                <a:hlinkClick r:id="rId4" action="ppaction://hlinksldjump"/>
              </a:rPr>
              <a:t>Microsoft Paint, a drawing app that comes with Windows </a:t>
            </a:r>
            <a:r>
              <a:rPr lang="en-US" sz="2050" b="1" dirty="0">
                <a:solidFill>
                  <a:schemeClr val="tx2"/>
                </a:solidFill>
                <a:ea typeface="Calibri"/>
                <a:cs typeface="Calibri"/>
                <a:hlinkClick r:id="rId4" action="ppaction://hlinksldjump"/>
              </a:rPr>
              <a:t>[Level4_Decision4_OptionA]</a:t>
            </a:r>
            <a:endParaRPr lang="en-US" sz="2050" b="1" dirty="0">
              <a:solidFill>
                <a:schemeClr val="tx2"/>
              </a:solidFill>
              <a:ea typeface="Calibri"/>
              <a:cs typeface="Calibri"/>
            </a:endParaRPr>
          </a:p>
          <a:p>
            <a:pPr marL="0" indent="0">
              <a:spcBef>
                <a:spcPts val="0"/>
              </a:spcBef>
              <a:buNone/>
              <a:defRPr/>
            </a:pPr>
            <a:endParaRPr lang="en-US" sz="2099" dirty="0">
              <a:solidFill>
                <a:srgbClr val="AD7318"/>
              </a:solidFill>
              <a:ea typeface="Calibri"/>
              <a:cs typeface="Calibri"/>
            </a:endParaRPr>
          </a:p>
          <a:p>
            <a:pPr marL="0" indent="0">
              <a:spcBef>
                <a:spcPts val="0"/>
              </a:spcBef>
              <a:buNone/>
              <a:defRPr/>
            </a:pPr>
            <a:endParaRPr lang="en-US" sz="2050" dirty="0">
              <a:solidFill>
                <a:srgbClr val="AD7318"/>
              </a:solidFill>
              <a:ea typeface="Calibri"/>
              <a:cs typeface="Calibri"/>
            </a:endParaRPr>
          </a:p>
          <a:p>
            <a:pPr marL="0" indent="0">
              <a:spcBef>
                <a:spcPts val="0"/>
              </a:spcBef>
              <a:buNone/>
              <a:defRPr/>
            </a:pPr>
            <a:r>
              <a:rPr lang="en-US" sz="2050" dirty="0">
                <a:solidFill>
                  <a:schemeClr val="tx2"/>
                </a:solidFill>
                <a:ea typeface="Calibri"/>
                <a:cs typeface="Calibri"/>
                <a:hlinkClick r:id="rId4" action="ppaction://hlinksldjump"/>
              </a:rPr>
              <a:t>draw.io, an online diagram drawing app </a:t>
            </a:r>
            <a:r>
              <a:rPr lang="en-US" sz="2050" b="1" dirty="0">
                <a:solidFill>
                  <a:schemeClr val="tx2"/>
                </a:solidFill>
                <a:ea typeface="Calibri"/>
                <a:cs typeface="Calibri"/>
                <a:hlinkClick r:id="rId4" action="ppaction://hlinksldjump"/>
              </a:rPr>
              <a:t>[Level4_Decision4_OptionB]</a:t>
            </a:r>
            <a:endParaRPr lang="en-US" sz="2050" b="1" dirty="0">
              <a:solidFill>
                <a:schemeClr val="tx2"/>
              </a:solidFill>
              <a:ea typeface="Calibri"/>
              <a:cs typeface="Calibri"/>
            </a:endParaRPr>
          </a:p>
          <a:p>
            <a:pPr marL="0" indent="0">
              <a:spcBef>
                <a:spcPts val="0"/>
              </a:spcBef>
              <a:buNone/>
              <a:defRPr/>
            </a:pPr>
            <a:endParaRPr lang="en-US" sz="2050" dirty="0">
              <a:solidFill>
                <a:schemeClr val="tx2"/>
              </a:solidFill>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p:txBody>
      </p:sp>
      <p:pic>
        <p:nvPicPr>
          <p:cNvPr id="7" name="Graphic 6" descr="Volume">
            <a:extLst>
              <a:ext uri="{FF2B5EF4-FFF2-40B4-BE49-F238E27FC236}">
                <a16:creationId xmlns:a16="http://schemas.microsoft.com/office/drawing/2014/main" id="{98858AF6-4306-4AB2-9A31-F2CF2E76360E}"/>
              </a:ext>
            </a:extLst>
          </p:cNvPr>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43363" y="510636"/>
            <a:ext cx="430491" cy="356827"/>
          </a:xfrm>
          <a:prstGeom prst="rect">
            <a:avLst/>
          </a:prstGeom>
        </p:spPr>
      </p:pic>
      <p:sp>
        <p:nvSpPr>
          <p:cNvPr id="2" name="Title 1">
            <a:extLst>
              <a:ext uri="{FF2B5EF4-FFF2-40B4-BE49-F238E27FC236}">
                <a16:creationId xmlns:a16="http://schemas.microsoft.com/office/drawing/2014/main" id="{AAE4B061-1973-4598-99F6-EBDFEBA643E0}"/>
              </a:ext>
            </a:extLst>
          </p:cNvPr>
          <p:cNvSpPr>
            <a:spLocks noGrp="1"/>
          </p:cNvSpPr>
          <p:nvPr>
            <p:ph type="title"/>
          </p:nvPr>
        </p:nvSpPr>
        <p:spPr>
          <a:xfrm>
            <a:off x="795113" y="5074"/>
            <a:ext cx="10412618" cy="505562"/>
          </a:xfrm>
        </p:spPr>
        <p:txBody>
          <a:bodyPr>
            <a:normAutofit fontScale="90000"/>
          </a:bodyPr>
          <a:lstStyle/>
          <a:p>
            <a:r>
              <a:rPr lang="en-US" dirty="0"/>
              <a:t>Level4_Decision4</a:t>
            </a:r>
          </a:p>
        </p:txBody>
      </p:sp>
      <p:sp>
        <p:nvSpPr>
          <p:cNvPr id="8" name="Text Placeholder 3">
            <a:extLst>
              <a:ext uri="{FF2B5EF4-FFF2-40B4-BE49-F238E27FC236}">
                <a16:creationId xmlns:a16="http://schemas.microsoft.com/office/drawing/2014/main" id="{B5CE21A4-EFBD-4B90-ACD8-0159F888003A}"/>
              </a:ext>
            </a:extLst>
          </p:cNvPr>
          <p:cNvSpPr txBox="1">
            <a:spLocks/>
          </p:cNvSpPr>
          <p:nvPr/>
        </p:nvSpPr>
        <p:spPr>
          <a:xfrm>
            <a:off x="1037599" y="2790814"/>
            <a:ext cx="572768" cy="531764"/>
          </a:xfrm>
          <a:prstGeom prst="rect">
            <a:avLst/>
          </a:prstGeom>
        </p:spPr>
        <p:txBody>
          <a:bodyPr lIns="121891" tIns="60945" rIns="121891" bIns="60945">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A</a:t>
            </a:r>
          </a:p>
        </p:txBody>
      </p:sp>
      <p:sp>
        <p:nvSpPr>
          <p:cNvPr id="9" name="Text Placeholder 3">
            <a:extLst>
              <a:ext uri="{FF2B5EF4-FFF2-40B4-BE49-F238E27FC236}">
                <a16:creationId xmlns:a16="http://schemas.microsoft.com/office/drawing/2014/main" id="{7BA7EB68-7706-476E-A698-BCA0BD7BA336}"/>
              </a:ext>
            </a:extLst>
          </p:cNvPr>
          <p:cNvSpPr txBox="1">
            <a:spLocks/>
          </p:cNvSpPr>
          <p:nvPr/>
        </p:nvSpPr>
        <p:spPr>
          <a:xfrm>
            <a:off x="1037600" y="3723604"/>
            <a:ext cx="585960" cy="4023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B</a:t>
            </a: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p:txBody>
      </p:sp>
      <p:sp>
        <p:nvSpPr>
          <p:cNvPr id="10" name="TextBox 9">
            <a:extLst>
              <a:ext uri="{FF2B5EF4-FFF2-40B4-BE49-F238E27FC236}">
                <a16:creationId xmlns:a16="http://schemas.microsoft.com/office/drawing/2014/main" id="{DBA8AC07-C4C6-4720-A8B5-FB83F5C11446}"/>
              </a:ext>
            </a:extLst>
          </p:cNvPr>
          <p:cNvSpPr txBox="1"/>
          <p:nvPr/>
        </p:nvSpPr>
        <p:spPr>
          <a:xfrm>
            <a:off x="795113" y="5968718"/>
            <a:ext cx="10412618" cy="369332"/>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Next step for both options: Student will need to choose a file type.</a:t>
            </a:r>
          </a:p>
        </p:txBody>
      </p:sp>
      <p:sp>
        <p:nvSpPr>
          <p:cNvPr id="13" name="TextBox 12">
            <a:extLst>
              <a:ext uri="{FF2B5EF4-FFF2-40B4-BE49-F238E27FC236}">
                <a16:creationId xmlns:a16="http://schemas.microsoft.com/office/drawing/2014/main" id="{EAF52178-0E9C-47F6-B78B-34A339C670EE}"/>
              </a:ext>
            </a:extLst>
          </p:cNvPr>
          <p:cNvSpPr txBox="1"/>
          <p:nvPr/>
        </p:nvSpPr>
        <p:spPr>
          <a:xfrm>
            <a:off x="795113" y="4811075"/>
            <a:ext cx="10412618" cy="923330"/>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defPPr>
              <a:defRPr lang="en-US"/>
            </a:defPPr>
            <a:lvl1pPr>
              <a:defRPr>
                <a:solidFill>
                  <a:srgbClr val="FF0000"/>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C00000"/>
                </a:solidFill>
                <a:effectLst/>
                <a:uLnTx/>
                <a:uFillTx/>
                <a:latin typeface="Calibri" panose="020F0502020204030204"/>
                <a:ea typeface="+mn-ea"/>
                <a:cs typeface="+mn-cs"/>
              </a:rPr>
              <a:t>Explanation:</a:t>
            </a:r>
          </a:p>
          <a:p>
            <a:pPr lvl="0">
              <a:defRPr/>
            </a:pPr>
            <a:r>
              <a:rPr lang="en-US" dirty="0">
                <a:solidFill>
                  <a:srgbClr val="C00000"/>
                </a:solidFill>
              </a:rPr>
              <a:t>Neither Microsoft Paint nor draw.io online will fix the problem of creating accurate graphs when the data quality is so poor.</a:t>
            </a:r>
            <a:endParaRPr kumimoji="0" lang="en-US" sz="1800" b="0" i="0" u="none" strike="noStrike" kern="1200" cap="none" spc="0" normalizeH="0" baseline="0" noProof="0" dirty="0">
              <a:ln>
                <a:noFill/>
              </a:ln>
              <a:solidFill>
                <a:srgbClr val="C00000"/>
              </a:solidFill>
              <a:effectLst/>
              <a:uLnTx/>
              <a:uFillTx/>
              <a:latin typeface="Calibri" panose="020F0502020204030204"/>
              <a:ea typeface="+mn-ea"/>
              <a:cs typeface="+mn-cs"/>
            </a:endParaRPr>
          </a:p>
        </p:txBody>
      </p:sp>
      <p:sp>
        <p:nvSpPr>
          <p:cNvPr id="14" name="TextBox 13">
            <a:extLst>
              <a:ext uri="{FF2B5EF4-FFF2-40B4-BE49-F238E27FC236}">
                <a16:creationId xmlns:a16="http://schemas.microsoft.com/office/drawing/2014/main" id="{8F0C3DF6-5374-46B1-9F92-EC36121B50E8}"/>
              </a:ext>
            </a:extLst>
          </p:cNvPr>
          <p:cNvSpPr txBox="1"/>
          <p:nvPr/>
        </p:nvSpPr>
        <p:spPr>
          <a:xfrm>
            <a:off x="795111" y="577780"/>
            <a:ext cx="10412617" cy="369332"/>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Previous step: Student chose to use graphics software.</a:t>
            </a:r>
          </a:p>
        </p:txBody>
      </p:sp>
    </p:spTree>
    <p:custDataLst>
      <p:tags r:id="rId1"/>
    </p:custDataLst>
    <p:extLst>
      <p:ext uri="{BB962C8B-B14F-4D97-AF65-F5344CB8AC3E}">
        <p14:creationId xmlns:p14="http://schemas.microsoft.com/office/powerpoint/2010/main" val="4333628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
          <p:cNvSpPr txBox="1">
            <a:spLocks/>
          </p:cNvSpPr>
          <p:nvPr/>
        </p:nvSpPr>
        <p:spPr>
          <a:xfrm>
            <a:off x="795110" y="961764"/>
            <a:ext cx="10412617" cy="2366010"/>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2"/>
                </a:solidFill>
                <a:ea typeface="Calibri"/>
                <a:cs typeface="Calibri"/>
              </a:rPr>
              <a:t>As you build your spreadsheet with the data you’ve selected from the reports, you start to wonder what would be the best chart type to use for this data. The most important chart will show each day of the week and the number of unplanned absences throughout the year that occurred on that weekday.</a:t>
            </a: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r>
              <a:rPr lang="en-US" sz="2050" dirty="0">
                <a:solidFill>
                  <a:schemeClr val="tx2"/>
                </a:solidFill>
                <a:ea typeface="Calibri"/>
                <a:cs typeface="Calibri"/>
              </a:rPr>
              <a:t>Which chart type will best show the statistics for this kind of data?</a:t>
            </a:r>
          </a:p>
          <a:p>
            <a:pPr marL="0" indent="0">
              <a:spcBef>
                <a:spcPts val="0"/>
              </a:spcBef>
              <a:buNone/>
              <a:defRPr/>
            </a:pPr>
            <a:endParaRPr lang="en-US" sz="2050" dirty="0">
              <a:solidFill>
                <a:schemeClr val="tx2"/>
              </a:solidFill>
              <a:cs typeface="Calibri"/>
            </a:endParaRPr>
          </a:p>
          <a:p>
            <a:pPr marL="0" indent="0">
              <a:spcBef>
                <a:spcPts val="0"/>
              </a:spcBef>
              <a:buNone/>
              <a:defRPr/>
            </a:pPr>
            <a:endParaRPr lang="en-US" dirty="0">
              <a:solidFill>
                <a:schemeClr val="tx2"/>
              </a:solidFill>
            </a:endParaRPr>
          </a:p>
        </p:txBody>
      </p:sp>
      <p:sp>
        <p:nvSpPr>
          <p:cNvPr id="12" name="Text Placeholder 1"/>
          <p:cNvSpPr txBox="1">
            <a:spLocks/>
          </p:cNvSpPr>
          <p:nvPr/>
        </p:nvSpPr>
        <p:spPr>
          <a:xfrm>
            <a:off x="1514518" y="3261047"/>
            <a:ext cx="6183238" cy="1559283"/>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2"/>
                </a:solidFill>
                <a:ea typeface="Calibri"/>
                <a:cs typeface="Calibri"/>
                <a:hlinkClick r:id="rId4" action="ppaction://hlinksldjump"/>
              </a:rPr>
              <a:t>Column chart </a:t>
            </a:r>
            <a:r>
              <a:rPr lang="en-US" sz="2050" b="1" dirty="0">
                <a:solidFill>
                  <a:schemeClr val="tx2"/>
                </a:solidFill>
                <a:ea typeface="Calibri"/>
                <a:cs typeface="Calibri"/>
                <a:hlinkClick r:id="rId4" action="ppaction://hlinksldjump"/>
              </a:rPr>
              <a:t>[Level5_Decision1_OptionA]</a:t>
            </a:r>
            <a:endParaRPr lang="en-US" sz="2050" b="1" dirty="0">
              <a:solidFill>
                <a:schemeClr val="tx2"/>
              </a:solidFill>
              <a:ea typeface="Calibri"/>
              <a:cs typeface="Calibri"/>
            </a:endParaRPr>
          </a:p>
          <a:p>
            <a:pPr marL="0" indent="0">
              <a:spcBef>
                <a:spcPts val="0"/>
              </a:spcBef>
              <a:buNone/>
              <a:defRPr/>
            </a:pPr>
            <a:endParaRPr lang="en-US" sz="2050" b="1" dirty="0">
              <a:solidFill>
                <a:schemeClr val="tx2"/>
              </a:solidFill>
              <a:ea typeface="Calibri"/>
              <a:cs typeface="Calibri"/>
            </a:endParaRPr>
          </a:p>
          <a:p>
            <a:pPr marL="0" indent="0">
              <a:spcBef>
                <a:spcPts val="0"/>
              </a:spcBef>
              <a:buNone/>
              <a:defRPr/>
            </a:pPr>
            <a:endParaRPr lang="en-US" sz="2099" dirty="0">
              <a:solidFill>
                <a:srgbClr val="AD7318"/>
              </a:solidFill>
              <a:ea typeface="Calibri"/>
              <a:cs typeface="Calibri"/>
            </a:endParaRPr>
          </a:p>
          <a:p>
            <a:pPr marL="0" indent="0">
              <a:spcBef>
                <a:spcPts val="0"/>
              </a:spcBef>
              <a:buNone/>
              <a:defRPr/>
            </a:pPr>
            <a:r>
              <a:rPr lang="en-US" sz="2050" dirty="0">
                <a:solidFill>
                  <a:schemeClr val="tx2"/>
                </a:solidFill>
                <a:ea typeface="Calibri"/>
                <a:cs typeface="Calibri"/>
                <a:hlinkClick r:id="rId5" action="ppaction://hlinksldjump"/>
              </a:rPr>
              <a:t>Scatter chart </a:t>
            </a:r>
            <a:r>
              <a:rPr lang="en-US" sz="2050" b="1" dirty="0">
                <a:solidFill>
                  <a:schemeClr val="tx2"/>
                </a:solidFill>
                <a:ea typeface="Calibri"/>
                <a:cs typeface="Calibri"/>
                <a:hlinkClick r:id="rId5" action="ppaction://hlinksldjump"/>
              </a:rPr>
              <a:t>[Level5_Decision1_OptionB]</a:t>
            </a:r>
            <a:endParaRPr lang="en-US" sz="2050" b="1" dirty="0">
              <a:solidFill>
                <a:schemeClr val="tx2"/>
              </a:solidFill>
              <a:ea typeface="Calibri"/>
              <a:cs typeface="Calibri"/>
            </a:endParaRPr>
          </a:p>
          <a:p>
            <a:pPr marL="0" indent="0">
              <a:spcBef>
                <a:spcPts val="0"/>
              </a:spcBef>
              <a:buNone/>
              <a:defRPr/>
            </a:pPr>
            <a:endParaRPr lang="en-US" sz="2050" dirty="0">
              <a:solidFill>
                <a:schemeClr val="tx2"/>
              </a:solidFill>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p:txBody>
      </p:sp>
      <p:pic>
        <p:nvPicPr>
          <p:cNvPr id="7" name="Graphic 6" descr="Volume">
            <a:extLst>
              <a:ext uri="{FF2B5EF4-FFF2-40B4-BE49-F238E27FC236}">
                <a16:creationId xmlns:a16="http://schemas.microsoft.com/office/drawing/2014/main" id="{98858AF6-4306-4AB2-9A31-F2CF2E76360E}"/>
              </a:ext>
            </a:extLst>
          </p:cNvP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43363" y="510636"/>
            <a:ext cx="430491" cy="356827"/>
          </a:xfrm>
          <a:prstGeom prst="rect">
            <a:avLst/>
          </a:prstGeom>
        </p:spPr>
      </p:pic>
      <p:sp>
        <p:nvSpPr>
          <p:cNvPr id="2" name="Title 1">
            <a:extLst>
              <a:ext uri="{FF2B5EF4-FFF2-40B4-BE49-F238E27FC236}">
                <a16:creationId xmlns:a16="http://schemas.microsoft.com/office/drawing/2014/main" id="{AAE4B061-1973-4598-99F6-EBDFEBA643E0}"/>
              </a:ext>
            </a:extLst>
          </p:cNvPr>
          <p:cNvSpPr>
            <a:spLocks noGrp="1"/>
          </p:cNvSpPr>
          <p:nvPr>
            <p:ph type="title"/>
          </p:nvPr>
        </p:nvSpPr>
        <p:spPr>
          <a:xfrm>
            <a:off x="795113" y="5074"/>
            <a:ext cx="10412618" cy="505562"/>
          </a:xfrm>
        </p:spPr>
        <p:txBody>
          <a:bodyPr>
            <a:normAutofit fontScale="90000"/>
          </a:bodyPr>
          <a:lstStyle/>
          <a:p>
            <a:r>
              <a:rPr lang="en-US" dirty="0"/>
              <a:t>Level5_Decision1</a:t>
            </a:r>
          </a:p>
        </p:txBody>
      </p:sp>
      <p:sp>
        <p:nvSpPr>
          <p:cNvPr id="8" name="Text Placeholder 3">
            <a:extLst>
              <a:ext uri="{FF2B5EF4-FFF2-40B4-BE49-F238E27FC236}">
                <a16:creationId xmlns:a16="http://schemas.microsoft.com/office/drawing/2014/main" id="{B5CE21A4-EFBD-4B90-ACD8-0159F888003A}"/>
              </a:ext>
            </a:extLst>
          </p:cNvPr>
          <p:cNvSpPr txBox="1">
            <a:spLocks/>
          </p:cNvSpPr>
          <p:nvPr/>
        </p:nvSpPr>
        <p:spPr>
          <a:xfrm>
            <a:off x="1142106" y="3260346"/>
            <a:ext cx="566658" cy="531764"/>
          </a:xfrm>
          <a:prstGeom prst="rect">
            <a:avLst/>
          </a:prstGeom>
        </p:spPr>
        <p:txBody>
          <a:bodyPr lIns="121891" tIns="60945" rIns="121891" bIns="60945">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A</a:t>
            </a:r>
          </a:p>
        </p:txBody>
      </p:sp>
      <p:sp>
        <p:nvSpPr>
          <p:cNvPr id="9" name="Text Placeholder 3">
            <a:extLst>
              <a:ext uri="{FF2B5EF4-FFF2-40B4-BE49-F238E27FC236}">
                <a16:creationId xmlns:a16="http://schemas.microsoft.com/office/drawing/2014/main" id="{7BA7EB68-7706-476E-A698-BCA0BD7BA336}"/>
              </a:ext>
            </a:extLst>
          </p:cNvPr>
          <p:cNvSpPr txBox="1">
            <a:spLocks/>
          </p:cNvSpPr>
          <p:nvPr/>
        </p:nvSpPr>
        <p:spPr>
          <a:xfrm>
            <a:off x="1142107" y="4181706"/>
            <a:ext cx="579710" cy="4023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B</a:t>
            </a: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p:txBody>
      </p:sp>
      <p:sp>
        <p:nvSpPr>
          <p:cNvPr id="10" name="Arrow: Pentagon 9">
            <a:extLst>
              <a:ext uri="{FF2B5EF4-FFF2-40B4-BE49-F238E27FC236}">
                <a16:creationId xmlns:a16="http://schemas.microsoft.com/office/drawing/2014/main" id="{5C13EC89-ADA1-4318-9833-DB10F507EBF3}"/>
              </a:ext>
            </a:extLst>
          </p:cNvPr>
          <p:cNvSpPr/>
          <p:nvPr/>
        </p:nvSpPr>
        <p:spPr>
          <a:xfrm>
            <a:off x="75306" y="3296512"/>
            <a:ext cx="1066800" cy="402368"/>
          </a:xfrm>
          <a:prstGeom prst="homePlate">
            <a:avLst/>
          </a:prstGeom>
        </p:spPr>
        <p:style>
          <a:lnRef idx="1">
            <a:schemeClr val="accent6"/>
          </a:lnRef>
          <a:fillRef idx="2">
            <a:schemeClr val="accent6"/>
          </a:fillRef>
          <a:effectRef idx="1">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Optimal</a:t>
            </a:r>
          </a:p>
        </p:txBody>
      </p:sp>
      <p:sp>
        <p:nvSpPr>
          <p:cNvPr id="13" name="TextBox 12">
            <a:extLst>
              <a:ext uri="{FF2B5EF4-FFF2-40B4-BE49-F238E27FC236}">
                <a16:creationId xmlns:a16="http://schemas.microsoft.com/office/drawing/2014/main" id="{8E532700-51FA-4BF0-B792-CC19D73F8C03}"/>
              </a:ext>
            </a:extLst>
          </p:cNvPr>
          <p:cNvSpPr txBox="1"/>
          <p:nvPr/>
        </p:nvSpPr>
        <p:spPr>
          <a:xfrm>
            <a:off x="795113" y="5968718"/>
            <a:ext cx="10412618" cy="369332"/>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Next step for both options: Student will need to choose a font.</a:t>
            </a:r>
          </a:p>
        </p:txBody>
      </p:sp>
      <p:sp>
        <p:nvSpPr>
          <p:cNvPr id="14" name="TextBox 13">
            <a:extLst>
              <a:ext uri="{FF2B5EF4-FFF2-40B4-BE49-F238E27FC236}">
                <a16:creationId xmlns:a16="http://schemas.microsoft.com/office/drawing/2014/main" id="{53C9307D-2B76-47A6-87CD-DA0FFB1792D0}"/>
              </a:ext>
            </a:extLst>
          </p:cNvPr>
          <p:cNvSpPr txBox="1"/>
          <p:nvPr/>
        </p:nvSpPr>
        <p:spPr>
          <a:xfrm>
            <a:off x="795113" y="4895053"/>
            <a:ext cx="10412618" cy="646331"/>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defPPr>
              <a:defRPr lang="en-US"/>
            </a:defPPr>
            <a:lvl1pPr>
              <a:defRPr>
                <a:solidFill>
                  <a:srgbClr val="FF0000"/>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C00000"/>
                </a:solidFill>
                <a:effectLst/>
                <a:uLnTx/>
                <a:uFillTx/>
                <a:latin typeface="Calibri" panose="020F0502020204030204"/>
                <a:ea typeface="+mn-ea"/>
                <a:cs typeface="+mn-cs"/>
              </a:rPr>
              <a:t>Explanation: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rgbClr val="C00000"/>
                </a:solidFill>
                <a:latin typeface="Calibri" panose="020F0502020204030204"/>
              </a:rPr>
              <a:t>A column chart is best suited to this kind of data.</a:t>
            </a:r>
            <a:endParaRPr kumimoji="0" lang="en-US" sz="1800" b="0" i="0" u="none" strike="noStrike" kern="1200" cap="none" spc="0" normalizeH="0" baseline="0" noProof="0" dirty="0">
              <a:ln>
                <a:noFill/>
              </a:ln>
              <a:solidFill>
                <a:srgbClr val="C00000"/>
              </a:solidFill>
              <a:effectLst/>
              <a:uLnTx/>
              <a:uFillTx/>
              <a:latin typeface="Calibri" panose="020F0502020204030204"/>
              <a:ea typeface="+mn-ea"/>
              <a:cs typeface="+mn-cs"/>
            </a:endParaRPr>
          </a:p>
        </p:txBody>
      </p:sp>
      <p:sp>
        <p:nvSpPr>
          <p:cNvPr id="15" name="TextBox 14">
            <a:extLst>
              <a:ext uri="{FF2B5EF4-FFF2-40B4-BE49-F238E27FC236}">
                <a16:creationId xmlns:a16="http://schemas.microsoft.com/office/drawing/2014/main" id="{51C18610-15DE-470E-AD15-BE6F15F4C68B}"/>
              </a:ext>
            </a:extLst>
          </p:cNvPr>
          <p:cNvSpPr txBox="1"/>
          <p:nvPr/>
        </p:nvSpPr>
        <p:spPr>
          <a:xfrm>
            <a:off x="795111" y="577780"/>
            <a:ext cx="10412617" cy="369332"/>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Previous step: Student chose to create a spreadsheet.</a:t>
            </a:r>
          </a:p>
        </p:txBody>
      </p:sp>
    </p:spTree>
    <p:custDataLst>
      <p:tags r:id="rId1"/>
    </p:custDataLst>
    <p:extLst>
      <p:ext uri="{BB962C8B-B14F-4D97-AF65-F5344CB8AC3E}">
        <p14:creationId xmlns:p14="http://schemas.microsoft.com/office/powerpoint/2010/main" val="34870884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
          <p:cNvSpPr txBox="1">
            <a:spLocks/>
          </p:cNvSpPr>
          <p:nvPr/>
        </p:nvSpPr>
        <p:spPr>
          <a:xfrm>
            <a:off x="795110" y="1039617"/>
            <a:ext cx="10412618" cy="229457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2"/>
                </a:solidFill>
                <a:ea typeface="Calibri"/>
                <a:cs typeface="Calibri"/>
              </a:rPr>
              <a:t>As you work with the graphics app, you play around with several different ways to display the data. After much trial and error, you settle on a few graphics that make your point well. </a:t>
            </a: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r>
              <a:rPr lang="en-US" sz="2050" dirty="0">
                <a:solidFill>
                  <a:schemeClr val="tx2"/>
                </a:solidFill>
                <a:ea typeface="Calibri"/>
                <a:cs typeface="Calibri"/>
              </a:rPr>
              <a:t>Now you’re ready to export the graphics in a form that you can add to your presentation later. Which file format should you use?</a:t>
            </a:r>
          </a:p>
          <a:p>
            <a:pPr marL="0" indent="0">
              <a:spcBef>
                <a:spcPts val="0"/>
              </a:spcBef>
              <a:buNone/>
              <a:defRPr/>
            </a:pPr>
            <a:endParaRPr lang="en-US" sz="2050" dirty="0">
              <a:solidFill>
                <a:schemeClr val="tx2"/>
              </a:solidFill>
              <a:cs typeface="Calibri"/>
            </a:endParaRPr>
          </a:p>
          <a:p>
            <a:pPr marL="0" indent="0">
              <a:spcBef>
                <a:spcPts val="0"/>
              </a:spcBef>
              <a:buNone/>
              <a:defRPr/>
            </a:pPr>
            <a:endParaRPr lang="en-US" dirty="0">
              <a:solidFill>
                <a:schemeClr val="tx2"/>
              </a:solidFill>
            </a:endParaRPr>
          </a:p>
        </p:txBody>
      </p:sp>
      <p:sp>
        <p:nvSpPr>
          <p:cNvPr id="12" name="Text Placeholder 1"/>
          <p:cNvSpPr txBox="1">
            <a:spLocks/>
          </p:cNvSpPr>
          <p:nvPr/>
        </p:nvSpPr>
        <p:spPr>
          <a:xfrm>
            <a:off x="1514518" y="3229828"/>
            <a:ext cx="9693213" cy="2756861"/>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2"/>
                </a:solidFill>
                <a:ea typeface="Calibri"/>
                <a:cs typeface="Calibri"/>
                <a:hlinkClick r:id="rId4" action="ppaction://hlinksldjump"/>
              </a:rPr>
              <a:t>JPEG </a:t>
            </a:r>
            <a:r>
              <a:rPr lang="en-US" sz="2050" b="1" dirty="0">
                <a:solidFill>
                  <a:schemeClr val="tx2"/>
                </a:solidFill>
                <a:ea typeface="Calibri"/>
                <a:cs typeface="Calibri"/>
                <a:hlinkClick r:id="rId4" action="ppaction://hlinksldjump"/>
              </a:rPr>
              <a:t>[Level5_Decision2_OptionA]</a:t>
            </a:r>
            <a:endParaRPr lang="en-US" sz="2050" b="1" dirty="0">
              <a:solidFill>
                <a:schemeClr val="tx2"/>
              </a:solidFill>
              <a:ea typeface="Calibri"/>
              <a:cs typeface="Calibri"/>
            </a:endParaRPr>
          </a:p>
          <a:p>
            <a:pPr marL="0" indent="0">
              <a:spcBef>
                <a:spcPts val="0"/>
              </a:spcBef>
              <a:buNone/>
              <a:defRPr/>
            </a:pPr>
            <a:endParaRPr lang="en-US" sz="2050" b="1" dirty="0">
              <a:solidFill>
                <a:schemeClr val="tx2"/>
              </a:solidFill>
              <a:ea typeface="Calibri"/>
              <a:cs typeface="Calibri"/>
            </a:endParaRPr>
          </a:p>
          <a:p>
            <a:pPr marL="0" indent="0">
              <a:spcBef>
                <a:spcPts val="0"/>
              </a:spcBef>
              <a:buNone/>
              <a:defRPr/>
            </a:pPr>
            <a:endParaRPr lang="en-US" sz="2050" dirty="0">
              <a:solidFill>
                <a:srgbClr val="AD7318"/>
              </a:solidFill>
              <a:ea typeface="Calibri"/>
              <a:cs typeface="Calibri"/>
            </a:endParaRPr>
          </a:p>
          <a:p>
            <a:pPr marL="0" indent="0">
              <a:spcBef>
                <a:spcPts val="0"/>
              </a:spcBef>
              <a:buNone/>
              <a:defRPr/>
            </a:pPr>
            <a:r>
              <a:rPr lang="en-US" sz="2050" dirty="0">
                <a:solidFill>
                  <a:schemeClr val="tx2"/>
                </a:solidFill>
                <a:ea typeface="Calibri"/>
                <a:cs typeface="Calibri"/>
                <a:hlinkClick r:id="rId5" action="ppaction://hlinksldjump"/>
              </a:rPr>
              <a:t>GIF </a:t>
            </a:r>
            <a:r>
              <a:rPr lang="en-US" sz="2050" b="1" dirty="0">
                <a:solidFill>
                  <a:schemeClr val="tx2"/>
                </a:solidFill>
                <a:ea typeface="Calibri"/>
                <a:cs typeface="Calibri"/>
                <a:hlinkClick r:id="rId5" action="ppaction://hlinksldjump"/>
              </a:rPr>
              <a:t>[Level5_Decision2_OptionB]</a:t>
            </a:r>
            <a:endParaRPr lang="en-US" sz="2050" b="1" dirty="0">
              <a:solidFill>
                <a:schemeClr val="tx2"/>
              </a:solidFill>
              <a:ea typeface="Calibri"/>
              <a:cs typeface="Calibri"/>
            </a:endParaRPr>
          </a:p>
          <a:p>
            <a:pPr marL="0" indent="0">
              <a:spcBef>
                <a:spcPts val="0"/>
              </a:spcBef>
              <a:buNone/>
              <a:defRPr/>
            </a:pPr>
            <a:endParaRPr lang="en-US" sz="2050" dirty="0">
              <a:solidFill>
                <a:schemeClr val="tx2"/>
              </a:solidFill>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p:txBody>
      </p:sp>
      <p:pic>
        <p:nvPicPr>
          <p:cNvPr id="7" name="Graphic 6" descr="Volume">
            <a:extLst>
              <a:ext uri="{FF2B5EF4-FFF2-40B4-BE49-F238E27FC236}">
                <a16:creationId xmlns:a16="http://schemas.microsoft.com/office/drawing/2014/main" id="{98858AF6-4306-4AB2-9A31-F2CF2E76360E}"/>
              </a:ext>
            </a:extLst>
          </p:cNvP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43363" y="510636"/>
            <a:ext cx="430491" cy="356827"/>
          </a:xfrm>
          <a:prstGeom prst="rect">
            <a:avLst/>
          </a:prstGeom>
        </p:spPr>
      </p:pic>
      <p:sp>
        <p:nvSpPr>
          <p:cNvPr id="2" name="Title 1">
            <a:extLst>
              <a:ext uri="{FF2B5EF4-FFF2-40B4-BE49-F238E27FC236}">
                <a16:creationId xmlns:a16="http://schemas.microsoft.com/office/drawing/2014/main" id="{AAE4B061-1973-4598-99F6-EBDFEBA643E0}"/>
              </a:ext>
            </a:extLst>
          </p:cNvPr>
          <p:cNvSpPr>
            <a:spLocks noGrp="1"/>
          </p:cNvSpPr>
          <p:nvPr>
            <p:ph type="title"/>
          </p:nvPr>
        </p:nvSpPr>
        <p:spPr>
          <a:xfrm>
            <a:off x="795113" y="5074"/>
            <a:ext cx="10412618" cy="505562"/>
          </a:xfrm>
        </p:spPr>
        <p:txBody>
          <a:bodyPr>
            <a:normAutofit fontScale="90000"/>
          </a:bodyPr>
          <a:lstStyle/>
          <a:p>
            <a:r>
              <a:rPr lang="en-US" dirty="0"/>
              <a:t>Level5_Decision2</a:t>
            </a:r>
          </a:p>
        </p:txBody>
      </p:sp>
      <p:sp>
        <p:nvSpPr>
          <p:cNvPr id="8" name="Text Placeholder 3">
            <a:extLst>
              <a:ext uri="{FF2B5EF4-FFF2-40B4-BE49-F238E27FC236}">
                <a16:creationId xmlns:a16="http://schemas.microsoft.com/office/drawing/2014/main" id="{B5CE21A4-EFBD-4B90-ACD8-0159F888003A}"/>
              </a:ext>
            </a:extLst>
          </p:cNvPr>
          <p:cNvSpPr txBox="1">
            <a:spLocks/>
          </p:cNvSpPr>
          <p:nvPr/>
        </p:nvSpPr>
        <p:spPr>
          <a:xfrm>
            <a:off x="1142106" y="3217697"/>
            <a:ext cx="566658" cy="531764"/>
          </a:xfrm>
          <a:prstGeom prst="rect">
            <a:avLst/>
          </a:prstGeom>
        </p:spPr>
        <p:txBody>
          <a:bodyPr lIns="121891" tIns="60945" rIns="121891" bIns="60945">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A</a:t>
            </a:r>
          </a:p>
        </p:txBody>
      </p:sp>
      <p:sp>
        <p:nvSpPr>
          <p:cNvPr id="9" name="Text Placeholder 3">
            <a:extLst>
              <a:ext uri="{FF2B5EF4-FFF2-40B4-BE49-F238E27FC236}">
                <a16:creationId xmlns:a16="http://schemas.microsoft.com/office/drawing/2014/main" id="{7BA7EB68-7706-476E-A698-BCA0BD7BA336}"/>
              </a:ext>
            </a:extLst>
          </p:cNvPr>
          <p:cNvSpPr txBox="1">
            <a:spLocks/>
          </p:cNvSpPr>
          <p:nvPr/>
        </p:nvSpPr>
        <p:spPr>
          <a:xfrm>
            <a:off x="1142107" y="4150487"/>
            <a:ext cx="579710" cy="4023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B</a:t>
            </a: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p:txBody>
      </p:sp>
      <p:sp>
        <p:nvSpPr>
          <p:cNvPr id="10" name="Arrow: Pentagon 9">
            <a:extLst>
              <a:ext uri="{FF2B5EF4-FFF2-40B4-BE49-F238E27FC236}">
                <a16:creationId xmlns:a16="http://schemas.microsoft.com/office/drawing/2014/main" id="{8E8D7E02-9771-4681-A939-D613E6449268}"/>
              </a:ext>
            </a:extLst>
          </p:cNvPr>
          <p:cNvSpPr/>
          <p:nvPr/>
        </p:nvSpPr>
        <p:spPr>
          <a:xfrm>
            <a:off x="75306" y="3229828"/>
            <a:ext cx="1066800" cy="402368"/>
          </a:xfrm>
          <a:prstGeom prst="homePlate">
            <a:avLst/>
          </a:prstGeom>
        </p:spPr>
        <p:style>
          <a:lnRef idx="1">
            <a:schemeClr val="accent6"/>
          </a:lnRef>
          <a:fillRef idx="2">
            <a:schemeClr val="accent6"/>
          </a:fillRef>
          <a:effectRef idx="1">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Optimal</a:t>
            </a:r>
          </a:p>
        </p:txBody>
      </p:sp>
      <p:sp>
        <p:nvSpPr>
          <p:cNvPr id="13" name="TextBox 12">
            <a:extLst>
              <a:ext uri="{FF2B5EF4-FFF2-40B4-BE49-F238E27FC236}">
                <a16:creationId xmlns:a16="http://schemas.microsoft.com/office/drawing/2014/main" id="{DDA3C355-764F-485D-95D5-B098DBE1E279}"/>
              </a:ext>
            </a:extLst>
          </p:cNvPr>
          <p:cNvSpPr txBox="1"/>
          <p:nvPr/>
        </p:nvSpPr>
        <p:spPr>
          <a:xfrm>
            <a:off x="795113" y="5968718"/>
            <a:ext cx="10412618" cy="369332"/>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Next step for both options: Student will need to choose a font.</a:t>
            </a:r>
          </a:p>
        </p:txBody>
      </p:sp>
      <p:sp>
        <p:nvSpPr>
          <p:cNvPr id="14" name="TextBox 13">
            <a:extLst>
              <a:ext uri="{FF2B5EF4-FFF2-40B4-BE49-F238E27FC236}">
                <a16:creationId xmlns:a16="http://schemas.microsoft.com/office/drawing/2014/main" id="{C3F1F871-2478-47B9-BEAA-EEB18B964E0E}"/>
              </a:ext>
            </a:extLst>
          </p:cNvPr>
          <p:cNvSpPr txBox="1"/>
          <p:nvPr/>
        </p:nvSpPr>
        <p:spPr>
          <a:xfrm>
            <a:off x="795113" y="4895053"/>
            <a:ext cx="10412618" cy="646331"/>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defPPr>
              <a:defRPr lang="en-US"/>
            </a:defPPr>
            <a:lvl1pPr>
              <a:defRPr>
                <a:solidFill>
                  <a:srgbClr val="FF0000"/>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C00000"/>
                </a:solidFill>
                <a:effectLst/>
                <a:uLnTx/>
                <a:uFillTx/>
                <a:latin typeface="Calibri" panose="020F0502020204030204"/>
                <a:ea typeface="+mn-ea"/>
                <a:cs typeface="+mn-cs"/>
              </a:rPr>
              <a:t>Explanation: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rgbClr val="C00000"/>
                </a:solidFill>
                <a:latin typeface="Calibri" panose="020F0502020204030204"/>
              </a:rPr>
              <a:t>A JPEG file is best suited to showing this kind of information in a presentation.</a:t>
            </a:r>
            <a:endParaRPr kumimoji="0" lang="en-US" sz="1800" b="0" i="0" u="none" strike="noStrike" kern="1200" cap="none" spc="0" normalizeH="0" baseline="0" noProof="0" dirty="0">
              <a:ln>
                <a:noFill/>
              </a:ln>
              <a:solidFill>
                <a:srgbClr val="C00000"/>
              </a:solidFill>
              <a:effectLst/>
              <a:uLnTx/>
              <a:uFillTx/>
              <a:latin typeface="Calibri" panose="020F0502020204030204"/>
              <a:ea typeface="+mn-ea"/>
              <a:cs typeface="+mn-cs"/>
            </a:endParaRPr>
          </a:p>
        </p:txBody>
      </p:sp>
      <p:sp>
        <p:nvSpPr>
          <p:cNvPr id="15" name="TextBox 14">
            <a:extLst>
              <a:ext uri="{FF2B5EF4-FFF2-40B4-BE49-F238E27FC236}">
                <a16:creationId xmlns:a16="http://schemas.microsoft.com/office/drawing/2014/main" id="{298A30DB-9C17-49F3-B92D-F34A0AE31F42}"/>
              </a:ext>
            </a:extLst>
          </p:cNvPr>
          <p:cNvSpPr txBox="1"/>
          <p:nvPr/>
        </p:nvSpPr>
        <p:spPr>
          <a:xfrm>
            <a:off x="795111" y="577780"/>
            <a:ext cx="10412617" cy="369332"/>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Previous step: Student chose to use graphics software.</a:t>
            </a:r>
          </a:p>
        </p:txBody>
      </p:sp>
    </p:spTree>
    <p:custDataLst>
      <p:tags r:id="rId1"/>
    </p:custDataLst>
    <p:extLst>
      <p:ext uri="{BB962C8B-B14F-4D97-AF65-F5344CB8AC3E}">
        <p14:creationId xmlns:p14="http://schemas.microsoft.com/office/powerpoint/2010/main" val="1816397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
          <p:cNvSpPr txBox="1">
            <a:spLocks/>
          </p:cNvSpPr>
          <p:nvPr/>
        </p:nvSpPr>
        <p:spPr>
          <a:xfrm>
            <a:off x="795114" y="911662"/>
            <a:ext cx="10412618" cy="3687746"/>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2"/>
                </a:solidFill>
                <a:ea typeface="Calibri"/>
                <a:cs typeface="Calibri"/>
              </a:rPr>
              <a:t>The data hasn’t been easy to work with, but you’ve been able to find a few useful patterns in the information. As you build your spreadsheet with the data you’ve selected, you start to wonder what would be the best chart type to use for this data. The most important chart will show each day of the week and the number of unplanned absences throughout the year that occurred on that weekday.</a:t>
            </a: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r>
              <a:rPr lang="en-US" sz="2050" dirty="0">
                <a:solidFill>
                  <a:schemeClr val="tx2"/>
                </a:solidFill>
                <a:ea typeface="Calibri"/>
                <a:cs typeface="Calibri"/>
              </a:rPr>
              <a:t>Which chart type will best show the statistics for this kind of data?</a:t>
            </a:r>
          </a:p>
          <a:p>
            <a:pPr marL="0" indent="0">
              <a:spcBef>
                <a:spcPts val="0"/>
              </a:spcBef>
              <a:buNone/>
              <a:defRPr/>
            </a:pPr>
            <a:endParaRPr lang="en-US" sz="2050" dirty="0">
              <a:solidFill>
                <a:schemeClr val="tx2"/>
              </a:solidFill>
              <a:cs typeface="Calibri"/>
            </a:endParaRPr>
          </a:p>
          <a:p>
            <a:pPr marL="0" indent="0">
              <a:spcBef>
                <a:spcPts val="0"/>
              </a:spcBef>
              <a:buNone/>
              <a:defRPr/>
            </a:pPr>
            <a:endParaRPr lang="en-US" dirty="0">
              <a:solidFill>
                <a:schemeClr val="tx2"/>
              </a:solidFill>
            </a:endParaRPr>
          </a:p>
        </p:txBody>
      </p:sp>
      <p:sp>
        <p:nvSpPr>
          <p:cNvPr id="12" name="Text Placeholder 1"/>
          <p:cNvSpPr txBox="1">
            <a:spLocks/>
          </p:cNvSpPr>
          <p:nvPr/>
        </p:nvSpPr>
        <p:spPr>
          <a:xfrm>
            <a:off x="1601398" y="3393000"/>
            <a:ext cx="9606333" cy="1796121"/>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2"/>
                </a:solidFill>
                <a:ea typeface="Calibri"/>
                <a:cs typeface="Calibri"/>
                <a:hlinkClick r:id="rId4" action="ppaction://hlinksldjump"/>
              </a:rPr>
              <a:t>Column chart </a:t>
            </a:r>
            <a:r>
              <a:rPr lang="en-US" sz="2050" b="1" dirty="0">
                <a:solidFill>
                  <a:schemeClr val="tx2"/>
                </a:solidFill>
                <a:ea typeface="Calibri"/>
                <a:cs typeface="Calibri"/>
                <a:hlinkClick r:id="rId4" action="ppaction://hlinksldjump"/>
              </a:rPr>
              <a:t>[Level5_Decision3_OptionA]</a:t>
            </a:r>
            <a:endParaRPr lang="en-US" sz="2050" b="1" dirty="0">
              <a:solidFill>
                <a:schemeClr val="tx2"/>
              </a:solidFill>
              <a:ea typeface="Calibri"/>
              <a:cs typeface="Calibri"/>
            </a:endParaRPr>
          </a:p>
          <a:p>
            <a:pPr marL="0" indent="0">
              <a:spcBef>
                <a:spcPts val="0"/>
              </a:spcBef>
              <a:buNone/>
              <a:defRPr/>
            </a:pPr>
            <a:endParaRPr lang="en-US" sz="2099" dirty="0">
              <a:solidFill>
                <a:srgbClr val="AD7318"/>
              </a:solidFill>
              <a:ea typeface="Calibri"/>
              <a:cs typeface="Calibri"/>
            </a:endParaRPr>
          </a:p>
          <a:p>
            <a:pPr marL="0" indent="0">
              <a:spcBef>
                <a:spcPts val="0"/>
              </a:spcBef>
              <a:buNone/>
              <a:defRPr/>
            </a:pPr>
            <a:endParaRPr lang="en-US" sz="2050" dirty="0">
              <a:solidFill>
                <a:srgbClr val="AD7318"/>
              </a:solidFill>
              <a:ea typeface="Calibri"/>
              <a:cs typeface="Calibri"/>
            </a:endParaRPr>
          </a:p>
          <a:p>
            <a:pPr marL="0" indent="0">
              <a:spcBef>
                <a:spcPts val="0"/>
              </a:spcBef>
              <a:buNone/>
              <a:defRPr/>
            </a:pPr>
            <a:r>
              <a:rPr lang="en-US" sz="2050" dirty="0">
                <a:solidFill>
                  <a:schemeClr val="tx2"/>
                </a:solidFill>
                <a:ea typeface="Calibri"/>
                <a:cs typeface="Calibri"/>
                <a:hlinkClick r:id="rId5" action="ppaction://hlinksldjump"/>
              </a:rPr>
              <a:t>Scatter chart </a:t>
            </a:r>
            <a:r>
              <a:rPr lang="en-US" sz="2050" b="1" dirty="0">
                <a:solidFill>
                  <a:schemeClr val="tx2"/>
                </a:solidFill>
                <a:ea typeface="Calibri"/>
                <a:cs typeface="Calibri"/>
                <a:hlinkClick r:id="rId5" action="ppaction://hlinksldjump"/>
              </a:rPr>
              <a:t>[Level5_Decision3_OptionB]</a:t>
            </a:r>
            <a:endParaRPr lang="en-US" sz="2050" b="1" dirty="0">
              <a:solidFill>
                <a:schemeClr val="tx2"/>
              </a:solidFill>
              <a:ea typeface="Calibri"/>
              <a:cs typeface="Calibri"/>
            </a:endParaRPr>
          </a:p>
          <a:p>
            <a:pPr marL="0" indent="0">
              <a:spcBef>
                <a:spcPts val="0"/>
              </a:spcBef>
              <a:buNone/>
              <a:defRPr/>
            </a:pPr>
            <a:endParaRPr lang="en-US" sz="2050" dirty="0">
              <a:solidFill>
                <a:schemeClr val="tx2"/>
              </a:solidFill>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p:txBody>
      </p:sp>
      <p:pic>
        <p:nvPicPr>
          <p:cNvPr id="7" name="Graphic 6" descr="Volume">
            <a:extLst>
              <a:ext uri="{FF2B5EF4-FFF2-40B4-BE49-F238E27FC236}">
                <a16:creationId xmlns:a16="http://schemas.microsoft.com/office/drawing/2014/main" id="{98858AF6-4306-4AB2-9A31-F2CF2E76360E}"/>
              </a:ext>
            </a:extLst>
          </p:cNvP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43363" y="510636"/>
            <a:ext cx="430491" cy="356827"/>
          </a:xfrm>
          <a:prstGeom prst="rect">
            <a:avLst/>
          </a:prstGeom>
        </p:spPr>
      </p:pic>
      <p:sp>
        <p:nvSpPr>
          <p:cNvPr id="2" name="Title 1">
            <a:extLst>
              <a:ext uri="{FF2B5EF4-FFF2-40B4-BE49-F238E27FC236}">
                <a16:creationId xmlns:a16="http://schemas.microsoft.com/office/drawing/2014/main" id="{AAE4B061-1973-4598-99F6-EBDFEBA643E0}"/>
              </a:ext>
            </a:extLst>
          </p:cNvPr>
          <p:cNvSpPr>
            <a:spLocks noGrp="1"/>
          </p:cNvSpPr>
          <p:nvPr>
            <p:ph type="title"/>
          </p:nvPr>
        </p:nvSpPr>
        <p:spPr>
          <a:xfrm>
            <a:off x="795113" y="5074"/>
            <a:ext cx="10412618" cy="505562"/>
          </a:xfrm>
        </p:spPr>
        <p:txBody>
          <a:bodyPr>
            <a:normAutofit fontScale="90000"/>
          </a:bodyPr>
          <a:lstStyle/>
          <a:p>
            <a:r>
              <a:rPr lang="en-US" dirty="0"/>
              <a:t>Level5_Decision3</a:t>
            </a:r>
          </a:p>
        </p:txBody>
      </p:sp>
      <p:sp>
        <p:nvSpPr>
          <p:cNvPr id="8" name="Text Placeholder 3">
            <a:extLst>
              <a:ext uri="{FF2B5EF4-FFF2-40B4-BE49-F238E27FC236}">
                <a16:creationId xmlns:a16="http://schemas.microsoft.com/office/drawing/2014/main" id="{B5CE21A4-EFBD-4B90-ACD8-0159F888003A}"/>
              </a:ext>
            </a:extLst>
          </p:cNvPr>
          <p:cNvSpPr txBox="1">
            <a:spLocks/>
          </p:cNvSpPr>
          <p:nvPr/>
        </p:nvSpPr>
        <p:spPr>
          <a:xfrm>
            <a:off x="1228986" y="3391679"/>
            <a:ext cx="561579" cy="531764"/>
          </a:xfrm>
          <a:prstGeom prst="rect">
            <a:avLst/>
          </a:prstGeom>
        </p:spPr>
        <p:txBody>
          <a:bodyPr lIns="121891" tIns="60945" rIns="121891" bIns="60945">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A</a:t>
            </a:r>
          </a:p>
        </p:txBody>
      </p:sp>
      <p:sp>
        <p:nvSpPr>
          <p:cNvPr id="9" name="Text Placeholder 3">
            <a:extLst>
              <a:ext uri="{FF2B5EF4-FFF2-40B4-BE49-F238E27FC236}">
                <a16:creationId xmlns:a16="http://schemas.microsoft.com/office/drawing/2014/main" id="{7BA7EB68-7706-476E-A698-BCA0BD7BA336}"/>
              </a:ext>
            </a:extLst>
          </p:cNvPr>
          <p:cNvSpPr txBox="1">
            <a:spLocks/>
          </p:cNvSpPr>
          <p:nvPr/>
        </p:nvSpPr>
        <p:spPr>
          <a:xfrm>
            <a:off x="1228987" y="4324469"/>
            <a:ext cx="574514" cy="4023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B</a:t>
            </a: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p:txBody>
      </p:sp>
      <p:sp>
        <p:nvSpPr>
          <p:cNvPr id="10" name="Arrow: Pentagon 9">
            <a:extLst>
              <a:ext uri="{FF2B5EF4-FFF2-40B4-BE49-F238E27FC236}">
                <a16:creationId xmlns:a16="http://schemas.microsoft.com/office/drawing/2014/main" id="{043053F7-EF39-4932-9F37-9A752A799354}"/>
              </a:ext>
            </a:extLst>
          </p:cNvPr>
          <p:cNvSpPr/>
          <p:nvPr/>
        </p:nvSpPr>
        <p:spPr>
          <a:xfrm>
            <a:off x="162186" y="3410948"/>
            <a:ext cx="1066800" cy="402368"/>
          </a:xfrm>
          <a:prstGeom prst="homePlate">
            <a:avLst/>
          </a:prstGeom>
        </p:spPr>
        <p:style>
          <a:lnRef idx="1">
            <a:schemeClr val="accent6"/>
          </a:lnRef>
          <a:fillRef idx="2">
            <a:schemeClr val="accent6"/>
          </a:fillRef>
          <a:effectRef idx="1">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Optimal</a:t>
            </a:r>
          </a:p>
        </p:txBody>
      </p:sp>
      <p:sp>
        <p:nvSpPr>
          <p:cNvPr id="13" name="TextBox 12">
            <a:extLst>
              <a:ext uri="{FF2B5EF4-FFF2-40B4-BE49-F238E27FC236}">
                <a16:creationId xmlns:a16="http://schemas.microsoft.com/office/drawing/2014/main" id="{0766EE8C-91AD-4978-9CCD-D0A82D307474}"/>
              </a:ext>
            </a:extLst>
          </p:cNvPr>
          <p:cNvSpPr txBox="1"/>
          <p:nvPr/>
        </p:nvSpPr>
        <p:spPr>
          <a:xfrm>
            <a:off x="795113" y="5968718"/>
            <a:ext cx="10412618" cy="369332"/>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Next step for both options: Student will need to choose a font.</a:t>
            </a:r>
          </a:p>
        </p:txBody>
      </p:sp>
      <p:sp>
        <p:nvSpPr>
          <p:cNvPr id="14" name="TextBox 13">
            <a:extLst>
              <a:ext uri="{FF2B5EF4-FFF2-40B4-BE49-F238E27FC236}">
                <a16:creationId xmlns:a16="http://schemas.microsoft.com/office/drawing/2014/main" id="{3EB37E02-1434-4BF4-B400-43F42C5D55CC}"/>
              </a:ext>
            </a:extLst>
          </p:cNvPr>
          <p:cNvSpPr txBox="1"/>
          <p:nvPr/>
        </p:nvSpPr>
        <p:spPr>
          <a:xfrm>
            <a:off x="795113" y="4895053"/>
            <a:ext cx="10412618" cy="646331"/>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defPPr>
              <a:defRPr lang="en-US"/>
            </a:defPPr>
            <a:lvl1pPr>
              <a:defRPr>
                <a:solidFill>
                  <a:srgbClr val="FF0000"/>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C00000"/>
                </a:solidFill>
                <a:effectLst/>
                <a:uLnTx/>
                <a:uFillTx/>
                <a:latin typeface="Calibri" panose="020F0502020204030204"/>
                <a:ea typeface="+mn-ea"/>
                <a:cs typeface="+mn-cs"/>
              </a:rPr>
              <a:t>Explanation:</a:t>
            </a:r>
          </a:p>
          <a:p>
            <a:pPr lvl="0">
              <a:defRPr/>
            </a:pPr>
            <a:r>
              <a:rPr lang="en-US" dirty="0">
                <a:solidFill>
                  <a:srgbClr val="C00000"/>
                </a:solidFill>
              </a:rPr>
              <a:t>A column chart is best suited to this kind of data.</a:t>
            </a:r>
            <a:endParaRPr kumimoji="0" lang="en-US" sz="1800" b="0" i="0" u="none" strike="noStrike" kern="1200" cap="none" spc="0" normalizeH="0" baseline="0" noProof="0" dirty="0">
              <a:ln>
                <a:noFill/>
              </a:ln>
              <a:solidFill>
                <a:srgbClr val="C00000"/>
              </a:solidFill>
              <a:effectLst/>
              <a:uLnTx/>
              <a:uFillTx/>
              <a:latin typeface="Calibri" panose="020F0502020204030204"/>
              <a:ea typeface="+mn-ea"/>
              <a:cs typeface="+mn-cs"/>
            </a:endParaRPr>
          </a:p>
        </p:txBody>
      </p:sp>
      <p:sp>
        <p:nvSpPr>
          <p:cNvPr id="15" name="TextBox 14">
            <a:extLst>
              <a:ext uri="{FF2B5EF4-FFF2-40B4-BE49-F238E27FC236}">
                <a16:creationId xmlns:a16="http://schemas.microsoft.com/office/drawing/2014/main" id="{89DC66A2-AF32-4C61-9D9B-A28C557E7E19}"/>
              </a:ext>
            </a:extLst>
          </p:cNvPr>
          <p:cNvSpPr txBox="1"/>
          <p:nvPr/>
        </p:nvSpPr>
        <p:spPr>
          <a:xfrm>
            <a:off x="795111" y="577780"/>
            <a:ext cx="10412617" cy="369332"/>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lvl="0">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Previous step: Student chose </a:t>
            </a:r>
            <a:r>
              <a:rPr lang="en-US" dirty="0">
                <a:solidFill>
                  <a:prstClr val="black"/>
                </a:solidFill>
              </a:rPr>
              <a:t>to create a spreadsheet.</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ustDataLst>
      <p:tags r:id="rId1"/>
    </p:custDataLst>
    <p:extLst>
      <p:ext uri="{BB962C8B-B14F-4D97-AF65-F5344CB8AC3E}">
        <p14:creationId xmlns:p14="http://schemas.microsoft.com/office/powerpoint/2010/main" val="4671732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
          <p:cNvSpPr txBox="1">
            <a:spLocks/>
          </p:cNvSpPr>
          <p:nvPr/>
        </p:nvSpPr>
        <p:spPr>
          <a:xfrm>
            <a:off x="795110" y="880863"/>
            <a:ext cx="10412618" cy="229457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2"/>
                </a:solidFill>
                <a:ea typeface="Calibri"/>
                <a:cs typeface="Calibri"/>
              </a:rPr>
              <a:t>The data hasn’t been easy to work with, but you’ve been able to find a few useful patterns in the information. As you work with the graphics app, you play around with several different ways to display the data. After much trial and error, you settle on a few graphics that kind of make your point. </a:t>
            </a: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r>
              <a:rPr lang="en-US" sz="2050" dirty="0">
                <a:solidFill>
                  <a:schemeClr val="tx2"/>
                </a:solidFill>
                <a:ea typeface="Calibri"/>
                <a:cs typeface="Calibri"/>
              </a:rPr>
              <a:t>Now you’re ready to export the graphics in a form that you can add to your presentation later. Which file format should you use?</a:t>
            </a:r>
          </a:p>
          <a:p>
            <a:pPr marL="0" indent="0">
              <a:spcBef>
                <a:spcPts val="0"/>
              </a:spcBef>
              <a:buNone/>
              <a:defRPr/>
            </a:pPr>
            <a:endParaRPr lang="en-US" sz="2050" dirty="0">
              <a:solidFill>
                <a:schemeClr val="tx2"/>
              </a:solidFill>
              <a:cs typeface="Calibri"/>
            </a:endParaRPr>
          </a:p>
          <a:p>
            <a:pPr marL="0" indent="0">
              <a:spcBef>
                <a:spcPts val="0"/>
              </a:spcBef>
              <a:buNone/>
              <a:defRPr/>
            </a:pPr>
            <a:endParaRPr lang="en-US" dirty="0">
              <a:solidFill>
                <a:schemeClr val="tx2"/>
              </a:solidFill>
            </a:endParaRPr>
          </a:p>
        </p:txBody>
      </p:sp>
      <p:sp>
        <p:nvSpPr>
          <p:cNvPr id="12" name="Text Placeholder 1"/>
          <p:cNvSpPr txBox="1">
            <a:spLocks/>
          </p:cNvSpPr>
          <p:nvPr/>
        </p:nvSpPr>
        <p:spPr>
          <a:xfrm>
            <a:off x="1620844" y="3314892"/>
            <a:ext cx="9586887" cy="2756861"/>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2"/>
                </a:solidFill>
                <a:ea typeface="Calibri"/>
                <a:cs typeface="Calibri"/>
                <a:hlinkClick r:id="rId4" action="ppaction://hlinksldjump"/>
              </a:rPr>
              <a:t>JPEG </a:t>
            </a:r>
            <a:r>
              <a:rPr lang="en-US" sz="2050" b="1" dirty="0">
                <a:solidFill>
                  <a:schemeClr val="tx2"/>
                </a:solidFill>
                <a:ea typeface="Calibri"/>
                <a:cs typeface="Calibri"/>
                <a:hlinkClick r:id="rId4" action="ppaction://hlinksldjump"/>
              </a:rPr>
              <a:t>[Level5_Decision4_OptionA]</a:t>
            </a:r>
            <a:endParaRPr lang="en-US" sz="2050" b="1" dirty="0">
              <a:solidFill>
                <a:schemeClr val="tx2"/>
              </a:solidFill>
              <a:ea typeface="Calibri"/>
              <a:cs typeface="Calibri"/>
            </a:endParaRPr>
          </a:p>
          <a:p>
            <a:pPr marL="0" indent="0">
              <a:spcBef>
                <a:spcPts val="0"/>
              </a:spcBef>
              <a:buNone/>
              <a:defRPr/>
            </a:pPr>
            <a:endParaRPr lang="en-US" sz="2050" b="1" dirty="0">
              <a:solidFill>
                <a:schemeClr val="tx2"/>
              </a:solidFill>
              <a:ea typeface="Calibri"/>
              <a:cs typeface="Calibri"/>
            </a:endParaRPr>
          </a:p>
          <a:p>
            <a:pPr marL="0" indent="0">
              <a:spcBef>
                <a:spcPts val="0"/>
              </a:spcBef>
              <a:buNone/>
              <a:defRPr/>
            </a:pPr>
            <a:endParaRPr lang="en-US" sz="2050" dirty="0">
              <a:solidFill>
                <a:srgbClr val="AD7318"/>
              </a:solidFill>
              <a:ea typeface="Calibri"/>
              <a:cs typeface="Calibri"/>
            </a:endParaRPr>
          </a:p>
          <a:p>
            <a:pPr marL="0" indent="0">
              <a:spcBef>
                <a:spcPts val="0"/>
              </a:spcBef>
              <a:buNone/>
              <a:defRPr/>
            </a:pPr>
            <a:r>
              <a:rPr lang="en-US" sz="2050" dirty="0">
                <a:solidFill>
                  <a:schemeClr val="tx2"/>
                </a:solidFill>
                <a:ea typeface="Calibri"/>
                <a:cs typeface="Calibri"/>
                <a:hlinkClick r:id="rId4" action="ppaction://hlinksldjump"/>
              </a:rPr>
              <a:t>GIF </a:t>
            </a:r>
            <a:r>
              <a:rPr lang="en-US" sz="2050" b="1" dirty="0">
                <a:solidFill>
                  <a:schemeClr val="tx2"/>
                </a:solidFill>
                <a:ea typeface="Calibri"/>
                <a:cs typeface="Calibri"/>
                <a:hlinkClick r:id="rId4" action="ppaction://hlinksldjump"/>
              </a:rPr>
              <a:t>[Level5_Decision4_OptionB]</a:t>
            </a:r>
            <a:endParaRPr lang="en-US" sz="2050" b="1" dirty="0">
              <a:solidFill>
                <a:schemeClr val="tx2"/>
              </a:solidFill>
              <a:ea typeface="Calibri"/>
              <a:cs typeface="Calibri"/>
            </a:endParaRPr>
          </a:p>
          <a:p>
            <a:pPr marL="0" indent="0">
              <a:spcBef>
                <a:spcPts val="0"/>
              </a:spcBef>
              <a:buNone/>
              <a:defRPr/>
            </a:pPr>
            <a:endParaRPr lang="en-US" sz="2050" dirty="0">
              <a:solidFill>
                <a:schemeClr val="tx2"/>
              </a:solidFill>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p:txBody>
      </p:sp>
      <p:pic>
        <p:nvPicPr>
          <p:cNvPr id="7" name="Graphic 6" descr="Volume">
            <a:extLst>
              <a:ext uri="{FF2B5EF4-FFF2-40B4-BE49-F238E27FC236}">
                <a16:creationId xmlns:a16="http://schemas.microsoft.com/office/drawing/2014/main" id="{98858AF6-4306-4AB2-9A31-F2CF2E76360E}"/>
              </a:ext>
            </a:extLst>
          </p:cNvPr>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43363" y="510636"/>
            <a:ext cx="430491" cy="356827"/>
          </a:xfrm>
          <a:prstGeom prst="rect">
            <a:avLst/>
          </a:prstGeom>
        </p:spPr>
      </p:pic>
      <p:sp>
        <p:nvSpPr>
          <p:cNvPr id="2" name="Title 1">
            <a:extLst>
              <a:ext uri="{FF2B5EF4-FFF2-40B4-BE49-F238E27FC236}">
                <a16:creationId xmlns:a16="http://schemas.microsoft.com/office/drawing/2014/main" id="{AAE4B061-1973-4598-99F6-EBDFEBA643E0}"/>
              </a:ext>
            </a:extLst>
          </p:cNvPr>
          <p:cNvSpPr>
            <a:spLocks noGrp="1"/>
          </p:cNvSpPr>
          <p:nvPr>
            <p:ph type="title"/>
          </p:nvPr>
        </p:nvSpPr>
        <p:spPr>
          <a:xfrm>
            <a:off x="795113" y="5074"/>
            <a:ext cx="10412618" cy="505562"/>
          </a:xfrm>
        </p:spPr>
        <p:txBody>
          <a:bodyPr>
            <a:normAutofit fontScale="90000"/>
          </a:bodyPr>
          <a:lstStyle/>
          <a:p>
            <a:r>
              <a:rPr lang="en-US" dirty="0"/>
              <a:t>Level5_Decision4</a:t>
            </a:r>
          </a:p>
        </p:txBody>
      </p:sp>
      <p:sp>
        <p:nvSpPr>
          <p:cNvPr id="8" name="Text Placeholder 3">
            <a:extLst>
              <a:ext uri="{FF2B5EF4-FFF2-40B4-BE49-F238E27FC236}">
                <a16:creationId xmlns:a16="http://schemas.microsoft.com/office/drawing/2014/main" id="{B5CE21A4-EFBD-4B90-ACD8-0159F888003A}"/>
              </a:ext>
            </a:extLst>
          </p:cNvPr>
          <p:cNvSpPr txBox="1">
            <a:spLocks/>
          </p:cNvSpPr>
          <p:nvPr/>
        </p:nvSpPr>
        <p:spPr>
          <a:xfrm>
            <a:off x="1248432" y="3302761"/>
            <a:ext cx="560443" cy="531764"/>
          </a:xfrm>
          <a:prstGeom prst="rect">
            <a:avLst/>
          </a:prstGeom>
        </p:spPr>
        <p:txBody>
          <a:bodyPr lIns="121891" tIns="60945" rIns="121891" bIns="60945">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A</a:t>
            </a:r>
          </a:p>
        </p:txBody>
      </p:sp>
      <p:sp>
        <p:nvSpPr>
          <p:cNvPr id="9" name="Text Placeholder 3">
            <a:extLst>
              <a:ext uri="{FF2B5EF4-FFF2-40B4-BE49-F238E27FC236}">
                <a16:creationId xmlns:a16="http://schemas.microsoft.com/office/drawing/2014/main" id="{7BA7EB68-7706-476E-A698-BCA0BD7BA336}"/>
              </a:ext>
            </a:extLst>
          </p:cNvPr>
          <p:cNvSpPr txBox="1">
            <a:spLocks/>
          </p:cNvSpPr>
          <p:nvPr/>
        </p:nvSpPr>
        <p:spPr>
          <a:xfrm>
            <a:off x="1248432" y="4235551"/>
            <a:ext cx="573351" cy="4023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B</a:t>
            </a: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p:txBody>
      </p:sp>
      <p:sp>
        <p:nvSpPr>
          <p:cNvPr id="10" name="Arrow: Pentagon 9">
            <a:extLst>
              <a:ext uri="{FF2B5EF4-FFF2-40B4-BE49-F238E27FC236}">
                <a16:creationId xmlns:a16="http://schemas.microsoft.com/office/drawing/2014/main" id="{3317BF81-795D-4D3B-AE90-C6C80437B63D}"/>
              </a:ext>
            </a:extLst>
          </p:cNvPr>
          <p:cNvSpPr/>
          <p:nvPr/>
        </p:nvSpPr>
        <p:spPr>
          <a:xfrm>
            <a:off x="181632" y="3335672"/>
            <a:ext cx="1066800" cy="402368"/>
          </a:xfrm>
          <a:prstGeom prst="homePlate">
            <a:avLst/>
          </a:prstGeom>
        </p:spPr>
        <p:style>
          <a:lnRef idx="1">
            <a:schemeClr val="accent6"/>
          </a:lnRef>
          <a:fillRef idx="2">
            <a:schemeClr val="accent6"/>
          </a:fillRef>
          <a:effectRef idx="1">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Optimal</a:t>
            </a:r>
          </a:p>
        </p:txBody>
      </p:sp>
      <p:sp>
        <p:nvSpPr>
          <p:cNvPr id="13" name="TextBox 12">
            <a:extLst>
              <a:ext uri="{FF2B5EF4-FFF2-40B4-BE49-F238E27FC236}">
                <a16:creationId xmlns:a16="http://schemas.microsoft.com/office/drawing/2014/main" id="{415C9E20-9B85-4295-B3A8-6DA1E433364B}"/>
              </a:ext>
            </a:extLst>
          </p:cNvPr>
          <p:cNvSpPr txBox="1"/>
          <p:nvPr/>
        </p:nvSpPr>
        <p:spPr>
          <a:xfrm>
            <a:off x="795113" y="6053782"/>
            <a:ext cx="10412618" cy="369332"/>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Next step for both options: Student will need to choose a font.</a:t>
            </a:r>
          </a:p>
        </p:txBody>
      </p:sp>
      <p:sp>
        <p:nvSpPr>
          <p:cNvPr id="14" name="TextBox 13">
            <a:extLst>
              <a:ext uri="{FF2B5EF4-FFF2-40B4-BE49-F238E27FC236}">
                <a16:creationId xmlns:a16="http://schemas.microsoft.com/office/drawing/2014/main" id="{E58D4434-9668-43A4-B98E-F096C41CE60D}"/>
              </a:ext>
            </a:extLst>
          </p:cNvPr>
          <p:cNvSpPr txBox="1"/>
          <p:nvPr/>
        </p:nvSpPr>
        <p:spPr>
          <a:xfrm>
            <a:off x="795113" y="4980117"/>
            <a:ext cx="10412618" cy="646331"/>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defPPr>
              <a:defRPr lang="en-US"/>
            </a:defPPr>
            <a:lvl1pPr>
              <a:defRPr>
                <a:solidFill>
                  <a:srgbClr val="FF0000"/>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C00000"/>
                </a:solidFill>
                <a:effectLst/>
                <a:uLnTx/>
                <a:uFillTx/>
                <a:latin typeface="Calibri" panose="020F0502020204030204"/>
                <a:ea typeface="+mn-ea"/>
                <a:cs typeface="+mn-cs"/>
              </a:rPr>
              <a:t>Explanation:</a:t>
            </a:r>
          </a:p>
          <a:p>
            <a:pPr lvl="0">
              <a:defRPr/>
            </a:pPr>
            <a:r>
              <a:rPr lang="en-US" dirty="0">
                <a:solidFill>
                  <a:srgbClr val="C00000"/>
                </a:solidFill>
              </a:rPr>
              <a:t>A JPEG file is best suited to showing this kind of information in a presentation.</a:t>
            </a:r>
            <a:endParaRPr kumimoji="0" lang="en-US" sz="1800" b="0" i="0" u="none" strike="noStrike" kern="1200" cap="none" spc="0" normalizeH="0" baseline="0" noProof="0" dirty="0">
              <a:ln>
                <a:noFill/>
              </a:ln>
              <a:solidFill>
                <a:srgbClr val="C00000"/>
              </a:solidFill>
              <a:effectLst/>
              <a:uLnTx/>
              <a:uFillTx/>
              <a:latin typeface="Calibri" panose="020F0502020204030204"/>
              <a:ea typeface="+mn-ea"/>
              <a:cs typeface="+mn-cs"/>
            </a:endParaRPr>
          </a:p>
        </p:txBody>
      </p:sp>
      <p:sp>
        <p:nvSpPr>
          <p:cNvPr id="15" name="TextBox 14">
            <a:extLst>
              <a:ext uri="{FF2B5EF4-FFF2-40B4-BE49-F238E27FC236}">
                <a16:creationId xmlns:a16="http://schemas.microsoft.com/office/drawing/2014/main" id="{899812D2-D87B-4393-B541-BCF3ED0B5CF0}"/>
              </a:ext>
            </a:extLst>
          </p:cNvPr>
          <p:cNvSpPr txBox="1"/>
          <p:nvPr/>
        </p:nvSpPr>
        <p:spPr>
          <a:xfrm>
            <a:off x="795111" y="577780"/>
            <a:ext cx="10412617" cy="369332"/>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Previous step: Student chose to use graphics software.</a:t>
            </a:r>
          </a:p>
        </p:txBody>
      </p:sp>
    </p:spTree>
    <p:custDataLst>
      <p:tags r:id="rId1"/>
    </p:custDataLst>
    <p:extLst>
      <p:ext uri="{BB962C8B-B14F-4D97-AF65-F5344CB8AC3E}">
        <p14:creationId xmlns:p14="http://schemas.microsoft.com/office/powerpoint/2010/main" val="139617276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
          <p:cNvSpPr txBox="1">
            <a:spLocks/>
          </p:cNvSpPr>
          <p:nvPr/>
        </p:nvSpPr>
        <p:spPr>
          <a:xfrm>
            <a:off x="795114" y="911662"/>
            <a:ext cx="10412618" cy="3687746"/>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2"/>
                </a:solidFill>
                <a:ea typeface="Calibri"/>
                <a:cs typeface="Calibri"/>
              </a:rPr>
              <a:t>You have some great looking charts, and you’ve collected some comments from your co-workers expressing their support of the proposed alternate work schedule. You also have a meeting scheduled with your boss and a couple of other department managers in the morning. As she headed out the door for an appointment, your boss asked you to send her a copy of your presentation this afternoon before you leave work so she can look it over at home this evening. </a:t>
            </a:r>
          </a:p>
          <a:p>
            <a:pPr marL="0" indent="0">
              <a:spcBef>
                <a:spcPts val="0"/>
              </a:spcBef>
              <a:buNone/>
              <a:defRPr/>
            </a:pPr>
            <a:endParaRPr lang="en-US" sz="2050" dirty="0">
              <a:solidFill>
                <a:schemeClr val="tx2"/>
              </a:solidFill>
              <a:cs typeface="Calibri"/>
            </a:endParaRPr>
          </a:p>
          <a:p>
            <a:pPr marL="0" indent="0">
              <a:spcBef>
                <a:spcPts val="0"/>
              </a:spcBef>
              <a:buNone/>
              <a:defRPr/>
            </a:pPr>
            <a:r>
              <a:rPr lang="en-US" sz="2050" dirty="0">
                <a:solidFill>
                  <a:schemeClr val="tx2"/>
                </a:solidFill>
                <a:cs typeface="Calibri"/>
              </a:rPr>
              <a:t>Now you’re pulling everything together in your PowerPoint presentation, and you have to make some design decisions. You want to make a strong impact without the slides looking too busy. What kind of font do you think will make the best impression?</a:t>
            </a:r>
          </a:p>
          <a:p>
            <a:pPr marL="0" indent="0">
              <a:spcBef>
                <a:spcPts val="0"/>
              </a:spcBef>
              <a:buNone/>
              <a:defRPr/>
            </a:pPr>
            <a:endParaRPr lang="en-US" dirty="0">
              <a:solidFill>
                <a:schemeClr val="tx2"/>
              </a:solidFill>
            </a:endParaRPr>
          </a:p>
        </p:txBody>
      </p:sp>
      <p:sp>
        <p:nvSpPr>
          <p:cNvPr id="12" name="Text Placeholder 1"/>
          <p:cNvSpPr txBox="1">
            <a:spLocks/>
          </p:cNvSpPr>
          <p:nvPr/>
        </p:nvSpPr>
        <p:spPr>
          <a:xfrm>
            <a:off x="1633295" y="3912591"/>
            <a:ext cx="9574436" cy="1162490"/>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2"/>
                </a:solidFill>
                <a:ea typeface="Calibri"/>
                <a:cs typeface="Calibri"/>
                <a:hlinkClick r:id="rId4" action="ppaction://hlinksldjump"/>
              </a:rPr>
              <a:t>A clean font, such as Calibri </a:t>
            </a:r>
            <a:r>
              <a:rPr lang="en-US" sz="2050" b="1" dirty="0">
                <a:solidFill>
                  <a:schemeClr val="tx2"/>
                </a:solidFill>
                <a:ea typeface="Calibri"/>
                <a:cs typeface="Calibri"/>
                <a:hlinkClick r:id="rId4" action="ppaction://hlinksldjump"/>
              </a:rPr>
              <a:t>[Level6_Decision1_OptionA]</a:t>
            </a:r>
            <a:endParaRPr lang="en-US" sz="2050" b="1" dirty="0">
              <a:solidFill>
                <a:schemeClr val="tx2"/>
              </a:solidFill>
              <a:ea typeface="Calibri"/>
              <a:cs typeface="Calibri"/>
            </a:endParaRPr>
          </a:p>
          <a:p>
            <a:pPr marL="0" indent="0">
              <a:spcBef>
                <a:spcPts val="0"/>
              </a:spcBef>
              <a:buNone/>
              <a:defRPr/>
            </a:pPr>
            <a:endParaRPr lang="en-US" sz="2050" dirty="0">
              <a:solidFill>
                <a:srgbClr val="AD7318"/>
              </a:solidFill>
              <a:ea typeface="Calibri"/>
              <a:cs typeface="Calibri"/>
            </a:endParaRPr>
          </a:p>
          <a:p>
            <a:pPr marL="0" indent="0">
              <a:spcBef>
                <a:spcPts val="0"/>
              </a:spcBef>
              <a:buNone/>
              <a:defRPr/>
            </a:pPr>
            <a:r>
              <a:rPr lang="en-US" sz="2050" dirty="0">
                <a:solidFill>
                  <a:schemeClr val="tx2"/>
                </a:solidFill>
                <a:ea typeface="Calibri"/>
                <a:cs typeface="Calibri"/>
                <a:hlinkClick r:id="rId5" action="ppaction://hlinksldjump"/>
              </a:rPr>
              <a:t>A fancy font, such as Curlz </a:t>
            </a:r>
            <a:r>
              <a:rPr lang="en-US" sz="2050" b="1" dirty="0">
                <a:solidFill>
                  <a:schemeClr val="tx2"/>
                </a:solidFill>
                <a:ea typeface="Calibri"/>
                <a:cs typeface="Calibri"/>
                <a:hlinkClick r:id="rId5" action="ppaction://hlinksldjump"/>
              </a:rPr>
              <a:t>[Level6_Decision1_OptionB]</a:t>
            </a:r>
            <a:endParaRPr lang="en-US" sz="2050" b="1" dirty="0">
              <a:solidFill>
                <a:schemeClr val="tx2"/>
              </a:solidFill>
              <a:ea typeface="Calibri"/>
              <a:cs typeface="Calibri"/>
            </a:endParaRPr>
          </a:p>
          <a:p>
            <a:pPr marL="0" indent="0">
              <a:spcBef>
                <a:spcPts val="0"/>
              </a:spcBef>
              <a:buNone/>
              <a:defRPr/>
            </a:pPr>
            <a:endParaRPr lang="en-US" sz="2050" dirty="0">
              <a:solidFill>
                <a:schemeClr val="tx2"/>
              </a:solidFill>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p:txBody>
      </p:sp>
      <p:pic>
        <p:nvPicPr>
          <p:cNvPr id="7" name="Graphic 6" descr="Volume">
            <a:extLst>
              <a:ext uri="{FF2B5EF4-FFF2-40B4-BE49-F238E27FC236}">
                <a16:creationId xmlns:a16="http://schemas.microsoft.com/office/drawing/2014/main" id="{98858AF6-4306-4AB2-9A31-F2CF2E76360E}"/>
              </a:ext>
            </a:extLst>
          </p:cNvP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43363" y="510636"/>
            <a:ext cx="430491" cy="356827"/>
          </a:xfrm>
          <a:prstGeom prst="rect">
            <a:avLst/>
          </a:prstGeom>
        </p:spPr>
      </p:pic>
      <p:sp>
        <p:nvSpPr>
          <p:cNvPr id="2" name="Title 1">
            <a:extLst>
              <a:ext uri="{FF2B5EF4-FFF2-40B4-BE49-F238E27FC236}">
                <a16:creationId xmlns:a16="http://schemas.microsoft.com/office/drawing/2014/main" id="{AAE4B061-1973-4598-99F6-EBDFEBA643E0}"/>
              </a:ext>
            </a:extLst>
          </p:cNvPr>
          <p:cNvSpPr>
            <a:spLocks noGrp="1"/>
          </p:cNvSpPr>
          <p:nvPr>
            <p:ph type="title"/>
          </p:nvPr>
        </p:nvSpPr>
        <p:spPr>
          <a:xfrm>
            <a:off x="795113" y="5074"/>
            <a:ext cx="10412618" cy="505562"/>
          </a:xfrm>
        </p:spPr>
        <p:txBody>
          <a:bodyPr>
            <a:normAutofit fontScale="90000"/>
          </a:bodyPr>
          <a:lstStyle/>
          <a:p>
            <a:r>
              <a:rPr lang="en-US" dirty="0"/>
              <a:t>Level6_Decision1</a:t>
            </a:r>
          </a:p>
        </p:txBody>
      </p:sp>
      <p:sp>
        <p:nvSpPr>
          <p:cNvPr id="8" name="Text Placeholder 3">
            <a:extLst>
              <a:ext uri="{FF2B5EF4-FFF2-40B4-BE49-F238E27FC236}">
                <a16:creationId xmlns:a16="http://schemas.microsoft.com/office/drawing/2014/main" id="{B5CE21A4-EFBD-4B90-ACD8-0159F888003A}"/>
              </a:ext>
            </a:extLst>
          </p:cNvPr>
          <p:cNvSpPr txBox="1">
            <a:spLocks/>
          </p:cNvSpPr>
          <p:nvPr/>
        </p:nvSpPr>
        <p:spPr>
          <a:xfrm>
            <a:off x="1260883" y="3932014"/>
            <a:ext cx="559715" cy="531764"/>
          </a:xfrm>
          <a:prstGeom prst="rect">
            <a:avLst/>
          </a:prstGeom>
        </p:spPr>
        <p:txBody>
          <a:bodyPr lIns="121891" tIns="60945" rIns="121891" bIns="60945">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A</a:t>
            </a:r>
          </a:p>
        </p:txBody>
      </p:sp>
      <p:sp>
        <p:nvSpPr>
          <p:cNvPr id="9" name="Text Placeholder 3">
            <a:extLst>
              <a:ext uri="{FF2B5EF4-FFF2-40B4-BE49-F238E27FC236}">
                <a16:creationId xmlns:a16="http://schemas.microsoft.com/office/drawing/2014/main" id="{7BA7EB68-7706-476E-A698-BCA0BD7BA336}"/>
              </a:ext>
            </a:extLst>
          </p:cNvPr>
          <p:cNvSpPr txBox="1">
            <a:spLocks/>
          </p:cNvSpPr>
          <p:nvPr/>
        </p:nvSpPr>
        <p:spPr>
          <a:xfrm>
            <a:off x="1260884" y="4556886"/>
            <a:ext cx="572606" cy="4023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B</a:t>
            </a: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p:txBody>
      </p:sp>
      <p:sp>
        <p:nvSpPr>
          <p:cNvPr id="10" name="Arrow: Pentagon 9">
            <a:extLst>
              <a:ext uri="{FF2B5EF4-FFF2-40B4-BE49-F238E27FC236}">
                <a16:creationId xmlns:a16="http://schemas.microsoft.com/office/drawing/2014/main" id="{392C0889-E6CC-4C4B-BE12-FA92C2ABEF1E}"/>
              </a:ext>
            </a:extLst>
          </p:cNvPr>
          <p:cNvSpPr/>
          <p:nvPr/>
        </p:nvSpPr>
        <p:spPr>
          <a:xfrm>
            <a:off x="143363" y="3986079"/>
            <a:ext cx="1066800" cy="402368"/>
          </a:xfrm>
          <a:prstGeom prst="homePlate">
            <a:avLst/>
          </a:prstGeom>
        </p:spPr>
        <p:style>
          <a:lnRef idx="1">
            <a:schemeClr val="accent6"/>
          </a:lnRef>
          <a:fillRef idx="2">
            <a:schemeClr val="accent6"/>
          </a:fillRef>
          <a:effectRef idx="1">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Optimal</a:t>
            </a:r>
          </a:p>
        </p:txBody>
      </p:sp>
      <p:sp>
        <p:nvSpPr>
          <p:cNvPr id="13" name="TextBox 12">
            <a:extLst>
              <a:ext uri="{FF2B5EF4-FFF2-40B4-BE49-F238E27FC236}">
                <a16:creationId xmlns:a16="http://schemas.microsoft.com/office/drawing/2014/main" id="{4702E259-533C-49B6-A6C3-7D86400D0083}"/>
              </a:ext>
            </a:extLst>
          </p:cNvPr>
          <p:cNvSpPr txBox="1"/>
          <p:nvPr/>
        </p:nvSpPr>
        <p:spPr>
          <a:xfrm>
            <a:off x="795113" y="6299768"/>
            <a:ext cx="10412618" cy="369332"/>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Next step for both options: Student will need to choose a presentation view.</a:t>
            </a:r>
          </a:p>
        </p:txBody>
      </p:sp>
      <p:sp>
        <p:nvSpPr>
          <p:cNvPr id="14" name="TextBox 13">
            <a:extLst>
              <a:ext uri="{FF2B5EF4-FFF2-40B4-BE49-F238E27FC236}">
                <a16:creationId xmlns:a16="http://schemas.microsoft.com/office/drawing/2014/main" id="{9B16ADBB-563B-444C-A410-3A9A3E3E15F6}"/>
              </a:ext>
            </a:extLst>
          </p:cNvPr>
          <p:cNvSpPr txBox="1"/>
          <p:nvPr/>
        </p:nvSpPr>
        <p:spPr>
          <a:xfrm>
            <a:off x="795113" y="5356734"/>
            <a:ext cx="10412618" cy="646331"/>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defPPr>
              <a:defRPr lang="en-US"/>
            </a:defPPr>
            <a:lvl1pPr>
              <a:defRPr>
                <a:solidFill>
                  <a:srgbClr val="FF0000"/>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C00000"/>
                </a:solidFill>
                <a:effectLst/>
                <a:uLnTx/>
                <a:uFillTx/>
                <a:latin typeface="Calibri" panose="020F0502020204030204"/>
                <a:ea typeface="+mn-ea"/>
                <a:cs typeface="+mn-cs"/>
              </a:rPr>
              <a:t>Explanation: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rgbClr val="C00000"/>
                </a:solidFill>
                <a:latin typeface="Calibri" panose="020F0502020204030204"/>
              </a:rPr>
              <a:t>A clean font will make a stronger impact and be easier to understand.</a:t>
            </a:r>
            <a:endParaRPr kumimoji="0" lang="en-US" sz="1800" b="0" i="0" u="none" strike="noStrike" kern="1200" cap="none" spc="0" normalizeH="0" baseline="0" noProof="0" dirty="0">
              <a:ln>
                <a:noFill/>
              </a:ln>
              <a:solidFill>
                <a:srgbClr val="C00000"/>
              </a:solidFill>
              <a:effectLst/>
              <a:uLnTx/>
              <a:uFillTx/>
              <a:latin typeface="Calibri" panose="020F0502020204030204"/>
              <a:ea typeface="+mn-ea"/>
              <a:cs typeface="+mn-cs"/>
            </a:endParaRPr>
          </a:p>
        </p:txBody>
      </p:sp>
      <p:sp>
        <p:nvSpPr>
          <p:cNvPr id="15" name="TextBox 14">
            <a:extLst>
              <a:ext uri="{FF2B5EF4-FFF2-40B4-BE49-F238E27FC236}">
                <a16:creationId xmlns:a16="http://schemas.microsoft.com/office/drawing/2014/main" id="{C47B751E-E681-457D-B09F-9D4B617F679B}"/>
              </a:ext>
            </a:extLst>
          </p:cNvPr>
          <p:cNvSpPr txBox="1"/>
          <p:nvPr/>
        </p:nvSpPr>
        <p:spPr>
          <a:xfrm>
            <a:off x="795111" y="577780"/>
            <a:ext cx="10412617" cy="369332"/>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Previous step: On this track, student has made good decisions on the data used and how to present it.</a:t>
            </a:r>
          </a:p>
        </p:txBody>
      </p:sp>
    </p:spTree>
    <p:custDataLst>
      <p:tags r:id="rId1"/>
    </p:custDataLst>
    <p:extLst>
      <p:ext uri="{BB962C8B-B14F-4D97-AF65-F5344CB8AC3E}">
        <p14:creationId xmlns:p14="http://schemas.microsoft.com/office/powerpoint/2010/main" val="5450917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
          <p:cNvSpPr txBox="1">
            <a:spLocks/>
          </p:cNvSpPr>
          <p:nvPr/>
        </p:nvSpPr>
        <p:spPr>
          <a:xfrm>
            <a:off x="795114" y="911662"/>
            <a:ext cx="10412618" cy="3687746"/>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2"/>
                </a:solidFill>
                <a:ea typeface="Calibri"/>
                <a:cs typeface="Calibri"/>
              </a:rPr>
              <a:t>You have some interesting looking charts, and you’ve collected some comments from your co-workers expressing their support of the proposed alternate work schedule. You also have a meeting scheduled with your boss and a couple of other department managers in the morning. As she headed out the door for an appointment, your boss asked you to send her a copy of your presentation this afternoon before you leave work so she can look it over at home this evening. </a:t>
            </a:r>
          </a:p>
          <a:p>
            <a:pPr marL="0" indent="0">
              <a:spcBef>
                <a:spcPts val="0"/>
              </a:spcBef>
              <a:buNone/>
              <a:defRPr/>
            </a:pPr>
            <a:endParaRPr lang="en-US" sz="2050" dirty="0">
              <a:solidFill>
                <a:schemeClr val="tx2"/>
              </a:solidFill>
              <a:cs typeface="Calibri"/>
            </a:endParaRPr>
          </a:p>
          <a:p>
            <a:pPr marL="0" indent="0">
              <a:spcBef>
                <a:spcPts val="0"/>
              </a:spcBef>
              <a:buNone/>
              <a:defRPr/>
            </a:pPr>
            <a:r>
              <a:rPr lang="en-US" sz="2050" dirty="0">
                <a:solidFill>
                  <a:schemeClr val="tx2"/>
                </a:solidFill>
                <a:cs typeface="Calibri"/>
              </a:rPr>
              <a:t>Now you’re pulling everything together in your PowerPoint presentation, and you have to make some design decisions. You want to make a strong impact without the slides looking too busy. What kind of font do you think will make the best impression?</a:t>
            </a:r>
          </a:p>
          <a:p>
            <a:pPr marL="0" indent="0">
              <a:spcBef>
                <a:spcPts val="0"/>
              </a:spcBef>
              <a:buNone/>
              <a:defRPr/>
            </a:pPr>
            <a:endParaRPr lang="en-US" dirty="0">
              <a:solidFill>
                <a:schemeClr val="tx2"/>
              </a:solidFill>
            </a:endParaRPr>
          </a:p>
        </p:txBody>
      </p:sp>
      <p:sp>
        <p:nvSpPr>
          <p:cNvPr id="12" name="Text Placeholder 1"/>
          <p:cNvSpPr txBox="1">
            <a:spLocks/>
          </p:cNvSpPr>
          <p:nvPr/>
        </p:nvSpPr>
        <p:spPr>
          <a:xfrm>
            <a:off x="1618318" y="3987476"/>
            <a:ext cx="9468111" cy="119770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2"/>
                </a:solidFill>
                <a:ea typeface="Calibri"/>
                <a:cs typeface="Calibri"/>
                <a:hlinkClick r:id="rId4" action="ppaction://hlinksldjump"/>
              </a:rPr>
              <a:t>A clean font, such as Calibri </a:t>
            </a:r>
            <a:r>
              <a:rPr lang="en-US" sz="2050" b="1" dirty="0">
                <a:solidFill>
                  <a:schemeClr val="tx2"/>
                </a:solidFill>
                <a:ea typeface="Calibri"/>
                <a:cs typeface="Calibri"/>
                <a:hlinkClick r:id="rId4" action="ppaction://hlinksldjump"/>
              </a:rPr>
              <a:t>[Level6_Decision2_OptionA]</a:t>
            </a:r>
            <a:endParaRPr lang="en-US" sz="2050" b="1" dirty="0">
              <a:solidFill>
                <a:schemeClr val="tx2"/>
              </a:solidFill>
              <a:ea typeface="Calibri"/>
              <a:cs typeface="Calibri"/>
            </a:endParaRPr>
          </a:p>
          <a:p>
            <a:pPr marL="0" indent="0">
              <a:spcBef>
                <a:spcPts val="0"/>
              </a:spcBef>
              <a:buNone/>
              <a:defRPr/>
            </a:pPr>
            <a:endParaRPr lang="en-US" sz="2050" dirty="0">
              <a:solidFill>
                <a:srgbClr val="AD7318"/>
              </a:solidFill>
              <a:ea typeface="Calibri"/>
              <a:cs typeface="Calibri"/>
            </a:endParaRPr>
          </a:p>
          <a:p>
            <a:pPr marL="0" indent="0">
              <a:spcBef>
                <a:spcPts val="0"/>
              </a:spcBef>
              <a:buNone/>
              <a:defRPr/>
            </a:pPr>
            <a:r>
              <a:rPr lang="en-US" sz="2050" dirty="0">
                <a:solidFill>
                  <a:schemeClr val="tx2"/>
                </a:solidFill>
                <a:ea typeface="Calibri"/>
                <a:cs typeface="Calibri"/>
                <a:hlinkClick r:id="rId4" action="ppaction://hlinksldjump"/>
              </a:rPr>
              <a:t>A fancy font, such as Curlz </a:t>
            </a:r>
            <a:r>
              <a:rPr lang="en-US" sz="2050" b="1" dirty="0">
                <a:solidFill>
                  <a:schemeClr val="tx2"/>
                </a:solidFill>
                <a:ea typeface="Calibri"/>
                <a:cs typeface="Calibri"/>
                <a:hlinkClick r:id="rId4" action="ppaction://hlinksldjump"/>
              </a:rPr>
              <a:t>[Level6_Decision2_OptionB]</a:t>
            </a:r>
            <a:endParaRPr lang="en-US" sz="2050" b="1" dirty="0">
              <a:solidFill>
                <a:schemeClr val="tx2"/>
              </a:solidFill>
              <a:ea typeface="Calibri"/>
              <a:cs typeface="Calibri"/>
            </a:endParaRPr>
          </a:p>
          <a:p>
            <a:pPr marL="0" indent="0">
              <a:spcBef>
                <a:spcPts val="0"/>
              </a:spcBef>
              <a:buNone/>
              <a:defRPr/>
            </a:pPr>
            <a:endParaRPr lang="en-US" sz="2050" dirty="0">
              <a:solidFill>
                <a:schemeClr val="tx2"/>
              </a:solidFill>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p:txBody>
      </p:sp>
      <p:pic>
        <p:nvPicPr>
          <p:cNvPr id="7" name="Graphic 6" descr="Volume">
            <a:extLst>
              <a:ext uri="{FF2B5EF4-FFF2-40B4-BE49-F238E27FC236}">
                <a16:creationId xmlns:a16="http://schemas.microsoft.com/office/drawing/2014/main" id="{98858AF6-4306-4AB2-9A31-F2CF2E76360E}"/>
              </a:ext>
            </a:extLst>
          </p:cNvPr>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43363" y="510636"/>
            <a:ext cx="430491" cy="356827"/>
          </a:xfrm>
          <a:prstGeom prst="rect">
            <a:avLst/>
          </a:prstGeom>
        </p:spPr>
      </p:pic>
      <p:sp>
        <p:nvSpPr>
          <p:cNvPr id="2" name="Title 1">
            <a:extLst>
              <a:ext uri="{FF2B5EF4-FFF2-40B4-BE49-F238E27FC236}">
                <a16:creationId xmlns:a16="http://schemas.microsoft.com/office/drawing/2014/main" id="{AAE4B061-1973-4598-99F6-EBDFEBA643E0}"/>
              </a:ext>
            </a:extLst>
          </p:cNvPr>
          <p:cNvSpPr>
            <a:spLocks noGrp="1"/>
          </p:cNvSpPr>
          <p:nvPr>
            <p:ph type="title"/>
          </p:nvPr>
        </p:nvSpPr>
        <p:spPr>
          <a:xfrm>
            <a:off x="795113" y="5074"/>
            <a:ext cx="10412618" cy="505562"/>
          </a:xfrm>
        </p:spPr>
        <p:txBody>
          <a:bodyPr>
            <a:normAutofit fontScale="90000"/>
          </a:bodyPr>
          <a:lstStyle/>
          <a:p>
            <a:r>
              <a:rPr lang="en-US" dirty="0"/>
              <a:t>Level6_Decision2</a:t>
            </a:r>
          </a:p>
        </p:txBody>
      </p:sp>
      <p:sp>
        <p:nvSpPr>
          <p:cNvPr id="8" name="Text Placeholder 3">
            <a:extLst>
              <a:ext uri="{FF2B5EF4-FFF2-40B4-BE49-F238E27FC236}">
                <a16:creationId xmlns:a16="http://schemas.microsoft.com/office/drawing/2014/main" id="{B5CE21A4-EFBD-4B90-ACD8-0159F888003A}"/>
              </a:ext>
            </a:extLst>
          </p:cNvPr>
          <p:cNvSpPr txBox="1">
            <a:spLocks/>
          </p:cNvSpPr>
          <p:nvPr/>
        </p:nvSpPr>
        <p:spPr>
          <a:xfrm>
            <a:off x="1245906" y="3975002"/>
            <a:ext cx="553499" cy="531764"/>
          </a:xfrm>
          <a:prstGeom prst="rect">
            <a:avLst/>
          </a:prstGeom>
        </p:spPr>
        <p:txBody>
          <a:bodyPr lIns="121891" tIns="60945" rIns="121891" bIns="60945">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A</a:t>
            </a:r>
          </a:p>
        </p:txBody>
      </p:sp>
      <p:sp>
        <p:nvSpPr>
          <p:cNvPr id="9" name="Text Placeholder 3">
            <a:extLst>
              <a:ext uri="{FF2B5EF4-FFF2-40B4-BE49-F238E27FC236}">
                <a16:creationId xmlns:a16="http://schemas.microsoft.com/office/drawing/2014/main" id="{7BA7EB68-7706-476E-A698-BCA0BD7BA336}"/>
              </a:ext>
            </a:extLst>
          </p:cNvPr>
          <p:cNvSpPr txBox="1">
            <a:spLocks/>
          </p:cNvSpPr>
          <p:nvPr/>
        </p:nvSpPr>
        <p:spPr>
          <a:xfrm>
            <a:off x="1245907" y="4609214"/>
            <a:ext cx="566248" cy="4023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B</a:t>
            </a: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p:txBody>
      </p:sp>
      <p:sp>
        <p:nvSpPr>
          <p:cNvPr id="10" name="Arrow: Pentagon 9">
            <a:extLst>
              <a:ext uri="{FF2B5EF4-FFF2-40B4-BE49-F238E27FC236}">
                <a16:creationId xmlns:a16="http://schemas.microsoft.com/office/drawing/2014/main" id="{4DF8081A-8BAC-4D95-962F-F0C20EFFE610}"/>
              </a:ext>
            </a:extLst>
          </p:cNvPr>
          <p:cNvSpPr/>
          <p:nvPr/>
        </p:nvSpPr>
        <p:spPr>
          <a:xfrm>
            <a:off x="140411" y="4017047"/>
            <a:ext cx="1066800" cy="402368"/>
          </a:xfrm>
          <a:prstGeom prst="homePlate">
            <a:avLst/>
          </a:prstGeom>
        </p:spPr>
        <p:style>
          <a:lnRef idx="1">
            <a:schemeClr val="accent6"/>
          </a:lnRef>
          <a:fillRef idx="2">
            <a:schemeClr val="accent6"/>
          </a:fillRef>
          <a:effectRef idx="1">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Optimal</a:t>
            </a:r>
          </a:p>
        </p:txBody>
      </p:sp>
      <p:sp>
        <p:nvSpPr>
          <p:cNvPr id="13" name="TextBox 12">
            <a:extLst>
              <a:ext uri="{FF2B5EF4-FFF2-40B4-BE49-F238E27FC236}">
                <a16:creationId xmlns:a16="http://schemas.microsoft.com/office/drawing/2014/main" id="{0FAF22C0-2C89-430E-AA26-EE96D78BC358}"/>
              </a:ext>
            </a:extLst>
          </p:cNvPr>
          <p:cNvSpPr txBox="1"/>
          <p:nvPr/>
        </p:nvSpPr>
        <p:spPr>
          <a:xfrm>
            <a:off x="795113" y="6351490"/>
            <a:ext cx="10412618" cy="369332"/>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Next step for both options: Student will need to choose a presentation view.</a:t>
            </a:r>
          </a:p>
        </p:txBody>
      </p:sp>
      <p:sp>
        <p:nvSpPr>
          <p:cNvPr id="14" name="TextBox 13">
            <a:extLst>
              <a:ext uri="{FF2B5EF4-FFF2-40B4-BE49-F238E27FC236}">
                <a16:creationId xmlns:a16="http://schemas.microsoft.com/office/drawing/2014/main" id="{005F8FA0-9968-43D5-B3E2-711A8B8AFE6B}"/>
              </a:ext>
            </a:extLst>
          </p:cNvPr>
          <p:cNvSpPr txBox="1"/>
          <p:nvPr/>
        </p:nvSpPr>
        <p:spPr>
          <a:xfrm>
            <a:off x="795113" y="5399124"/>
            <a:ext cx="10412618" cy="646331"/>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defPPr>
              <a:defRPr lang="en-US"/>
            </a:defPPr>
            <a:lvl1pPr>
              <a:defRPr>
                <a:solidFill>
                  <a:srgbClr val="FF0000"/>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C00000"/>
                </a:solidFill>
                <a:effectLst/>
                <a:uLnTx/>
                <a:uFillTx/>
                <a:latin typeface="Calibri" panose="020F0502020204030204"/>
                <a:ea typeface="+mn-ea"/>
                <a:cs typeface="+mn-cs"/>
              </a:rPr>
              <a:t>Explanation:</a:t>
            </a:r>
          </a:p>
          <a:p>
            <a:pPr lvl="0">
              <a:defRPr/>
            </a:pPr>
            <a:r>
              <a:rPr lang="en-US" dirty="0">
                <a:solidFill>
                  <a:srgbClr val="C00000"/>
                </a:solidFill>
              </a:rPr>
              <a:t>A clean font will make a stronger impact and be easier to understand.</a:t>
            </a:r>
            <a:endParaRPr kumimoji="0" lang="en-US" sz="1800" b="0" i="0" u="none" strike="noStrike" kern="1200" cap="none" spc="0" normalizeH="0" baseline="0" noProof="0" dirty="0">
              <a:ln>
                <a:noFill/>
              </a:ln>
              <a:solidFill>
                <a:srgbClr val="C00000"/>
              </a:solidFill>
              <a:effectLst/>
              <a:uLnTx/>
              <a:uFillTx/>
              <a:latin typeface="Calibri" panose="020F0502020204030204"/>
              <a:ea typeface="+mn-ea"/>
              <a:cs typeface="+mn-cs"/>
            </a:endParaRPr>
          </a:p>
        </p:txBody>
      </p:sp>
      <p:sp>
        <p:nvSpPr>
          <p:cNvPr id="15" name="TextBox 14">
            <a:extLst>
              <a:ext uri="{FF2B5EF4-FFF2-40B4-BE49-F238E27FC236}">
                <a16:creationId xmlns:a16="http://schemas.microsoft.com/office/drawing/2014/main" id="{85A8B2E4-EDE5-47B9-AFD4-6F92915E8166}"/>
              </a:ext>
            </a:extLst>
          </p:cNvPr>
          <p:cNvSpPr txBox="1"/>
          <p:nvPr/>
        </p:nvSpPr>
        <p:spPr>
          <a:xfrm>
            <a:off x="795111" y="577780"/>
            <a:ext cx="10412617" cy="369332"/>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lvl="0">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Previous step: </a:t>
            </a:r>
            <a:r>
              <a:rPr lang="en-US" dirty="0">
                <a:solidFill>
                  <a:prstClr val="black"/>
                </a:solidFill>
              </a:rPr>
              <a:t>On this track, student has not made good decisions on the data used and how to present it.</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ustDataLst>
      <p:tags r:id="rId1"/>
    </p:custDataLst>
    <p:extLst>
      <p:ext uri="{BB962C8B-B14F-4D97-AF65-F5344CB8AC3E}">
        <p14:creationId xmlns:p14="http://schemas.microsoft.com/office/powerpoint/2010/main" val="36992527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
          <p:cNvSpPr txBox="1">
            <a:spLocks/>
          </p:cNvSpPr>
          <p:nvPr/>
        </p:nvSpPr>
        <p:spPr>
          <a:xfrm>
            <a:off x="795114" y="911662"/>
            <a:ext cx="10412618" cy="3687746"/>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2"/>
                </a:solidFill>
                <a:ea typeface="Calibri"/>
                <a:cs typeface="Calibri"/>
              </a:rPr>
              <a:t>It’s almost 5 pm, and you’ve got everything added to your presentation: all the charts and graphics, all the quotes from your co-workers, and all your notes about how your idea will help the company. You decide to proof the presentation one more time before sending it along to your boss. </a:t>
            </a: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r>
              <a:rPr lang="en-US" sz="2050" dirty="0">
                <a:solidFill>
                  <a:schemeClr val="tx2"/>
                </a:solidFill>
                <a:ea typeface="Calibri"/>
                <a:cs typeface="Calibri"/>
              </a:rPr>
              <a:t>In PowerPoint, which view should you use to get the best look at the details of your slides so you can catch even the smallest errors?</a:t>
            </a:r>
          </a:p>
          <a:p>
            <a:pPr marL="0" indent="0">
              <a:spcBef>
                <a:spcPts val="0"/>
              </a:spcBef>
              <a:buNone/>
              <a:defRPr/>
            </a:pPr>
            <a:endParaRPr lang="en-US" sz="2050" dirty="0">
              <a:solidFill>
                <a:schemeClr val="tx2"/>
              </a:solidFill>
              <a:cs typeface="Calibri"/>
            </a:endParaRPr>
          </a:p>
          <a:p>
            <a:pPr marL="0" indent="0">
              <a:spcBef>
                <a:spcPts val="0"/>
              </a:spcBef>
              <a:buNone/>
              <a:defRPr/>
            </a:pPr>
            <a:endParaRPr lang="en-US" dirty="0">
              <a:solidFill>
                <a:schemeClr val="tx2"/>
              </a:solidFill>
            </a:endParaRPr>
          </a:p>
        </p:txBody>
      </p:sp>
      <p:sp>
        <p:nvSpPr>
          <p:cNvPr id="12" name="Text Placeholder 1"/>
          <p:cNvSpPr txBox="1">
            <a:spLocks/>
          </p:cNvSpPr>
          <p:nvPr/>
        </p:nvSpPr>
        <p:spPr>
          <a:xfrm>
            <a:off x="1656728" y="3493901"/>
            <a:ext cx="9383050" cy="1068184"/>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2"/>
                </a:solidFill>
                <a:ea typeface="Calibri"/>
                <a:cs typeface="Calibri"/>
                <a:hlinkClick r:id="rId4" action="ppaction://hlinksldjump"/>
              </a:rPr>
              <a:t>Slide Show view </a:t>
            </a:r>
            <a:r>
              <a:rPr lang="en-US" sz="2050" b="1" dirty="0">
                <a:solidFill>
                  <a:schemeClr val="tx2"/>
                </a:solidFill>
                <a:ea typeface="Calibri"/>
                <a:cs typeface="Calibri"/>
                <a:hlinkClick r:id="rId4" action="ppaction://hlinksldjump"/>
              </a:rPr>
              <a:t>[Level7_Decision1_OptionA]</a:t>
            </a:r>
            <a:endParaRPr lang="en-US" sz="2050" b="1" dirty="0">
              <a:solidFill>
                <a:schemeClr val="tx2"/>
              </a:solidFill>
              <a:ea typeface="Calibri"/>
              <a:cs typeface="Calibri"/>
            </a:endParaRPr>
          </a:p>
          <a:p>
            <a:pPr marL="0" indent="0">
              <a:spcBef>
                <a:spcPts val="0"/>
              </a:spcBef>
              <a:buNone/>
              <a:defRPr/>
            </a:pPr>
            <a:endParaRPr lang="en-US" sz="2050" dirty="0">
              <a:solidFill>
                <a:srgbClr val="AD7318"/>
              </a:solidFill>
              <a:ea typeface="Calibri"/>
              <a:cs typeface="Calibri"/>
            </a:endParaRPr>
          </a:p>
          <a:p>
            <a:pPr marL="0" indent="0">
              <a:spcBef>
                <a:spcPts val="0"/>
              </a:spcBef>
              <a:buNone/>
              <a:defRPr/>
            </a:pPr>
            <a:r>
              <a:rPr lang="en-US" sz="2050" dirty="0">
                <a:solidFill>
                  <a:schemeClr val="tx2"/>
                </a:solidFill>
                <a:ea typeface="Calibri"/>
                <a:cs typeface="Calibri"/>
                <a:hlinkClick r:id="rId5" action="ppaction://hlinksldjump"/>
              </a:rPr>
              <a:t>Slide Sorter view </a:t>
            </a:r>
            <a:r>
              <a:rPr lang="en-US" sz="2050" b="1" dirty="0">
                <a:solidFill>
                  <a:schemeClr val="tx2"/>
                </a:solidFill>
                <a:ea typeface="Calibri"/>
                <a:cs typeface="Calibri"/>
                <a:hlinkClick r:id="rId5" action="ppaction://hlinksldjump"/>
              </a:rPr>
              <a:t>[Level7_Decision1_OptionB]</a:t>
            </a:r>
            <a:endParaRPr lang="en-US" sz="2050" b="1" dirty="0">
              <a:solidFill>
                <a:schemeClr val="tx2"/>
              </a:solidFill>
              <a:ea typeface="Calibri"/>
              <a:cs typeface="Calibri"/>
            </a:endParaRPr>
          </a:p>
          <a:p>
            <a:pPr marL="0" indent="0">
              <a:spcBef>
                <a:spcPts val="0"/>
              </a:spcBef>
              <a:buNone/>
              <a:defRPr/>
            </a:pPr>
            <a:endParaRPr lang="en-US" sz="2050" dirty="0">
              <a:solidFill>
                <a:schemeClr val="tx2"/>
              </a:solidFill>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p:txBody>
      </p:sp>
      <p:pic>
        <p:nvPicPr>
          <p:cNvPr id="7" name="Graphic 6" descr="Volume">
            <a:extLst>
              <a:ext uri="{FF2B5EF4-FFF2-40B4-BE49-F238E27FC236}">
                <a16:creationId xmlns:a16="http://schemas.microsoft.com/office/drawing/2014/main" id="{98858AF6-4306-4AB2-9A31-F2CF2E76360E}"/>
              </a:ext>
            </a:extLst>
          </p:cNvP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43363" y="510636"/>
            <a:ext cx="430491" cy="356827"/>
          </a:xfrm>
          <a:prstGeom prst="rect">
            <a:avLst/>
          </a:prstGeom>
        </p:spPr>
      </p:pic>
      <p:sp>
        <p:nvSpPr>
          <p:cNvPr id="2" name="Title 1">
            <a:extLst>
              <a:ext uri="{FF2B5EF4-FFF2-40B4-BE49-F238E27FC236}">
                <a16:creationId xmlns:a16="http://schemas.microsoft.com/office/drawing/2014/main" id="{AAE4B061-1973-4598-99F6-EBDFEBA643E0}"/>
              </a:ext>
            </a:extLst>
          </p:cNvPr>
          <p:cNvSpPr>
            <a:spLocks noGrp="1"/>
          </p:cNvSpPr>
          <p:nvPr>
            <p:ph type="title"/>
          </p:nvPr>
        </p:nvSpPr>
        <p:spPr>
          <a:xfrm>
            <a:off x="795113" y="5074"/>
            <a:ext cx="10412618" cy="505562"/>
          </a:xfrm>
        </p:spPr>
        <p:txBody>
          <a:bodyPr>
            <a:normAutofit fontScale="90000"/>
          </a:bodyPr>
          <a:lstStyle/>
          <a:p>
            <a:r>
              <a:rPr lang="en-US" dirty="0"/>
              <a:t>Level7_Decision1</a:t>
            </a:r>
          </a:p>
        </p:txBody>
      </p:sp>
      <p:sp>
        <p:nvSpPr>
          <p:cNvPr id="8" name="Text Placeholder 3">
            <a:extLst>
              <a:ext uri="{FF2B5EF4-FFF2-40B4-BE49-F238E27FC236}">
                <a16:creationId xmlns:a16="http://schemas.microsoft.com/office/drawing/2014/main" id="{B5CE21A4-EFBD-4B90-ACD8-0159F888003A}"/>
              </a:ext>
            </a:extLst>
          </p:cNvPr>
          <p:cNvSpPr txBox="1">
            <a:spLocks/>
          </p:cNvSpPr>
          <p:nvPr/>
        </p:nvSpPr>
        <p:spPr>
          <a:xfrm>
            <a:off x="1284316" y="3492857"/>
            <a:ext cx="548526" cy="531764"/>
          </a:xfrm>
          <a:prstGeom prst="rect">
            <a:avLst/>
          </a:prstGeom>
        </p:spPr>
        <p:txBody>
          <a:bodyPr lIns="121891" tIns="60945" rIns="121891" bIns="60945">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A</a:t>
            </a:r>
          </a:p>
        </p:txBody>
      </p:sp>
      <p:sp>
        <p:nvSpPr>
          <p:cNvPr id="9" name="Text Placeholder 3">
            <a:extLst>
              <a:ext uri="{FF2B5EF4-FFF2-40B4-BE49-F238E27FC236}">
                <a16:creationId xmlns:a16="http://schemas.microsoft.com/office/drawing/2014/main" id="{7BA7EB68-7706-476E-A698-BCA0BD7BA336}"/>
              </a:ext>
            </a:extLst>
          </p:cNvPr>
          <p:cNvSpPr txBox="1">
            <a:spLocks/>
          </p:cNvSpPr>
          <p:nvPr/>
        </p:nvSpPr>
        <p:spPr>
          <a:xfrm>
            <a:off x="1284316" y="4140593"/>
            <a:ext cx="561161" cy="4023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B</a:t>
            </a: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p:txBody>
      </p:sp>
      <p:sp>
        <p:nvSpPr>
          <p:cNvPr id="10" name="Arrow: Pentagon 9">
            <a:extLst>
              <a:ext uri="{FF2B5EF4-FFF2-40B4-BE49-F238E27FC236}">
                <a16:creationId xmlns:a16="http://schemas.microsoft.com/office/drawing/2014/main" id="{37BA4DED-08F0-4550-915A-4BD594E00667}"/>
              </a:ext>
            </a:extLst>
          </p:cNvPr>
          <p:cNvSpPr/>
          <p:nvPr/>
        </p:nvSpPr>
        <p:spPr>
          <a:xfrm>
            <a:off x="93760" y="3492857"/>
            <a:ext cx="1066800" cy="402368"/>
          </a:xfrm>
          <a:prstGeom prst="homePlate">
            <a:avLst/>
          </a:prstGeom>
        </p:spPr>
        <p:style>
          <a:lnRef idx="1">
            <a:schemeClr val="accent6"/>
          </a:lnRef>
          <a:fillRef idx="2">
            <a:schemeClr val="accent6"/>
          </a:fillRef>
          <a:effectRef idx="1">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Optimal</a:t>
            </a:r>
          </a:p>
        </p:txBody>
      </p:sp>
      <p:sp>
        <p:nvSpPr>
          <p:cNvPr id="13" name="TextBox 12">
            <a:extLst>
              <a:ext uri="{FF2B5EF4-FFF2-40B4-BE49-F238E27FC236}">
                <a16:creationId xmlns:a16="http://schemas.microsoft.com/office/drawing/2014/main" id="{3FB8389B-2B13-4CE3-A62D-00D39AA081AB}"/>
              </a:ext>
            </a:extLst>
          </p:cNvPr>
          <p:cNvSpPr txBox="1"/>
          <p:nvPr/>
        </p:nvSpPr>
        <p:spPr>
          <a:xfrm>
            <a:off x="795113" y="6166015"/>
            <a:ext cx="10412618" cy="369332"/>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Next step for both options: Student will need to choose how to share the presentation file.</a:t>
            </a:r>
          </a:p>
        </p:txBody>
      </p:sp>
      <p:sp>
        <p:nvSpPr>
          <p:cNvPr id="14" name="TextBox 13">
            <a:extLst>
              <a:ext uri="{FF2B5EF4-FFF2-40B4-BE49-F238E27FC236}">
                <a16:creationId xmlns:a16="http://schemas.microsoft.com/office/drawing/2014/main" id="{F4381F70-117D-4EAC-89DA-0A054037A057}"/>
              </a:ext>
            </a:extLst>
          </p:cNvPr>
          <p:cNvSpPr txBox="1"/>
          <p:nvPr/>
        </p:nvSpPr>
        <p:spPr>
          <a:xfrm>
            <a:off x="795113" y="5092350"/>
            <a:ext cx="10412618" cy="923330"/>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defPPr>
              <a:defRPr lang="en-US"/>
            </a:defPPr>
            <a:lvl1pPr>
              <a:defRPr>
                <a:solidFill>
                  <a:srgbClr val="FF0000"/>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C00000"/>
                </a:solidFill>
                <a:effectLst/>
                <a:uLnTx/>
                <a:uFillTx/>
                <a:latin typeface="Calibri" panose="020F0502020204030204"/>
                <a:ea typeface="+mn-ea"/>
                <a:cs typeface="+mn-cs"/>
              </a:rPr>
              <a:t>Explanation: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rgbClr val="C00000"/>
                </a:solidFill>
                <a:latin typeface="Calibri" panose="020F0502020204030204"/>
              </a:rPr>
              <a:t>The Slide Show view will show each slide one at a time on the whole screen, which makes it easier to see details, check layouts, and watch for errors.</a:t>
            </a:r>
            <a:endParaRPr kumimoji="0" lang="en-US" sz="1800" b="0" i="0" u="none" strike="noStrike" kern="1200" cap="none" spc="0" normalizeH="0" baseline="0" noProof="0" dirty="0">
              <a:ln>
                <a:noFill/>
              </a:ln>
              <a:solidFill>
                <a:srgbClr val="C00000"/>
              </a:solidFill>
              <a:effectLst/>
              <a:uLnTx/>
              <a:uFillTx/>
              <a:latin typeface="Calibri" panose="020F0502020204030204"/>
              <a:ea typeface="+mn-ea"/>
              <a:cs typeface="+mn-cs"/>
            </a:endParaRPr>
          </a:p>
        </p:txBody>
      </p:sp>
      <p:sp>
        <p:nvSpPr>
          <p:cNvPr id="15" name="TextBox 14">
            <a:extLst>
              <a:ext uri="{FF2B5EF4-FFF2-40B4-BE49-F238E27FC236}">
                <a16:creationId xmlns:a16="http://schemas.microsoft.com/office/drawing/2014/main" id="{C6130800-6A29-465B-BBFE-6183FF4233FA}"/>
              </a:ext>
            </a:extLst>
          </p:cNvPr>
          <p:cNvSpPr txBox="1"/>
          <p:nvPr/>
        </p:nvSpPr>
        <p:spPr>
          <a:xfrm>
            <a:off x="795111" y="577780"/>
            <a:ext cx="10412617" cy="369332"/>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Previous step: Student chose to use a clean font.</a:t>
            </a:r>
          </a:p>
        </p:txBody>
      </p:sp>
    </p:spTree>
    <p:custDataLst>
      <p:tags r:id="rId1"/>
    </p:custDataLst>
    <p:extLst>
      <p:ext uri="{BB962C8B-B14F-4D97-AF65-F5344CB8AC3E}">
        <p14:creationId xmlns:p14="http://schemas.microsoft.com/office/powerpoint/2010/main" val="27600450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
          <p:cNvSpPr txBox="1">
            <a:spLocks/>
          </p:cNvSpPr>
          <p:nvPr/>
        </p:nvSpPr>
        <p:spPr>
          <a:xfrm>
            <a:off x="795114" y="911662"/>
            <a:ext cx="10412618" cy="3687746"/>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2"/>
                </a:solidFill>
                <a:ea typeface="Calibri"/>
                <a:cs typeface="Calibri"/>
              </a:rPr>
              <a:t>It’s almost 5 pm, and you’ve got everything added to your presentation: all the charts and graphics, all the quotes from your co-workers, and all your notes about how your idea will help the company. You decide to proof the presentation one more time before sending it along to your boss. </a:t>
            </a: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r>
              <a:rPr lang="en-US" sz="2050" dirty="0">
                <a:solidFill>
                  <a:schemeClr val="tx2"/>
                </a:solidFill>
                <a:ea typeface="Calibri"/>
                <a:cs typeface="Calibri"/>
              </a:rPr>
              <a:t>In PowerPoint, which view should you use to get the best look at the details of your slides so you can catch even the smallest errors?</a:t>
            </a:r>
          </a:p>
          <a:p>
            <a:pPr marL="0" indent="0">
              <a:spcBef>
                <a:spcPts val="0"/>
              </a:spcBef>
              <a:buNone/>
              <a:defRPr/>
            </a:pPr>
            <a:endParaRPr lang="en-US" sz="2050" dirty="0">
              <a:solidFill>
                <a:schemeClr val="tx2"/>
              </a:solidFill>
              <a:cs typeface="Calibri"/>
            </a:endParaRPr>
          </a:p>
          <a:p>
            <a:pPr marL="0" indent="0">
              <a:spcBef>
                <a:spcPts val="0"/>
              </a:spcBef>
              <a:buNone/>
              <a:defRPr/>
            </a:pPr>
            <a:endParaRPr lang="en-US" dirty="0">
              <a:solidFill>
                <a:schemeClr val="tx2"/>
              </a:solidFill>
            </a:endParaRPr>
          </a:p>
        </p:txBody>
      </p:sp>
      <p:sp>
        <p:nvSpPr>
          <p:cNvPr id="12" name="Text Placeholder 1"/>
          <p:cNvSpPr txBox="1">
            <a:spLocks/>
          </p:cNvSpPr>
          <p:nvPr/>
        </p:nvSpPr>
        <p:spPr>
          <a:xfrm>
            <a:off x="1553223" y="3586342"/>
            <a:ext cx="9542538" cy="1293570"/>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2"/>
                </a:solidFill>
                <a:ea typeface="Calibri"/>
                <a:cs typeface="Calibri"/>
                <a:hlinkClick r:id="rId4" action="ppaction://hlinksldjump"/>
              </a:rPr>
              <a:t>Slide Show view </a:t>
            </a:r>
            <a:r>
              <a:rPr lang="en-US" sz="2050" b="1" dirty="0">
                <a:solidFill>
                  <a:schemeClr val="tx2"/>
                </a:solidFill>
                <a:ea typeface="Calibri"/>
                <a:cs typeface="Calibri"/>
                <a:hlinkClick r:id="rId4" action="ppaction://hlinksldjump"/>
              </a:rPr>
              <a:t>[Level7_Decision2_OptionA]</a:t>
            </a:r>
            <a:endParaRPr lang="en-US" sz="2050" b="1" dirty="0">
              <a:solidFill>
                <a:schemeClr val="tx2"/>
              </a:solidFill>
              <a:ea typeface="Calibri"/>
              <a:cs typeface="Calibri"/>
            </a:endParaRPr>
          </a:p>
          <a:p>
            <a:pPr marL="0" indent="0">
              <a:spcBef>
                <a:spcPts val="0"/>
              </a:spcBef>
              <a:buNone/>
              <a:defRPr/>
            </a:pPr>
            <a:endParaRPr lang="en-US" sz="2050" dirty="0">
              <a:solidFill>
                <a:srgbClr val="AD7318"/>
              </a:solidFill>
              <a:ea typeface="Calibri"/>
              <a:cs typeface="Calibri"/>
            </a:endParaRPr>
          </a:p>
          <a:p>
            <a:pPr marL="0" indent="0">
              <a:spcBef>
                <a:spcPts val="0"/>
              </a:spcBef>
              <a:buNone/>
              <a:defRPr/>
            </a:pPr>
            <a:r>
              <a:rPr lang="en-US" sz="2050" dirty="0">
                <a:solidFill>
                  <a:schemeClr val="tx2"/>
                </a:solidFill>
                <a:ea typeface="Calibri"/>
                <a:cs typeface="Calibri"/>
                <a:hlinkClick r:id="rId4" action="ppaction://hlinksldjump"/>
              </a:rPr>
              <a:t>Slide Sorter view </a:t>
            </a:r>
            <a:r>
              <a:rPr lang="en-US" sz="2050" b="1" dirty="0">
                <a:solidFill>
                  <a:schemeClr val="tx2"/>
                </a:solidFill>
                <a:ea typeface="Calibri"/>
                <a:cs typeface="Calibri"/>
                <a:hlinkClick r:id="rId4" action="ppaction://hlinksldjump"/>
              </a:rPr>
              <a:t>[Level7_Decision2_OptionB]</a:t>
            </a:r>
            <a:endParaRPr lang="en-US" sz="2050" b="1" dirty="0">
              <a:solidFill>
                <a:schemeClr val="tx2"/>
              </a:solidFill>
              <a:ea typeface="Calibri"/>
              <a:cs typeface="Calibri"/>
            </a:endParaRPr>
          </a:p>
          <a:p>
            <a:pPr marL="0" indent="0">
              <a:spcBef>
                <a:spcPts val="0"/>
              </a:spcBef>
              <a:buNone/>
              <a:defRPr/>
            </a:pPr>
            <a:endParaRPr lang="en-US" sz="2050" dirty="0">
              <a:solidFill>
                <a:schemeClr val="tx2"/>
              </a:solidFill>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p:txBody>
      </p:sp>
      <p:pic>
        <p:nvPicPr>
          <p:cNvPr id="7" name="Graphic 6" descr="Volume">
            <a:extLst>
              <a:ext uri="{FF2B5EF4-FFF2-40B4-BE49-F238E27FC236}">
                <a16:creationId xmlns:a16="http://schemas.microsoft.com/office/drawing/2014/main" id="{98858AF6-4306-4AB2-9A31-F2CF2E76360E}"/>
              </a:ext>
            </a:extLst>
          </p:cNvPr>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43363" y="510636"/>
            <a:ext cx="430491" cy="356827"/>
          </a:xfrm>
          <a:prstGeom prst="rect">
            <a:avLst/>
          </a:prstGeom>
        </p:spPr>
      </p:pic>
      <p:sp>
        <p:nvSpPr>
          <p:cNvPr id="2" name="Title 1">
            <a:extLst>
              <a:ext uri="{FF2B5EF4-FFF2-40B4-BE49-F238E27FC236}">
                <a16:creationId xmlns:a16="http://schemas.microsoft.com/office/drawing/2014/main" id="{AAE4B061-1973-4598-99F6-EBDFEBA643E0}"/>
              </a:ext>
            </a:extLst>
          </p:cNvPr>
          <p:cNvSpPr>
            <a:spLocks noGrp="1"/>
          </p:cNvSpPr>
          <p:nvPr>
            <p:ph type="title"/>
          </p:nvPr>
        </p:nvSpPr>
        <p:spPr>
          <a:xfrm>
            <a:off x="795113" y="5074"/>
            <a:ext cx="10412618" cy="505562"/>
          </a:xfrm>
        </p:spPr>
        <p:txBody>
          <a:bodyPr>
            <a:normAutofit fontScale="90000"/>
          </a:bodyPr>
          <a:lstStyle/>
          <a:p>
            <a:r>
              <a:rPr lang="en-US" dirty="0"/>
              <a:t>Level7_Decision2</a:t>
            </a:r>
          </a:p>
        </p:txBody>
      </p:sp>
      <p:sp>
        <p:nvSpPr>
          <p:cNvPr id="8" name="Text Placeholder 3">
            <a:extLst>
              <a:ext uri="{FF2B5EF4-FFF2-40B4-BE49-F238E27FC236}">
                <a16:creationId xmlns:a16="http://schemas.microsoft.com/office/drawing/2014/main" id="{B5CE21A4-EFBD-4B90-ACD8-0159F888003A}"/>
              </a:ext>
            </a:extLst>
          </p:cNvPr>
          <p:cNvSpPr txBox="1">
            <a:spLocks/>
          </p:cNvSpPr>
          <p:nvPr/>
        </p:nvSpPr>
        <p:spPr>
          <a:xfrm>
            <a:off x="1180811" y="3585298"/>
            <a:ext cx="557850" cy="531764"/>
          </a:xfrm>
          <a:prstGeom prst="rect">
            <a:avLst/>
          </a:prstGeom>
        </p:spPr>
        <p:txBody>
          <a:bodyPr lIns="121891" tIns="60945" rIns="121891" bIns="60945">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A</a:t>
            </a:r>
          </a:p>
        </p:txBody>
      </p:sp>
      <p:sp>
        <p:nvSpPr>
          <p:cNvPr id="9" name="Text Placeholder 3">
            <a:extLst>
              <a:ext uri="{FF2B5EF4-FFF2-40B4-BE49-F238E27FC236}">
                <a16:creationId xmlns:a16="http://schemas.microsoft.com/office/drawing/2014/main" id="{7BA7EB68-7706-476E-A698-BCA0BD7BA336}"/>
              </a:ext>
            </a:extLst>
          </p:cNvPr>
          <p:cNvSpPr txBox="1">
            <a:spLocks/>
          </p:cNvSpPr>
          <p:nvPr/>
        </p:nvSpPr>
        <p:spPr>
          <a:xfrm>
            <a:off x="1180811" y="4223702"/>
            <a:ext cx="570699" cy="4023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B</a:t>
            </a: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p:txBody>
      </p:sp>
      <p:sp>
        <p:nvSpPr>
          <p:cNvPr id="10" name="Arrow: Pentagon 9">
            <a:extLst>
              <a:ext uri="{FF2B5EF4-FFF2-40B4-BE49-F238E27FC236}">
                <a16:creationId xmlns:a16="http://schemas.microsoft.com/office/drawing/2014/main" id="{5482AB2B-D231-4901-A867-AD2EE783A6A2}"/>
              </a:ext>
            </a:extLst>
          </p:cNvPr>
          <p:cNvSpPr/>
          <p:nvPr/>
        </p:nvSpPr>
        <p:spPr>
          <a:xfrm>
            <a:off x="114010" y="3585298"/>
            <a:ext cx="1066800" cy="402368"/>
          </a:xfrm>
          <a:prstGeom prst="homePlate">
            <a:avLst/>
          </a:prstGeom>
        </p:spPr>
        <p:style>
          <a:lnRef idx="1">
            <a:schemeClr val="accent6"/>
          </a:lnRef>
          <a:fillRef idx="2">
            <a:schemeClr val="accent6"/>
          </a:fillRef>
          <a:effectRef idx="1">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Optimal</a:t>
            </a:r>
          </a:p>
        </p:txBody>
      </p:sp>
      <p:sp>
        <p:nvSpPr>
          <p:cNvPr id="13" name="TextBox 12">
            <a:extLst>
              <a:ext uri="{FF2B5EF4-FFF2-40B4-BE49-F238E27FC236}">
                <a16:creationId xmlns:a16="http://schemas.microsoft.com/office/drawing/2014/main" id="{C0EF46BA-1EC4-42CE-AD8D-92F58EC60F71}"/>
              </a:ext>
            </a:extLst>
          </p:cNvPr>
          <p:cNvSpPr txBox="1"/>
          <p:nvPr/>
        </p:nvSpPr>
        <p:spPr>
          <a:xfrm>
            <a:off x="795113" y="6241522"/>
            <a:ext cx="10412618" cy="369332"/>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lvl="0">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Next step for both options: Student will need to </a:t>
            </a:r>
            <a:r>
              <a:rPr lang="en-US" dirty="0">
                <a:solidFill>
                  <a:prstClr val="black"/>
                </a:solidFill>
              </a:rPr>
              <a:t>choose how to share the presentation file.</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TextBox 13">
            <a:extLst>
              <a:ext uri="{FF2B5EF4-FFF2-40B4-BE49-F238E27FC236}">
                <a16:creationId xmlns:a16="http://schemas.microsoft.com/office/drawing/2014/main" id="{0ABDEB6B-8D45-4D2E-91C6-BA127C1BEC99}"/>
              </a:ext>
            </a:extLst>
          </p:cNvPr>
          <p:cNvSpPr txBox="1"/>
          <p:nvPr/>
        </p:nvSpPr>
        <p:spPr>
          <a:xfrm>
            <a:off x="795113" y="5167857"/>
            <a:ext cx="10412618" cy="923330"/>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defPPr>
              <a:defRPr lang="en-US"/>
            </a:defPPr>
            <a:lvl1pPr>
              <a:defRPr>
                <a:solidFill>
                  <a:srgbClr val="FF0000"/>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C00000"/>
                </a:solidFill>
                <a:effectLst/>
                <a:uLnTx/>
                <a:uFillTx/>
                <a:latin typeface="Calibri" panose="020F0502020204030204"/>
                <a:ea typeface="+mn-ea"/>
                <a:cs typeface="+mn-cs"/>
              </a:rPr>
              <a:t>Explanation:</a:t>
            </a:r>
          </a:p>
          <a:p>
            <a:pPr lvl="0">
              <a:defRPr/>
            </a:pPr>
            <a:r>
              <a:rPr lang="en-US" dirty="0">
                <a:solidFill>
                  <a:srgbClr val="C00000"/>
                </a:solidFill>
              </a:rPr>
              <a:t>The Slide Show view will show each slide one at a time on the whole screen, which makes it easier to see details, check layouts, and watch for errors.</a:t>
            </a:r>
            <a:endParaRPr kumimoji="0" lang="en-US" sz="1800" b="0" i="0" u="none" strike="noStrike" kern="1200" cap="none" spc="0" normalizeH="0" baseline="0" noProof="0" dirty="0">
              <a:ln>
                <a:noFill/>
              </a:ln>
              <a:solidFill>
                <a:srgbClr val="C00000"/>
              </a:solidFill>
              <a:effectLst/>
              <a:uLnTx/>
              <a:uFillTx/>
              <a:latin typeface="Calibri" panose="020F0502020204030204"/>
              <a:ea typeface="+mn-ea"/>
              <a:cs typeface="+mn-cs"/>
            </a:endParaRPr>
          </a:p>
        </p:txBody>
      </p:sp>
      <p:sp>
        <p:nvSpPr>
          <p:cNvPr id="15" name="TextBox 14">
            <a:extLst>
              <a:ext uri="{FF2B5EF4-FFF2-40B4-BE49-F238E27FC236}">
                <a16:creationId xmlns:a16="http://schemas.microsoft.com/office/drawing/2014/main" id="{21C4E8D8-3AE1-44B7-88BD-5C0A674631FE}"/>
              </a:ext>
            </a:extLst>
          </p:cNvPr>
          <p:cNvSpPr txBox="1"/>
          <p:nvPr/>
        </p:nvSpPr>
        <p:spPr>
          <a:xfrm>
            <a:off x="795111" y="577780"/>
            <a:ext cx="10412617" cy="369332"/>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Previous step: Student chose to use a fancy font.</a:t>
            </a:r>
          </a:p>
        </p:txBody>
      </p:sp>
    </p:spTree>
    <p:custDataLst>
      <p:tags r:id="rId1"/>
    </p:custDataLst>
    <p:extLst>
      <p:ext uri="{BB962C8B-B14F-4D97-AF65-F5344CB8AC3E}">
        <p14:creationId xmlns:p14="http://schemas.microsoft.com/office/powerpoint/2010/main" val="12286187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
          <p:cNvSpPr txBox="1">
            <a:spLocks/>
          </p:cNvSpPr>
          <p:nvPr/>
        </p:nvSpPr>
        <p:spPr>
          <a:xfrm>
            <a:off x="795114" y="1014256"/>
            <a:ext cx="10412618" cy="3585152"/>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2"/>
                </a:solidFill>
                <a:ea typeface="Calibri"/>
                <a:cs typeface="Calibri"/>
              </a:rPr>
              <a:t>While it’s been a long day, you’re excited to present your idea tomorrow and see what the managers think. Just as you’re ready to shut down your computer, you remember that your boss wants to look over the presentation this evening at home. How can you get it to her?</a:t>
            </a:r>
          </a:p>
          <a:p>
            <a:pPr marL="0" indent="0">
              <a:spcBef>
                <a:spcPts val="0"/>
              </a:spcBef>
              <a:buNone/>
              <a:defRPr/>
            </a:pPr>
            <a:endParaRPr lang="en-US" sz="2050" dirty="0">
              <a:solidFill>
                <a:schemeClr val="tx2"/>
              </a:solidFill>
              <a:cs typeface="Calibri"/>
            </a:endParaRPr>
          </a:p>
          <a:p>
            <a:pPr marL="0" indent="0">
              <a:spcBef>
                <a:spcPts val="0"/>
              </a:spcBef>
              <a:buNone/>
              <a:defRPr/>
            </a:pPr>
            <a:endParaRPr lang="en-US" dirty="0">
              <a:solidFill>
                <a:schemeClr val="tx2"/>
              </a:solidFill>
            </a:endParaRPr>
          </a:p>
        </p:txBody>
      </p:sp>
      <p:sp>
        <p:nvSpPr>
          <p:cNvPr id="12" name="Text Placeholder 1"/>
          <p:cNvSpPr txBox="1">
            <a:spLocks/>
          </p:cNvSpPr>
          <p:nvPr/>
        </p:nvSpPr>
        <p:spPr>
          <a:xfrm>
            <a:off x="1792783" y="2359495"/>
            <a:ext cx="9414948" cy="2724461"/>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2"/>
                </a:solidFill>
                <a:ea typeface="Calibri"/>
                <a:cs typeface="Calibri"/>
                <a:hlinkClick r:id="rId4" action="ppaction://hlinksldjump"/>
              </a:rPr>
              <a:t>Send her an email with the presentation attached </a:t>
            </a:r>
            <a:r>
              <a:rPr lang="en-US" sz="2050" b="1" dirty="0">
                <a:solidFill>
                  <a:schemeClr val="tx2"/>
                </a:solidFill>
                <a:ea typeface="Calibri"/>
                <a:cs typeface="Calibri"/>
                <a:hlinkClick r:id="rId4" action="ppaction://hlinksldjump"/>
              </a:rPr>
              <a:t>[Level8_Decision1_OptionA]</a:t>
            </a:r>
            <a:endParaRPr lang="en-US" sz="2050" b="1" dirty="0">
              <a:solidFill>
                <a:schemeClr val="tx2"/>
              </a:solidFill>
              <a:ea typeface="Calibri"/>
              <a:cs typeface="Calibri"/>
            </a:endParaRPr>
          </a:p>
          <a:p>
            <a:pPr marL="0" indent="0">
              <a:spcBef>
                <a:spcPts val="0"/>
              </a:spcBef>
              <a:buNone/>
              <a:defRPr/>
            </a:pPr>
            <a:endParaRPr lang="en-US" sz="2099" dirty="0">
              <a:solidFill>
                <a:srgbClr val="AD7318"/>
              </a:solidFill>
              <a:ea typeface="Calibri"/>
              <a:cs typeface="Calibri"/>
            </a:endParaRPr>
          </a:p>
          <a:p>
            <a:pPr marL="0" indent="0">
              <a:spcBef>
                <a:spcPts val="0"/>
              </a:spcBef>
              <a:buNone/>
              <a:defRPr/>
            </a:pPr>
            <a:endParaRPr lang="en-US" sz="2050" dirty="0">
              <a:solidFill>
                <a:srgbClr val="AD7318"/>
              </a:solidFill>
              <a:ea typeface="Calibri"/>
              <a:cs typeface="Calibri"/>
            </a:endParaRPr>
          </a:p>
          <a:p>
            <a:pPr marL="0" indent="0">
              <a:spcBef>
                <a:spcPts val="0"/>
              </a:spcBef>
              <a:buNone/>
              <a:defRPr/>
            </a:pPr>
            <a:r>
              <a:rPr lang="en-US" sz="2050" dirty="0">
                <a:solidFill>
                  <a:schemeClr val="tx2"/>
                </a:solidFill>
                <a:ea typeface="Calibri"/>
                <a:cs typeface="Calibri"/>
                <a:hlinkClick r:id="rId4" action="ppaction://hlinksldjump"/>
              </a:rPr>
              <a:t>Post the presentation to OneDrive </a:t>
            </a:r>
            <a:r>
              <a:rPr lang="en-US" sz="2050" b="1" dirty="0">
                <a:solidFill>
                  <a:schemeClr val="tx2"/>
                </a:solidFill>
                <a:ea typeface="Calibri"/>
                <a:cs typeface="Calibri"/>
                <a:hlinkClick r:id="rId4" action="ppaction://hlinksldjump"/>
              </a:rPr>
              <a:t>[Level8_Decision1_OptionB]</a:t>
            </a:r>
            <a:endParaRPr lang="en-US" sz="2050" b="1" dirty="0">
              <a:solidFill>
                <a:schemeClr val="tx2"/>
              </a:solidFill>
              <a:ea typeface="Calibri"/>
              <a:cs typeface="Calibri"/>
            </a:endParaRPr>
          </a:p>
          <a:p>
            <a:pPr marL="0" indent="0">
              <a:spcBef>
                <a:spcPts val="0"/>
              </a:spcBef>
              <a:buNone/>
              <a:defRPr/>
            </a:pPr>
            <a:endParaRPr lang="en-US" sz="2050" b="1" dirty="0">
              <a:solidFill>
                <a:schemeClr val="tx2"/>
              </a:solidFill>
              <a:ea typeface="Calibri"/>
              <a:cs typeface="Calibri"/>
            </a:endParaRPr>
          </a:p>
          <a:p>
            <a:pPr marL="0" indent="0">
              <a:spcBef>
                <a:spcPts val="0"/>
              </a:spcBef>
              <a:buNone/>
              <a:defRPr/>
            </a:pPr>
            <a:endParaRPr lang="en-US" sz="2050" b="1" dirty="0">
              <a:solidFill>
                <a:schemeClr val="tx2"/>
              </a:solidFill>
              <a:ea typeface="Calibri"/>
              <a:cs typeface="Calibri"/>
            </a:endParaRPr>
          </a:p>
          <a:p>
            <a:pPr marL="0" indent="0">
              <a:spcBef>
                <a:spcPts val="0"/>
              </a:spcBef>
              <a:buNone/>
              <a:defRPr/>
            </a:pPr>
            <a:r>
              <a:rPr lang="en-US" sz="2050" dirty="0">
                <a:solidFill>
                  <a:schemeClr val="tx2"/>
                </a:solidFill>
                <a:cs typeface="Calibri"/>
                <a:hlinkClick r:id="rId5" action="ppaction://hlinksldjump"/>
              </a:rPr>
              <a:t>Print the presentation and leave it in her inbox </a:t>
            </a:r>
            <a:r>
              <a:rPr lang="en-US" sz="2050" b="1" dirty="0">
                <a:solidFill>
                  <a:schemeClr val="tx2"/>
                </a:solidFill>
                <a:ea typeface="Calibri"/>
                <a:cs typeface="Calibri"/>
                <a:hlinkClick r:id="rId5" action="ppaction://hlinksldjump"/>
              </a:rPr>
              <a:t>[Level8_Decision1_OptionC]</a:t>
            </a: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p:txBody>
      </p:sp>
      <p:pic>
        <p:nvPicPr>
          <p:cNvPr id="7" name="Graphic 6" descr="Volume">
            <a:extLst>
              <a:ext uri="{FF2B5EF4-FFF2-40B4-BE49-F238E27FC236}">
                <a16:creationId xmlns:a16="http://schemas.microsoft.com/office/drawing/2014/main" id="{98858AF6-4306-4AB2-9A31-F2CF2E76360E}"/>
              </a:ext>
            </a:extLst>
          </p:cNvP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43363" y="510636"/>
            <a:ext cx="430491" cy="356827"/>
          </a:xfrm>
          <a:prstGeom prst="rect">
            <a:avLst/>
          </a:prstGeom>
        </p:spPr>
      </p:pic>
      <p:sp>
        <p:nvSpPr>
          <p:cNvPr id="2" name="Title 1">
            <a:extLst>
              <a:ext uri="{FF2B5EF4-FFF2-40B4-BE49-F238E27FC236}">
                <a16:creationId xmlns:a16="http://schemas.microsoft.com/office/drawing/2014/main" id="{AAE4B061-1973-4598-99F6-EBDFEBA643E0}"/>
              </a:ext>
            </a:extLst>
          </p:cNvPr>
          <p:cNvSpPr>
            <a:spLocks noGrp="1"/>
          </p:cNvSpPr>
          <p:nvPr>
            <p:ph type="title"/>
          </p:nvPr>
        </p:nvSpPr>
        <p:spPr>
          <a:xfrm>
            <a:off x="795113" y="5074"/>
            <a:ext cx="10412618" cy="505562"/>
          </a:xfrm>
        </p:spPr>
        <p:txBody>
          <a:bodyPr>
            <a:normAutofit fontScale="90000"/>
          </a:bodyPr>
          <a:lstStyle/>
          <a:p>
            <a:r>
              <a:rPr lang="en-US" dirty="0"/>
              <a:t>Level8_Decision1</a:t>
            </a:r>
          </a:p>
        </p:txBody>
      </p:sp>
      <p:sp>
        <p:nvSpPr>
          <p:cNvPr id="8" name="Text Placeholder 3">
            <a:extLst>
              <a:ext uri="{FF2B5EF4-FFF2-40B4-BE49-F238E27FC236}">
                <a16:creationId xmlns:a16="http://schemas.microsoft.com/office/drawing/2014/main" id="{B5CE21A4-EFBD-4B90-ACD8-0159F888003A}"/>
              </a:ext>
            </a:extLst>
          </p:cNvPr>
          <p:cNvSpPr txBox="1">
            <a:spLocks/>
          </p:cNvSpPr>
          <p:nvPr/>
        </p:nvSpPr>
        <p:spPr>
          <a:xfrm>
            <a:off x="1420371" y="2347022"/>
            <a:ext cx="550391" cy="531764"/>
          </a:xfrm>
          <a:prstGeom prst="rect">
            <a:avLst/>
          </a:prstGeom>
        </p:spPr>
        <p:txBody>
          <a:bodyPr lIns="121891" tIns="60945" rIns="121891" bIns="60945">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A</a:t>
            </a:r>
          </a:p>
        </p:txBody>
      </p:sp>
      <p:sp>
        <p:nvSpPr>
          <p:cNvPr id="9" name="Text Placeholder 3">
            <a:extLst>
              <a:ext uri="{FF2B5EF4-FFF2-40B4-BE49-F238E27FC236}">
                <a16:creationId xmlns:a16="http://schemas.microsoft.com/office/drawing/2014/main" id="{7BA7EB68-7706-476E-A698-BCA0BD7BA336}"/>
              </a:ext>
            </a:extLst>
          </p:cNvPr>
          <p:cNvSpPr txBox="1">
            <a:spLocks/>
          </p:cNvSpPr>
          <p:nvPr/>
        </p:nvSpPr>
        <p:spPr>
          <a:xfrm>
            <a:off x="1420372" y="3302672"/>
            <a:ext cx="563068" cy="4023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B</a:t>
            </a: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p:txBody>
      </p:sp>
      <p:sp>
        <p:nvSpPr>
          <p:cNvPr id="13" name="Text Placeholder 3">
            <a:extLst>
              <a:ext uri="{FF2B5EF4-FFF2-40B4-BE49-F238E27FC236}">
                <a16:creationId xmlns:a16="http://schemas.microsoft.com/office/drawing/2014/main" id="{179793CD-DD1F-4CB4-A96A-667D553392C8}"/>
              </a:ext>
            </a:extLst>
          </p:cNvPr>
          <p:cNvSpPr txBox="1">
            <a:spLocks/>
          </p:cNvSpPr>
          <p:nvPr/>
        </p:nvSpPr>
        <p:spPr>
          <a:xfrm>
            <a:off x="1420371" y="4241249"/>
            <a:ext cx="563068" cy="4023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C</a:t>
            </a: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p:txBody>
      </p:sp>
      <p:sp>
        <p:nvSpPr>
          <p:cNvPr id="10" name="Arrow: Pentagon 9">
            <a:extLst>
              <a:ext uri="{FF2B5EF4-FFF2-40B4-BE49-F238E27FC236}">
                <a16:creationId xmlns:a16="http://schemas.microsoft.com/office/drawing/2014/main" id="{F187CE04-57A4-44C2-99C1-A8A99B88711C}"/>
              </a:ext>
            </a:extLst>
          </p:cNvPr>
          <p:cNvSpPr/>
          <p:nvPr/>
        </p:nvSpPr>
        <p:spPr>
          <a:xfrm>
            <a:off x="261713" y="2359495"/>
            <a:ext cx="1066800" cy="402368"/>
          </a:xfrm>
          <a:prstGeom prst="homePlate">
            <a:avLst/>
          </a:prstGeom>
        </p:spPr>
        <p:style>
          <a:lnRef idx="1">
            <a:schemeClr val="accent6"/>
          </a:lnRef>
          <a:fillRef idx="2">
            <a:schemeClr val="accent6"/>
          </a:fillRef>
          <a:effectRef idx="1">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Optimal</a:t>
            </a:r>
          </a:p>
        </p:txBody>
      </p:sp>
      <p:sp>
        <p:nvSpPr>
          <p:cNvPr id="14" name="Arrow: Pentagon 13">
            <a:extLst>
              <a:ext uri="{FF2B5EF4-FFF2-40B4-BE49-F238E27FC236}">
                <a16:creationId xmlns:a16="http://schemas.microsoft.com/office/drawing/2014/main" id="{D2334DD9-58E1-44F6-906E-0B7FC939BADF}"/>
              </a:ext>
            </a:extLst>
          </p:cNvPr>
          <p:cNvSpPr/>
          <p:nvPr/>
        </p:nvSpPr>
        <p:spPr>
          <a:xfrm>
            <a:off x="261713" y="3247791"/>
            <a:ext cx="1066800" cy="402368"/>
          </a:xfrm>
          <a:prstGeom prst="homePlate">
            <a:avLst/>
          </a:prstGeom>
        </p:spPr>
        <p:style>
          <a:lnRef idx="1">
            <a:schemeClr val="accent6"/>
          </a:lnRef>
          <a:fillRef idx="2">
            <a:schemeClr val="accent6"/>
          </a:fillRef>
          <a:effectRef idx="1">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Optimal</a:t>
            </a:r>
          </a:p>
        </p:txBody>
      </p:sp>
      <p:sp>
        <p:nvSpPr>
          <p:cNvPr id="15" name="TextBox 14">
            <a:extLst>
              <a:ext uri="{FF2B5EF4-FFF2-40B4-BE49-F238E27FC236}">
                <a16:creationId xmlns:a16="http://schemas.microsoft.com/office/drawing/2014/main" id="{6114C1F2-5F78-4BD8-923C-6A7A432BA4B5}"/>
              </a:ext>
            </a:extLst>
          </p:cNvPr>
          <p:cNvSpPr txBox="1"/>
          <p:nvPr/>
        </p:nvSpPr>
        <p:spPr>
          <a:xfrm>
            <a:off x="795111" y="577780"/>
            <a:ext cx="10412617" cy="369332"/>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Previous step: Student chose to use the Slide Show view.</a:t>
            </a:r>
          </a:p>
        </p:txBody>
      </p:sp>
      <p:sp>
        <p:nvSpPr>
          <p:cNvPr id="16" name="TextBox 15">
            <a:extLst>
              <a:ext uri="{FF2B5EF4-FFF2-40B4-BE49-F238E27FC236}">
                <a16:creationId xmlns:a16="http://schemas.microsoft.com/office/drawing/2014/main" id="{DD26D317-C56C-4D56-AD81-CB987B290D7A}"/>
              </a:ext>
            </a:extLst>
          </p:cNvPr>
          <p:cNvSpPr txBox="1"/>
          <p:nvPr/>
        </p:nvSpPr>
        <p:spPr>
          <a:xfrm>
            <a:off x="795114" y="6270458"/>
            <a:ext cx="10412618" cy="369332"/>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If Option A or B: The boss is impressed and invites the CEO to the meeting.</a:t>
            </a:r>
          </a:p>
        </p:txBody>
      </p:sp>
      <p:sp>
        <p:nvSpPr>
          <p:cNvPr id="17" name="TextBox 16">
            <a:extLst>
              <a:ext uri="{FF2B5EF4-FFF2-40B4-BE49-F238E27FC236}">
                <a16:creationId xmlns:a16="http://schemas.microsoft.com/office/drawing/2014/main" id="{8B18B785-74D3-4D89-9368-90821EEC93DF}"/>
              </a:ext>
            </a:extLst>
          </p:cNvPr>
          <p:cNvSpPr txBox="1"/>
          <p:nvPr/>
        </p:nvSpPr>
        <p:spPr>
          <a:xfrm>
            <a:off x="795114" y="5336754"/>
            <a:ext cx="10412618" cy="646331"/>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defPPr>
              <a:defRPr lang="en-US"/>
            </a:defPPr>
            <a:lvl1pPr>
              <a:defRPr>
                <a:solidFill>
                  <a:srgbClr val="FF0000"/>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C00000"/>
                </a:solidFill>
                <a:effectLst/>
                <a:uLnTx/>
                <a:uFillTx/>
                <a:latin typeface="Calibri" panose="020F0502020204030204"/>
                <a:ea typeface="+mn-ea"/>
                <a:cs typeface="+mn-cs"/>
              </a:rPr>
              <a:t>Explanation: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rgbClr val="C00000"/>
                </a:solidFill>
                <a:latin typeface="Calibri" panose="020F0502020204030204"/>
              </a:rPr>
              <a:t>Sending an email or posting to OneDrive will allow the boss to access it from home.</a:t>
            </a:r>
            <a:endParaRPr kumimoji="0" lang="en-US" sz="1800" b="0" i="0" u="none" strike="noStrike" kern="1200" cap="none" spc="0" normalizeH="0" baseline="0" noProof="0" dirty="0">
              <a:ln>
                <a:noFill/>
              </a:ln>
              <a:solidFill>
                <a:srgbClr val="C00000"/>
              </a:solidFill>
              <a:effectLst/>
              <a:uLnTx/>
              <a:uFillTx/>
              <a:latin typeface="Calibri" panose="020F0502020204030204"/>
              <a:ea typeface="+mn-ea"/>
              <a:cs typeface="+mn-cs"/>
            </a:endParaRPr>
          </a:p>
        </p:txBody>
      </p:sp>
    </p:spTree>
    <p:custDataLst>
      <p:tags r:id="rId1"/>
    </p:custDataLst>
    <p:extLst>
      <p:ext uri="{BB962C8B-B14F-4D97-AF65-F5344CB8AC3E}">
        <p14:creationId xmlns:p14="http://schemas.microsoft.com/office/powerpoint/2010/main" val="212294279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
          <p:cNvSpPr txBox="1">
            <a:spLocks/>
          </p:cNvSpPr>
          <p:nvPr/>
        </p:nvSpPr>
        <p:spPr>
          <a:xfrm>
            <a:off x="795114" y="1014256"/>
            <a:ext cx="10412618" cy="3585152"/>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2"/>
                </a:solidFill>
                <a:ea typeface="Calibri"/>
                <a:cs typeface="Calibri"/>
              </a:rPr>
              <a:t>While it’s been a long day, you’re excited to present your idea tomorrow and see what the managers think. Just as you’re ready to shut down your computer, you remember that your boss wants to look over the presentation this evening at home. How can you get it to her?</a:t>
            </a:r>
          </a:p>
          <a:p>
            <a:pPr marL="0" indent="0">
              <a:spcBef>
                <a:spcPts val="0"/>
              </a:spcBef>
              <a:buNone/>
              <a:defRPr/>
            </a:pPr>
            <a:endParaRPr lang="en-US" sz="2050" dirty="0">
              <a:solidFill>
                <a:schemeClr val="tx2"/>
              </a:solidFill>
              <a:cs typeface="Calibri"/>
            </a:endParaRPr>
          </a:p>
          <a:p>
            <a:pPr marL="0" indent="0">
              <a:spcBef>
                <a:spcPts val="0"/>
              </a:spcBef>
              <a:buNone/>
              <a:defRPr/>
            </a:pPr>
            <a:endParaRPr lang="en-US" dirty="0">
              <a:solidFill>
                <a:schemeClr val="tx2"/>
              </a:solidFill>
            </a:endParaRPr>
          </a:p>
        </p:txBody>
      </p:sp>
      <p:sp>
        <p:nvSpPr>
          <p:cNvPr id="12" name="Text Placeholder 1"/>
          <p:cNvSpPr txBox="1">
            <a:spLocks/>
          </p:cNvSpPr>
          <p:nvPr/>
        </p:nvSpPr>
        <p:spPr>
          <a:xfrm>
            <a:off x="1803416" y="2582776"/>
            <a:ext cx="9404315" cy="2724461"/>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2"/>
                </a:solidFill>
                <a:ea typeface="Calibri"/>
                <a:cs typeface="Calibri"/>
                <a:hlinkClick r:id="rId4" action="ppaction://hlinksldjump"/>
              </a:rPr>
              <a:t>Send her an email with the presentation attached </a:t>
            </a:r>
            <a:r>
              <a:rPr lang="en-US" sz="2050" b="1" dirty="0">
                <a:solidFill>
                  <a:schemeClr val="tx2"/>
                </a:solidFill>
                <a:ea typeface="Calibri"/>
                <a:cs typeface="Calibri"/>
                <a:hlinkClick r:id="rId4" action="ppaction://hlinksldjump"/>
              </a:rPr>
              <a:t>[Level8_Decision2_OptionA]</a:t>
            </a:r>
            <a:endParaRPr lang="en-US" sz="2050" b="1" dirty="0">
              <a:solidFill>
                <a:schemeClr val="tx2"/>
              </a:solidFill>
              <a:ea typeface="Calibri"/>
              <a:cs typeface="Calibri"/>
            </a:endParaRPr>
          </a:p>
          <a:p>
            <a:pPr marL="0" indent="0">
              <a:spcBef>
                <a:spcPts val="0"/>
              </a:spcBef>
              <a:buNone/>
              <a:defRPr/>
            </a:pPr>
            <a:endParaRPr lang="en-US" sz="2099" dirty="0">
              <a:solidFill>
                <a:srgbClr val="AD7318"/>
              </a:solidFill>
              <a:ea typeface="Calibri"/>
              <a:cs typeface="Calibri"/>
            </a:endParaRPr>
          </a:p>
          <a:p>
            <a:pPr marL="0" indent="0">
              <a:spcBef>
                <a:spcPts val="0"/>
              </a:spcBef>
              <a:buNone/>
              <a:defRPr/>
            </a:pPr>
            <a:endParaRPr lang="en-US" sz="2050" dirty="0">
              <a:solidFill>
                <a:srgbClr val="AD7318"/>
              </a:solidFill>
              <a:ea typeface="Calibri"/>
              <a:cs typeface="Calibri"/>
            </a:endParaRPr>
          </a:p>
          <a:p>
            <a:pPr marL="0" indent="0">
              <a:spcBef>
                <a:spcPts val="0"/>
              </a:spcBef>
              <a:buNone/>
              <a:defRPr/>
            </a:pPr>
            <a:r>
              <a:rPr lang="en-US" sz="2050" dirty="0">
                <a:solidFill>
                  <a:schemeClr val="tx2"/>
                </a:solidFill>
                <a:ea typeface="Calibri"/>
                <a:cs typeface="Calibri"/>
                <a:hlinkClick r:id="rId4" action="ppaction://hlinksldjump"/>
              </a:rPr>
              <a:t>Post the presentation to OneDrive </a:t>
            </a:r>
            <a:r>
              <a:rPr lang="en-US" sz="2050" b="1" dirty="0">
                <a:solidFill>
                  <a:schemeClr val="tx2"/>
                </a:solidFill>
                <a:ea typeface="Calibri"/>
                <a:cs typeface="Calibri"/>
                <a:hlinkClick r:id="rId4" action="ppaction://hlinksldjump"/>
              </a:rPr>
              <a:t>[Level8_Decision2_OptionB]</a:t>
            </a:r>
            <a:endParaRPr lang="en-US" sz="2050" b="1" dirty="0">
              <a:solidFill>
                <a:schemeClr val="tx2"/>
              </a:solidFill>
              <a:ea typeface="Calibri"/>
              <a:cs typeface="Calibri"/>
            </a:endParaRPr>
          </a:p>
          <a:p>
            <a:pPr marL="0" indent="0">
              <a:spcBef>
                <a:spcPts val="0"/>
              </a:spcBef>
              <a:buNone/>
              <a:defRPr/>
            </a:pPr>
            <a:endParaRPr lang="en-US" sz="2050" b="1" dirty="0">
              <a:solidFill>
                <a:schemeClr val="tx2"/>
              </a:solidFill>
              <a:ea typeface="Calibri"/>
              <a:cs typeface="Calibri"/>
            </a:endParaRPr>
          </a:p>
          <a:p>
            <a:pPr marL="0" indent="0">
              <a:spcBef>
                <a:spcPts val="0"/>
              </a:spcBef>
              <a:buNone/>
              <a:defRPr/>
            </a:pPr>
            <a:endParaRPr lang="en-US" sz="2050" b="1" dirty="0">
              <a:solidFill>
                <a:schemeClr val="tx2"/>
              </a:solidFill>
              <a:ea typeface="Calibri"/>
              <a:cs typeface="Calibri"/>
            </a:endParaRPr>
          </a:p>
          <a:p>
            <a:pPr marL="0" indent="0">
              <a:spcBef>
                <a:spcPts val="0"/>
              </a:spcBef>
              <a:buNone/>
              <a:defRPr/>
            </a:pPr>
            <a:r>
              <a:rPr lang="en-US" sz="2050" dirty="0">
                <a:solidFill>
                  <a:schemeClr val="tx2"/>
                </a:solidFill>
                <a:cs typeface="Calibri"/>
                <a:hlinkClick r:id="rId4" action="ppaction://hlinksldjump"/>
              </a:rPr>
              <a:t>Print the presentation and leave it in her inbox </a:t>
            </a:r>
            <a:r>
              <a:rPr lang="en-US" sz="2050" b="1" dirty="0">
                <a:solidFill>
                  <a:schemeClr val="tx2"/>
                </a:solidFill>
                <a:ea typeface="Calibri"/>
                <a:cs typeface="Calibri"/>
                <a:hlinkClick r:id="rId4" action="ppaction://hlinksldjump"/>
              </a:rPr>
              <a:t>[Level8_Decision2_OptionC]</a:t>
            </a: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p:txBody>
      </p:sp>
      <p:sp>
        <p:nvSpPr>
          <p:cNvPr id="2" name="Title 1">
            <a:extLst>
              <a:ext uri="{FF2B5EF4-FFF2-40B4-BE49-F238E27FC236}">
                <a16:creationId xmlns:a16="http://schemas.microsoft.com/office/drawing/2014/main" id="{AAE4B061-1973-4598-99F6-EBDFEBA643E0}"/>
              </a:ext>
            </a:extLst>
          </p:cNvPr>
          <p:cNvSpPr>
            <a:spLocks noGrp="1"/>
          </p:cNvSpPr>
          <p:nvPr>
            <p:ph type="title"/>
          </p:nvPr>
        </p:nvSpPr>
        <p:spPr>
          <a:xfrm>
            <a:off x="795113" y="5074"/>
            <a:ext cx="10412618" cy="505562"/>
          </a:xfrm>
        </p:spPr>
        <p:txBody>
          <a:bodyPr>
            <a:normAutofit fontScale="90000"/>
          </a:bodyPr>
          <a:lstStyle/>
          <a:p>
            <a:r>
              <a:rPr lang="en-US" dirty="0"/>
              <a:t>Level8_Decision2</a:t>
            </a:r>
          </a:p>
        </p:txBody>
      </p:sp>
      <p:sp>
        <p:nvSpPr>
          <p:cNvPr id="8" name="Text Placeholder 3">
            <a:extLst>
              <a:ext uri="{FF2B5EF4-FFF2-40B4-BE49-F238E27FC236}">
                <a16:creationId xmlns:a16="http://schemas.microsoft.com/office/drawing/2014/main" id="{B5CE21A4-EFBD-4B90-ACD8-0159F888003A}"/>
              </a:ext>
            </a:extLst>
          </p:cNvPr>
          <p:cNvSpPr txBox="1">
            <a:spLocks/>
          </p:cNvSpPr>
          <p:nvPr/>
        </p:nvSpPr>
        <p:spPr>
          <a:xfrm>
            <a:off x="1431004" y="2570303"/>
            <a:ext cx="549770" cy="531764"/>
          </a:xfrm>
          <a:prstGeom prst="rect">
            <a:avLst/>
          </a:prstGeom>
        </p:spPr>
        <p:txBody>
          <a:bodyPr lIns="121891" tIns="60945" rIns="121891" bIns="60945">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A</a:t>
            </a:r>
          </a:p>
        </p:txBody>
      </p:sp>
      <p:sp>
        <p:nvSpPr>
          <p:cNvPr id="9" name="Text Placeholder 3">
            <a:extLst>
              <a:ext uri="{FF2B5EF4-FFF2-40B4-BE49-F238E27FC236}">
                <a16:creationId xmlns:a16="http://schemas.microsoft.com/office/drawing/2014/main" id="{7BA7EB68-7706-476E-A698-BCA0BD7BA336}"/>
              </a:ext>
            </a:extLst>
          </p:cNvPr>
          <p:cNvSpPr txBox="1">
            <a:spLocks/>
          </p:cNvSpPr>
          <p:nvPr/>
        </p:nvSpPr>
        <p:spPr>
          <a:xfrm>
            <a:off x="1431005" y="3525953"/>
            <a:ext cx="562432" cy="4023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B</a:t>
            </a: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p:txBody>
      </p:sp>
      <p:sp>
        <p:nvSpPr>
          <p:cNvPr id="13" name="Text Placeholder 3">
            <a:extLst>
              <a:ext uri="{FF2B5EF4-FFF2-40B4-BE49-F238E27FC236}">
                <a16:creationId xmlns:a16="http://schemas.microsoft.com/office/drawing/2014/main" id="{179793CD-DD1F-4CB4-A96A-667D553392C8}"/>
              </a:ext>
            </a:extLst>
          </p:cNvPr>
          <p:cNvSpPr txBox="1">
            <a:spLocks/>
          </p:cNvSpPr>
          <p:nvPr/>
        </p:nvSpPr>
        <p:spPr>
          <a:xfrm>
            <a:off x="1431004" y="4464530"/>
            <a:ext cx="562432" cy="4023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C</a:t>
            </a: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p:txBody>
      </p:sp>
      <p:sp>
        <p:nvSpPr>
          <p:cNvPr id="10" name="Arrow: Pentagon 9">
            <a:extLst>
              <a:ext uri="{FF2B5EF4-FFF2-40B4-BE49-F238E27FC236}">
                <a16:creationId xmlns:a16="http://schemas.microsoft.com/office/drawing/2014/main" id="{3B150A85-3096-42C9-8EBD-3DC5FCBDED7C}"/>
              </a:ext>
            </a:extLst>
          </p:cNvPr>
          <p:cNvSpPr/>
          <p:nvPr/>
        </p:nvSpPr>
        <p:spPr>
          <a:xfrm>
            <a:off x="261713" y="2620830"/>
            <a:ext cx="1066800" cy="402368"/>
          </a:xfrm>
          <a:prstGeom prst="homePlate">
            <a:avLst/>
          </a:prstGeom>
        </p:spPr>
        <p:style>
          <a:lnRef idx="1">
            <a:schemeClr val="accent6"/>
          </a:lnRef>
          <a:fillRef idx="2">
            <a:schemeClr val="accent6"/>
          </a:fillRef>
          <a:effectRef idx="1">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Optimal</a:t>
            </a:r>
          </a:p>
        </p:txBody>
      </p:sp>
      <p:sp>
        <p:nvSpPr>
          <p:cNvPr id="14" name="Arrow: Pentagon 13">
            <a:extLst>
              <a:ext uri="{FF2B5EF4-FFF2-40B4-BE49-F238E27FC236}">
                <a16:creationId xmlns:a16="http://schemas.microsoft.com/office/drawing/2014/main" id="{4B9D9EA5-536E-4C5F-841B-ACBFBF7C1F4A}"/>
              </a:ext>
            </a:extLst>
          </p:cNvPr>
          <p:cNvSpPr/>
          <p:nvPr/>
        </p:nvSpPr>
        <p:spPr>
          <a:xfrm>
            <a:off x="261713" y="3525953"/>
            <a:ext cx="1066800" cy="402368"/>
          </a:xfrm>
          <a:prstGeom prst="homePlate">
            <a:avLst/>
          </a:prstGeom>
        </p:spPr>
        <p:style>
          <a:lnRef idx="1">
            <a:schemeClr val="accent6"/>
          </a:lnRef>
          <a:fillRef idx="2">
            <a:schemeClr val="accent6"/>
          </a:fillRef>
          <a:effectRef idx="1">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Optimal</a:t>
            </a:r>
          </a:p>
        </p:txBody>
      </p:sp>
      <p:sp>
        <p:nvSpPr>
          <p:cNvPr id="15" name="TextBox 14">
            <a:extLst>
              <a:ext uri="{FF2B5EF4-FFF2-40B4-BE49-F238E27FC236}">
                <a16:creationId xmlns:a16="http://schemas.microsoft.com/office/drawing/2014/main" id="{C299D7C7-3830-4620-A15E-045E0E24759F}"/>
              </a:ext>
            </a:extLst>
          </p:cNvPr>
          <p:cNvSpPr txBox="1"/>
          <p:nvPr/>
        </p:nvSpPr>
        <p:spPr>
          <a:xfrm>
            <a:off x="795111" y="577780"/>
            <a:ext cx="10412617" cy="369332"/>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lvl="0">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Previous step: On this track, student has made poor decisions </a:t>
            </a:r>
            <a:r>
              <a:rPr lang="en-US" dirty="0">
                <a:solidFill>
                  <a:prstClr val="black"/>
                </a:solidFill>
              </a:rPr>
              <a:t>on the data used and how to present it.</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Box 15">
            <a:extLst>
              <a:ext uri="{FF2B5EF4-FFF2-40B4-BE49-F238E27FC236}">
                <a16:creationId xmlns:a16="http://schemas.microsoft.com/office/drawing/2014/main" id="{E7B39A84-94AC-4D99-A6F8-E4232E547587}"/>
              </a:ext>
            </a:extLst>
          </p:cNvPr>
          <p:cNvSpPr txBox="1"/>
          <p:nvPr/>
        </p:nvSpPr>
        <p:spPr>
          <a:xfrm>
            <a:off x="795114" y="6180667"/>
            <a:ext cx="10412618" cy="369332"/>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lvl="0">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Next step for all options: </a:t>
            </a:r>
            <a:r>
              <a:rPr lang="en-US" dirty="0">
                <a:solidFill>
                  <a:prstClr val="black"/>
                </a:solidFill>
              </a:rPr>
              <a:t>The boss vetoes the idea.</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Box 16">
            <a:extLst>
              <a:ext uri="{FF2B5EF4-FFF2-40B4-BE49-F238E27FC236}">
                <a16:creationId xmlns:a16="http://schemas.microsoft.com/office/drawing/2014/main" id="{4EE458A2-8EF9-45B3-B936-64D9139B9A09}"/>
              </a:ext>
            </a:extLst>
          </p:cNvPr>
          <p:cNvSpPr txBox="1"/>
          <p:nvPr/>
        </p:nvSpPr>
        <p:spPr>
          <a:xfrm>
            <a:off x="795114" y="5321607"/>
            <a:ext cx="10412618" cy="646331"/>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defPPr>
              <a:defRPr lang="en-US"/>
            </a:defPPr>
            <a:lvl1pPr>
              <a:defRPr>
                <a:solidFill>
                  <a:srgbClr val="FF0000"/>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C00000"/>
                </a:solidFill>
                <a:effectLst/>
                <a:uLnTx/>
                <a:uFillTx/>
                <a:latin typeface="Calibri" panose="020F0502020204030204"/>
                <a:ea typeface="+mn-ea"/>
                <a:cs typeface="+mn-cs"/>
              </a:rPr>
              <a:t>Explanation:</a:t>
            </a:r>
          </a:p>
          <a:p>
            <a:pPr lvl="0">
              <a:defRPr/>
            </a:pPr>
            <a:r>
              <a:rPr lang="en-US" dirty="0">
                <a:solidFill>
                  <a:srgbClr val="C00000"/>
                </a:solidFill>
              </a:rPr>
              <a:t>Sending an email or posting to OneDrive will allow the boss to access it from home.</a:t>
            </a:r>
            <a:endParaRPr kumimoji="0" lang="en-US" sz="1800" b="0" i="0" u="none" strike="noStrike" kern="1200" cap="none" spc="0" normalizeH="0" baseline="0" noProof="0" dirty="0">
              <a:ln>
                <a:noFill/>
              </a:ln>
              <a:solidFill>
                <a:srgbClr val="C00000"/>
              </a:solidFill>
              <a:effectLst/>
              <a:uLnTx/>
              <a:uFillTx/>
              <a:latin typeface="Calibri" panose="020F0502020204030204"/>
              <a:ea typeface="+mn-ea"/>
              <a:cs typeface="+mn-cs"/>
            </a:endParaRPr>
          </a:p>
        </p:txBody>
      </p:sp>
    </p:spTree>
    <p:custDataLst>
      <p:tags r:id="rId1"/>
    </p:custDataLst>
    <p:extLst>
      <p:ext uri="{BB962C8B-B14F-4D97-AF65-F5344CB8AC3E}">
        <p14:creationId xmlns:p14="http://schemas.microsoft.com/office/powerpoint/2010/main" val="201653063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schemeClr>
        </a:solidFill>
        <a:effectLst/>
      </p:bgPr>
    </p:bg>
    <p:spTree>
      <p:nvGrpSpPr>
        <p:cNvPr id="1" name=""/>
        <p:cNvGrpSpPr/>
        <p:nvPr/>
      </p:nvGrpSpPr>
      <p:grpSpPr>
        <a:xfrm>
          <a:off x="0" y="0"/>
          <a:ext cx="0" cy="0"/>
          <a:chOff x="0" y="0"/>
          <a:chExt cx="0" cy="0"/>
        </a:xfrm>
      </p:grpSpPr>
      <p:sp>
        <p:nvSpPr>
          <p:cNvPr id="22" name="Text Placeholder 1"/>
          <p:cNvSpPr txBox="1">
            <a:spLocks/>
          </p:cNvSpPr>
          <p:nvPr/>
        </p:nvSpPr>
        <p:spPr>
          <a:xfrm>
            <a:off x="996696" y="4399386"/>
            <a:ext cx="9834016" cy="1136622"/>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1"/>
                </a:solidFill>
                <a:ea typeface="Calibri"/>
              </a:rPr>
              <a:t>Start again to explore other possible outcomes!</a:t>
            </a:r>
            <a:endParaRPr lang="en-US" sz="2099" dirty="0">
              <a:solidFill>
                <a:schemeClr val="tx1"/>
              </a:solidFill>
              <a:ea typeface="Calibri"/>
            </a:endParaRPr>
          </a:p>
        </p:txBody>
      </p:sp>
      <p:sp>
        <p:nvSpPr>
          <p:cNvPr id="23" name="Rectangle 22"/>
          <p:cNvSpPr/>
          <p:nvPr/>
        </p:nvSpPr>
        <p:spPr>
          <a:xfrm>
            <a:off x="1199935" y="5529939"/>
            <a:ext cx="3254387" cy="506071"/>
          </a:xfrm>
          <a:prstGeom prst="rect">
            <a:avLst/>
          </a:prstGeom>
          <a:solidFill>
            <a:schemeClr val="accent5">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lIns="121891" tIns="60945" rIns="121891" bIns="60945" rtlCol="0" anchor="ctr">
            <a:noAutofit/>
          </a:bodyPr>
          <a:lstStyle/>
          <a:p>
            <a:r>
              <a:rPr lang="en-US" sz="2050" dirty="0">
                <a:solidFill>
                  <a:schemeClr val="bg1"/>
                </a:solidFill>
                <a:latin typeface="+mj-lt"/>
                <a:cs typeface="Titillium WebRegular"/>
                <a:hlinkClick r:id="rId4" action="ppaction://hlinksldjump"/>
              </a:rPr>
              <a:t>Start</a:t>
            </a:r>
            <a:r>
              <a:rPr lang="en-US" sz="2050" dirty="0">
                <a:solidFill>
                  <a:schemeClr val="bg1"/>
                </a:solidFill>
                <a:latin typeface="+mj-lt"/>
                <a:cs typeface="Calibri Light"/>
                <a:hlinkClick r:id="rId4" action="ppaction://hlinksldjump"/>
              </a:rPr>
              <a:t> Again</a:t>
            </a:r>
            <a:endParaRPr lang="en-US" sz="2099" dirty="0">
              <a:solidFill>
                <a:schemeClr val="bg1"/>
              </a:solidFill>
              <a:latin typeface="+mj-lt"/>
              <a:cs typeface="Titillium WebRegular"/>
            </a:endParaRPr>
          </a:p>
        </p:txBody>
      </p:sp>
      <p:sp>
        <p:nvSpPr>
          <p:cNvPr id="2" name="Title 1"/>
          <p:cNvSpPr>
            <a:spLocks noGrp="1"/>
          </p:cNvSpPr>
          <p:nvPr>
            <p:ph type="title"/>
          </p:nvPr>
        </p:nvSpPr>
        <p:spPr>
          <a:xfrm>
            <a:off x="996696" y="-405256"/>
            <a:ext cx="10412618" cy="4239366"/>
          </a:xfrm>
        </p:spPr>
        <p:txBody>
          <a:bodyPr>
            <a:noAutofit/>
          </a:bodyPr>
          <a:lstStyle/>
          <a:p>
            <a:r>
              <a:rPr lang="en-US" sz="3300" dirty="0">
                <a:solidFill>
                  <a:schemeClr val="tx1"/>
                </a:solidFill>
              </a:rPr>
              <a:t>Outcome 2:</a:t>
            </a:r>
            <a:br>
              <a:rPr lang="en-US" sz="3300" dirty="0">
                <a:solidFill>
                  <a:schemeClr val="tx1"/>
                </a:solidFill>
              </a:rPr>
            </a:br>
            <a:br>
              <a:rPr lang="en-US" sz="3600" b="1" dirty="0">
                <a:solidFill>
                  <a:schemeClr val="tx1"/>
                </a:solidFill>
              </a:rPr>
            </a:br>
            <a:r>
              <a:rPr lang="en-US" sz="2800" b="1" dirty="0">
                <a:solidFill>
                  <a:schemeClr val="tx1"/>
                </a:solidFill>
              </a:rPr>
              <a:t>Your boss emails and says that you’ve made a very good case for this alternative work week, with well-documented data, support from your co-workers, and a well-thought-out plan for implementing the changes. In fact, she’s invited the CEO to join the managers for your presentation tomorrow. Make sure you dress up!</a:t>
            </a:r>
            <a:r>
              <a:rPr lang="en-US" sz="2800" dirty="0">
                <a:cs typeface="Calibri Light"/>
              </a:rPr>
              <a:t> </a:t>
            </a:r>
          </a:p>
        </p:txBody>
      </p:sp>
    </p:spTree>
    <p:custDataLst>
      <p:tags r:id="rId1"/>
    </p:custDataLst>
    <p:extLst>
      <p:ext uri="{BB962C8B-B14F-4D97-AF65-F5344CB8AC3E}">
        <p14:creationId xmlns:p14="http://schemas.microsoft.com/office/powerpoint/2010/main" val="172900303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accent2">
            <a:lumMod val="40000"/>
            <a:lumOff val="60000"/>
          </a:schemeClr>
        </a:solidFill>
        <a:effectLst/>
      </p:bgPr>
    </p:bg>
    <p:spTree>
      <p:nvGrpSpPr>
        <p:cNvPr id="1" name=""/>
        <p:cNvGrpSpPr/>
        <p:nvPr/>
      </p:nvGrpSpPr>
      <p:grpSpPr>
        <a:xfrm>
          <a:off x="0" y="0"/>
          <a:ext cx="0" cy="0"/>
          <a:chOff x="0" y="0"/>
          <a:chExt cx="0" cy="0"/>
        </a:xfrm>
      </p:grpSpPr>
      <p:sp>
        <p:nvSpPr>
          <p:cNvPr id="23" name="Rectangle 22"/>
          <p:cNvSpPr/>
          <p:nvPr/>
        </p:nvSpPr>
        <p:spPr>
          <a:xfrm>
            <a:off x="1156803" y="5049879"/>
            <a:ext cx="3254387" cy="506071"/>
          </a:xfrm>
          <a:prstGeom prst="rect">
            <a:avLst/>
          </a:prstGeom>
          <a:solidFill>
            <a:schemeClr val="accent5">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lIns="121891" tIns="60945" rIns="121891" bIns="60945" rtlCol="0" anchor="ctr">
            <a:noAutofit/>
          </a:bodyPr>
          <a:lstStyle/>
          <a:p>
            <a:r>
              <a:rPr lang="en-US" sz="2050" dirty="0">
                <a:solidFill>
                  <a:schemeClr val="accent1"/>
                </a:solidFill>
                <a:latin typeface="+mj-lt"/>
                <a:cs typeface="Titillium WebRegular"/>
                <a:hlinkClick r:id="rId4" action="ppaction://hlinksldjump">
                  <a:extLst>
                    <a:ext uri="{A12FA001-AC4F-418D-AE19-62706E023703}">
                      <ahyp:hlinkClr xmlns:ahyp="http://schemas.microsoft.com/office/drawing/2018/hyperlinkcolor" val="tx"/>
                    </a:ext>
                  </a:extLst>
                </a:hlinkClick>
              </a:rPr>
              <a:t>Start</a:t>
            </a:r>
            <a:r>
              <a:rPr lang="en-US" sz="2050" dirty="0">
                <a:solidFill>
                  <a:schemeClr val="accent1"/>
                </a:solidFill>
                <a:latin typeface="+mj-lt"/>
                <a:cs typeface="Calibri Light"/>
                <a:hlinkClick r:id="rId4" action="ppaction://hlinksldjump">
                  <a:extLst>
                    <a:ext uri="{A12FA001-AC4F-418D-AE19-62706E023703}">
                      <ahyp:hlinkClr xmlns:ahyp="http://schemas.microsoft.com/office/drawing/2018/hyperlinkcolor" val="tx"/>
                    </a:ext>
                  </a:extLst>
                </a:hlinkClick>
              </a:rPr>
              <a:t> Again</a:t>
            </a:r>
            <a:endParaRPr lang="en-US" sz="2099" dirty="0">
              <a:solidFill>
                <a:schemeClr val="accent1"/>
              </a:solidFill>
              <a:latin typeface="+mj-lt"/>
              <a:cs typeface="Titillium WebRegular"/>
            </a:endParaRPr>
          </a:p>
        </p:txBody>
      </p:sp>
      <p:sp>
        <p:nvSpPr>
          <p:cNvPr id="2" name="Title 1"/>
          <p:cNvSpPr>
            <a:spLocks noGrp="1"/>
          </p:cNvSpPr>
          <p:nvPr>
            <p:ph type="title"/>
          </p:nvPr>
        </p:nvSpPr>
        <p:spPr>
          <a:xfrm>
            <a:off x="1015300" y="137766"/>
            <a:ext cx="10615036" cy="2834640"/>
          </a:xfrm>
        </p:spPr>
        <p:txBody>
          <a:bodyPr>
            <a:noAutofit/>
          </a:bodyPr>
          <a:lstStyle/>
          <a:p>
            <a:r>
              <a:rPr lang="en-US" sz="3300" dirty="0">
                <a:solidFill>
                  <a:schemeClr val="tx1"/>
                </a:solidFill>
              </a:rPr>
              <a:t>Outcome 1:</a:t>
            </a:r>
            <a:br>
              <a:rPr lang="en-US" sz="3600" b="1" dirty="0">
                <a:solidFill>
                  <a:schemeClr val="tx1"/>
                </a:solidFill>
              </a:rPr>
            </a:br>
            <a:br>
              <a:rPr lang="en-US" sz="3600" b="1" dirty="0">
                <a:solidFill>
                  <a:schemeClr val="tx1"/>
                </a:solidFill>
              </a:rPr>
            </a:br>
            <a:r>
              <a:rPr lang="en-US" sz="2800" b="1" dirty="0">
                <a:solidFill>
                  <a:schemeClr val="tx1"/>
                </a:solidFill>
              </a:rPr>
              <a:t>Your boss emails you the next morning and says that this is a nice idea, but it’s not really in the company’s best interest. She also mentions that if you really want a job that requires only four days a week, you might try checking LinkedIn for part-time positions.</a:t>
            </a:r>
          </a:p>
        </p:txBody>
      </p:sp>
      <p:sp>
        <p:nvSpPr>
          <p:cNvPr id="11" name="Text Placeholder 1">
            <a:extLst>
              <a:ext uri="{FF2B5EF4-FFF2-40B4-BE49-F238E27FC236}">
                <a16:creationId xmlns:a16="http://schemas.microsoft.com/office/drawing/2014/main" id="{FE08B664-0EF9-413A-BDB8-59015421DAB9}"/>
              </a:ext>
            </a:extLst>
          </p:cNvPr>
          <p:cNvSpPr txBox="1">
            <a:spLocks/>
          </p:cNvSpPr>
          <p:nvPr/>
        </p:nvSpPr>
        <p:spPr>
          <a:xfrm>
            <a:off x="1015300" y="4166292"/>
            <a:ext cx="9834016" cy="1136622"/>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1"/>
                </a:solidFill>
                <a:ea typeface="Calibri"/>
              </a:rPr>
              <a:t>Start again to explore other possible outcomes!</a:t>
            </a:r>
            <a:endParaRPr lang="en-US" sz="2099" dirty="0">
              <a:solidFill>
                <a:schemeClr val="tx1"/>
              </a:solidFill>
              <a:ea typeface="Calibri"/>
            </a:endParaRPr>
          </a:p>
        </p:txBody>
      </p:sp>
    </p:spTree>
    <p:custDataLst>
      <p:tags r:id="rId1"/>
    </p:custDataLst>
    <p:extLst>
      <p:ext uri="{BB962C8B-B14F-4D97-AF65-F5344CB8AC3E}">
        <p14:creationId xmlns:p14="http://schemas.microsoft.com/office/powerpoint/2010/main" val="51361963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58"/>
  <p:tag name="ARTICULATE_USED_LAYOUT" val="3"/>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60"/>
  <p:tag name="ARTICULATE_USED_LAYOUT"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95"/>
  <p:tag name="ARTICULATE_USED_LAYOUT" val="8"/>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95"/>
  <p:tag name="ARTICULATE_USED_LAYOUT" val="8"/>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95"/>
  <p:tag name="ARTICULATE_USED_LAYOUT" val="8"/>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95"/>
  <p:tag name="ARTICULATE_USED_LAYOUT" val="8"/>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95"/>
  <p:tag name="ARTICULATE_USED_LAYOUT" val="8"/>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95"/>
  <p:tag name="ARTICULATE_USED_LAYOUT" val="8"/>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95"/>
  <p:tag name="ARTICULATE_USED_LAYOUT" val="8"/>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95"/>
  <p:tag name="ARTICULATE_USED_LAYOUT" val="8"/>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95"/>
  <p:tag name="ARTICULATE_USED_LAYOUT" val="8"/>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95"/>
  <p:tag name="ARTICULATE_USED_LAYOUT" val="8"/>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95"/>
  <p:tag name="ARTICULATE_USED_LAYOUT" val="8"/>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95"/>
  <p:tag name="ARTICULATE_USED_LAYOUT" val="8"/>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95"/>
  <p:tag name="ARTICULATE_USED_LAYOUT" val="8"/>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95"/>
  <p:tag name="ARTICULATE_USED_LAYOUT" val="8"/>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95"/>
  <p:tag name="ARTICULATE_USED_LAYOUT" val="8"/>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95"/>
  <p:tag name="ARTICULATE_USED_LAYOUT" val="8"/>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95"/>
  <p:tag name="ARTICULATE_USED_LAYOUT" val="8"/>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95"/>
  <p:tag name="ARTICULATE_USED_LAYOUT" val="8"/>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95"/>
  <p:tag name="ARTICULATE_USED_LAYOUT" val="8"/>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95"/>
  <p:tag name="ARTICULATE_USED_LAYOUT" val="8"/>
</p:tagLst>
</file>

<file path=ppt/tags/tag26.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95"/>
  <p:tag name="ARTICULATE_USED_LAYOUT" val="8"/>
</p:tagLst>
</file>

<file path=ppt/tags/tag27.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95"/>
  <p:tag name="ARTICULATE_USED_LAYOUT" val="8"/>
</p:tagLst>
</file>

<file path=ppt/tags/tag28.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95"/>
  <p:tag name="ARTICULATE_USED_LAYOUT" val="8"/>
</p:tagLst>
</file>

<file path=ppt/tags/tag29.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86"/>
  <p:tag name="ARTICULATE_USED_LAYOUT" val="3"/>
</p:tagLst>
</file>

<file path=ppt/tags/tag30.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86"/>
  <p:tag name="ARTICULATE_USED_LAYOUT" val="3"/>
</p:tagLst>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item1.xml><?xml version="1.0" encoding="utf-8"?>
<Control xmlns="http://schemas.microsoft.com/VisualStudio/2011/storyboarding/control">
  <Id Name="1fd42469-89aa-4a08-b532-3332bc5f5ec1" Revision="1" Stencil="System.MyShapes" StencilVersion="1.0"/>
</Control>
</file>

<file path=customXml/item2.xml><?xml version="1.0" encoding="utf-8"?>
<p:properties xmlns:p="http://schemas.microsoft.com/office/2006/metadata/properties" xmlns:xsi="http://www.w3.org/2001/XMLSchema-instance" xmlns:pc="http://schemas.microsoft.com/office/infopath/2007/PartnerControls">
  <documentManagement>
    <Notes0 xmlns="eeab3f26-09e2-49ed-a80d-9bb89f29cea5" xsi:nil="true"/>
    <BriefNote xmlns="eeab3f26-09e2-49ed-a80d-9bb89f29ce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CC237A0CA6CD2A4D8CE02E9AA9870115" ma:contentTypeVersion="16" ma:contentTypeDescription="Create a new document." ma:contentTypeScope="" ma:versionID="2f071753289c9025b0e96c4a2a564c4f">
  <xsd:schema xmlns:xsd="http://www.w3.org/2001/XMLSchema" xmlns:xs="http://www.w3.org/2001/XMLSchema" xmlns:p="http://schemas.microsoft.com/office/2006/metadata/properties" xmlns:ns2="eeab3f26-09e2-49ed-a80d-9bb89f29cea5" xmlns:ns3="e4ea4eff-fefb-4c40-84b2-735fb9db1c89" targetNamespace="http://schemas.microsoft.com/office/2006/metadata/properties" ma:root="true" ma:fieldsID="de830c40366edfee498ef0fd810dc110" ns2:_="" ns3:_="">
    <xsd:import namespace="eeab3f26-09e2-49ed-a80d-9bb89f29cea5"/>
    <xsd:import namespace="e4ea4eff-fefb-4c40-84b2-735fb9db1c89"/>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OCR" minOccurs="0"/>
                <xsd:element ref="ns2:MediaServiceLocation" minOccurs="0"/>
                <xsd:element ref="ns3:SharedWithUsers" minOccurs="0"/>
                <xsd:element ref="ns3:SharedWithDetails" minOccurs="0"/>
                <xsd:element ref="ns2:Notes0" minOccurs="0"/>
                <xsd:element ref="ns2:MediaServiceEventHashCode" minOccurs="0"/>
                <xsd:element ref="ns2:MediaServiceGenerationTime" minOccurs="0"/>
                <xsd:element ref="ns2:MediaServiceAutoKeyPoints" minOccurs="0"/>
                <xsd:element ref="ns2:MediaServiceKeyPoints" minOccurs="0"/>
                <xsd:element ref="ns2:MediaLengthInSeconds" minOccurs="0"/>
                <xsd:element ref="ns2:BriefNot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eab3f26-09e2-49ed-a80d-9bb89f29ce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MediaServiceAutoTags" ma:internalName="MediaServiceAutoTags" ma:readOnly="true">
      <xsd:simpleType>
        <xsd:restriction base="dms:Text"/>
      </xsd:simpleType>
    </xsd:element>
    <xsd:element name="MediaServiceOCR" ma:index="12" nillable="true" ma:displayName="MediaServiceOCR" ma:internalName="MediaServiceOCR" ma:readOnly="true">
      <xsd:simpleType>
        <xsd:restriction base="dms:Note">
          <xsd:maxLength value="255"/>
        </xsd:restriction>
      </xsd:simpleType>
    </xsd:element>
    <xsd:element name="MediaServiceLocation" ma:index="13" nillable="true" ma:displayName="MediaServiceLocation" ma:internalName="MediaServiceLocation" ma:readOnly="true">
      <xsd:simpleType>
        <xsd:restriction base="dms:Text"/>
      </xsd:simpleType>
    </xsd:element>
    <xsd:element name="Notes0" ma:index="16" nillable="true" ma:displayName="Notes" ma:internalName="Notes0">
      <xsd:simpleType>
        <xsd:restriction base="dms:Note">
          <xsd:maxLength value="255"/>
        </xsd:restriction>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LengthInSeconds" ma:index="21" nillable="true" ma:displayName="Length (seconds)" ma:internalName="MediaLengthInSeconds" ma:readOnly="true">
      <xsd:simpleType>
        <xsd:restriction base="dms:Unknown"/>
      </xsd:simpleType>
    </xsd:element>
    <xsd:element name="BriefNote" ma:index="22" nillable="true" ma:displayName="Brief Note" ma:format="Dropdown" ma:internalName="BriefNote">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e4ea4eff-fefb-4c40-84b2-735fb9db1c89"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4.xml><?xml version="1.0" encoding="utf-8"?>
<?mso-contentType ?>
<FormTemplates xmlns="http://schemas.microsoft.com/sharepoint/v3/contenttype/forms">
  <Display>DocumentLibraryForm</Display>
  <Edit>DocumentLibraryForm</Edit>
  <New>DocumentLibraryForm</New>
</FormTemplates>
</file>

<file path=customXml/item5.xml><?xml version="1.0" encoding="utf-8"?>
<Control xmlns="http://schemas.microsoft.com/VisualStudio/2011/storyboarding/control">
  <Id Name="1fd42469-89aa-4a08-b532-3332bc5f5ec1" Revision="1" Stencil="System.MyShapes" StencilVersion="1.0"/>
</Control>
</file>

<file path=customXml/itemProps1.xml><?xml version="1.0" encoding="utf-8"?>
<ds:datastoreItem xmlns:ds="http://schemas.openxmlformats.org/officeDocument/2006/customXml" ds:itemID="{3C5AA1C0-2736-4C35-9D36-1790D98FE524}">
  <ds:schemaRefs>
    <ds:schemaRef ds:uri="http://schemas.microsoft.com/VisualStudio/2011/storyboarding/control"/>
  </ds:schemaRefs>
</ds:datastoreItem>
</file>

<file path=customXml/itemProps2.xml><?xml version="1.0" encoding="utf-8"?>
<ds:datastoreItem xmlns:ds="http://schemas.openxmlformats.org/officeDocument/2006/customXml" ds:itemID="{60B98538-67CA-489B-8ACE-F0682A9A9526}">
  <ds:schemaRefs>
    <ds:schemaRef ds:uri="http://schemas.microsoft.com/office/2006/metadata/properties"/>
    <ds:schemaRef ds:uri="http://schemas.microsoft.com/office/infopath/2007/PartnerControls"/>
    <ds:schemaRef ds:uri="eeab3f26-09e2-49ed-a80d-9bb89f29cea5"/>
  </ds:schemaRefs>
</ds:datastoreItem>
</file>

<file path=customXml/itemProps3.xml><?xml version="1.0" encoding="utf-8"?>
<ds:datastoreItem xmlns:ds="http://schemas.openxmlformats.org/officeDocument/2006/customXml" ds:itemID="{72CC5D1B-59F1-4E1E-B784-76CD7CDEE77D}"/>
</file>

<file path=customXml/itemProps4.xml><?xml version="1.0" encoding="utf-8"?>
<ds:datastoreItem xmlns:ds="http://schemas.openxmlformats.org/officeDocument/2006/customXml" ds:itemID="{AD92EAD0-DA55-4F7D-BD93-5513A29DFF63}">
  <ds:schemaRefs>
    <ds:schemaRef ds:uri="http://schemas.microsoft.com/sharepoint/v3/contenttype/forms"/>
  </ds:schemaRefs>
</ds:datastoreItem>
</file>

<file path=customXml/itemProps5.xml><?xml version="1.0" encoding="utf-8"?>
<ds:datastoreItem xmlns:ds="http://schemas.openxmlformats.org/officeDocument/2006/customXml" ds:itemID="{7F546FF6-DD59-47E7-8627-1821B46FD2F1}">
  <ds:schemaRefs>
    <ds:schemaRef ds:uri="http://schemas.microsoft.com/VisualStudio/2011/storyboarding/control"/>
  </ds:schemaRefs>
</ds:datastoreItem>
</file>

<file path=docProps/app.xml><?xml version="1.0" encoding="utf-8"?>
<Properties xmlns="http://schemas.openxmlformats.org/officeDocument/2006/extended-properties" xmlns:vt="http://schemas.openxmlformats.org/officeDocument/2006/docPropsVTypes">
  <Template>Office Theme</Template>
  <TotalTime>441</TotalTime>
  <Words>4113</Words>
  <Application>Microsoft Office PowerPoint</Application>
  <PresentationFormat>Widescreen</PresentationFormat>
  <Paragraphs>479</Paragraphs>
  <Slides>27</Slides>
  <Notes>27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27</vt:i4>
      </vt:variant>
    </vt:vector>
  </HeadingPairs>
  <TitlesOfParts>
    <vt:vector size="33" baseType="lpstr">
      <vt:lpstr>Arial</vt:lpstr>
      <vt:lpstr>Calibri</vt:lpstr>
      <vt:lpstr>Calibri Light</vt:lpstr>
      <vt:lpstr>Titillium Web</vt:lpstr>
      <vt:lpstr>Wingdings</vt:lpstr>
      <vt:lpstr>Office Theme</vt:lpstr>
      <vt:lpstr>Working with Applications</vt:lpstr>
      <vt:lpstr>Working with Applications</vt:lpstr>
      <vt:lpstr>Introduction</vt:lpstr>
      <vt:lpstr>Level1_Decision1</vt:lpstr>
      <vt:lpstr>Level2_Decision1</vt:lpstr>
      <vt:lpstr>Level2_Decision2</vt:lpstr>
      <vt:lpstr>Story_Slide9</vt:lpstr>
      <vt:lpstr>Story_Slide10</vt:lpstr>
      <vt:lpstr>Level3_Decision1</vt:lpstr>
      <vt:lpstr>Level3_Decision2</vt:lpstr>
      <vt:lpstr>Level3_Decision3</vt:lpstr>
      <vt:lpstr>Level4_Decision1</vt:lpstr>
      <vt:lpstr>Level4_Decision2</vt:lpstr>
      <vt:lpstr>Level4_Decision3</vt:lpstr>
      <vt:lpstr>Level4_Decision4</vt:lpstr>
      <vt:lpstr>Level5_Decision1</vt:lpstr>
      <vt:lpstr>Level5_Decision2</vt:lpstr>
      <vt:lpstr>Level5_Decision3</vt:lpstr>
      <vt:lpstr>Level5_Decision4</vt:lpstr>
      <vt:lpstr>Level6_Decision1</vt:lpstr>
      <vt:lpstr>Level6_Decision2</vt:lpstr>
      <vt:lpstr>Level7_Decision1</vt:lpstr>
      <vt:lpstr>Level7_Decision2</vt:lpstr>
      <vt:lpstr>Level8_Decision1</vt:lpstr>
      <vt:lpstr>Level8_Decision2</vt:lpstr>
      <vt:lpstr>Outcome 2:  Your boss emails and says that you’ve made a very good case for this alternative work week, with well-documented data, support from your co-workers, and a well-thought-out plan for implementing the changes. In fact, she’s invited the CEO to join the managers for your presentation tomorrow. Make sure you dress up! </vt:lpstr>
      <vt:lpstr>Outcome 1:  Your boss emails you the next morning and says that this is a nice idea, but it’s not really in the company’s best interest. She also mentions that if you really want a job that requires only four days a week, you might try checking LinkedIn for part-time positions.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Hoisington, Corinne</dc:creator>
  <cp:lastModifiedBy>Molnar, Zenya</cp:lastModifiedBy>
  <cp:revision>1939</cp:revision>
  <dcterms:created xsi:type="dcterms:W3CDTF">2018-06-14T17:50:20Z</dcterms:created>
  <dcterms:modified xsi:type="dcterms:W3CDTF">2020-03-05T16:03:39Z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fs.IsStoryboard">
    <vt:bool>true</vt:bool>
  </property>
  <property fmtid="{D5CDD505-2E9C-101B-9397-08002B2CF9AE}" pid="3" name="ContentTypeId">
    <vt:lpwstr>0x010100CC237A0CA6CD2A4D8CE02E9AA9870115</vt:lpwstr>
  </property>
</Properties>
</file>