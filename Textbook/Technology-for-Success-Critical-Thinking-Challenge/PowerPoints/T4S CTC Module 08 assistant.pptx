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3.xml" ContentType="application/vnd.openxmlformats-officedocument.theme+xml"/>
  <Override PartName="/ppt/tags/tag7.xml" ContentType="application/vnd.openxmlformats-officedocument.presentationml.tags+xml"/>
  <Override PartName="/ppt/notesSlides/notesSlide1.xml" ContentType="application/vnd.openxmlformats-officedocument.presentationml.notesSlide+xml"/>
  <Override PartName="/ppt/tags/tag8.xml" ContentType="application/vnd.openxmlformats-officedocument.presentationml.tags+xml"/>
  <Override PartName="/ppt/notesSlides/notesSlide2.xml" ContentType="application/vnd.openxmlformats-officedocument.presentationml.notesSlide+xml"/>
  <Override PartName="/ppt/tags/tag9.xml" ContentType="application/vnd.openxmlformats-officedocument.presentationml.tags+xml"/>
  <Override PartName="/ppt/notesSlides/notesSlide3.xml" ContentType="application/vnd.openxmlformats-officedocument.presentationml.notesSlide+xml"/>
  <Override PartName="/ppt/tags/tag10.xml" ContentType="application/vnd.openxmlformats-officedocument.presentationml.tags+xml"/>
  <Override PartName="/ppt/notesSlides/notesSlide4.xml" ContentType="application/vnd.openxmlformats-officedocument.presentationml.notesSlide+xml"/>
  <Override PartName="/ppt/tags/tag11.xml" ContentType="application/vnd.openxmlformats-officedocument.presentationml.tags+xml"/>
  <Override PartName="/ppt/notesSlides/notesSlide5.xml" ContentType="application/vnd.openxmlformats-officedocument.presentationml.notesSlide+xml"/>
  <Override PartName="/ppt/tags/tag12.xml" ContentType="application/vnd.openxmlformats-officedocument.presentationml.tags+xml"/>
  <Override PartName="/ppt/notesSlides/notesSlide6.xml" ContentType="application/vnd.openxmlformats-officedocument.presentationml.notesSlide+xml"/>
  <Override PartName="/ppt/tags/tag13.xml" ContentType="application/vnd.openxmlformats-officedocument.presentationml.tags+xml"/>
  <Override PartName="/ppt/notesSlides/notesSlide7.xml" ContentType="application/vnd.openxmlformats-officedocument.presentationml.notesSlide+xml"/>
  <Override PartName="/ppt/tags/tag14.xml" ContentType="application/vnd.openxmlformats-officedocument.presentationml.tags+xml"/>
  <Override PartName="/ppt/notesSlides/notesSlide8.xml" ContentType="application/vnd.openxmlformats-officedocument.presentationml.notesSlide+xml"/>
  <Override PartName="/ppt/tags/tag15.xml" ContentType="application/vnd.openxmlformats-officedocument.presentationml.tags+xml"/>
  <Override PartName="/ppt/notesSlides/notesSlide9.xml" ContentType="application/vnd.openxmlformats-officedocument.presentationml.notesSlide+xml"/>
  <Override PartName="/ppt/tags/tag16.xml" ContentType="application/vnd.openxmlformats-officedocument.presentationml.tags+xml"/>
  <Override PartName="/ppt/notesSlides/notesSlide10.xml" ContentType="application/vnd.openxmlformats-officedocument.presentationml.notesSlide+xml"/>
  <Override PartName="/ppt/tags/tag17.xml" ContentType="application/vnd.openxmlformats-officedocument.presentationml.tags+xml"/>
  <Override PartName="/ppt/notesSlides/notesSlide11.xml" ContentType="application/vnd.openxmlformats-officedocument.presentationml.notesSlide+xml"/>
  <Override PartName="/ppt/tags/tag18.xml" ContentType="application/vnd.openxmlformats-officedocument.presentationml.tags+xml"/>
  <Override PartName="/ppt/notesSlides/notesSlide12.xml" ContentType="application/vnd.openxmlformats-officedocument.presentationml.notesSlide+xml"/>
  <Override PartName="/ppt/tags/tag19.xml" ContentType="application/vnd.openxmlformats-officedocument.presentationml.tags+xml"/>
  <Override PartName="/ppt/notesSlides/notesSlide13.xml" ContentType="application/vnd.openxmlformats-officedocument.presentationml.notesSlide+xml"/>
  <Override PartName="/ppt/tags/tag20.xml" ContentType="application/vnd.openxmlformats-officedocument.presentationml.tags+xml"/>
  <Override PartName="/ppt/notesSlides/notesSlide14.xml" ContentType="application/vnd.openxmlformats-officedocument.presentationml.notesSlide+xml"/>
  <Override PartName="/ppt/tags/tag21.xml" ContentType="application/vnd.openxmlformats-officedocument.presentationml.tags+xml"/>
  <Override PartName="/ppt/notesSlides/notesSlide15.xml" ContentType="application/vnd.openxmlformats-officedocument.presentationml.notesSlide+xml"/>
  <Override PartName="/ppt/tags/tag22.xml" ContentType="application/vnd.openxmlformats-officedocument.presentationml.tags+xml"/>
  <Override PartName="/ppt/notesSlides/notesSlide16.xml" ContentType="application/vnd.openxmlformats-officedocument.presentationml.notesSlide+xml"/>
  <Override PartName="/ppt/tags/tag23.xml" ContentType="application/vnd.openxmlformats-officedocument.presentationml.tags+xml"/>
  <Override PartName="/ppt/notesSlides/notesSlide17.xml" ContentType="application/vnd.openxmlformats-officedocument.presentationml.notesSlide+xml"/>
  <Override PartName="/ppt/tags/tag24.xml" ContentType="application/vnd.openxmlformats-officedocument.presentationml.tags+xml"/>
  <Override PartName="/ppt/notesSlides/notesSlide18.xml" ContentType="application/vnd.openxmlformats-officedocument.presentationml.notesSlide+xml"/>
  <Override PartName="/ppt/theme/themeOverride1.xml" ContentType="application/vnd.openxmlformats-officedocument.themeOverride+xml"/>
  <Override PartName="/ppt/tags/tag25.xml" ContentType="application/vnd.openxmlformats-officedocument.presentationml.tags+xml"/>
  <Override PartName="/ppt/notesSlides/notesSlide19.xml" ContentType="application/vnd.openxmlformats-officedocument.presentationml.notesSlide+xml"/>
  <Override PartName="/ppt/theme/themeOverride2.xml" ContentType="application/vnd.openxmlformats-officedocument.themeOverride+xml"/>
  <Override PartName="/ppt/tags/tag26.xml" ContentType="application/vnd.openxmlformats-officedocument.presentationml.tags+xml"/>
  <Override PartName="/ppt/notesSlides/notesSlide20.xml" ContentType="application/vnd.openxmlformats-officedocument.presentationml.notesSlide+xml"/>
  <Override PartName="/ppt/theme/themeOverride3.xml" ContentType="application/vnd.openxmlformats-officedocument.themeOverride+xml"/>
  <Override PartName="/ppt/tags/tag27.xml" ContentType="application/vnd.openxmlformats-officedocument.presentationml.tags+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4" r:id="rId6"/>
    <p:sldMasterId id="2147483679" r:id="rId7"/>
  </p:sldMasterIdLst>
  <p:notesMasterIdLst>
    <p:notesMasterId r:id="rId29"/>
  </p:notesMasterIdLst>
  <p:sldIdLst>
    <p:sldId id="258" r:id="rId8"/>
    <p:sldId id="260" r:id="rId9"/>
    <p:sldId id="270" r:id="rId10"/>
    <p:sldId id="295" r:id="rId11"/>
    <p:sldId id="375" r:id="rId12"/>
    <p:sldId id="377" r:id="rId13"/>
    <p:sldId id="401" r:id="rId14"/>
    <p:sldId id="402" r:id="rId15"/>
    <p:sldId id="379" r:id="rId16"/>
    <p:sldId id="380" r:id="rId17"/>
    <p:sldId id="397" r:id="rId18"/>
    <p:sldId id="382" r:id="rId19"/>
    <p:sldId id="384" r:id="rId20"/>
    <p:sldId id="385" r:id="rId21"/>
    <p:sldId id="400" r:id="rId22"/>
    <p:sldId id="403" r:id="rId23"/>
    <p:sldId id="404" r:id="rId24"/>
    <p:sldId id="405" r:id="rId25"/>
    <p:sldId id="389" r:id="rId26"/>
    <p:sldId id="390" r:id="rId27"/>
    <p:sldId id="391"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ennifer Campbell" initials="JC" lastIdx="29" clrIdx="0">
    <p:extLst>
      <p:ext uri="{19B8F6BF-5375-455C-9EA6-DF929625EA0E}">
        <p15:presenceInfo xmlns:p15="http://schemas.microsoft.com/office/powerpoint/2012/main" userId="9252b8fd17e1143e" providerId="Windows Live"/>
      </p:ext>
    </p:extLst>
  </p:cmAuthor>
  <p:cmAuthor id="2" name="Jill West" initials="JW" lastIdx="6" clrIdx="1">
    <p:extLst>
      <p:ext uri="{19B8F6BF-5375-455C-9EA6-DF929625EA0E}">
        <p15:presenceInfo xmlns:p15="http://schemas.microsoft.com/office/powerpoint/2012/main" userId="Jill West" providerId="None"/>
      </p:ext>
    </p:extLst>
  </p:cmAuthor>
  <p:cmAuthor id="3" name="Pope, Emily D" initials="PED" lastIdx="10" clrIdx="2">
    <p:extLst>
      <p:ext uri="{19B8F6BF-5375-455C-9EA6-DF929625EA0E}">
        <p15:presenceInfo xmlns:p15="http://schemas.microsoft.com/office/powerpoint/2012/main" userId="S-1-5-21-4027829005-1107895287-290554039-212238" providerId="AD"/>
      </p:ext>
    </p:extLst>
  </p:cmAuthor>
  <p:cmAuthor id="4" name="Jessica West" initials="JW" lastIdx="5" clrIdx="3">
    <p:extLst>
      <p:ext uri="{19B8F6BF-5375-455C-9EA6-DF929625EA0E}">
        <p15:presenceInfo xmlns:p15="http://schemas.microsoft.com/office/powerpoint/2012/main" userId="Jessica West"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8074B74-5E74-4EFC-BC97-C30D12E4C8A7}" v="40" dt="2020-02-16T03:02:29.880"/>
    <p1510:client id="{DCDEBC73-ADA3-4EA8-95CC-972633233B29}" v="3" dt="2020-02-17T02:07:21.56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741" autoAdjust="0"/>
    <p:restoredTop sz="85445" autoAdjust="0"/>
  </p:normalViewPr>
  <p:slideViewPr>
    <p:cSldViewPr snapToGrid="0">
      <p:cViewPr varScale="1">
        <p:scale>
          <a:sx n="79" d="100"/>
          <a:sy n="79" d="100"/>
        </p:scale>
        <p:origin x="96"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 Type="http://schemas.openxmlformats.org/officeDocument/2006/relationships/customXml" Target="../customXml/item3.xml"/><Relationship Id="rId21" Type="http://schemas.openxmlformats.org/officeDocument/2006/relationships/slide" Target="slides/slide14.xml"/><Relationship Id="rId34" Type="http://schemas.openxmlformats.org/officeDocument/2006/relationships/tableStyles" Target="tableStyles.xml"/><Relationship Id="rId7" Type="http://schemas.openxmlformats.org/officeDocument/2006/relationships/slideMaster" Target="slideMasters/slideMaster2.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viewProps" Target="viewProps.xml"/><Relationship Id="rId5" Type="http://schemas.openxmlformats.org/officeDocument/2006/relationships/customXml" Target="../customXml/item5.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microsoft.com/office/2015/10/relationships/revisionInfo" Target="revisionInfo.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presProps" Target="presProps.xml"/><Relationship Id="rId4" Type="http://schemas.openxmlformats.org/officeDocument/2006/relationships/customXml" Target="../customXml/item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commentAuthors" Target="commentAuthors.xml"/><Relationship Id="rId35" Type="http://schemas.microsoft.com/office/2016/11/relationships/changesInfo" Target="changesInfos/changesInfo1.xml"/><Relationship Id="rId8"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keandJill West" userId="0caeac936585bbb7" providerId="LiveId" clId="{DCDEBC73-ADA3-4EA8-95CC-972633233B29}"/>
    <pc:docChg chg="modSld">
      <pc:chgData name="MikeandJill West" userId="0caeac936585bbb7" providerId="LiveId" clId="{DCDEBC73-ADA3-4EA8-95CC-972633233B29}" dt="2020-02-17T02:07:21.564" v="78"/>
      <pc:docMkLst>
        <pc:docMk/>
      </pc:docMkLst>
      <pc:sldChg chg="modSp">
        <pc:chgData name="MikeandJill West" userId="0caeac936585bbb7" providerId="LiveId" clId="{DCDEBC73-ADA3-4EA8-95CC-972633233B29}" dt="2020-02-17T02:05:41.125" v="40" actId="122"/>
        <pc:sldMkLst>
          <pc:docMk/>
          <pc:sldMk cId="987616076" sldId="258"/>
        </pc:sldMkLst>
        <pc:spChg chg="mod">
          <ac:chgData name="MikeandJill West" userId="0caeac936585bbb7" providerId="LiveId" clId="{DCDEBC73-ADA3-4EA8-95CC-972633233B29}" dt="2020-02-17T02:05:41.125" v="40" actId="122"/>
          <ac:spMkLst>
            <pc:docMk/>
            <pc:sldMk cId="987616076" sldId="258"/>
            <ac:spMk id="26" creationId="{40184B40-508E-4CC0-A6B8-3111CAA042DC}"/>
          </ac:spMkLst>
        </pc:spChg>
      </pc:sldChg>
      <pc:sldChg chg="modSp">
        <pc:chgData name="MikeandJill West" userId="0caeac936585bbb7" providerId="LiveId" clId="{DCDEBC73-ADA3-4EA8-95CC-972633233B29}" dt="2020-02-17T02:05:54.812" v="67" actId="20577"/>
        <pc:sldMkLst>
          <pc:docMk/>
          <pc:sldMk cId="1413706052" sldId="260"/>
        </pc:sldMkLst>
        <pc:spChg chg="mod">
          <ac:chgData name="MikeandJill West" userId="0caeac936585bbb7" providerId="LiveId" clId="{DCDEBC73-ADA3-4EA8-95CC-972633233B29}" dt="2020-02-17T02:05:54.812" v="67" actId="20577"/>
          <ac:spMkLst>
            <pc:docMk/>
            <pc:sldMk cId="1413706052" sldId="260"/>
            <ac:spMk id="2" creationId="{00000000-0000-0000-0000-000000000000}"/>
          </ac:spMkLst>
        </pc:spChg>
      </pc:sldChg>
      <pc:sldChg chg="modSp">
        <pc:chgData name="MikeandJill West" userId="0caeac936585bbb7" providerId="LiveId" clId="{DCDEBC73-ADA3-4EA8-95CC-972633233B29}" dt="2020-02-17T02:06:45.692" v="75" actId="1035"/>
        <pc:sldMkLst>
          <pc:docMk/>
          <pc:sldMk cId="4281014618" sldId="380"/>
        </pc:sldMkLst>
        <pc:spChg chg="mod">
          <ac:chgData name="MikeandJill West" userId="0caeac936585bbb7" providerId="LiveId" clId="{DCDEBC73-ADA3-4EA8-95CC-972633233B29}" dt="2020-02-17T02:06:45.692" v="75" actId="1035"/>
          <ac:spMkLst>
            <pc:docMk/>
            <pc:sldMk cId="4281014618" sldId="380"/>
            <ac:spMk id="8" creationId="{59084517-AE3F-42B9-B673-1937206652FE}"/>
          </ac:spMkLst>
        </pc:spChg>
        <pc:spChg chg="mod">
          <ac:chgData name="MikeandJill West" userId="0caeac936585bbb7" providerId="LiveId" clId="{DCDEBC73-ADA3-4EA8-95CC-972633233B29}" dt="2020-02-17T02:06:45.692" v="75" actId="1035"/>
          <ac:spMkLst>
            <pc:docMk/>
            <pc:sldMk cId="4281014618" sldId="380"/>
            <ac:spMk id="19" creationId="{C85BA1E0-2D4B-42F5-814E-7EEBF61469CE}"/>
          </ac:spMkLst>
        </pc:spChg>
      </pc:sldChg>
      <pc:sldChg chg="setBg">
        <pc:chgData name="MikeandJill West" userId="0caeac936585bbb7" providerId="LiveId" clId="{DCDEBC73-ADA3-4EA8-95CC-972633233B29}" dt="2020-02-17T02:07:15.188" v="76"/>
        <pc:sldMkLst>
          <pc:docMk/>
          <pc:sldMk cId="141551121" sldId="389"/>
        </pc:sldMkLst>
      </pc:sldChg>
      <pc:sldChg chg="setBg">
        <pc:chgData name="MikeandJill West" userId="0caeac936585bbb7" providerId="LiveId" clId="{DCDEBC73-ADA3-4EA8-95CC-972633233B29}" dt="2020-02-17T02:07:18.621" v="77"/>
        <pc:sldMkLst>
          <pc:docMk/>
          <pc:sldMk cId="3816988108" sldId="390"/>
        </pc:sldMkLst>
      </pc:sldChg>
      <pc:sldChg chg="setBg">
        <pc:chgData name="MikeandJill West" userId="0caeac936585bbb7" providerId="LiveId" clId="{DCDEBC73-ADA3-4EA8-95CC-972633233B29}" dt="2020-02-17T02:07:21.564" v="78"/>
        <pc:sldMkLst>
          <pc:docMk/>
          <pc:sldMk cId="2793273946" sldId="39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8ED681-2264-4772-96D9-571C19ED82FB}" type="datetimeFigureOut">
              <a:rPr lang="en-US" smtClean="0"/>
              <a:t>2/16/2020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CA19FE-9A12-437D-A6C3-5DD612832ED6}" type="slidenum">
              <a:rPr lang="en-US" smtClean="0"/>
              <a:t>‹#›</a:t>
            </a:fld>
            <a:endParaRPr lang="en-US"/>
          </a:p>
        </p:txBody>
      </p:sp>
    </p:spTree>
    <p:extLst>
      <p:ext uri="{BB962C8B-B14F-4D97-AF65-F5344CB8AC3E}">
        <p14:creationId xmlns:p14="http://schemas.microsoft.com/office/powerpoint/2010/main" val="15882054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2AA3592-D5F1-C049-A75C-8C2FAAE2A508}" type="slidenum">
              <a:rPr lang="en-US" smtClean="0"/>
              <a:t>1</a:t>
            </a:fld>
            <a:endParaRPr lang="en-US" dirty="0"/>
          </a:p>
        </p:txBody>
      </p:sp>
    </p:spTree>
    <p:extLst>
      <p:ext uri="{BB962C8B-B14F-4D97-AF65-F5344CB8AC3E}">
        <p14:creationId xmlns:p14="http://schemas.microsoft.com/office/powerpoint/2010/main" val="402991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2AA3592-D5F1-C049-A75C-8C2FAAE2A508}" type="slidenum">
              <a:rPr lang="en-US" smtClean="0"/>
              <a:t>2</a:t>
            </a:fld>
            <a:endParaRPr lang="en-US" dirty="0"/>
          </a:p>
        </p:txBody>
      </p:sp>
    </p:spTree>
    <p:extLst>
      <p:ext uri="{BB962C8B-B14F-4D97-AF65-F5344CB8AC3E}">
        <p14:creationId xmlns:p14="http://schemas.microsoft.com/office/powerpoint/2010/main" val="8557680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3</a:t>
            </a:fld>
            <a:endParaRPr lang="en-US" dirty="0"/>
          </a:p>
        </p:txBody>
      </p:sp>
    </p:spTree>
    <p:extLst>
      <p:ext uri="{BB962C8B-B14F-4D97-AF65-F5344CB8AC3E}">
        <p14:creationId xmlns:p14="http://schemas.microsoft.com/office/powerpoint/2010/main" val="5474795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4</a:t>
            </a:fld>
            <a:endParaRPr lang="en-US" dirty="0"/>
          </a:p>
        </p:txBody>
      </p:sp>
    </p:spTree>
    <p:extLst>
      <p:ext uri="{BB962C8B-B14F-4D97-AF65-F5344CB8AC3E}">
        <p14:creationId xmlns:p14="http://schemas.microsoft.com/office/powerpoint/2010/main" val="11045286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5</a:t>
            </a:fld>
            <a:endParaRPr lang="en-US" dirty="0"/>
          </a:p>
        </p:txBody>
      </p:sp>
    </p:spTree>
    <p:extLst>
      <p:ext uri="{BB962C8B-B14F-4D97-AF65-F5344CB8AC3E}">
        <p14:creationId xmlns:p14="http://schemas.microsoft.com/office/powerpoint/2010/main" val="15474577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6</a:t>
            </a:fld>
            <a:endParaRPr lang="en-US" dirty="0"/>
          </a:p>
        </p:txBody>
      </p:sp>
    </p:spTree>
    <p:extLst>
      <p:ext uri="{BB962C8B-B14F-4D97-AF65-F5344CB8AC3E}">
        <p14:creationId xmlns:p14="http://schemas.microsoft.com/office/powerpoint/2010/main" val="397821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7</a:t>
            </a:fld>
            <a:endParaRPr lang="en-US" dirty="0"/>
          </a:p>
        </p:txBody>
      </p:sp>
    </p:spTree>
    <p:extLst>
      <p:ext uri="{BB962C8B-B14F-4D97-AF65-F5344CB8AC3E}">
        <p14:creationId xmlns:p14="http://schemas.microsoft.com/office/powerpoint/2010/main" val="39333808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8</a:t>
            </a:fld>
            <a:endParaRPr lang="en-US" dirty="0"/>
          </a:p>
        </p:txBody>
      </p:sp>
    </p:spTree>
    <p:extLst>
      <p:ext uri="{BB962C8B-B14F-4D97-AF65-F5344CB8AC3E}">
        <p14:creationId xmlns:p14="http://schemas.microsoft.com/office/powerpoint/2010/main" val="24861175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9</a:t>
            </a:fld>
            <a:endParaRPr lang="en-US" dirty="0"/>
          </a:p>
        </p:txBody>
      </p:sp>
    </p:spTree>
    <p:extLst>
      <p:ext uri="{BB962C8B-B14F-4D97-AF65-F5344CB8AC3E}">
        <p14:creationId xmlns:p14="http://schemas.microsoft.com/office/powerpoint/2010/main" val="35179455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10</a:t>
            </a:fld>
            <a:endParaRPr lang="en-US" dirty="0"/>
          </a:p>
        </p:txBody>
      </p:sp>
    </p:spTree>
    <p:extLst>
      <p:ext uri="{BB962C8B-B14F-4D97-AF65-F5344CB8AC3E}">
        <p14:creationId xmlns:p14="http://schemas.microsoft.com/office/powerpoint/2010/main" val="397329683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11</a:t>
            </a:fld>
            <a:endParaRPr lang="en-US" dirty="0"/>
          </a:p>
        </p:txBody>
      </p:sp>
    </p:spTree>
    <p:extLst>
      <p:ext uri="{BB962C8B-B14F-4D97-AF65-F5344CB8AC3E}">
        <p14:creationId xmlns:p14="http://schemas.microsoft.com/office/powerpoint/2010/main" val="14411620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12</a:t>
            </a:fld>
            <a:endParaRPr lang="en-US" dirty="0"/>
          </a:p>
        </p:txBody>
      </p:sp>
    </p:spTree>
    <p:extLst>
      <p:ext uri="{BB962C8B-B14F-4D97-AF65-F5344CB8AC3E}">
        <p14:creationId xmlns:p14="http://schemas.microsoft.com/office/powerpoint/2010/main" val="34173509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13</a:t>
            </a:fld>
            <a:endParaRPr lang="en-US" dirty="0"/>
          </a:p>
        </p:txBody>
      </p:sp>
    </p:spTree>
    <p:extLst>
      <p:ext uri="{BB962C8B-B14F-4D97-AF65-F5344CB8AC3E}">
        <p14:creationId xmlns:p14="http://schemas.microsoft.com/office/powerpoint/2010/main" val="39880619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14</a:t>
            </a:fld>
            <a:endParaRPr lang="en-US" dirty="0"/>
          </a:p>
        </p:txBody>
      </p:sp>
    </p:spTree>
    <p:extLst>
      <p:ext uri="{BB962C8B-B14F-4D97-AF65-F5344CB8AC3E}">
        <p14:creationId xmlns:p14="http://schemas.microsoft.com/office/powerpoint/2010/main" val="17879166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15</a:t>
            </a:fld>
            <a:endParaRPr lang="en-US" dirty="0"/>
          </a:p>
        </p:txBody>
      </p:sp>
    </p:spTree>
    <p:extLst>
      <p:ext uri="{BB962C8B-B14F-4D97-AF65-F5344CB8AC3E}">
        <p14:creationId xmlns:p14="http://schemas.microsoft.com/office/powerpoint/2010/main" val="5197851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16</a:t>
            </a:fld>
            <a:endParaRPr lang="en-US" dirty="0"/>
          </a:p>
        </p:txBody>
      </p:sp>
    </p:spTree>
    <p:extLst>
      <p:ext uri="{BB962C8B-B14F-4D97-AF65-F5344CB8AC3E}">
        <p14:creationId xmlns:p14="http://schemas.microsoft.com/office/powerpoint/2010/main" val="27885324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17</a:t>
            </a:fld>
            <a:endParaRPr lang="en-US" dirty="0"/>
          </a:p>
        </p:txBody>
      </p:sp>
    </p:spTree>
    <p:extLst>
      <p:ext uri="{BB962C8B-B14F-4D97-AF65-F5344CB8AC3E}">
        <p14:creationId xmlns:p14="http://schemas.microsoft.com/office/powerpoint/2010/main" val="36506498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18</a:t>
            </a:fld>
            <a:endParaRPr lang="en-US" dirty="0"/>
          </a:p>
        </p:txBody>
      </p:sp>
    </p:spTree>
    <p:extLst>
      <p:ext uri="{BB962C8B-B14F-4D97-AF65-F5344CB8AC3E}">
        <p14:creationId xmlns:p14="http://schemas.microsoft.com/office/powerpoint/2010/main" val="17948885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spcBef>
                <a:spcPts val="0"/>
              </a:spcBef>
              <a:buNone/>
              <a:defRPr/>
            </a:pPr>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19</a:t>
            </a:fld>
            <a:endParaRPr lang="en-US" dirty="0"/>
          </a:p>
        </p:txBody>
      </p:sp>
    </p:spTree>
    <p:extLst>
      <p:ext uri="{BB962C8B-B14F-4D97-AF65-F5344CB8AC3E}">
        <p14:creationId xmlns:p14="http://schemas.microsoft.com/office/powerpoint/2010/main" val="34273649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spcBef>
                <a:spcPts val="0"/>
              </a:spcBef>
              <a:buNone/>
              <a:defRPr/>
            </a:pPr>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20</a:t>
            </a:fld>
            <a:endParaRPr lang="en-US" dirty="0"/>
          </a:p>
        </p:txBody>
      </p:sp>
    </p:spTree>
    <p:extLst>
      <p:ext uri="{BB962C8B-B14F-4D97-AF65-F5344CB8AC3E}">
        <p14:creationId xmlns:p14="http://schemas.microsoft.com/office/powerpoint/2010/main" val="7376485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indent="0">
              <a:spcBef>
                <a:spcPts val="0"/>
              </a:spcBef>
              <a:buNone/>
              <a:defRPr/>
            </a:pPr>
            <a:endParaRPr lang="en-US" sz="1000" dirty="0"/>
          </a:p>
        </p:txBody>
      </p:sp>
      <p:sp>
        <p:nvSpPr>
          <p:cNvPr id="4" name="Slide Number Placeholder 3"/>
          <p:cNvSpPr>
            <a:spLocks noGrp="1"/>
          </p:cNvSpPr>
          <p:nvPr>
            <p:ph type="sldNum" sz="quarter" idx="10"/>
          </p:nvPr>
        </p:nvSpPr>
        <p:spPr/>
        <p:txBody>
          <a:bodyPr/>
          <a:lstStyle/>
          <a:p>
            <a:fld id="{E2AA3592-D5F1-C049-A75C-8C2FAAE2A508}" type="slidenum">
              <a:rPr lang="en-US" smtClean="0"/>
              <a:t>21</a:t>
            </a:fld>
            <a:endParaRPr lang="en-US" dirty="0"/>
          </a:p>
        </p:txBody>
      </p:sp>
    </p:spTree>
    <p:extLst>
      <p:ext uri="{BB962C8B-B14F-4D97-AF65-F5344CB8AC3E}">
        <p14:creationId xmlns:p14="http://schemas.microsoft.com/office/powerpoint/2010/main" val="19631200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4.xml"/></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5.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p>
            <a:fld id="{0D0C2072-8BD3-4A25-9A71-B353EDA33FFA}" type="datetimeFigureOut">
              <a:rPr lang="en-US" smtClean="0"/>
              <a:t>2/16/2020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3267907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D0C2072-8BD3-4A25-9A71-B353EDA33FFA}" type="datetimeFigureOut">
              <a:rPr lang="en-US" smtClean="0"/>
              <a:t>2/16/2020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29472852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4" name="Date Placeholder 3"/>
          <p:cNvSpPr>
            <a:spLocks noGrp="1"/>
          </p:cNvSpPr>
          <p:nvPr>
            <p:ph type="dt" sz="half" idx="10"/>
          </p:nvPr>
        </p:nvSpPr>
        <p:spPr/>
        <p:txBody>
          <a:bodyPr/>
          <a:lstStyle/>
          <a:p>
            <a:fld id="{0D0C2072-8BD3-4A25-9A71-B353EDA33FFA}" type="datetimeFigureOut">
              <a:rPr lang="en-US" smtClean="0"/>
              <a:t>2/16/2020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27906708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0D0C2072-8BD3-4A25-9A71-B353EDA33FFA}" type="datetimeFigureOut">
              <a:rPr lang="en-US" smtClean="0"/>
              <a:t>2/16/2020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11734767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dirty="0"/>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0D0C2072-8BD3-4A25-9A71-B353EDA33FFA}" type="datetimeFigureOut">
              <a:rPr lang="en-US" smtClean="0"/>
              <a:t>2/16/2020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38211101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0D0C2072-8BD3-4A25-9A71-B353EDA33FFA}" type="datetimeFigureOut">
              <a:rPr lang="en-US" smtClean="0"/>
              <a:t>2/16/2020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17625137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D0C2072-8BD3-4A25-9A71-B353EDA33FFA}" type="datetimeFigureOut">
              <a:rPr lang="en-US" smtClean="0"/>
              <a:t>2/16/2020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8624827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5" name="Date Placeholder 4"/>
          <p:cNvSpPr>
            <a:spLocks noGrp="1"/>
          </p:cNvSpPr>
          <p:nvPr>
            <p:ph type="dt" sz="half" idx="10"/>
          </p:nvPr>
        </p:nvSpPr>
        <p:spPr/>
        <p:txBody>
          <a:bodyPr/>
          <a:lstStyle/>
          <a:p>
            <a:fld id="{0D0C2072-8BD3-4A25-9A71-B353EDA33FFA}" type="datetimeFigureOut">
              <a:rPr lang="en-US" smtClean="0"/>
              <a:t>2/16/2020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12864725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5" name="Date Placeholder 4"/>
          <p:cNvSpPr>
            <a:spLocks noGrp="1"/>
          </p:cNvSpPr>
          <p:nvPr>
            <p:ph type="dt" sz="half" idx="10"/>
          </p:nvPr>
        </p:nvSpPr>
        <p:spPr/>
        <p:txBody>
          <a:bodyPr/>
          <a:lstStyle/>
          <a:p>
            <a:fld id="{0D0C2072-8BD3-4A25-9A71-B353EDA33FFA}" type="datetimeFigureOut">
              <a:rPr lang="en-US" smtClean="0"/>
              <a:t>2/16/2020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39359630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D0C2072-8BD3-4A25-9A71-B353EDA33FFA}" type="datetimeFigureOut">
              <a:rPr lang="en-US" smtClean="0"/>
              <a:t>2/16/2020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34409374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D0C2072-8BD3-4A25-9A71-B353EDA33FFA}" type="datetimeFigureOut">
              <a:rPr lang="en-US" smtClean="0"/>
              <a:t>2/16/2020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34837024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High">
    <p:spTree>
      <p:nvGrpSpPr>
        <p:cNvPr id="1" name=""/>
        <p:cNvGrpSpPr/>
        <p:nvPr/>
      </p:nvGrpSpPr>
      <p:grpSpPr>
        <a:xfrm>
          <a:off x="0" y="0"/>
          <a:ext cx="0" cy="0"/>
          <a:chOff x="0" y="0"/>
          <a:chExt cx="0" cy="0"/>
        </a:xfrm>
      </p:grpSpPr>
      <p:sp>
        <p:nvSpPr>
          <p:cNvPr id="6" name="Picture Placeholder 5"/>
          <p:cNvSpPr>
            <a:spLocks noGrp="1"/>
          </p:cNvSpPr>
          <p:nvPr>
            <p:ph type="pic" sz="quarter" idx="12"/>
          </p:nvPr>
        </p:nvSpPr>
        <p:spPr>
          <a:xfrm>
            <a:off x="0" y="0"/>
            <a:ext cx="12192000" cy="6858000"/>
          </a:xfrm>
        </p:spPr>
        <p:txBody>
          <a:bodyPr/>
          <a:lstStyle/>
          <a:p>
            <a:r>
              <a:rPr lang="en-US" dirty="0"/>
              <a:t>Click icon to add picture</a:t>
            </a:r>
          </a:p>
        </p:txBody>
      </p:sp>
      <p:sp>
        <p:nvSpPr>
          <p:cNvPr id="4" name="Slide Number Placeholder 3"/>
          <p:cNvSpPr>
            <a:spLocks noGrp="1"/>
          </p:cNvSpPr>
          <p:nvPr>
            <p:ph type="sldNum" sz="quarter" idx="11"/>
          </p:nvPr>
        </p:nvSpPr>
        <p:spPr>
          <a:xfrm>
            <a:off x="312" y="2203704"/>
            <a:ext cx="611681" cy="365125"/>
          </a:xfrm>
        </p:spPr>
        <p:txBody>
          <a:bodyPr/>
          <a:lstStyle/>
          <a:p>
            <a:fld id="{2760AF0F-E753-4DD9-B8E5-577C039A067C}" type="slidenum">
              <a:rPr lang="en-JM" smtClean="0"/>
              <a:t>‹#›</a:t>
            </a:fld>
            <a:endParaRPr lang="en-JM" dirty="0"/>
          </a:p>
        </p:txBody>
      </p:sp>
      <p:sp>
        <p:nvSpPr>
          <p:cNvPr id="2" name="Title 1"/>
          <p:cNvSpPr>
            <a:spLocks noGrp="1"/>
          </p:cNvSpPr>
          <p:nvPr>
            <p:ph type="title"/>
          </p:nvPr>
        </p:nvSpPr>
        <p:spPr>
          <a:xfrm>
            <a:off x="994035" y="2148840"/>
            <a:ext cx="10412618" cy="1143000"/>
          </a:xfrm>
        </p:spPr>
        <p:txBody>
          <a:bodyPr vert="horz" lIns="121954" tIns="60977" rIns="121954" bIns="60977" rtlCol="0" anchor="ctr">
            <a:normAutofit/>
          </a:bodyPr>
          <a:lstStyle>
            <a:lvl1pPr>
              <a:defRPr lang="en-US" dirty="0">
                <a:solidFill>
                  <a:schemeClr val="accent3"/>
                </a:solidFill>
                <a:ea typeface="Titillium Web"/>
                <a:cs typeface="Titillium WebLight"/>
              </a:defRPr>
            </a:lvl1pPr>
          </a:lstStyle>
          <a:p>
            <a:pPr marL="0" lvl="0">
              <a:spcBef>
                <a:spcPts val="3199"/>
              </a:spcBef>
            </a:pPr>
            <a:r>
              <a:rPr lang="en-US"/>
              <a:t>Click to edit Master title style</a:t>
            </a:r>
            <a:endParaRPr lang="en-US" dirty="0"/>
          </a:p>
        </p:txBody>
      </p:sp>
    </p:spTree>
    <p:custDataLst>
      <p:tags r:id="rId1"/>
    </p:custDataLst>
    <p:extLst>
      <p:ext uri="{BB962C8B-B14F-4D97-AF65-F5344CB8AC3E}">
        <p14:creationId xmlns:p14="http://schemas.microsoft.com/office/powerpoint/2010/main" val="1039017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90836" y="447650"/>
            <a:ext cx="10412618" cy="1143000"/>
          </a:xfrm>
        </p:spPr>
        <p:txBody>
          <a:bodyPr>
            <a:normAutofit/>
          </a:bodyPr>
          <a:lstStyle>
            <a:lvl1pPr>
              <a:defRPr sz="3698">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790836" y="1816101"/>
            <a:ext cx="10412618" cy="4668185"/>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Rectangle 5"/>
          <p:cNvSpPr/>
          <p:nvPr userDrawn="1"/>
        </p:nvSpPr>
        <p:spPr>
          <a:xfrm>
            <a:off x="312" y="503539"/>
            <a:ext cx="611681" cy="324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121891" tIns="60945" rIns="121891" bIns="60945" rtlCol="0" anchor="ctr">
            <a:noAutofit/>
          </a:bodyPr>
          <a:lstStyle/>
          <a:p>
            <a:pPr algn="ctr"/>
            <a:endParaRPr lang="en-US" sz="1599" dirty="0">
              <a:solidFill>
                <a:schemeClr val="bg1"/>
              </a:solidFill>
              <a:latin typeface="Titillium Web" panose="00000500000000000000" pitchFamily="2" charset="0"/>
              <a:cs typeface="Titillium WebRegular"/>
            </a:endParaRPr>
          </a:p>
        </p:txBody>
      </p:sp>
      <p:sp>
        <p:nvSpPr>
          <p:cNvPr id="5" name="Text Placeholder 4"/>
          <p:cNvSpPr>
            <a:spLocks noGrp="1"/>
          </p:cNvSpPr>
          <p:nvPr>
            <p:ph type="body" sz="quarter" idx="10" hasCustomPrompt="1"/>
          </p:nvPr>
        </p:nvSpPr>
        <p:spPr>
          <a:xfrm>
            <a:off x="792483" y="447919"/>
            <a:ext cx="10411884" cy="349251"/>
          </a:xfrm>
        </p:spPr>
        <p:txBody>
          <a:bodyPr vert="horz" lIns="134149" tIns="60977" rIns="121954" bIns="60977" rtlCol="0" anchor="ctr">
            <a:noAutofit/>
          </a:bodyPr>
          <a:lstStyle>
            <a:lvl1pPr>
              <a:defRPr lang="en-JM" sz="2099" kern="100" spc="0" baseline="0" dirty="0">
                <a:solidFill>
                  <a:schemeClr val="accent1">
                    <a:lumMod val="75000"/>
                  </a:schemeClr>
                </a:solidFill>
                <a:latin typeface="+mj-lt"/>
              </a:defRPr>
            </a:lvl1pPr>
          </a:lstStyle>
          <a:p>
            <a:pPr marL="0" lvl="0" indent="0">
              <a:buFontTx/>
              <a:buNone/>
            </a:pPr>
            <a:r>
              <a:rPr lang="en-JM" dirty="0"/>
              <a:t>Click to add text</a:t>
            </a:r>
          </a:p>
        </p:txBody>
      </p:sp>
      <p:sp>
        <p:nvSpPr>
          <p:cNvPr id="7" name="Slide Number Placeholder 2"/>
          <p:cNvSpPr>
            <a:spLocks noGrp="1"/>
          </p:cNvSpPr>
          <p:nvPr>
            <p:ph type="sldNum" sz="quarter" idx="12"/>
          </p:nvPr>
        </p:nvSpPr>
        <p:spPr>
          <a:xfrm>
            <a:off x="312" y="487606"/>
            <a:ext cx="611681" cy="365125"/>
          </a:xfrm>
        </p:spPr>
        <p:txBody>
          <a:bodyPr/>
          <a:lstStyle/>
          <a:p>
            <a:fld id="{2760AF0F-E753-4DD9-B8E5-577C039A067C}" type="slidenum">
              <a:rPr lang="en-JM" smtClean="0"/>
              <a:t>‹#›</a:t>
            </a:fld>
            <a:endParaRPr lang="en-JM" dirty="0"/>
          </a:p>
        </p:txBody>
      </p:sp>
    </p:spTree>
    <p:custDataLst>
      <p:tags r:id="rId1"/>
    </p:custDataLst>
    <p:extLst>
      <p:ext uri="{BB962C8B-B14F-4D97-AF65-F5344CB8AC3E}">
        <p14:creationId xmlns:p14="http://schemas.microsoft.com/office/powerpoint/2010/main" val="25622634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Picture Right">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7733358" y="-5061"/>
            <a:ext cx="4458642" cy="6863061"/>
          </a:xfrm>
        </p:spPr>
        <p:txBody>
          <a:bodyPr>
            <a:normAutofit/>
          </a:bodyPr>
          <a:lstStyle>
            <a:lvl1pPr>
              <a:defRPr sz="1599"/>
            </a:lvl1pPr>
          </a:lstStyle>
          <a:p>
            <a:r>
              <a:rPr lang="en-US" dirty="0"/>
              <a:t>Click icon to add picture</a:t>
            </a:r>
          </a:p>
        </p:txBody>
      </p:sp>
      <p:sp>
        <p:nvSpPr>
          <p:cNvPr id="7" name="Title 1"/>
          <p:cNvSpPr>
            <a:spLocks noGrp="1"/>
          </p:cNvSpPr>
          <p:nvPr>
            <p:ph type="title"/>
          </p:nvPr>
        </p:nvSpPr>
        <p:spPr>
          <a:xfrm>
            <a:off x="790836" y="447650"/>
            <a:ext cx="10412618" cy="1143000"/>
          </a:xfrm>
        </p:spPr>
        <p:txBody>
          <a:bodyPr>
            <a:normAutofit/>
          </a:bodyPr>
          <a:lstStyle>
            <a:lvl1pPr>
              <a:defRPr sz="3698">
                <a:solidFill>
                  <a:schemeClr val="tx2"/>
                </a:solidFill>
              </a:defRPr>
            </a:lvl1pPr>
          </a:lstStyle>
          <a:p>
            <a:r>
              <a:rPr lang="en-US"/>
              <a:t>Click to edit Master title style</a:t>
            </a:r>
            <a:endParaRPr lang="en-US" dirty="0"/>
          </a:p>
        </p:txBody>
      </p:sp>
      <p:sp>
        <p:nvSpPr>
          <p:cNvPr id="8" name="Text Placeholder 4"/>
          <p:cNvSpPr>
            <a:spLocks noGrp="1"/>
          </p:cNvSpPr>
          <p:nvPr>
            <p:ph type="body" sz="quarter" idx="11" hasCustomPrompt="1"/>
          </p:nvPr>
        </p:nvSpPr>
        <p:spPr>
          <a:xfrm>
            <a:off x="792483" y="447919"/>
            <a:ext cx="10411884" cy="349251"/>
          </a:xfrm>
        </p:spPr>
        <p:txBody>
          <a:bodyPr vert="horz" lIns="134149" tIns="60977" rIns="121954" bIns="60977" rtlCol="0" anchor="ctr">
            <a:noAutofit/>
          </a:bodyPr>
          <a:lstStyle>
            <a:lvl1pPr>
              <a:defRPr lang="en-JM" sz="2099" kern="100" spc="0" baseline="0" dirty="0">
                <a:solidFill>
                  <a:schemeClr val="accent1">
                    <a:lumMod val="75000"/>
                  </a:schemeClr>
                </a:solidFill>
                <a:latin typeface="+mj-lt"/>
              </a:defRPr>
            </a:lvl1pPr>
          </a:lstStyle>
          <a:p>
            <a:pPr marL="0" lvl="0" indent="0">
              <a:buFontTx/>
              <a:buNone/>
            </a:pPr>
            <a:r>
              <a:rPr lang="en-JM" dirty="0"/>
              <a:t>Click to add text</a:t>
            </a:r>
          </a:p>
        </p:txBody>
      </p:sp>
      <p:sp>
        <p:nvSpPr>
          <p:cNvPr id="6" name="Rectangle 5"/>
          <p:cNvSpPr/>
          <p:nvPr userDrawn="1"/>
        </p:nvSpPr>
        <p:spPr>
          <a:xfrm>
            <a:off x="312" y="503539"/>
            <a:ext cx="611681" cy="324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121891" tIns="60945" rIns="121891" bIns="60945" rtlCol="0" anchor="ctr">
            <a:noAutofit/>
          </a:bodyPr>
          <a:lstStyle/>
          <a:p>
            <a:pPr algn="ctr"/>
            <a:endParaRPr lang="en-US" sz="1599" dirty="0">
              <a:solidFill>
                <a:schemeClr val="bg1"/>
              </a:solidFill>
              <a:latin typeface="Titillium Web" panose="00000500000000000000" pitchFamily="2" charset="0"/>
              <a:cs typeface="Titillium WebRegular"/>
            </a:endParaRPr>
          </a:p>
        </p:txBody>
      </p:sp>
      <p:sp>
        <p:nvSpPr>
          <p:cNvPr id="3" name="Slide Number Placeholder 2"/>
          <p:cNvSpPr>
            <a:spLocks noGrp="1"/>
          </p:cNvSpPr>
          <p:nvPr>
            <p:ph type="sldNum" sz="quarter" idx="13"/>
          </p:nvPr>
        </p:nvSpPr>
        <p:spPr>
          <a:xfrm>
            <a:off x="312" y="487606"/>
            <a:ext cx="611681" cy="365125"/>
          </a:xfrm>
        </p:spPr>
        <p:txBody>
          <a:bodyPr/>
          <a:lstStyle/>
          <a:p>
            <a:fld id="{2760AF0F-E753-4DD9-B8E5-577C039A067C}" type="slidenum">
              <a:rPr lang="en-JM" smtClean="0"/>
              <a:t>‹#›</a:t>
            </a:fld>
            <a:endParaRPr lang="en-JM" dirty="0"/>
          </a:p>
        </p:txBody>
      </p:sp>
    </p:spTree>
    <p:custDataLst>
      <p:tags r:id="rId1"/>
    </p:custDataLst>
    <p:extLst>
      <p:ext uri="{BB962C8B-B14F-4D97-AF65-F5344CB8AC3E}">
        <p14:creationId xmlns:p14="http://schemas.microsoft.com/office/powerpoint/2010/main" val="1474530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0D0C2072-8BD3-4A25-9A71-B353EDA33FFA}" type="datetimeFigureOut">
              <a:rPr lang="en-US" smtClean="0"/>
              <a:t>2/16/2020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1429354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D0C2072-8BD3-4A25-9A71-B353EDA33FFA}" type="datetimeFigureOut">
              <a:rPr lang="en-US" smtClean="0"/>
              <a:t>2/16/2020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41324754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D0C2072-8BD3-4A25-9A71-B353EDA33FFA}" type="datetimeFigureOut">
              <a:rPr lang="en-US" smtClean="0"/>
              <a:t>2/16/2020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104853438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D0C2072-8BD3-4A25-9A71-B353EDA33FFA}" type="datetimeFigureOut">
              <a:rPr lang="en-US" smtClean="0"/>
              <a:t>2/16/2020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40370561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D0C2072-8BD3-4A25-9A71-B353EDA33FFA}" type="datetimeFigureOut">
              <a:rPr lang="en-US" smtClean="0"/>
              <a:t>2/16/2020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387489437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D0C2072-8BD3-4A25-9A71-B353EDA33FFA}" type="datetimeFigureOut">
              <a:rPr lang="en-US" smtClean="0"/>
              <a:t>2/16/2020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354675689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D0C2072-8BD3-4A25-9A71-B353EDA33FFA}" type="datetimeFigureOut">
              <a:rPr lang="en-US" smtClean="0"/>
              <a:t>2/16/2020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63663032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D0C2072-8BD3-4A25-9A71-B353EDA33FFA}" type="datetimeFigureOut">
              <a:rPr lang="en-US" smtClean="0"/>
              <a:t>2/16/2020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198922557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D0C2072-8BD3-4A25-9A71-B353EDA33FFA}" type="datetimeFigureOut">
              <a:rPr lang="en-US" smtClean="0"/>
              <a:t>2/16/2020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174265319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D0C2072-8BD3-4A25-9A71-B353EDA33FFA}" type="datetimeFigureOut">
              <a:rPr lang="en-US" smtClean="0"/>
              <a:t>2/16/2020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28596289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D0C2072-8BD3-4A25-9A71-B353EDA33FFA}" type="datetimeFigureOut">
              <a:rPr lang="en-US" smtClean="0"/>
              <a:t>2/16/2020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59F4CF-452D-4B53-922A-3D4908B867D0}" type="slidenum">
              <a:rPr lang="en-US" smtClean="0"/>
              <a:t>‹#›</a:t>
            </a:fld>
            <a:endParaRPr lang="en-US"/>
          </a:p>
        </p:txBody>
      </p:sp>
    </p:spTree>
    <p:extLst>
      <p:ext uri="{BB962C8B-B14F-4D97-AF65-F5344CB8AC3E}">
        <p14:creationId xmlns:p14="http://schemas.microsoft.com/office/powerpoint/2010/main" val="107044389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Picture Right">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7733358" y="-5061"/>
            <a:ext cx="4458642" cy="6863061"/>
          </a:xfrm>
        </p:spPr>
        <p:txBody>
          <a:bodyPr>
            <a:normAutofit/>
          </a:bodyPr>
          <a:lstStyle>
            <a:lvl1pPr>
              <a:defRPr sz="1599"/>
            </a:lvl1pPr>
          </a:lstStyle>
          <a:p>
            <a:r>
              <a:rPr lang="en-US" dirty="0"/>
              <a:t>Click icon to add picture</a:t>
            </a:r>
          </a:p>
        </p:txBody>
      </p:sp>
      <p:sp>
        <p:nvSpPr>
          <p:cNvPr id="7" name="Title 1"/>
          <p:cNvSpPr>
            <a:spLocks noGrp="1"/>
          </p:cNvSpPr>
          <p:nvPr>
            <p:ph type="title"/>
          </p:nvPr>
        </p:nvSpPr>
        <p:spPr>
          <a:xfrm>
            <a:off x="790836" y="447650"/>
            <a:ext cx="10412618" cy="1143000"/>
          </a:xfrm>
        </p:spPr>
        <p:txBody>
          <a:bodyPr>
            <a:normAutofit/>
          </a:bodyPr>
          <a:lstStyle>
            <a:lvl1pPr>
              <a:defRPr sz="3698">
                <a:solidFill>
                  <a:schemeClr val="tx2"/>
                </a:solidFill>
              </a:defRPr>
            </a:lvl1pPr>
          </a:lstStyle>
          <a:p>
            <a:r>
              <a:rPr lang="en-US"/>
              <a:t>Click to edit Master title style</a:t>
            </a:r>
            <a:endParaRPr lang="en-US" dirty="0"/>
          </a:p>
        </p:txBody>
      </p:sp>
      <p:sp>
        <p:nvSpPr>
          <p:cNvPr id="8" name="Text Placeholder 4"/>
          <p:cNvSpPr>
            <a:spLocks noGrp="1"/>
          </p:cNvSpPr>
          <p:nvPr>
            <p:ph type="body" sz="quarter" idx="11" hasCustomPrompt="1"/>
          </p:nvPr>
        </p:nvSpPr>
        <p:spPr>
          <a:xfrm>
            <a:off x="792483" y="447919"/>
            <a:ext cx="10411884" cy="349251"/>
          </a:xfrm>
        </p:spPr>
        <p:txBody>
          <a:bodyPr vert="horz" lIns="134149" tIns="60977" rIns="121954" bIns="60977" rtlCol="0" anchor="ctr">
            <a:noAutofit/>
          </a:bodyPr>
          <a:lstStyle>
            <a:lvl1pPr>
              <a:defRPr lang="en-JM" sz="2099" kern="100" spc="0" baseline="0" dirty="0">
                <a:solidFill>
                  <a:schemeClr val="accent1">
                    <a:lumMod val="75000"/>
                  </a:schemeClr>
                </a:solidFill>
                <a:latin typeface="+mj-lt"/>
              </a:defRPr>
            </a:lvl1pPr>
          </a:lstStyle>
          <a:p>
            <a:pPr marL="0" lvl="0" indent="0">
              <a:buFontTx/>
              <a:buNone/>
            </a:pPr>
            <a:r>
              <a:rPr lang="en-JM" dirty="0"/>
              <a:t>Click to add text</a:t>
            </a:r>
          </a:p>
        </p:txBody>
      </p:sp>
      <p:sp>
        <p:nvSpPr>
          <p:cNvPr id="6" name="Rectangle 5"/>
          <p:cNvSpPr/>
          <p:nvPr/>
        </p:nvSpPr>
        <p:spPr>
          <a:xfrm>
            <a:off x="312" y="503539"/>
            <a:ext cx="611681" cy="324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121891" tIns="60945" rIns="121891" bIns="60945" rtlCol="0" anchor="ctr">
            <a:noAutofit/>
          </a:bodyPr>
          <a:lstStyle/>
          <a:p>
            <a:pPr algn="ctr"/>
            <a:endParaRPr lang="en-US" sz="1599" dirty="0">
              <a:solidFill>
                <a:schemeClr val="bg1"/>
              </a:solidFill>
              <a:latin typeface="Titillium Web" panose="00000500000000000000" pitchFamily="2" charset="0"/>
              <a:cs typeface="Titillium WebRegular"/>
            </a:endParaRPr>
          </a:p>
        </p:txBody>
      </p:sp>
      <p:sp>
        <p:nvSpPr>
          <p:cNvPr id="3" name="Slide Number Placeholder 2"/>
          <p:cNvSpPr>
            <a:spLocks noGrp="1"/>
          </p:cNvSpPr>
          <p:nvPr>
            <p:ph type="sldNum" sz="quarter" idx="13"/>
          </p:nvPr>
        </p:nvSpPr>
        <p:spPr>
          <a:xfrm>
            <a:off x="312" y="487606"/>
            <a:ext cx="611681" cy="365125"/>
          </a:xfrm>
        </p:spPr>
        <p:txBody>
          <a:bodyPr/>
          <a:lstStyle/>
          <a:p>
            <a:fld id="{2760AF0F-E753-4DD9-B8E5-577C039A067C}" type="slidenum">
              <a:rPr lang="en-JM" smtClean="0"/>
              <a:t>‹#›</a:t>
            </a:fld>
            <a:endParaRPr lang="en-JM" dirty="0"/>
          </a:p>
        </p:txBody>
      </p:sp>
      <p:sp>
        <p:nvSpPr>
          <p:cNvPr id="9" name="Rectangle 8"/>
          <p:cNvSpPr/>
          <p:nvPr userDrawn="1"/>
        </p:nvSpPr>
        <p:spPr>
          <a:xfrm>
            <a:off x="312" y="503539"/>
            <a:ext cx="611681" cy="324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121891" tIns="60945" rIns="121891" bIns="60945" rtlCol="0" anchor="ctr">
            <a:noAutofit/>
          </a:bodyPr>
          <a:lstStyle/>
          <a:p>
            <a:pPr algn="ctr"/>
            <a:endParaRPr lang="en-US" sz="1599" dirty="0">
              <a:solidFill>
                <a:schemeClr val="bg1"/>
              </a:solidFill>
              <a:latin typeface="Titillium Web" panose="00000500000000000000" pitchFamily="2" charset="0"/>
              <a:cs typeface="Titillium WebRegular"/>
            </a:endParaRPr>
          </a:p>
        </p:txBody>
      </p:sp>
    </p:spTree>
    <p:custDataLst>
      <p:tags r:id="rId1"/>
    </p:custDataLst>
    <p:extLst>
      <p:ext uri="{BB962C8B-B14F-4D97-AF65-F5344CB8AC3E}">
        <p14:creationId xmlns:p14="http://schemas.microsoft.com/office/powerpoint/2010/main" val="266453656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Title High">
    <p:spTree>
      <p:nvGrpSpPr>
        <p:cNvPr id="1" name=""/>
        <p:cNvGrpSpPr/>
        <p:nvPr/>
      </p:nvGrpSpPr>
      <p:grpSpPr>
        <a:xfrm>
          <a:off x="0" y="0"/>
          <a:ext cx="0" cy="0"/>
          <a:chOff x="0" y="0"/>
          <a:chExt cx="0" cy="0"/>
        </a:xfrm>
      </p:grpSpPr>
      <p:sp>
        <p:nvSpPr>
          <p:cNvPr id="6" name="Picture Placeholder 5"/>
          <p:cNvSpPr>
            <a:spLocks noGrp="1"/>
          </p:cNvSpPr>
          <p:nvPr>
            <p:ph type="pic" sz="quarter" idx="12"/>
          </p:nvPr>
        </p:nvSpPr>
        <p:spPr>
          <a:xfrm>
            <a:off x="0" y="0"/>
            <a:ext cx="12192000" cy="6858000"/>
          </a:xfrm>
        </p:spPr>
        <p:txBody>
          <a:bodyPr/>
          <a:lstStyle/>
          <a:p>
            <a:r>
              <a:rPr lang="en-US" dirty="0"/>
              <a:t>Click icon to add picture</a:t>
            </a:r>
          </a:p>
        </p:txBody>
      </p:sp>
      <p:sp>
        <p:nvSpPr>
          <p:cNvPr id="4" name="Slide Number Placeholder 3"/>
          <p:cNvSpPr>
            <a:spLocks noGrp="1"/>
          </p:cNvSpPr>
          <p:nvPr>
            <p:ph type="sldNum" sz="quarter" idx="11"/>
          </p:nvPr>
        </p:nvSpPr>
        <p:spPr>
          <a:xfrm>
            <a:off x="312" y="2203704"/>
            <a:ext cx="611681" cy="365125"/>
          </a:xfrm>
        </p:spPr>
        <p:txBody>
          <a:bodyPr/>
          <a:lstStyle/>
          <a:p>
            <a:fld id="{2760AF0F-E753-4DD9-B8E5-577C039A067C}" type="slidenum">
              <a:rPr lang="en-JM" smtClean="0"/>
              <a:t>‹#›</a:t>
            </a:fld>
            <a:endParaRPr lang="en-JM" dirty="0"/>
          </a:p>
        </p:txBody>
      </p:sp>
      <p:sp>
        <p:nvSpPr>
          <p:cNvPr id="2" name="Title 1"/>
          <p:cNvSpPr>
            <a:spLocks noGrp="1"/>
          </p:cNvSpPr>
          <p:nvPr>
            <p:ph type="title"/>
          </p:nvPr>
        </p:nvSpPr>
        <p:spPr>
          <a:xfrm>
            <a:off x="994035" y="2148840"/>
            <a:ext cx="10412618" cy="1143000"/>
          </a:xfrm>
        </p:spPr>
        <p:txBody>
          <a:bodyPr vert="horz" lIns="121954" tIns="60977" rIns="121954" bIns="60977" rtlCol="0" anchor="ctr">
            <a:normAutofit/>
          </a:bodyPr>
          <a:lstStyle>
            <a:lvl1pPr>
              <a:defRPr lang="en-US" dirty="0">
                <a:solidFill>
                  <a:schemeClr val="accent3"/>
                </a:solidFill>
                <a:ea typeface="Titillium Web"/>
                <a:cs typeface="Titillium WebLight"/>
              </a:defRPr>
            </a:lvl1pPr>
          </a:lstStyle>
          <a:p>
            <a:pPr marL="0" lvl="0">
              <a:spcBef>
                <a:spcPts val="3199"/>
              </a:spcBef>
            </a:pPr>
            <a:r>
              <a:rPr lang="en-US"/>
              <a:t>Click to edit Master title style</a:t>
            </a:r>
            <a:endParaRPr lang="en-US" dirty="0"/>
          </a:p>
        </p:txBody>
      </p:sp>
    </p:spTree>
    <p:custDataLst>
      <p:tags r:id="rId1"/>
    </p:custDataLst>
    <p:extLst>
      <p:ext uri="{BB962C8B-B14F-4D97-AF65-F5344CB8AC3E}">
        <p14:creationId xmlns:p14="http://schemas.microsoft.com/office/powerpoint/2010/main" val="66976232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90836" y="447650"/>
            <a:ext cx="10412618" cy="1143000"/>
          </a:xfrm>
        </p:spPr>
        <p:txBody>
          <a:bodyPr>
            <a:normAutofit/>
          </a:bodyPr>
          <a:lstStyle>
            <a:lvl1pPr>
              <a:defRPr sz="3698">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790836" y="1816101"/>
            <a:ext cx="10412618" cy="4668185"/>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Rectangle 5"/>
          <p:cNvSpPr/>
          <p:nvPr/>
        </p:nvSpPr>
        <p:spPr>
          <a:xfrm>
            <a:off x="312" y="503539"/>
            <a:ext cx="611681" cy="324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121891" tIns="60945" rIns="121891" bIns="60945" rtlCol="0" anchor="ctr">
            <a:noAutofit/>
          </a:bodyPr>
          <a:lstStyle/>
          <a:p>
            <a:pPr algn="ctr"/>
            <a:endParaRPr lang="en-US" sz="1599" dirty="0">
              <a:solidFill>
                <a:schemeClr val="bg1"/>
              </a:solidFill>
              <a:latin typeface="Titillium Web" panose="00000500000000000000" pitchFamily="2" charset="0"/>
              <a:cs typeface="Titillium WebRegular"/>
            </a:endParaRPr>
          </a:p>
        </p:txBody>
      </p:sp>
      <p:sp>
        <p:nvSpPr>
          <p:cNvPr id="5" name="Text Placeholder 4"/>
          <p:cNvSpPr>
            <a:spLocks noGrp="1"/>
          </p:cNvSpPr>
          <p:nvPr>
            <p:ph type="body" sz="quarter" idx="10" hasCustomPrompt="1"/>
          </p:nvPr>
        </p:nvSpPr>
        <p:spPr>
          <a:xfrm>
            <a:off x="792483" y="447919"/>
            <a:ext cx="10411884" cy="349251"/>
          </a:xfrm>
        </p:spPr>
        <p:txBody>
          <a:bodyPr vert="horz" lIns="134149" tIns="60977" rIns="121954" bIns="60977" rtlCol="0" anchor="ctr">
            <a:noAutofit/>
          </a:bodyPr>
          <a:lstStyle>
            <a:lvl1pPr>
              <a:defRPr lang="en-JM" sz="2099" kern="100" spc="0" baseline="0" dirty="0">
                <a:solidFill>
                  <a:schemeClr val="accent1">
                    <a:lumMod val="75000"/>
                  </a:schemeClr>
                </a:solidFill>
                <a:latin typeface="+mj-lt"/>
              </a:defRPr>
            </a:lvl1pPr>
          </a:lstStyle>
          <a:p>
            <a:pPr marL="0" lvl="0" indent="0">
              <a:buFontTx/>
              <a:buNone/>
            </a:pPr>
            <a:r>
              <a:rPr lang="en-JM" dirty="0"/>
              <a:t>Click to add text</a:t>
            </a:r>
          </a:p>
        </p:txBody>
      </p:sp>
      <p:sp>
        <p:nvSpPr>
          <p:cNvPr id="7" name="Slide Number Placeholder 2"/>
          <p:cNvSpPr>
            <a:spLocks noGrp="1"/>
          </p:cNvSpPr>
          <p:nvPr>
            <p:ph type="sldNum" sz="quarter" idx="12"/>
          </p:nvPr>
        </p:nvSpPr>
        <p:spPr>
          <a:xfrm>
            <a:off x="312" y="487606"/>
            <a:ext cx="611681" cy="365125"/>
          </a:xfrm>
        </p:spPr>
        <p:txBody>
          <a:bodyPr/>
          <a:lstStyle/>
          <a:p>
            <a:fld id="{2760AF0F-E753-4DD9-B8E5-577C039A067C}" type="slidenum">
              <a:rPr lang="en-JM" smtClean="0"/>
              <a:t>‹#›</a:t>
            </a:fld>
            <a:endParaRPr lang="en-JM" dirty="0"/>
          </a:p>
        </p:txBody>
      </p:sp>
      <p:sp>
        <p:nvSpPr>
          <p:cNvPr id="8" name="Rectangle 7"/>
          <p:cNvSpPr/>
          <p:nvPr userDrawn="1"/>
        </p:nvSpPr>
        <p:spPr>
          <a:xfrm>
            <a:off x="312" y="503539"/>
            <a:ext cx="611681" cy="324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lIns="121891" tIns="60945" rIns="121891" bIns="60945" rtlCol="0" anchor="ctr">
            <a:noAutofit/>
          </a:bodyPr>
          <a:lstStyle/>
          <a:p>
            <a:pPr algn="ctr"/>
            <a:endParaRPr lang="en-US" sz="1599" dirty="0">
              <a:solidFill>
                <a:schemeClr val="bg1"/>
              </a:solidFill>
              <a:latin typeface="Titillium Web" panose="00000500000000000000" pitchFamily="2" charset="0"/>
              <a:cs typeface="Titillium WebRegular"/>
            </a:endParaRPr>
          </a:p>
        </p:txBody>
      </p:sp>
    </p:spTree>
    <p:custDataLst>
      <p:tags r:id="rId1"/>
    </p:custDataLst>
    <p:extLst>
      <p:ext uri="{BB962C8B-B14F-4D97-AF65-F5344CB8AC3E}">
        <p14:creationId xmlns:p14="http://schemas.microsoft.com/office/powerpoint/2010/main" val="14141063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theme" Target="../theme/theme2.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0C2072-8BD3-4A25-9A71-B353EDA33FFA}" type="datetimeFigureOut">
              <a:rPr lang="en-US" smtClean="0"/>
              <a:t>2/16/2020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59F4CF-452D-4B53-922A-3D4908B867D0}" type="slidenum">
              <a:rPr lang="en-US" smtClean="0"/>
              <a:t>‹#›</a:t>
            </a:fld>
            <a:endParaRPr lang="en-US"/>
          </a:p>
        </p:txBody>
      </p:sp>
    </p:spTree>
    <p:extLst>
      <p:ext uri="{BB962C8B-B14F-4D97-AF65-F5344CB8AC3E}">
        <p14:creationId xmlns:p14="http://schemas.microsoft.com/office/powerpoint/2010/main" val="781080806"/>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D0C2072-8BD3-4A25-9A71-B353EDA33FFA}" type="datetimeFigureOut">
              <a:rPr lang="en-US" smtClean="0"/>
              <a:t>2/16/2020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59F4CF-452D-4B53-922A-3D4908B867D0}" type="slidenum">
              <a:rPr lang="en-US" smtClean="0"/>
              <a:t>‹#›</a:t>
            </a:fld>
            <a:endParaRPr lang="en-US"/>
          </a:p>
        </p:txBody>
      </p:sp>
    </p:spTree>
    <p:extLst>
      <p:ext uri="{BB962C8B-B14F-4D97-AF65-F5344CB8AC3E}">
        <p14:creationId xmlns:p14="http://schemas.microsoft.com/office/powerpoint/2010/main" val="2837756778"/>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 id="2147483693"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tags" Target="../tags/tag7.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4.xml"/><Relationship Id="rId1" Type="http://schemas.openxmlformats.org/officeDocument/2006/relationships/tags" Target="../tags/tag9.xml"/><Relationship Id="rId4" Type="http://schemas.openxmlformats.org/officeDocument/2006/relationships/slide" Target="slide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4.xml"/><Relationship Id="rId1" Type="http://schemas.openxmlformats.org/officeDocument/2006/relationships/tags" Target="../tags/tag10.xml"/><Relationship Id="rId5" Type="http://schemas.openxmlformats.org/officeDocument/2006/relationships/slide" Target="slide8.xml"/><Relationship Id="rId4" Type="http://schemas.openxmlformats.org/officeDocument/2006/relationships/slide" Target="slide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4.xml"/><Relationship Id="rId1" Type="http://schemas.openxmlformats.org/officeDocument/2006/relationships/tags" Target="../tags/tag11.xml"/><Relationship Id="rId5" Type="http://schemas.openxmlformats.org/officeDocument/2006/relationships/slide" Target="slide7.xml"/><Relationship Id="rId4" Type="http://schemas.openxmlformats.org/officeDocument/2006/relationships/slide" Target="slide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4.xml"/><Relationship Id="rId1" Type="http://schemas.openxmlformats.org/officeDocument/2006/relationships/tags" Target="../tags/tag12.xml"/><Relationship Id="rId5" Type="http://schemas.openxmlformats.org/officeDocument/2006/relationships/slide" Target="slide10.xml"/><Relationship Id="rId4" Type="http://schemas.openxmlformats.org/officeDocument/2006/relationships/slide" Target="slide9.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4.xml"/><Relationship Id="rId1" Type="http://schemas.openxmlformats.org/officeDocument/2006/relationships/tags" Target="../tags/tag13.xml"/><Relationship Id="rId5" Type="http://schemas.openxmlformats.org/officeDocument/2006/relationships/slide" Target="slide10.xml"/><Relationship Id="rId4" Type="http://schemas.openxmlformats.org/officeDocument/2006/relationships/slide" Target="slide9.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4.xml"/><Relationship Id="rId1" Type="http://schemas.openxmlformats.org/officeDocument/2006/relationships/tags" Target="../tags/tag14.xml"/><Relationship Id="rId5" Type="http://schemas.openxmlformats.org/officeDocument/2006/relationships/slide" Target="slide10.xml"/><Relationship Id="rId4" Type="http://schemas.openxmlformats.org/officeDocument/2006/relationships/slide" Target="slide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4.xml"/><Relationship Id="rId1" Type="http://schemas.openxmlformats.org/officeDocument/2006/relationships/tags" Target="../tags/tag15.xml"/><Relationship Id="rId5" Type="http://schemas.openxmlformats.org/officeDocument/2006/relationships/slide" Target="slide12.xml"/><Relationship Id="rId4" Type="http://schemas.openxmlformats.org/officeDocument/2006/relationships/slide" Target="slide11.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4.xml"/><Relationship Id="rId1" Type="http://schemas.openxmlformats.org/officeDocument/2006/relationships/tags" Target="../tags/tag16.xml"/><Relationship Id="rId5" Type="http://schemas.openxmlformats.org/officeDocument/2006/relationships/slide" Target="slide13.xml"/><Relationship Id="rId4" Type="http://schemas.openxmlformats.org/officeDocument/2006/relationships/slide" Target="slide1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4.xml"/><Relationship Id="rId1" Type="http://schemas.openxmlformats.org/officeDocument/2006/relationships/tags" Target="../tags/tag17.xml"/><Relationship Id="rId4" Type="http://schemas.openxmlformats.org/officeDocument/2006/relationships/slide" Target="slide19.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4.xml"/><Relationship Id="rId1" Type="http://schemas.openxmlformats.org/officeDocument/2006/relationships/tags" Target="../tags/tag18.xml"/><Relationship Id="rId5" Type="http://schemas.openxmlformats.org/officeDocument/2006/relationships/slide" Target="slide15.xml"/><Relationship Id="rId4" Type="http://schemas.openxmlformats.org/officeDocument/2006/relationships/slide" Target="slide14.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4.xml"/><Relationship Id="rId1" Type="http://schemas.openxmlformats.org/officeDocument/2006/relationships/tags" Target="../tags/tag19.xml"/><Relationship Id="rId5" Type="http://schemas.openxmlformats.org/officeDocument/2006/relationships/slide" Target="slide15.xml"/><Relationship Id="rId4" Type="http://schemas.openxmlformats.org/officeDocument/2006/relationships/slide" Target="slide14.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4.xml"/><Relationship Id="rId1" Type="http://schemas.openxmlformats.org/officeDocument/2006/relationships/tags" Target="../tags/tag20.xml"/><Relationship Id="rId4" Type="http://schemas.openxmlformats.org/officeDocument/2006/relationships/slide" Target="slide19.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4.xml"/><Relationship Id="rId1" Type="http://schemas.openxmlformats.org/officeDocument/2006/relationships/tags" Target="../tags/tag21.xml"/><Relationship Id="rId6" Type="http://schemas.openxmlformats.org/officeDocument/2006/relationships/slide" Target="slide17.xml"/><Relationship Id="rId5" Type="http://schemas.openxmlformats.org/officeDocument/2006/relationships/slide" Target="slide20.xml"/><Relationship Id="rId4" Type="http://schemas.openxmlformats.org/officeDocument/2006/relationships/slide" Target="slide16.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4.xml"/><Relationship Id="rId1" Type="http://schemas.openxmlformats.org/officeDocument/2006/relationships/tags" Target="../tags/tag22.xml"/><Relationship Id="rId5" Type="http://schemas.openxmlformats.org/officeDocument/2006/relationships/slide" Target="slide21.xml"/><Relationship Id="rId4" Type="http://schemas.openxmlformats.org/officeDocument/2006/relationships/slide" Target="slide18.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4.xml"/><Relationship Id="rId1" Type="http://schemas.openxmlformats.org/officeDocument/2006/relationships/tags" Target="../tags/tag23.xml"/><Relationship Id="rId5" Type="http://schemas.openxmlformats.org/officeDocument/2006/relationships/slide" Target="slide21.xml"/><Relationship Id="rId4" Type="http://schemas.openxmlformats.org/officeDocument/2006/relationships/slide" Target="slide20.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4.xml"/><Relationship Id="rId1" Type="http://schemas.openxmlformats.org/officeDocument/2006/relationships/tags" Target="../tags/tag24.xml"/><Relationship Id="rId4" Type="http://schemas.openxmlformats.org/officeDocument/2006/relationships/slide" Target="slide19.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6.xml"/><Relationship Id="rId2" Type="http://schemas.openxmlformats.org/officeDocument/2006/relationships/tags" Target="../tags/tag25.xml"/><Relationship Id="rId1" Type="http://schemas.openxmlformats.org/officeDocument/2006/relationships/themeOverride" Target="../theme/themeOverride1.xml"/><Relationship Id="rId5" Type="http://schemas.openxmlformats.org/officeDocument/2006/relationships/slide" Target="slide3.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6.xml"/><Relationship Id="rId2" Type="http://schemas.openxmlformats.org/officeDocument/2006/relationships/tags" Target="../tags/tag26.xml"/><Relationship Id="rId1" Type="http://schemas.openxmlformats.org/officeDocument/2006/relationships/themeOverride" Target="../theme/themeOverride2.xml"/><Relationship Id="rId5" Type="http://schemas.openxmlformats.org/officeDocument/2006/relationships/slide" Target="slide3.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6.xml"/><Relationship Id="rId2" Type="http://schemas.openxmlformats.org/officeDocument/2006/relationships/tags" Target="../tags/tag27.xml"/><Relationship Id="rId1" Type="http://schemas.openxmlformats.org/officeDocument/2006/relationships/themeOverride" Target="../theme/themeOverride3.xml"/><Relationship Id="rId5" Type="http://schemas.openxmlformats.org/officeDocument/2006/relationships/slide" Target="slide3.xml"/><Relationship Id="rId4"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6934CC06-B195-4657-BC73-E668AB3C6B5C}"/>
              </a:ext>
            </a:extLst>
          </p:cNvPr>
          <p:cNvSpPr/>
          <p:nvPr/>
        </p:nvSpPr>
        <p:spPr>
          <a:xfrm>
            <a:off x="0" y="3572"/>
            <a:ext cx="12191998" cy="6836640"/>
          </a:xfrm>
          <a:prstGeom prst="rect">
            <a:avLst/>
          </a:prstGeom>
          <a:ln/>
        </p:spPr>
        <p:style>
          <a:lnRef idx="1">
            <a:schemeClr val="accent1"/>
          </a:lnRef>
          <a:fillRef idx="2">
            <a:schemeClr val="accent1"/>
          </a:fillRef>
          <a:effectRef idx="1">
            <a:schemeClr val="accent1"/>
          </a:effectRef>
          <a:fontRef idx="minor">
            <a:schemeClr val="dk1"/>
          </a:fontRef>
        </p:style>
        <p:txBody>
          <a:bodyPr lIns="121891" tIns="60945" rIns="121891" bIns="60945" rtlCol="0" anchor="ctr">
            <a:noAutofit/>
          </a:bodyPr>
          <a:lstStyle/>
          <a:p>
            <a:pPr marL="342900" indent="-342900" algn="ctr">
              <a:buAutoNum type="arabicPeriod" startAt="3"/>
            </a:pPr>
            <a:endParaRPr lang="en-US" sz="2350" dirty="0">
              <a:cs typeface="Calibri"/>
            </a:endParaRPr>
          </a:p>
          <a:p>
            <a:pPr algn="ctr"/>
            <a:endParaRPr lang="en-US" sz="2350" dirty="0">
              <a:cs typeface="Calibri"/>
            </a:endParaRPr>
          </a:p>
        </p:txBody>
      </p:sp>
      <p:sp>
        <p:nvSpPr>
          <p:cNvPr id="12" name="Rectangle 11">
            <a:extLst>
              <a:ext uri="{FF2B5EF4-FFF2-40B4-BE49-F238E27FC236}">
                <a16:creationId xmlns:a16="http://schemas.microsoft.com/office/drawing/2014/main" id="{B86C16C8-4E9E-4442-B629-6FDE1489FB58}"/>
              </a:ext>
            </a:extLst>
          </p:cNvPr>
          <p:cNvSpPr/>
          <p:nvPr/>
        </p:nvSpPr>
        <p:spPr>
          <a:xfrm>
            <a:off x="0" y="2172064"/>
            <a:ext cx="12192000" cy="4668147"/>
          </a:xfrm>
          <a:prstGeom prst="rect">
            <a:avLst/>
          </a:prstGeom>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26" name="Title 2">
            <a:extLst>
              <a:ext uri="{FF2B5EF4-FFF2-40B4-BE49-F238E27FC236}">
                <a16:creationId xmlns:a16="http://schemas.microsoft.com/office/drawing/2014/main" id="{40184B40-508E-4CC0-A6B8-3111CAA042DC}"/>
              </a:ext>
            </a:extLst>
          </p:cNvPr>
          <p:cNvSpPr>
            <a:spLocks noGrp="1"/>
          </p:cNvSpPr>
          <p:nvPr>
            <p:ph type="title"/>
          </p:nvPr>
        </p:nvSpPr>
        <p:spPr>
          <a:xfrm>
            <a:off x="687084" y="774411"/>
            <a:ext cx="11186863" cy="1143000"/>
          </a:xfrm>
        </p:spPr>
        <p:txBody>
          <a:bodyPr>
            <a:noAutofit/>
          </a:bodyPr>
          <a:lstStyle/>
          <a:p>
            <a:pPr algn="ctr"/>
            <a:r>
              <a:rPr lang="en-US" sz="5400" dirty="0">
                <a:solidFill>
                  <a:schemeClr val="tx1"/>
                </a:solidFill>
              </a:rPr>
              <a:t>Creating a Successful App</a:t>
            </a:r>
          </a:p>
        </p:txBody>
      </p:sp>
      <p:sp>
        <p:nvSpPr>
          <p:cNvPr id="27" name="Content Placeholder 3">
            <a:extLst>
              <a:ext uri="{FF2B5EF4-FFF2-40B4-BE49-F238E27FC236}">
                <a16:creationId xmlns:a16="http://schemas.microsoft.com/office/drawing/2014/main" id="{578918F1-B05F-4C66-87EE-3C54FF84F74A}"/>
              </a:ext>
            </a:extLst>
          </p:cNvPr>
          <p:cNvSpPr txBox="1">
            <a:spLocks/>
          </p:cNvSpPr>
          <p:nvPr/>
        </p:nvSpPr>
        <p:spPr>
          <a:xfrm>
            <a:off x="1085376" y="2463685"/>
            <a:ext cx="10624542" cy="2944282"/>
          </a:xfrm>
          <a:prstGeom prst="rect">
            <a:avLst/>
          </a:prstGeom>
        </p:spPr>
        <p:txBody>
          <a:bodyPr vert="horz" lIns="121954" tIns="60977" rIns="121954" bIns="60977" rtlCol="0" anchor="t">
            <a:noAutofit/>
          </a:bodyPr>
          <a:lstStyle>
            <a:lvl1pPr marL="457097" indent="-457097" algn="l" defTabSz="609463" rtl="0" eaLnBrk="1" latinLnBrk="0" hangingPunct="1">
              <a:spcBef>
                <a:spcPct val="20000"/>
              </a:spcBef>
              <a:buFont typeface="Arial"/>
              <a:buChar char="•"/>
              <a:defRPr sz="2699" kern="1200">
                <a:solidFill>
                  <a:schemeClr val="accent2"/>
                </a:solidFill>
                <a:latin typeface="+mn-lt"/>
                <a:ea typeface="+mn-ea"/>
                <a:cs typeface="+mn-cs"/>
              </a:defRPr>
            </a:lvl1pPr>
            <a:lvl2pPr marL="990377" indent="-380914" algn="l" defTabSz="609463" rtl="0" eaLnBrk="1" latinLnBrk="0" hangingPunct="1">
              <a:spcBef>
                <a:spcPct val="20000"/>
              </a:spcBef>
              <a:buFont typeface="Arial"/>
              <a:buChar char="–"/>
              <a:defRPr sz="2399" kern="1200">
                <a:solidFill>
                  <a:schemeClr val="accent2"/>
                </a:solidFill>
                <a:latin typeface="+mn-lt"/>
                <a:ea typeface="+mn-ea"/>
                <a:cs typeface="+mn-cs"/>
              </a:defRPr>
            </a:lvl2pPr>
            <a:lvl3pPr marL="1523657" indent="-304732" algn="l" defTabSz="609463" rtl="0" eaLnBrk="1" latinLnBrk="0" hangingPunct="1">
              <a:spcBef>
                <a:spcPct val="20000"/>
              </a:spcBef>
              <a:buFont typeface="Arial"/>
              <a:buChar char="•"/>
              <a:defRPr sz="2099" kern="1200">
                <a:solidFill>
                  <a:schemeClr val="accent2"/>
                </a:solidFill>
                <a:latin typeface="+mn-lt"/>
                <a:ea typeface="+mn-ea"/>
                <a:cs typeface="+mn-cs"/>
              </a:defRPr>
            </a:lvl3pPr>
            <a:lvl4pPr marL="2133120" indent="-304732" algn="l" defTabSz="609463" rtl="0" eaLnBrk="1" latinLnBrk="0" hangingPunct="1">
              <a:spcBef>
                <a:spcPct val="20000"/>
              </a:spcBef>
              <a:buFont typeface="Arial"/>
              <a:buChar char="–"/>
              <a:defRPr sz="1899" kern="1200">
                <a:solidFill>
                  <a:schemeClr val="accent2"/>
                </a:solidFill>
                <a:latin typeface="+mn-lt"/>
                <a:ea typeface="+mn-ea"/>
                <a:cs typeface="+mn-cs"/>
              </a:defRPr>
            </a:lvl4pPr>
            <a:lvl5pPr marL="2742582" indent="-304732" algn="l" defTabSz="609463" rtl="0" eaLnBrk="1" latinLnBrk="0" hangingPunct="1">
              <a:spcBef>
                <a:spcPct val="20000"/>
              </a:spcBef>
              <a:buFont typeface="Arial"/>
              <a:buChar char="»"/>
              <a:defRPr sz="1899" kern="1200">
                <a:solidFill>
                  <a:schemeClr val="accent2"/>
                </a:solidFill>
                <a:latin typeface="+mn-lt"/>
                <a:ea typeface="+mn-ea"/>
                <a:cs typeface="+mn-cs"/>
              </a:defRPr>
            </a:lvl5pPr>
            <a:lvl6pPr marL="3352045" indent="-304732" algn="l" defTabSz="609463" rtl="0" eaLnBrk="1" latinLnBrk="0" hangingPunct="1">
              <a:spcBef>
                <a:spcPct val="20000"/>
              </a:spcBef>
              <a:buFont typeface="Arial"/>
              <a:buChar char="•"/>
              <a:defRPr sz="2699" kern="1200">
                <a:solidFill>
                  <a:schemeClr val="tx1"/>
                </a:solidFill>
                <a:latin typeface="+mn-lt"/>
                <a:ea typeface="+mn-ea"/>
                <a:cs typeface="+mn-cs"/>
              </a:defRPr>
            </a:lvl6pPr>
            <a:lvl7pPr marL="3961508" indent="-304732" algn="l" defTabSz="609463" rtl="0" eaLnBrk="1" latinLnBrk="0" hangingPunct="1">
              <a:spcBef>
                <a:spcPct val="20000"/>
              </a:spcBef>
              <a:buFont typeface="Arial"/>
              <a:buChar char="•"/>
              <a:defRPr sz="2699" kern="1200">
                <a:solidFill>
                  <a:schemeClr val="tx1"/>
                </a:solidFill>
                <a:latin typeface="+mn-lt"/>
                <a:ea typeface="+mn-ea"/>
                <a:cs typeface="+mn-cs"/>
              </a:defRPr>
            </a:lvl7pPr>
            <a:lvl8pPr marL="4570970" indent="-304732" algn="l" defTabSz="609463" rtl="0" eaLnBrk="1" latinLnBrk="0" hangingPunct="1">
              <a:spcBef>
                <a:spcPct val="20000"/>
              </a:spcBef>
              <a:buFont typeface="Arial"/>
              <a:buChar char="•"/>
              <a:defRPr sz="2699" kern="1200">
                <a:solidFill>
                  <a:schemeClr val="tx1"/>
                </a:solidFill>
                <a:latin typeface="+mn-lt"/>
                <a:ea typeface="+mn-ea"/>
                <a:cs typeface="+mn-cs"/>
              </a:defRPr>
            </a:lvl8pPr>
            <a:lvl9pPr marL="5180433" indent="-304732" algn="l" defTabSz="609463" rtl="0" eaLnBrk="1" latinLnBrk="0" hangingPunct="1">
              <a:spcBef>
                <a:spcPct val="20000"/>
              </a:spcBef>
              <a:buFont typeface="Arial"/>
              <a:buChar char="•"/>
              <a:defRPr sz="2699" kern="1200">
                <a:solidFill>
                  <a:schemeClr val="tx1"/>
                </a:solidFill>
                <a:latin typeface="+mn-lt"/>
                <a:ea typeface="+mn-ea"/>
                <a:cs typeface="+mn-cs"/>
              </a:defRPr>
            </a:lvl9pPr>
          </a:lstStyle>
          <a:p>
            <a:pPr marL="0" indent="0">
              <a:buNone/>
            </a:pPr>
            <a:r>
              <a:rPr lang="en-US" sz="2400" b="1" dirty="0">
                <a:solidFill>
                  <a:schemeClr val="tx1"/>
                </a:solidFill>
                <a:latin typeface="+mj-lt"/>
              </a:rPr>
              <a:t>Module 8:</a:t>
            </a:r>
            <a:r>
              <a:rPr lang="en-US" sz="2400" dirty="0">
                <a:solidFill>
                  <a:schemeClr val="tx1"/>
                </a:solidFill>
                <a:latin typeface="+mj-lt"/>
              </a:rPr>
              <a:t> Program and App Use and Development</a:t>
            </a:r>
            <a:endParaRPr lang="en-US" sz="2400" b="1" dirty="0">
              <a:solidFill>
                <a:schemeClr val="tx1"/>
              </a:solidFill>
              <a:latin typeface="+mj-lt"/>
            </a:endParaRPr>
          </a:p>
          <a:p>
            <a:pPr marL="0" indent="0">
              <a:buNone/>
            </a:pPr>
            <a:r>
              <a:rPr lang="en-US" sz="2400" b="1" dirty="0">
                <a:solidFill>
                  <a:schemeClr val="tx1"/>
                </a:solidFill>
                <a:latin typeface="+mj-lt"/>
              </a:rPr>
              <a:t>Lesson objective 8.3: </a:t>
            </a:r>
            <a:r>
              <a:rPr lang="en-US" sz="2400" dirty="0">
                <a:solidFill>
                  <a:schemeClr val="tx1"/>
                </a:solidFill>
                <a:latin typeface="+mj-lt"/>
              </a:rPr>
              <a:t>Describe the methods associated with developing software.</a:t>
            </a:r>
          </a:p>
          <a:p>
            <a:pPr marL="0" indent="0">
              <a:buNone/>
            </a:pPr>
            <a:r>
              <a:rPr lang="en-US" sz="2400" b="1" i="1" dirty="0">
                <a:solidFill>
                  <a:schemeClr val="tx1"/>
                </a:solidFill>
                <a:latin typeface="+mj-lt"/>
              </a:rPr>
              <a:t>Learning objectives:</a:t>
            </a:r>
          </a:p>
          <a:p>
            <a:pPr marL="0" indent="0">
              <a:buNone/>
            </a:pPr>
            <a:r>
              <a:rPr lang="en-US" sz="2400" dirty="0">
                <a:solidFill>
                  <a:schemeClr val="tx1"/>
                </a:solidFill>
                <a:latin typeface="+mj-lt"/>
              </a:rPr>
              <a:t>8.3.1 Outline the key components of the software development process.</a:t>
            </a:r>
          </a:p>
          <a:p>
            <a:pPr marL="0" indent="0">
              <a:buNone/>
            </a:pPr>
            <a:r>
              <a:rPr lang="en-US" sz="2400" dirty="0">
                <a:solidFill>
                  <a:schemeClr val="tx1"/>
                </a:solidFill>
                <a:latin typeface="+mj-lt"/>
              </a:rPr>
              <a:t>8.3.2 Explain the differences between the key development methodologies.</a:t>
            </a:r>
          </a:p>
          <a:p>
            <a:pPr marL="0" indent="0">
              <a:buNone/>
            </a:pPr>
            <a:r>
              <a:rPr lang="en-US" sz="2400" dirty="0">
                <a:solidFill>
                  <a:schemeClr val="tx1"/>
                </a:solidFill>
                <a:latin typeface="+mj-lt"/>
              </a:rPr>
              <a:t>8.3.3 Discuss the phases in the system development lifecycle.</a:t>
            </a:r>
          </a:p>
        </p:txBody>
      </p:sp>
    </p:spTree>
    <p:custDataLst>
      <p:tags r:id="rId1"/>
    </p:custDataLst>
    <p:extLst>
      <p:ext uri="{BB962C8B-B14F-4D97-AF65-F5344CB8AC3E}">
        <p14:creationId xmlns:p14="http://schemas.microsoft.com/office/powerpoint/2010/main" val="9876160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0836" y="447650"/>
            <a:ext cx="10412618" cy="476081"/>
          </a:xfrm>
        </p:spPr>
        <p:txBody>
          <a:bodyPr>
            <a:normAutofit fontScale="90000"/>
          </a:bodyPr>
          <a:lstStyle/>
          <a:p>
            <a:r>
              <a:rPr lang="en-US" sz="3650" dirty="0"/>
              <a:t>Creating a Successful App</a:t>
            </a:r>
            <a:endParaRPr lang="en-JM" dirty="0"/>
          </a:p>
        </p:txBody>
      </p:sp>
      <p:sp>
        <p:nvSpPr>
          <p:cNvPr id="18" name="Text Placeholder 5">
            <a:extLst>
              <a:ext uri="{FF2B5EF4-FFF2-40B4-BE49-F238E27FC236}">
                <a16:creationId xmlns:a16="http://schemas.microsoft.com/office/drawing/2014/main" id="{AE22466E-3A71-4393-A62C-42B1AFADD56A}"/>
              </a:ext>
            </a:extLst>
          </p:cNvPr>
          <p:cNvSpPr txBox="1">
            <a:spLocks/>
          </p:cNvSpPr>
          <p:nvPr/>
        </p:nvSpPr>
        <p:spPr>
          <a:xfrm>
            <a:off x="790835" y="1262744"/>
            <a:ext cx="10988209" cy="5147338"/>
          </a:xfrm>
          <a:prstGeom prst="rect">
            <a:avLst/>
          </a:prstGeom>
        </p:spPr>
        <p:txBody>
          <a:bodyPr lIns="121891" tIns="60945" rIns="121891" bIns="60945" anchor="t">
            <a:noAutofit/>
          </a:bodyPr>
          <a:lstStyle>
            <a:lvl1pPr marL="342900" indent="-342900" algn="l" defTabSz="914400" rtl="0" eaLnBrk="1" latinLnBrk="0" hangingPunct="1">
              <a:spcBef>
                <a:spcPct val="20000"/>
              </a:spcBef>
              <a:buFont typeface="Arial" pitchFamily="34" charset="0"/>
              <a:buChar char="•"/>
              <a:defRPr sz="2000" kern="1200">
                <a:solidFill>
                  <a:schemeClr val="tx1">
                    <a:lumMod val="85000"/>
                    <a:lumOff val="15000"/>
                  </a:schemeClr>
                </a:solidFill>
                <a:latin typeface="+mn-lt"/>
                <a:ea typeface="+mn-ea"/>
                <a:cs typeface="+mn-cs"/>
              </a:defRPr>
            </a:lvl1pPr>
            <a:lvl2pPr marL="742950" indent="-285750" algn="l" defTabSz="914400" rtl="0" eaLnBrk="1" latinLnBrk="0" hangingPunct="1">
              <a:spcBef>
                <a:spcPct val="20000"/>
              </a:spcBef>
              <a:buFont typeface="Arial" pitchFamily="34" charset="0"/>
              <a:buChar char="–"/>
              <a:defRPr sz="1800" kern="1200">
                <a:solidFill>
                  <a:schemeClr val="tx1">
                    <a:lumMod val="85000"/>
                    <a:lumOff val="15000"/>
                  </a:schemeClr>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85000"/>
                    <a:lumOff val="15000"/>
                  </a:schemeClr>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400" kern="1200">
                <a:solidFill>
                  <a:schemeClr val="tx1">
                    <a:lumMod val="85000"/>
                    <a:lumOff val="15000"/>
                  </a:schemeClr>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4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None/>
            </a:pPr>
            <a:r>
              <a:rPr lang="en-US" i="1" dirty="0">
                <a:solidFill>
                  <a:schemeClr val="tx2"/>
                </a:solidFill>
              </a:rPr>
              <a:t>Student Takeaways</a:t>
            </a:r>
          </a:p>
          <a:p>
            <a:pPr>
              <a:buNone/>
            </a:pPr>
            <a:r>
              <a:rPr lang="en-US" dirty="0">
                <a:solidFill>
                  <a:schemeClr val="tx2"/>
                </a:solidFill>
              </a:rPr>
              <a:t>In this simulation, students must decide:</a:t>
            </a:r>
          </a:p>
          <a:p>
            <a:pPr>
              <a:buNone/>
            </a:pPr>
            <a:r>
              <a:rPr lang="en-US" dirty="0">
                <a:solidFill>
                  <a:schemeClr val="tx2"/>
                </a:solidFill>
              </a:rPr>
              <a:t>•	Whether to develop an installed mobile app or web-based app</a:t>
            </a:r>
          </a:p>
          <a:p>
            <a:pPr>
              <a:buNone/>
            </a:pPr>
            <a:r>
              <a:rPr lang="en-US" dirty="0">
                <a:solidFill>
                  <a:schemeClr val="tx2"/>
                </a:solidFill>
              </a:rPr>
              <a:t>•	How to manage user accounts</a:t>
            </a:r>
          </a:p>
          <a:p>
            <a:pPr>
              <a:buNone/>
            </a:pPr>
            <a:r>
              <a:rPr lang="en-US" dirty="0">
                <a:solidFill>
                  <a:schemeClr val="tx2"/>
                </a:solidFill>
              </a:rPr>
              <a:t>•	What features to include</a:t>
            </a:r>
          </a:p>
          <a:p>
            <a:pPr>
              <a:buNone/>
            </a:pPr>
            <a:r>
              <a:rPr lang="en-US" dirty="0">
                <a:solidFill>
                  <a:schemeClr val="tx2"/>
                </a:solidFill>
              </a:rPr>
              <a:t>•	Whether to use a programmer or designer to develop the app or website</a:t>
            </a:r>
          </a:p>
          <a:p>
            <a:pPr>
              <a:buNone/>
            </a:pPr>
            <a:endParaRPr lang="en-US" dirty="0">
              <a:solidFill>
                <a:schemeClr val="tx2"/>
              </a:solidFill>
            </a:endParaRPr>
          </a:p>
          <a:p>
            <a:pPr>
              <a:buNone/>
            </a:pPr>
            <a:r>
              <a:rPr lang="en-US" i="1" dirty="0">
                <a:solidFill>
                  <a:schemeClr val="tx2"/>
                </a:solidFill>
              </a:rPr>
              <a:t>Student Tips</a:t>
            </a:r>
          </a:p>
          <a:p>
            <a:pPr>
              <a:buFont typeface="Wingdings" panose="05000000000000000000" pitchFamily="2" charset="2"/>
              <a:buChar char="ü"/>
            </a:pPr>
            <a:r>
              <a:rPr lang="en-US" dirty="0">
                <a:solidFill>
                  <a:schemeClr val="tx2"/>
                </a:solidFill>
              </a:rPr>
              <a:t>This scenario gives you the opportunity to decide how best to design an app to attract customers to your store. At each step, think carefully about what app users most want in an app, and how to best connect with as many potential customers as possible.</a:t>
            </a:r>
          </a:p>
          <a:p>
            <a:pPr>
              <a:buFont typeface="Wingdings" panose="05000000000000000000" pitchFamily="2" charset="2"/>
              <a:buChar char="ü"/>
            </a:pPr>
            <a:r>
              <a:rPr lang="en-JM" dirty="0">
                <a:solidFill>
                  <a:schemeClr val="tx2"/>
                </a:solidFill>
              </a:rPr>
              <a:t>Consider the different user expectations for free apps versus paid apps.</a:t>
            </a:r>
          </a:p>
          <a:p>
            <a:pPr>
              <a:buFont typeface="Wingdings" panose="05000000000000000000" pitchFamily="2" charset="2"/>
              <a:buChar char="ü"/>
            </a:pPr>
            <a:r>
              <a:rPr lang="en-JM" dirty="0">
                <a:solidFill>
                  <a:schemeClr val="tx2"/>
                </a:solidFill>
              </a:rPr>
              <a:t>Find ways to keep your customers coming back to your new app.</a:t>
            </a:r>
          </a:p>
          <a:p>
            <a:pPr>
              <a:buFont typeface="Wingdings" panose="05000000000000000000" pitchFamily="2" charset="2"/>
              <a:buChar char="ü"/>
            </a:pPr>
            <a:r>
              <a:rPr lang="en-JM" dirty="0">
                <a:solidFill>
                  <a:schemeClr val="tx2"/>
                </a:solidFill>
              </a:rPr>
              <a:t>Think about which job role does what in developing an app.</a:t>
            </a:r>
          </a:p>
          <a:p>
            <a:pPr>
              <a:buNone/>
            </a:pPr>
            <a:endParaRPr lang="en-US" dirty="0">
              <a:solidFill>
                <a:schemeClr val="tx2"/>
              </a:solidFill>
            </a:endParaRPr>
          </a:p>
        </p:txBody>
      </p:sp>
    </p:spTree>
    <p:custDataLst>
      <p:tags r:id="rId1"/>
    </p:custDataLst>
    <p:extLst>
      <p:ext uri="{BB962C8B-B14F-4D97-AF65-F5344CB8AC3E}">
        <p14:creationId xmlns:p14="http://schemas.microsoft.com/office/powerpoint/2010/main" val="14137060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AE1ECA0-4ACE-481C-A7B3-307E60CB66F9}"/>
              </a:ext>
            </a:extLst>
          </p:cNvPr>
          <p:cNvSpPr>
            <a:spLocks noGrp="1"/>
          </p:cNvSpPr>
          <p:nvPr>
            <p:ph type="title"/>
          </p:nvPr>
        </p:nvSpPr>
        <p:spPr>
          <a:xfrm>
            <a:off x="891824" y="117144"/>
            <a:ext cx="10412618" cy="1143000"/>
          </a:xfrm>
        </p:spPr>
        <p:txBody>
          <a:bodyPr/>
          <a:lstStyle/>
          <a:p>
            <a:r>
              <a:rPr lang="en-US" sz="3650" dirty="0"/>
              <a:t>Introduction</a:t>
            </a:r>
            <a:endParaRPr lang="en-JM" dirty="0"/>
          </a:p>
        </p:txBody>
      </p:sp>
      <p:sp>
        <p:nvSpPr>
          <p:cNvPr id="2" name="TextBox 1">
            <a:extLst>
              <a:ext uri="{FF2B5EF4-FFF2-40B4-BE49-F238E27FC236}">
                <a16:creationId xmlns:a16="http://schemas.microsoft.com/office/drawing/2014/main" id="{8E61185D-0285-4C9D-8544-02C370D1F1FF}"/>
              </a:ext>
            </a:extLst>
          </p:cNvPr>
          <p:cNvSpPr txBox="1"/>
          <p:nvPr/>
        </p:nvSpPr>
        <p:spPr>
          <a:xfrm>
            <a:off x="891823" y="1350393"/>
            <a:ext cx="10689783" cy="2308324"/>
          </a:xfrm>
          <a:prstGeom prst="rect">
            <a:avLst/>
          </a:prstGeom>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You and two friends run a sports gear store that specializes in bicycles. Several local road biking and mountain biking groups are flourishing due to an international biking race that was hosted in a nearby city the past two years and is contracted to continue in that location for another three years. </a:t>
            </a:r>
          </a:p>
          <a:p>
            <a:br>
              <a:rPr lang="en-US" dirty="0"/>
            </a:br>
            <a:r>
              <a:rPr lang="en-US" dirty="0"/>
              <a:t>While your store has been around for nearly ten years, two other sports gear stores have opened recently, and you need a way to stay ahead of the competition. You and your partners already host two weekly bike rides. Attendance at these events has grown quickly. Now you're looking for ways to keep your logo and organization in the minds of local cyclists in between these events.</a:t>
            </a:r>
            <a:endParaRPr lang="en-US" dirty="0">
              <a:cs typeface="Calibri"/>
            </a:endParaRPr>
          </a:p>
        </p:txBody>
      </p:sp>
      <p:sp>
        <p:nvSpPr>
          <p:cNvPr id="5" name="Text Placeholder 1"/>
          <p:cNvSpPr txBox="1">
            <a:spLocks/>
          </p:cNvSpPr>
          <p:nvPr/>
        </p:nvSpPr>
        <p:spPr>
          <a:xfrm>
            <a:off x="891824" y="5195350"/>
            <a:ext cx="10246087" cy="1290564"/>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50" dirty="0">
                <a:solidFill>
                  <a:schemeClr val="tx2"/>
                </a:solidFill>
                <a:ea typeface="Calibri"/>
                <a:cs typeface="Calibri"/>
                <a:hlinkClick r:id="rId4" action="ppaction://hlinksldjump"/>
              </a:rPr>
              <a:t>Continue</a:t>
            </a:r>
            <a:endParaRPr lang="en-US" sz="2050" dirty="0">
              <a:solidFill>
                <a:schemeClr val="tx2"/>
              </a:solidFill>
              <a:ea typeface="Calibri"/>
              <a:cs typeface="Calibri"/>
            </a:endParaRPr>
          </a:p>
          <a:p>
            <a:pPr marL="0" indent="0">
              <a:buNone/>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Tree>
    <p:custDataLst>
      <p:tags r:id="rId1"/>
    </p:custDataLst>
    <p:extLst>
      <p:ext uri="{BB962C8B-B14F-4D97-AF65-F5344CB8AC3E}">
        <p14:creationId xmlns:p14="http://schemas.microsoft.com/office/powerpoint/2010/main" val="3618452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36320" y="961053"/>
            <a:ext cx="11155680" cy="3561464"/>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rgbClr val="44546A"/>
                </a:solidFill>
                <a:latin typeface="Calibri" panose="020F0502020204030204"/>
              </a:rPr>
              <a:t>One idea you've had is to develop an app that shows popular, local bike routes and encourages cyclists to comment on the routes and even share new routes.</a:t>
            </a:r>
            <a:br>
              <a:rPr lang="en-US" sz="2050" dirty="0">
                <a:solidFill>
                  <a:srgbClr val="44546A"/>
                </a:solidFill>
                <a:latin typeface="Calibri" panose="020F0502020204030204"/>
              </a:rPr>
            </a:br>
            <a:r>
              <a:rPr lang="en-US" sz="2050" dirty="0">
                <a:solidFill>
                  <a:srgbClr val="44546A"/>
                </a:solidFill>
                <a:latin typeface="Calibri" panose="020F0502020204030204"/>
              </a:rPr>
              <a:t>Your partners love the idea, and you've decided to invest some money into hiring a software developer to create the app. As you start to talk to people about your idea, one of the first questions they have for you is how you'll deliver your app to your customers.</a:t>
            </a:r>
            <a:br>
              <a:rPr lang="en-US" sz="2050" dirty="0">
                <a:solidFill>
                  <a:srgbClr val="44546A"/>
                </a:solidFill>
                <a:latin typeface="Calibri" panose="020F0502020204030204"/>
              </a:rPr>
            </a:br>
            <a:r>
              <a:rPr lang="en-US" sz="2050" dirty="0">
                <a:solidFill>
                  <a:srgbClr val="44546A"/>
                </a:solidFill>
                <a:latin typeface="Calibri" panose="020F0502020204030204"/>
              </a:rPr>
              <a:t>Will you use a web-based app that customers access through their browsers, or do you want an app they can install on their phones?</a:t>
            </a:r>
          </a:p>
        </p:txBody>
      </p:sp>
      <p:sp>
        <p:nvSpPr>
          <p:cNvPr id="12" name="Text Placeholder 1"/>
          <p:cNvSpPr txBox="1">
            <a:spLocks/>
          </p:cNvSpPr>
          <p:nvPr/>
        </p:nvSpPr>
        <p:spPr>
          <a:xfrm>
            <a:off x="1909186" y="3633668"/>
            <a:ext cx="10246087" cy="2357865"/>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1800" dirty="0">
                <a:solidFill>
                  <a:schemeClr val="tx2"/>
                </a:solidFill>
                <a:ea typeface="Calibri"/>
                <a:cs typeface="Calibri"/>
                <a:hlinkClick r:id="rId4" action="ppaction://hlinksldjump"/>
              </a:rPr>
              <a:t>An installed app that you can distribute using an app store.</a:t>
            </a:r>
            <a:r>
              <a:rPr lang="en-US" sz="1800" dirty="0">
                <a:solidFill>
                  <a:schemeClr val="tx2"/>
                </a:solidFill>
                <a:ea typeface="Calibri"/>
                <a:cs typeface="Calibri"/>
              </a:rPr>
              <a:t> [Level1_Dec1_OptA]</a:t>
            </a:r>
          </a:p>
          <a:p>
            <a:pPr marL="0" indent="0">
              <a:spcBef>
                <a:spcPts val="0"/>
              </a:spcBef>
              <a:buNone/>
              <a:defRPr/>
            </a:pPr>
            <a:endParaRPr lang="en-US" sz="1800" dirty="0">
              <a:solidFill>
                <a:schemeClr val="tx2"/>
              </a:solidFill>
              <a:ea typeface="Calibri"/>
              <a:cs typeface="Calibri"/>
            </a:endParaRPr>
          </a:p>
          <a:p>
            <a:pPr marL="0" indent="0">
              <a:spcBef>
                <a:spcPts val="0"/>
              </a:spcBef>
              <a:buNone/>
              <a:defRPr/>
            </a:pPr>
            <a:r>
              <a:rPr lang="en-US" sz="1800" dirty="0">
                <a:solidFill>
                  <a:schemeClr val="tx2"/>
                </a:solidFill>
                <a:ea typeface="Calibri"/>
                <a:cs typeface="Calibri"/>
                <a:hlinkClick r:id="rId5" action="ppaction://hlinksldjump"/>
              </a:rPr>
              <a:t>A web app accessed through your company’s website.</a:t>
            </a:r>
            <a:r>
              <a:rPr lang="en-US" sz="1800" dirty="0">
                <a:solidFill>
                  <a:schemeClr val="tx2"/>
                </a:solidFill>
                <a:ea typeface="Calibri"/>
                <a:cs typeface="Calibri"/>
              </a:rPr>
              <a:t> [Level1_Dec1_OptB]</a:t>
            </a:r>
          </a:p>
          <a:p>
            <a:pPr marL="0" indent="0">
              <a:spcBef>
                <a:spcPts val="0"/>
              </a:spcBef>
              <a:buNone/>
              <a:defRPr/>
            </a:pPr>
            <a:endParaRPr lang="en-US" sz="1800" dirty="0">
              <a:solidFill>
                <a:schemeClr val="tx2"/>
              </a:solidFill>
              <a:cs typeface="Calibri"/>
            </a:endParaRPr>
          </a:p>
        </p:txBody>
      </p:sp>
      <p:sp>
        <p:nvSpPr>
          <p:cNvPr id="15" name="Text Placeholder 3"/>
          <p:cNvSpPr txBox="1">
            <a:spLocks/>
          </p:cNvSpPr>
          <p:nvPr/>
        </p:nvSpPr>
        <p:spPr>
          <a:xfrm>
            <a:off x="1292177" y="3608928"/>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8" name="Text Placeholder 3">
            <a:extLst>
              <a:ext uri="{FF2B5EF4-FFF2-40B4-BE49-F238E27FC236}">
                <a16:creationId xmlns:a16="http://schemas.microsoft.com/office/drawing/2014/main" id="{59084517-AE3F-42B9-B673-1937206652FE}"/>
              </a:ext>
            </a:extLst>
          </p:cNvPr>
          <p:cNvSpPr txBox="1">
            <a:spLocks/>
          </p:cNvSpPr>
          <p:nvPr/>
        </p:nvSpPr>
        <p:spPr>
          <a:xfrm>
            <a:off x="1292177" y="4155666"/>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p:txBody>
      </p:sp>
      <p:sp>
        <p:nvSpPr>
          <p:cNvPr id="2" name="Rectangle 1">
            <a:extLst>
              <a:ext uri="{FF2B5EF4-FFF2-40B4-BE49-F238E27FC236}">
                <a16:creationId xmlns:a16="http://schemas.microsoft.com/office/drawing/2014/main" id="{34353FFE-7D5B-42C8-AF41-84C041B53502}"/>
              </a:ext>
            </a:extLst>
          </p:cNvPr>
          <p:cNvSpPr/>
          <p:nvPr/>
        </p:nvSpPr>
        <p:spPr>
          <a:xfrm>
            <a:off x="718511" y="3197"/>
            <a:ext cx="5037736" cy="646331"/>
          </a:xfrm>
          <a:prstGeom prst="rect">
            <a:avLst/>
          </a:prstGeom>
        </p:spPr>
        <p:txBody>
          <a:bodyPr wrap="square">
            <a:spAutoFit/>
          </a:bodyPr>
          <a:lstStyle/>
          <a:p>
            <a:pPr>
              <a:defRPr/>
            </a:pPr>
            <a:r>
              <a:rPr lang="en-US" sz="3600" dirty="0">
                <a:solidFill>
                  <a:prstClr val="black"/>
                </a:solidFill>
                <a:latin typeface="Calibri Light" panose="020F0302020204030204"/>
                <a:ea typeface="+mj-ea"/>
                <a:cs typeface="+mj-cs"/>
              </a:rPr>
              <a:t>Level1_Decision1</a:t>
            </a:r>
          </a:p>
        </p:txBody>
      </p:sp>
      <p:sp>
        <p:nvSpPr>
          <p:cNvPr id="14" name="TextBox 13">
            <a:extLst>
              <a:ext uri="{FF2B5EF4-FFF2-40B4-BE49-F238E27FC236}">
                <a16:creationId xmlns:a16="http://schemas.microsoft.com/office/drawing/2014/main" id="{9DA1DF0A-650B-4A6D-8A14-2407E3B7A0B9}"/>
              </a:ext>
            </a:extLst>
          </p:cNvPr>
          <p:cNvSpPr txBox="1"/>
          <p:nvPr/>
        </p:nvSpPr>
        <p:spPr>
          <a:xfrm>
            <a:off x="1036320" y="5991533"/>
            <a:ext cx="9570720" cy="64633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If Option A: Student will need to choose an OS platform.</a:t>
            </a:r>
          </a:p>
          <a:p>
            <a:pPr lvl="0">
              <a:defRPr/>
            </a:pPr>
            <a:r>
              <a:rPr lang="en-US" kern="0" dirty="0">
                <a:solidFill>
                  <a:prstClr val="black"/>
                </a:solidFill>
              </a:rPr>
              <a:t>If Option </a:t>
            </a: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B: Student will need to choose whether to charge for the app.</a:t>
            </a:r>
          </a:p>
        </p:txBody>
      </p:sp>
      <p:sp>
        <p:nvSpPr>
          <p:cNvPr id="16" name="TextBox 15">
            <a:extLst>
              <a:ext uri="{FF2B5EF4-FFF2-40B4-BE49-F238E27FC236}">
                <a16:creationId xmlns:a16="http://schemas.microsoft.com/office/drawing/2014/main" id="{C28549F2-29FC-4AD2-8AFF-B33EB8AFB4E7}"/>
              </a:ext>
            </a:extLst>
          </p:cNvPr>
          <p:cNvSpPr txBox="1"/>
          <p:nvPr/>
        </p:nvSpPr>
        <p:spPr>
          <a:xfrm>
            <a:off x="1036320" y="5044515"/>
            <a:ext cx="9570720" cy="646331"/>
          </a:xfrm>
          <a:prstGeom prst="rect">
            <a:avLst/>
          </a:prstGeom>
          <a:gradFill rotWithShape="1">
            <a:gsLst>
              <a:gs pos="0">
                <a:srgbClr val="A5A5A5">
                  <a:lumMod val="110000"/>
                  <a:satMod val="105000"/>
                  <a:tint val="67000"/>
                </a:srgbClr>
              </a:gs>
              <a:gs pos="50000">
                <a:srgbClr val="A5A5A5">
                  <a:lumMod val="105000"/>
                  <a:satMod val="103000"/>
                  <a:tint val="73000"/>
                </a:srgbClr>
              </a:gs>
              <a:gs pos="100000">
                <a:srgbClr val="A5A5A5">
                  <a:lumMod val="105000"/>
                  <a:satMod val="109000"/>
                  <a:tint val="81000"/>
                </a:srgbClr>
              </a:gs>
            </a:gsLst>
            <a:lin ang="5400000" scaled="0"/>
          </a:gradFill>
          <a:ln w="6350" cap="flat" cmpd="sng" algn="ctr">
            <a:solidFill>
              <a:srgbClr val="A5A5A5"/>
            </a:solidFill>
            <a:prstDash val="solid"/>
            <a:miter lim="800000"/>
          </a:ln>
          <a:effectLst/>
        </p:spPr>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Either of these options is a good choice.</a:t>
            </a:r>
          </a:p>
        </p:txBody>
      </p:sp>
      <p:sp>
        <p:nvSpPr>
          <p:cNvPr id="17" name="Arrow: Pentagon 16">
            <a:extLst>
              <a:ext uri="{FF2B5EF4-FFF2-40B4-BE49-F238E27FC236}">
                <a16:creationId xmlns:a16="http://schemas.microsoft.com/office/drawing/2014/main" id="{F8C91325-4C9F-417D-85B9-F6A2535D3D7D}"/>
              </a:ext>
            </a:extLst>
          </p:cNvPr>
          <p:cNvSpPr/>
          <p:nvPr/>
        </p:nvSpPr>
        <p:spPr>
          <a:xfrm>
            <a:off x="185111" y="4155666"/>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
        <p:nvSpPr>
          <p:cNvPr id="18" name="Arrow: Pentagon 17">
            <a:extLst>
              <a:ext uri="{FF2B5EF4-FFF2-40B4-BE49-F238E27FC236}">
                <a16:creationId xmlns:a16="http://schemas.microsoft.com/office/drawing/2014/main" id="{5E13DD8E-D871-4DA7-8CCF-2942CA174148}"/>
              </a:ext>
            </a:extLst>
          </p:cNvPr>
          <p:cNvSpPr/>
          <p:nvPr/>
        </p:nvSpPr>
        <p:spPr>
          <a:xfrm>
            <a:off x="185111" y="3608928"/>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Tree>
    <p:custDataLst>
      <p:tags r:id="rId1"/>
    </p:custDataLst>
    <p:extLst>
      <p:ext uri="{BB962C8B-B14F-4D97-AF65-F5344CB8AC3E}">
        <p14:creationId xmlns:p14="http://schemas.microsoft.com/office/powerpoint/2010/main" val="4136002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09043" y="1328553"/>
            <a:ext cx="11182957" cy="3414535"/>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50" dirty="0">
                <a:solidFill>
                  <a:srgbClr val="44546A"/>
                </a:solidFill>
                <a:latin typeface="Calibri" panose="020F0502020204030204"/>
              </a:rPr>
              <a:t>Now that you've decided to create a mobile app, you need to hire some help. You've decided to use a couple of freelancers that you've heard good things about: one to design the app, and one to do the programming. The next decision you need to make: Which mobile operating system platform will you have this app created for?</a:t>
            </a:r>
          </a:p>
        </p:txBody>
      </p:sp>
      <p:sp>
        <p:nvSpPr>
          <p:cNvPr id="12" name="Text Placeholder 1"/>
          <p:cNvSpPr txBox="1">
            <a:spLocks/>
          </p:cNvSpPr>
          <p:nvPr/>
        </p:nvSpPr>
        <p:spPr>
          <a:xfrm>
            <a:off x="2183659" y="2907134"/>
            <a:ext cx="10246087" cy="1835954"/>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00" dirty="0">
                <a:solidFill>
                  <a:schemeClr val="tx2"/>
                </a:solidFill>
                <a:ea typeface="Calibri"/>
                <a:cs typeface="Calibri"/>
                <a:hlinkClick r:id="rId4" action="ppaction://hlinksldjump"/>
              </a:rPr>
              <a:t>Android only. </a:t>
            </a:r>
            <a:r>
              <a:rPr lang="en-US" sz="2000" dirty="0">
                <a:solidFill>
                  <a:schemeClr val="tx2"/>
                </a:solidFill>
              </a:rPr>
              <a:t>[Level2_Dec1_OptA]</a:t>
            </a:r>
          </a:p>
          <a:p>
            <a:pPr marL="0" indent="0">
              <a:spcBef>
                <a:spcPts val="0"/>
              </a:spcBef>
              <a:buNone/>
              <a:defRPr/>
            </a:pPr>
            <a:endParaRPr lang="en-US" sz="2000" dirty="0">
              <a:solidFill>
                <a:schemeClr val="tx2"/>
              </a:solidFill>
              <a:ea typeface="Calibri"/>
              <a:cs typeface="Calibri"/>
            </a:endParaRPr>
          </a:p>
          <a:p>
            <a:pPr marL="0" indent="0">
              <a:spcBef>
                <a:spcPts val="0"/>
              </a:spcBef>
              <a:buNone/>
              <a:defRPr/>
            </a:pPr>
            <a:r>
              <a:rPr lang="en-US" sz="2000" dirty="0">
                <a:solidFill>
                  <a:schemeClr val="tx2"/>
                </a:solidFill>
                <a:ea typeface="Calibri"/>
                <a:cs typeface="Calibri"/>
                <a:hlinkClick r:id="rId4" action="ppaction://hlinksldjump"/>
              </a:rPr>
              <a:t>iOS only. </a:t>
            </a:r>
            <a:r>
              <a:rPr lang="en-US" sz="2000" dirty="0">
                <a:solidFill>
                  <a:schemeClr val="tx2"/>
                </a:solidFill>
              </a:rPr>
              <a:t>[Level2_Dec1_OptB]</a:t>
            </a:r>
          </a:p>
          <a:p>
            <a:pPr marL="0" indent="0">
              <a:spcBef>
                <a:spcPts val="0"/>
              </a:spcBef>
              <a:buNone/>
              <a:defRPr/>
            </a:pPr>
            <a:endParaRPr lang="en-US" sz="2000" dirty="0">
              <a:solidFill>
                <a:schemeClr val="tx2"/>
              </a:solidFill>
              <a:cs typeface="Calibri"/>
            </a:endParaRPr>
          </a:p>
          <a:p>
            <a:pPr marL="0" indent="0">
              <a:spcBef>
                <a:spcPts val="0"/>
              </a:spcBef>
              <a:buNone/>
              <a:defRPr/>
            </a:pPr>
            <a:r>
              <a:rPr lang="en-US" sz="2000" dirty="0">
                <a:solidFill>
                  <a:schemeClr val="tx2"/>
                </a:solidFill>
                <a:ea typeface="Calibri"/>
                <a:cs typeface="Calibri"/>
                <a:hlinkClick r:id="rId5" action="ppaction://hlinksldjump"/>
              </a:rPr>
              <a:t>Both Android and iOS. </a:t>
            </a:r>
            <a:r>
              <a:rPr lang="en-US" sz="2000" dirty="0">
                <a:solidFill>
                  <a:schemeClr val="tx2"/>
                </a:solidFill>
                <a:ea typeface="Calibri"/>
                <a:cs typeface="Calibri"/>
              </a:rPr>
              <a:t>[Level2_Dec1_OptC]</a:t>
            </a:r>
          </a:p>
          <a:p>
            <a:pPr marL="0" indent="0">
              <a:spcBef>
                <a:spcPts val="0"/>
              </a:spcBef>
              <a:buNone/>
              <a:defRPr/>
            </a:pPr>
            <a:endParaRPr lang="en-US" sz="2000" dirty="0">
              <a:solidFill>
                <a:schemeClr val="tx2"/>
              </a:solidFill>
              <a:ea typeface="Calibri"/>
              <a:cs typeface="Calibri"/>
            </a:endParaRPr>
          </a:p>
          <a:p>
            <a:pPr marL="0" indent="0">
              <a:spcBef>
                <a:spcPts val="0"/>
              </a:spcBef>
              <a:buNone/>
              <a:defRPr/>
            </a:pPr>
            <a:endParaRPr lang="en-US" sz="2000" dirty="0">
              <a:solidFill>
                <a:schemeClr val="tx2"/>
              </a:solidFill>
              <a:ea typeface="Calibri"/>
              <a:cs typeface="Calibri"/>
            </a:endParaRPr>
          </a:p>
          <a:p>
            <a:pPr marL="0" indent="0">
              <a:spcBef>
                <a:spcPts val="0"/>
              </a:spcBef>
              <a:buNone/>
              <a:defRPr/>
            </a:pPr>
            <a:endParaRPr lang="en-US" sz="2000" dirty="0">
              <a:solidFill>
                <a:schemeClr val="accent3">
                  <a:lumMod val="75000"/>
                </a:schemeClr>
              </a:solidFill>
              <a:ea typeface="Calibri"/>
              <a:cs typeface="Calibri"/>
            </a:endParaRPr>
          </a:p>
          <a:p>
            <a:pPr marL="0" indent="0">
              <a:spcBef>
                <a:spcPts val="0"/>
              </a:spcBef>
              <a:buNone/>
              <a:defRPr/>
            </a:pPr>
            <a:endParaRPr lang="en-US" sz="2000" dirty="0">
              <a:solidFill>
                <a:schemeClr val="accent3">
                  <a:lumMod val="75000"/>
                </a:schemeClr>
              </a:solidFill>
              <a:ea typeface="Calibri"/>
              <a:cs typeface="Calibri"/>
            </a:endParaRPr>
          </a:p>
        </p:txBody>
      </p:sp>
      <p:sp>
        <p:nvSpPr>
          <p:cNvPr id="15" name="Text Placeholder 3"/>
          <p:cNvSpPr txBox="1">
            <a:spLocks/>
          </p:cNvSpPr>
          <p:nvPr/>
        </p:nvSpPr>
        <p:spPr>
          <a:xfrm>
            <a:off x="1559461" y="2907134"/>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8" name="Text Placeholder 3">
            <a:extLst>
              <a:ext uri="{FF2B5EF4-FFF2-40B4-BE49-F238E27FC236}">
                <a16:creationId xmlns:a16="http://schemas.microsoft.com/office/drawing/2014/main" id="{59084517-AE3F-42B9-B673-1937206652FE}"/>
              </a:ext>
            </a:extLst>
          </p:cNvPr>
          <p:cNvSpPr txBox="1">
            <a:spLocks/>
          </p:cNvSpPr>
          <p:nvPr/>
        </p:nvSpPr>
        <p:spPr>
          <a:xfrm>
            <a:off x="1537895" y="3534267"/>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p:txBody>
      </p:sp>
      <p:sp>
        <p:nvSpPr>
          <p:cNvPr id="9" name="Text Placeholder 3">
            <a:extLst>
              <a:ext uri="{FF2B5EF4-FFF2-40B4-BE49-F238E27FC236}">
                <a16:creationId xmlns:a16="http://schemas.microsoft.com/office/drawing/2014/main" id="{ED0A18EF-9DE6-469A-9178-A3FB09331B24}"/>
              </a:ext>
            </a:extLst>
          </p:cNvPr>
          <p:cNvSpPr txBox="1">
            <a:spLocks/>
          </p:cNvSpPr>
          <p:nvPr/>
        </p:nvSpPr>
        <p:spPr>
          <a:xfrm>
            <a:off x="1545084" y="4138677"/>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C</a:t>
            </a:r>
          </a:p>
        </p:txBody>
      </p:sp>
      <p:sp>
        <p:nvSpPr>
          <p:cNvPr id="2" name="Rectangle 1">
            <a:extLst>
              <a:ext uri="{FF2B5EF4-FFF2-40B4-BE49-F238E27FC236}">
                <a16:creationId xmlns:a16="http://schemas.microsoft.com/office/drawing/2014/main" id="{32299C0B-1AFE-4AB5-9B70-592E9F19548C}"/>
              </a:ext>
            </a:extLst>
          </p:cNvPr>
          <p:cNvSpPr/>
          <p:nvPr/>
        </p:nvSpPr>
        <p:spPr>
          <a:xfrm>
            <a:off x="795113" y="0"/>
            <a:ext cx="3398366" cy="646331"/>
          </a:xfrm>
          <a:prstGeom prst="rect">
            <a:avLst/>
          </a:prstGeom>
        </p:spPr>
        <p:txBody>
          <a:bodyPr wrap="none">
            <a:spAutoFit/>
          </a:bodyPr>
          <a:lstStyle/>
          <a:p>
            <a:pPr>
              <a:defRPr/>
            </a:pPr>
            <a:r>
              <a:rPr lang="en-US" sz="3600" dirty="0">
                <a:solidFill>
                  <a:prstClr val="black"/>
                </a:solidFill>
                <a:latin typeface="Calibri Light" panose="020F0302020204030204"/>
                <a:ea typeface="+mj-ea"/>
                <a:cs typeface="+mj-cs"/>
              </a:rPr>
              <a:t>Level2_Decision1</a:t>
            </a:r>
          </a:p>
        </p:txBody>
      </p:sp>
      <p:sp>
        <p:nvSpPr>
          <p:cNvPr id="13" name="TextBox 12">
            <a:extLst>
              <a:ext uri="{FF2B5EF4-FFF2-40B4-BE49-F238E27FC236}">
                <a16:creationId xmlns:a16="http://schemas.microsoft.com/office/drawing/2014/main" id="{D31FD74D-190E-40EF-9CC5-EC5AF9D6A01D}"/>
              </a:ext>
            </a:extLst>
          </p:cNvPr>
          <p:cNvSpPr txBox="1"/>
          <p:nvPr/>
        </p:nvSpPr>
        <p:spPr>
          <a:xfrm>
            <a:off x="1036320"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to create an installed app.</a:t>
            </a:r>
          </a:p>
        </p:txBody>
      </p:sp>
      <p:sp>
        <p:nvSpPr>
          <p:cNvPr id="14" name="TextBox 13">
            <a:extLst>
              <a:ext uri="{FF2B5EF4-FFF2-40B4-BE49-F238E27FC236}">
                <a16:creationId xmlns:a16="http://schemas.microsoft.com/office/drawing/2014/main" id="{96AD9F73-1608-4B2E-96D5-CDFE34696354}"/>
              </a:ext>
            </a:extLst>
          </p:cNvPr>
          <p:cNvSpPr txBox="1"/>
          <p:nvPr/>
        </p:nvSpPr>
        <p:spPr>
          <a:xfrm>
            <a:off x="1036320" y="6137214"/>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for both options: Student will need to choose whether to charge for the app.</a:t>
            </a:r>
          </a:p>
        </p:txBody>
      </p:sp>
      <p:sp>
        <p:nvSpPr>
          <p:cNvPr id="16" name="TextBox 15">
            <a:extLst>
              <a:ext uri="{FF2B5EF4-FFF2-40B4-BE49-F238E27FC236}">
                <a16:creationId xmlns:a16="http://schemas.microsoft.com/office/drawing/2014/main" id="{9D10E7F5-4AAC-42A8-B9EC-E26278BA9329}"/>
              </a:ext>
            </a:extLst>
          </p:cNvPr>
          <p:cNvSpPr txBox="1"/>
          <p:nvPr/>
        </p:nvSpPr>
        <p:spPr>
          <a:xfrm>
            <a:off x="1036320" y="4978486"/>
            <a:ext cx="9570720" cy="923330"/>
          </a:xfrm>
          <a:prstGeom prst="rect">
            <a:avLst/>
          </a:prstGeom>
          <a:gradFill rotWithShape="1">
            <a:gsLst>
              <a:gs pos="0">
                <a:srgbClr val="A5A5A5">
                  <a:lumMod val="110000"/>
                  <a:satMod val="105000"/>
                  <a:tint val="67000"/>
                </a:srgbClr>
              </a:gs>
              <a:gs pos="50000">
                <a:srgbClr val="A5A5A5">
                  <a:lumMod val="105000"/>
                  <a:satMod val="103000"/>
                  <a:tint val="73000"/>
                </a:srgbClr>
              </a:gs>
              <a:gs pos="100000">
                <a:srgbClr val="A5A5A5">
                  <a:lumMod val="105000"/>
                  <a:satMod val="109000"/>
                  <a:tint val="81000"/>
                </a:srgbClr>
              </a:gs>
            </a:gsLst>
            <a:lin ang="5400000" scaled="0"/>
          </a:gradFill>
          <a:ln w="6350" cap="flat" cmpd="sng" algn="ctr">
            <a:solidFill>
              <a:srgbClr val="A5A5A5"/>
            </a:solidFill>
            <a:prstDash val="solid"/>
            <a:miter lim="800000"/>
          </a:ln>
          <a:effectLst/>
        </p:spPr>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defTabSz="914400" eaLnBrk="1" fontAlgn="auto" latinLnBrk="0" hangingPunct="1">
              <a:lnSpc>
                <a:spcPct val="100000"/>
              </a:lnSpc>
              <a:spcBef>
                <a:spcPts val="0"/>
              </a:spcBef>
              <a:spcAft>
                <a:spcPts val="0"/>
              </a:spcAft>
              <a:buClrTx/>
              <a:buSzTx/>
              <a:buFontTx/>
              <a:buNone/>
              <a:tabLst/>
              <a:defRPr/>
            </a:pPr>
            <a:r>
              <a:rPr lang="en-US" kern="0" dirty="0">
                <a:solidFill>
                  <a:srgbClr val="C00000"/>
                </a:solidFill>
                <a:latin typeface="Calibri" panose="020F0502020204030204"/>
              </a:rPr>
              <a:t>Both Android and iPhone are popular with customers. Optimally, the app will be compatible with both.</a:t>
            </a:r>
            <a:endPar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endParaRPr>
          </a:p>
        </p:txBody>
      </p:sp>
      <p:sp>
        <p:nvSpPr>
          <p:cNvPr id="17" name="Arrow: Pentagon 16">
            <a:extLst>
              <a:ext uri="{FF2B5EF4-FFF2-40B4-BE49-F238E27FC236}">
                <a16:creationId xmlns:a16="http://schemas.microsoft.com/office/drawing/2014/main" id="{72F444C4-E190-463E-ACF2-DFF773794C90}"/>
              </a:ext>
            </a:extLst>
          </p:cNvPr>
          <p:cNvSpPr/>
          <p:nvPr/>
        </p:nvSpPr>
        <p:spPr>
          <a:xfrm>
            <a:off x="188651" y="4136114"/>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Tree>
    <p:custDataLst>
      <p:tags r:id="rId1"/>
    </p:custDataLst>
    <p:extLst>
      <p:ext uri="{BB962C8B-B14F-4D97-AF65-F5344CB8AC3E}">
        <p14:creationId xmlns:p14="http://schemas.microsoft.com/office/powerpoint/2010/main" val="2431393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36320" y="1385448"/>
            <a:ext cx="9570720" cy="288911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00" dirty="0"/>
              <a:t>You’ve decided on a one-platform version to start with, and the designer and programmer have begun collaborating.  The next decision you need to make: Will you offer this app for free or charge customers to use it?</a:t>
            </a:r>
            <a:endParaRPr lang="en-US" sz="2050" b="1" dirty="0">
              <a:solidFill>
                <a:schemeClr val="accent1"/>
              </a:solidFill>
              <a:ea typeface="Calibri"/>
              <a:cs typeface="Calibri"/>
            </a:endParaRPr>
          </a:p>
          <a:p>
            <a:pPr marL="0" indent="0">
              <a:buNone/>
            </a:pPr>
            <a:endParaRPr lang="en-US" sz="1800" dirty="0">
              <a:solidFill>
                <a:schemeClr val="tx2"/>
              </a:solidFill>
            </a:endParaRPr>
          </a:p>
        </p:txBody>
      </p:sp>
      <p:sp>
        <p:nvSpPr>
          <p:cNvPr id="12" name="Text Placeholder 1"/>
          <p:cNvSpPr txBox="1">
            <a:spLocks/>
          </p:cNvSpPr>
          <p:nvPr/>
        </p:nvSpPr>
        <p:spPr>
          <a:xfrm>
            <a:off x="1945913" y="2916110"/>
            <a:ext cx="8289769" cy="1209157"/>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50" dirty="0">
                <a:solidFill>
                  <a:schemeClr val="tx2"/>
                </a:solidFill>
                <a:ea typeface="Calibri"/>
                <a:cs typeface="Calibri"/>
                <a:hlinkClick r:id="rId4" action="ppaction://hlinksldjump"/>
              </a:rPr>
              <a:t>Charge a one-time fee of a few dollars.</a:t>
            </a:r>
            <a:r>
              <a:rPr lang="en-US" sz="2050" dirty="0">
                <a:solidFill>
                  <a:schemeClr val="tx2"/>
                </a:solidFill>
                <a:ea typeface="Calibri"/>
                <a:cs typeface="Calibri"/>
              </a:rPr>
              <a:t> </a:t>
            </a:r>
            <a:r>
              <a:rPr lang="en-US" sz="2000" dirty="0"/>
              <a:t>[Level3_Dec1_OptA]</a:t>
            </a:r>
          </a:p>
          <a:p>
            <a:pPr marL="0" indent="0">
              <a:spcBef>
                <a:spcPts val="0"/>
              </a:spcBef>
              <a:buNone/>
              <a:defRPr/>
            </a:pPr>
            <a:endParaRPr lang="en-US" sz="2050" dirty="0">
              <a:solidFill>
                <a:schemeClr val="tx2"/>
              </a:solidFill>
              <a:ea typeface="Calibri"/>
              <a:cs typeface="Calibri"/>
            </a:endParaRPr>
          </a:p>
          <a:p>
            <a:pPr marL="0" indent="0">
              <a:buNone/>
            </a:pPr>
            <a:r>
              <a:rPr lang="en-US" sz="2050" dirty="0">
                <a:solidFill>
                  <a:schemeClr val="tx2"/>
                </a:solidFill>
                <a:ea typeface="Calibri"/>
                <a:cs typeface="Calibri"/>
                <a:hlinkClick r:id="rId5" action="ppaction://hlinksldjump"/>
              </a:rPr>
              <a:t>Offer for free. </a:t>
            </a:r>
            <a:r>
              <a:rPr lang="en-US" sz="2000" dirty="0"/>
              <a:t>[Level3_Dec1_OptB]</a:t>
            </a: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15" name="Text Placeholder 3"/>
          <p:cNvSpPr txBox="1">
            <a:spLocks/>
          </p:cNvSpPr>
          <p:nvPr/>
        </p:nvSpPr>
        <p:spPr>
          <a:xfrm>
            <a:off x="1321715" y="2956837"/>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8" name="Text Placeholder 3">
            <a:extLst>
              <a:ext uri="{FF2B5EF4-FFF2-40B4-BE49-F238E27FC236}">
                <a16:creationId xmlns:a16="http://schemas.microsoft.com/office/drawing/2014/main" id="{59084517-AE3F-42B9-B673-1937206652FE}"/>
              </a:ext>
            </a:extLst>
          </p:cNvPr>
          <p:cNvSpPr txBox="1">
            <a:spLocks/>
          </p:cNvSpPr>
          <p:nvPr/>
        </p:nvSpPr>
        <p:spPr>
          <a:xfrm>
            <a:off x="1307338" y="3635782"/>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p:txBody>
      </p:sp>
      <p:sp>
        <p:nvSpPr>
          <p:cNvPr id="2" name="Rectangle 1">
            <a:extLst>
              <a:ext uri="{FF2B5EF4-FFF2-40B4-BE49-F238E27FC236}">
                <a16:creationId xmlns:a16="http://schemas.microsoft.com/office/drawing/2014/main" id="{DA5490C8-16D2-4F03-86B1-7B8E4CDAD985}"/>
              </a:ext>
            </a:extLst>
          </p:cNvPr>
          <p:cNvSpPr/>
          <p:nvPr/>
        </p:nvSpPr>
        <p:spPr>
          <a:xfrm>
            <a:off x="604510" y="71368"/>
            <a:ext cx="3398366" cy="646331"/>
          </a:xfrm>
          <a:prstGeom prst="rect">
            <a:avLst/>
          </a:prstGeom>
        </p:spPr>
        <p:txBody>
          <a:bodyPr wrap="none">
            <a:spAutoFit/>
          </a:bodyPr>
          <a:lstStyle/>
          <a:p>
            <a:pPr>
              <a:defRPr/>
            </a:pPr>
            <a:r>
              <a:rPr lang="en-US" sz="3600" dirty="0">
                <a:solidFill>
                  <a:prstClr val="black"/>
                </a:solidFill>
                <a:latin typeface="Calibri Light" panose="020F0302020204030204"/>
                <a:ea typeface="+mj-ea"/>
                <a:cs typeface="+mj-cs"/>
              </a:rPr>
              <a:t>Level3_Decision1</a:t>
            </a:r>
          </a:p>
        </p:txBody>
      </p:sp>
      <p:sp>
        <p:nvSpPr>
          <p:cNvPr id="13" name="TextBox 12">
            <a:extLst>
              <a:ext uri="{FF2B5EF4-FFF2-40B4-BE49-F238E27FC236}">
                <a16:creationId xmlns:a16="http://schemas.microsoft.com/office/drawing/2014/main" id="{70DAE246-E63F-47D0-A119-69F4EFA939D1}"/>
              </a:ext>
            </a:extLst>
          </p:cNvPr>
          <p:cNvSpPr txBox="1"/>
          <p:nvPr/>
        </p:nvSpPr>
        <p:spPr>
          <a:xfrm>
            <a:off x="1036320"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to create an app compatible with only one mobile OS.</a:t>
            </a:r>
          </a:p>
        </p:txBody>
      </p:sp>
      <p:sp>
        <p:nvSpPr>
          <p:cNvPr id="14" name="TextBox 13">
            <a:extLst>
              <a:ext uri="{FF2B5EF4-FFF2-40B4-BE49-F238E27FC236}">
                <a16:creationId xmlns:a16="http://schemas.microsoft.com/office/drawing/2014/main" id="{AD8D985F-6C2A-4D03-BE49-84025BEFC860}"/>
              </a:ext>
            </a:extLst>
          </p:cNvPr>
          <p:cNvSpPr txBox="1"/>
          <p:nvPr/>
        </p:nvSpPr>
        <p:spPr>
          <a:xfrm>
            <a:off x="1036320" y="5866625"/>
            <a:ext cx="9570720" cy="64633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for both options: Student will need to choose whether to require customers to create a user account.</a:t>
            </a:r>
          </a:p>
        </p:txBody>
      </p:sp>
      <p:sp>
        <p:nvSpPr>
          <p:cNvPr id="16" name="TextBox 15">
            <a:extLst>
              <a:ext uri="{FF2B5EF4-FFF2-40B4-BE49-F238E27FC236}">
                <a16:creationId xmlns:a16="http://schemas.microsoft.com/office/drawing/2014/main" id="{311B18DF-E0FB-46BF-A744-67AD6A05B1AF}"/>
              </a:ext>
            </a:extLst>
          </p:cNvPr>
          <p:cNvSpPr txBox="1"/>
          <p:nvPr/>
        </p:nvSpPr>
        <p:spPr>
          <a:xfrm>
            <a:off x="1036320" y="4707897"/>
            <a:ext cx="9570720" cy="923330"/>
          </a:xfrm>
          <a:prstGeom prst="rect">
            <a:avLst/>
          </a:prstGeom>
          <a:gradFill rotWithShape="1">
            <a:gsLst>
              <a:gs pos="0">
                <a:srgbClr val="A5A5A5">
                  <a:lumMod val="110000"/>
                  <a:satMod val="105000"/>
                  <a:tint val="67000"/>
                </a:srgbClr>
              </a:gs>
              <a:gs pos="50000">
                <a:srgbClr val="A5A5A5">
                  <a:lumMod val="105000"/>
                  <a:satMod val="103000"/>
                  <a:tint val="73000"/>
                </a:srgbClr>
              </a:gs>
              <a:gs pos="100000">
                <a:srgbClr val="A5A5A5">
                  <a:lumMod val="105000"/>
                  <a:satMod val="109000"/>
                  <a:tint val="81000"/>
                </a:srgbClr>
              </a:gs>
            </a:gsLst>
            <a:lin ang="5400000" scaled="0"/>
          </a:gradFill>
          <a:ln w="6350" cap="flat" cmpd="sng" algn="ctr">
            <a:solidFill>
              <a:srgbClr val="A5A5A5"/>
            </a:solidFill>
            <a:prstDash val="solid"/>
            <a:miter lim="800000"/>
          </a:ln>
          <a:effectLst/>
        </p:spPr>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Because the app will only work on some customers’ phones, the app should be free to attract as many of those customers as possible.</a:t>
            </a:r>
          </a:p>
        </p:txBody>
      </p:sp>
      <p:sp>
        <p:nvSpPr>
          <p:cNvPr id="17" name="Arrow: Pentagon 16">
            <a:extLst>
              <a:ext uri="{FF2B5EF4-FFF2-40B4-BE49-F238E27FC236}">
                <a16:creationId xmlns:a16="http://schemas.microsoft.com/office/drawing/2014/main" id="{B79DA93B-1F64-4CE6-8455-A38FD9D27164}"/>
              </a:ext>
            </a:extLst>
          </p:cNvPr>
          <p:cNvSpPr/>
          <p:nvPr/>
        </p:nvSpPr>
        <p:spPr>
          <a:xfrm>
            <a:off x="188651" y="3628517"/>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Tree>
    <p:custDataLst>
      <p:tags r:id="rId1"/>
    </p:custDataLst>
    <p:extLst>
      <p:ext uri="{BB962C8B-B14F-4D97-AF65-F5344CB8AC3E}">
        <p14:creationId xmlns:p14="http://schemas.microsoft.com/office/powerpoint/2010/main" val="10984330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943153" y="1369741"/>
            <a:ext cx="9663887" cy="288911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00" dirty="0"/>
              <a:t>You’ve decided on a multi-platform version, and the designer and programmer have begun collaborating. The next decision you need to make: Will you offer this app for free or charge customers to use it?</a:t>
            </a:r>
            <a:endParaRPr lang="en-US" sz="2050" b="1" dirty="0">
              <a:solidFill>
                <a:schemeClr val="accent1"/>
              </a:solidFill>
              <a:ea typeface="Calibri"/>
              <a:cs typeface="Calibri"/>
            </a:endParaRPr>
          </a:p>
          <a:p>
            <a:pPr marL="0" indent="0">
              <a:buNone/>
            </a:pPr>
            <a:endParaRPr lang="en-US" sz="1800" dirty="0">
              <a:solidFill>
                <a:schemeClr val="tx2"/>
              </a:solidFill>
            </a:endParaRPr>
          </a:p>
        </p:txBody>
      </p:sp>
      <p:sp>
        <p:nvSpPr>
          <p:cNvPr id="12" name="Text Placeholder 1"/>
          <p:cNvSpPr txBox="1">
            <a:spLocks/>
          </p:cNvSpPr>
          <p:nvPr/>
        </p:nvSpPr>
        <p:spPr>
          <a:xfrm>
            <a:off x="1866400" y="2936936"/>
            <a:ext cx="10246087" cy="1860239"/>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50" dirty="0">
                <a:solidFill>
                  <a:schemeClr val="tx2"/>
                </a:solidFill>
                <a:ea typeface="Calibri"/>
                <a:cs typeface="Calibri"/>
                <a:hlinkClick r:id="rId4" action="ppaction://hlinksldjump"/>
              </a:rPr>
              <a:t>Charge a one-time fee of a few dollars. </a:t>
            </a:r>
            <a:r>
              <a:rPr lang="en-US" sz="2000" dirty="0"/>
              <a:t>[Level3_Dec2_OptA]</a:t>
            </a:r>
          </a:p>
          <a:p>
            <a:pPr marL="0" indent="0">
              <a:spcBef>
                <a:spcPts val="0"/>
              </a:spcBef>
              <a:buNone/>
              <a:defRPr/>
            </a:pPr>
            <a:endParaRPr lang="en-US" sz="2050" dirty="0">
              <a:solidFill>
                <a:schemeClr val="tx2"/>
              </a:solidFill>
              <a:ea typeface="Calibri"/>
              <a:cs typeface="Calibri"/>
            </a:endParaRPr>
          </a:p>
          <a:p>
            <a:pPr marL="0" indent="0">
              <a:buNone/>
            </a:pPr>
            <a:r>
              <a:rPr lang="en-US" sz="2050" dirty="0">
                <a:solidFill>
                  <a:schemeClr val="tx2"/>
                </a:solidFill>
                <a:ea typeface="Calibri"/>
                <a:cs typeface="Calibri"/>
                <a:hlinkClick r:id="rId5" action="ppaction://hlinksldjump"/>
              </a:rPr>
              <a:t>Offer for free. </a:t>
            </a:r>
            <a:r>
              <a:rPr lang="en-US" sz="2000" dirty="0"/>
              <a:t>[Level3_Dec2_OptB]</a:t>
            </a: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15" name="Text Placeholder 3"/>
          <p:cNvSpPr txBox="1">
            <a:spLocks/>
          </p:cNvSpPr>
          <p:nvPr/>
        </p:nvSpPr>
        <p:spPr>
          <a:xfrm>
            <a:off x="1242202" y="2977663"/>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8" name="Text Placeholder 3">
            <a:extLst>
              <a:ext uri="{FF2B5EF4-FFF2-40B4-BE49-F238E27FC236}">
                <a16:creationId xmlns:a16="http://schemas.microsoft.com/office/drawing/2014/main" id="{59084517-AE3F-42B9-B673-1937206652FE}"/>
              </a:ext>
            </a:extLst>
          </p:cNvPr>
          <p:cNvSpPr txBox="1">
            <a:spLocks/>
          </p:cNvSpPr>
          <p:nvPr/>
        </p:nvSpPr>
        <p:spPr>
          <a:xfrm>
            <a:off x="1227825" y="3685435"/>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p:txBody>
      </p:sp>
      <p:sp>
        <p:nvSpPr>
          <p:cNvPr id="2" name="Rectangle 1">
            <a:extLst>
              <a:ext uri="{FF2B5EF4-FFF2-40B4-BE49-F238E27FC236}">
                <a16:creationId xmlns:a16="http://schemas.microsoft.com/office/drawing/2014/main" id="{A88BA3D3-610D-4289-83BC-B5F12D48EFBF}"/>
              </a:ext>
            </a:extLst>
          </p:cNvPr>
          <p:cNvSpPr/>
          <p:nvPr/>
        </p:nvSpPr>
        <p:spPr>
          <a:xfrm>
            <a:off x="1023421" y="97226"/>
            <a:ext cx="3398366" cy="646331"/>
          </a:xfrm>
          <a:prstGeom prst="rect">
            <a:avLst/>
          </a:prstGeom>
        </p:spPr>
        <p:txBody>
          <a:bodyPr wrap="none">
            <a:spAutoFit/>
          </a:bodyPr>
          <a:lstStyle/>
          <a:p>
            <a:pPr>
              <a:defRPr/>
            </a:pPr>
            <a:r>
              <a:rPr lang="en-US" sz="3600" dirty="0">
                <a:solidFill>
                  <a:prstClr val="black"/>
                </a:solidFill>
                <a:latin typeface="Calibri Light" panose="020F0302020204030204"/>
                <a:ea typeface="+mj-ea"/>
                <a:cs typeface="+mj-cs"/>
              </a:rPr>
              <a:t>Level3_Decision2</a:t>
            </a:r>
          </a:p>
        </p:txBody>
      </p:sp>
      <p:sp>
        <p:nvSpPr>
          <p:cNvPr id="17" name="TextBox 16">
            <a:extLst>
              <a:ext uri="{FF2B5EF4-FFF2-40B4-BE49-F238E27FC236}">
                <a16:creationId xmlns:a16="http://schemas.microsoft.com/office/drawing/2014/main" id="{A0B47E55-6148-47D8-8C00-92E53AFF7731}"/>
              </a:ext>
            </a:extLst>
          </p:cNvPr>
          <p:cNvSpPr txBox="1"/>
          <p:nvPr/>
        </p:nvSpPr>
        <p:spPr>
          <a:xfrm>
            <a:off x="1036320"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to create an app that will work for both Android and iPhone.</a:t>
            </a:r>
          </a:p>
        </p:txBody>
      </p:sp>
      <p:sp>
        <p:nvSpPr>
          <p:cNvPr id="18" name="TextBox 17">
            <a:extLst>
              <a:ext uri="{FF2B5EF4-FFF2-40B4-BE49-F238E27FC236}">
                <a16:creationId xmlns:a16="http://schemas.microsoft.com/office/drawing/2014/main" id="{A4648452-EFF8-4018-B4A0-417C8F249F96}"/>
              </a:ext>
            </a:extLst>
          </p:cNvPr>
          <p:cNvSpPr txBox="1"/>
          <p:nvPr/>
        </p:nvSpPr>
        <p:spPr>
          <a:xfrm>
            <a:off x="1036320" y="5928215"/>
            <a:ext cx="9570720" cy="64633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for both options: Student will need to </a:t>
            </a:r>
            <a:r>
              <a:rPr lang="en-US" kern="0" dirty="0">
                <a:solidFill>
                  <a:prstClr val="black"/>
                </a:solidFill>
              </a:rPr>
              <a:t>choose whether to require customers to create a user account.</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9" name="TextBox 18">
            <a:extLst>
              <a:ext uri="{FF2B5EF4-FFF2-40B4-BE49-F238E27FC236}">
                <a16:creationId xmlns:a16="http://schemas.microsoft.com/office/drawing/2014/main" id="{9D76F093-903E-45AE-A1FF-74109A4E2E7D}"/>
              </a:ext>
            </a:extLst>
          </p:cNvPr>
          <p:cNvSpPr txBox="1"/>
          <p:nvPr/>
        </p:nvSpPr>
        <p:spPr>
          <a:xfrm>
            <a:off x="1036320" y="4978486"/>
            <a:ext cx="9570720" cy="646331"/>
          </a:xfrm>
          <a:prstGeom prst="rect">
            <a:avLst/>
          </a:prstGeom>
          <a:gradFill rotWithShape="1">
            <a:gsLst>
              <a:gs pos="0">
                <a:srgbClr val="A5A5A5">
                  <a:lumMod val="110000"/>
                  <a:satMod val="105000"/>
                  <a:tint val="67000"/>
                </a:srgbClr>
              </a:gs>
              <a:gs pos="50000">
                <a:srgbClr val="A5A5A5">
                  <a:lumMod val="105000"/>
                  <a:satMod val="103000"/>
                  <a:tint val="73000"/>
                </a:srgbClr>
              </a:gs>
              <a:gs pos="100000">
                <a:srgbClr val="A5A5A5">
                  <a:lumMod val="105000"/>
                  <a:satMod val="109000"/>
                  <a:tint val="81000"/>
                </a:srgbClr>
              </a:gs>
            </a:gsLst>
            <a:lin ang="5400000" scaled="0"/>
          </a:gradFill>
          <a:ln w="6350" cap="flat" cmpd="sng" algn="ctr">
            <a:solidFill>
              <a:srgbClr val="A5A5A5"/>
            </a:solidFill>
            <a:prstDash val="solid"/>
            <a:miter lim="800000"/>
          </a:ln>
          <a:effectLst/>
        </p:spPr>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Explanation:</a:t>
            </a:r>
          </a:p>
          <a:p>
            <a:pPr lvl="0">
              <a:defRPr/>
            </a:pPr>
            <a:r>
              <a:rPr lang="en-US" kern="0" dirty="0">
                <a:solidFill>
                  <a:srgbClr val="C00000"/>
                </a:solidFill>
              </a:rPr>
              <a:t>The app should be free to attract as many customers as possible.</a:t>
            </a:r>
            <a:endPar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endParaRPr>
          </a:p>
        </p:txBody>
      </p:sp>
      <p:sp>
        <p:nvSpPr>
          <p:cNvPr id="20" name="Arrow: Pentagon 19">
            <a:extLst>
              <a:ext uri="{FF2B5EF4-FFF2-40B4-BE49-F238E27FC236}">
                <a16:creationId xmlns:a16="http://schemas.microsoft.com/office/drawing/2014/main" id="{AC22F757-61F1-4F5E-AE9F-26314EC5D27D}"/>
              </a:ext>
            </a:extLst>
          </p:cNvPr>
          <p:cNvSpPr/>
          <p:nvPr/>
        </p:nvSpPr>
        <p:spPr>
          <a:xfrm>
            <a:off x="188651" y="3685435"/>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Tree>
    <p:custDataLst>
      <p:tags r:id="rId1"/>
    </p:custDataLst>
    <p:extLst>
      <p:ext uri="{BB962C8B-B14F-4D97-AF65-F5344CB8AC3E}">
        <p14:creationId xmlns:p14="http://schemas.microsoft.com/office/powerpoint/2010/main" val="40979833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36320" y="1489033"/>
            <a:ext cx="9570720" cy="288911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00" dirty="0"/>
              <a:t>You’ve hired a couple of freelancers that you've heard good things about for the web app: one to design the app, and one to do the programming. The freelancers have begun collaborating. The next decision you need to make: Will you offer this app for free or charge customers to use it?</a:t>
            </a:r>
            <a:endParaRPr lang="en-US" sz="2050" b="1" dirty="0">
              <a:solidFill>
                <a:schemeClr val="accent1"/>
              </a:solidFill>
              <a:ea typeface="Calibri"/>
              <a:cs typeface="Calibri"/>
            </a:endParaRPr>
          </a:p>
          <a:p>
            <a:pPr marL="0" indent="0">
              <a:buNone/>
            </a:pPr>
            <a:endParaRPr lang="en-US" sz="1800" dirty="0">
              <a:solidFill>
                <a:schemeClr val="tx2"/>
              </a:solidFill>
            </a:endParaRPr>
          </a:p>
        </p:txBody>
      </p:sp>
      <p:sp>
        <p:nvSpPr>
          <p:cNvPr id="12" name="Text Placeholder 1"/>
          <p:cNvSpPr txBox="1">
            <a:spLocks/>
          </p:cNvSpPr>
          <p:nvPr/>
        </p:nvSpPr>
        <p:spPr>
          <a:xfrm>
            <a:off x="1894026" y="3011395"/>
            <a:ext cx="7604537" cy="1366749"/>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50" dirty="0">
                <a:solidFill>
                  <a:schemeClr val="tx2"/>
                </a:solidFill>
                <a:ea typeface="Calibri"/>
                <a:cs typeface="Calibri"/>
                <a:hlinkClick r:id="rId4" action="ppaction://hlinksldjump"/>
              </a:rPr>
              <a:t>Charge a one-time fee of a few dollars. </a:t>
            </a:r>
            <a:r>
              <a:rPr lang="en-US" sz="2000" dirty="0"/>
              <a:t>[Level3_Dec3_OptA]</a:t>
            </a:r>
          </a:p>
          <a:p>
            <a:pPr marL="0" indent="0">
              <a:spcBef>
                <a:spcPts val="0"/>
              </a:spcBef>
              <a:buNone/>
              <a:defRPr/>
            </a:pPr>
            <a:endParaRPr lang="en-US" sz="2050" dirty="0">
              <a:solidFill>
                <a:schemeClr val="tx2"/>
              </a:solidFill>
              <a:ea typeface="Calibri"/>
              <a:cs typeface="Calibri"/>
            </a:endParaRPr>
          </a:p>
          <a:p>
            <a:pPr marL="0" indent="0">
              <a:buNone/>
            </a:pPr>
            <a:r>
              <a:rPr lang="en-US" sz="2050" dirty="0">
                <a:solidFill>
                  <a:schemeClr val="tx2"/>
                </a:solidFill>
                <a:ea typeface="Calibri"/>
                <a:cs typeface="Calibri"/>
                <a:hlinkClick r:id="rId5" action="ppaction://hlinksldjump"/>
              </a:rPr>
              <a:t>Offer for free. </a:t>
            </a:r>
            <a:r>
              <a:rPr lang="en-US" sz="2000" dirty="0"/>
              <a:t>[Level3_Dec3_OptB]</a:t>
            </a: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15" name="Text Placeholder 3"/>
          <p:cNvSpPr txBox="1">
            <a:spLocks/>
          </p:cNvSpPr>
          <p:nvPr/>
        </p:nvSpPr>
        <p:spPr>
          <a:xfrm>
            <a:off x="1269828" y="3052122"/>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8" name="Text Placeholder 3">
            <a:extLst>
              <a:ext uri="{FF2B5EF4-FFF2-40B4-BE49-F238E27FC236}">
                <a16:creationId xmlns:a16="http://schemas.microsoft.com/office/drawing/2014/main" id="{59084517-AE3F-42B9-B673-1937206652FE}"/>
              </a:ext>
            </a:extLst>
          </p:cNvPr>
          <p:cNvSpPr txBox="1">
            <a:spLocks/>
          </p:cNvSpPr>
          <p:nvPr/>
        </p:nvSpPr>
        <p:spPr>
          <a:xfrm>
            <a:off x="1255451" y="3714839"/>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p:txBody>
      </p:sp>
      <p:sp>
        <p:nvSpPr>
          <p:cNvPr id="2" name="Rectangle 1">
            <a:extLst>
              <a:ext uri="{FF2B5EF4-FFF2-40B4-BE49-F238E27FC236}">
                <a16:creationId xmlns:a16="http://schemas.microsoft.com/office/drawing/2014/main" id="{FD7E40A9-C776-43CC-B724-39CCFA13B80F}"/>
              </a:ext>
            </a:extLst>
          </p:cNvPr>
          <p:cNvSpPr/>
          <p:nvPr/>
        </p:nvSpPr>
        <p:spPr>
          <a:xfrm>
            <a:off x="795113" y="0"/>
            <a:ext cx="3398366" cy="646331"/>
          </a:xfrm>
          <a:prstGeom prst="rect">
            <a:avLst/>
          </a:prstGeom>
        </p:spPr>
        <p:txBody>
          <a:bodyPr wrap="none">
            <a:spAutoFit/>
          </a:bodyPr>
          <a:lstStyle/>
          <a:p>
            <a:pPr>
              <a:defRPr/>
            </a:pPr>
            <a:r>
              <a:rPr lang="en-US" sz="3600" dirty="0">
                <a:solidFill>
                  <a:prstClr val="black"/>
                </a:solidFill>
                <a:latin typeface="Calibri Light" panose="020F0302020204030204"/>
                <a:ea typeface="+mj-ea"/>
                <a:cs typeface="+mj-cs"/>
              </a:rPr>
              <a:t>Level3_Decision3</a:t>
            </a:r>
          </a:p>
        </p:txBody>
      </p:sp>
      <p:sp>
        <p:nvSpPr>
          <p:cNvPr id="16" name="TextBox 15">
            <a:extLst>
              <a:ext uri="{FF2B5EF4-FFF2-40B4-BE49-F238E27FC236}">
                <a16:creationId xmlns:a16="http://schemas.microsoft.com/office/drawing/2014/main" id="{B5151384-C883-497C-8FCD-4A7A1BECB783}"/>
              </a:ext>
            </a:extLst>
          </p:cNvPr>
          <p:cNvSpPr txBox="1"/>
          <p:nvPr/>
        </p:nvSpPr>
        <p:spPr>
          <a:xfrm>
            <a:off x="1036320"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a:t>
            </a:r>
            <a:r>
              <a:rPr lang="en-US" kern="0" dirty="0">
                <a:solidFill>
                  <a:prstClr val="black"/>
                </a:solidFill>
              </a:rPr>
              <a:t>to create a web app.</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7" name="TextBox 16">
            <a:extLst>
              <a:ext uri="{FF2B5EF4-FFF2-40B4-BE49-F238E27FC236}">
                <a16:creationId xmlns:a16="http://schemas.microsoft.com/office/drawing/2014/main" id="{5EF538F2-D928-45EC-A101-7F0F5482D85D}"/>
              </a:ext>
            </a:extLst>
          </p:cNvPr>
          <p:cNvSpPr txBox="1"/>
          <p:nvPr/>
        </p:nvSpPr>
        <p:spPr>
          <a:xfrm>
            <a:off x="1036320" y="5978273"/>
            <a:ext cx="9570720" cy="64633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for both options: Student will need to </a:t>
            </a:r>
            <a:r>
              <a:rPr lang="en-US" kern="0" dirty="0">
                <a:solidFill>
                  <a:prstClr val="black"/>
                </a:solidFill>
              </a:rPr>
              <a:t>choose whether to require customers to create a user account.</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
        <p:nvSpPr>
          <p:cNvPr id="18" name="TextBox 17">
            <a:extLst>
              <a:ext uri="{FF2B5EF4-FFF2-40B4-BE49-F238E27FC236}">
                <a16:creationId xmlns:a16="http://schemas.microsoft.com/office/drawing/2014/main" id="{D2CD9E91-36FC-4C76-9809-7915E2B686D8}"/>
              </a:ext>
            </a:extLst>
          </p:cNvPr>
          <p:cNvSpPr txBox="1"/>
          <p:nvPr/>
        </p:nvSpPr>
        <p:spPr>
          <a:xfrm>
            <a:off x="1036320" y="4978486"/>
            <a:ext cx="9570720" cy="646331"/>
          </a:xfrm>
          <a:prstGeom prst="rect">
            <a:avLst/>
          </a:prstGeom>
          <a:gradFill rotWithShape="1">
            <a:gsLst>
              <a:gs pos="0">
                <a:srgbClr val="A5A5A5">
                  <a:lumMod val="110000"/>
                  <a:satMod val="105000"/>
                  <a:tint val="67000"/>
                </a:srgbClr>
              </a:gs>
              <a:gs pos="50000">
                <a:srgbClr val="A5A5A5">
                  <a:lumMod val="105000"/>
                  <a:satMod val="103000"/>
                  <a:tint val="73000"/>
                </a:srgbClr>
              </a:gs>
              <a:gs pos="100000">
                <a:srgbClr val="A5A5A5">
                  <a:lumMod val="105000"/>
                  <a:satMod val="109000"/>
                  <a:tint val="81000"/>
                </a:srgbClr>
              </a:gs>
            </a:gsLst>
            <a:lin ang="5400000" scaled="0"/>
          </a:gradFill>
          <a:ln w="6350" cap="flat" cmpd="sng" algn="ctr">
            <a:solidFill>
              <a:srgbClr val="A5A5A5"/>
            </a:solidFill>
            <a:prstDash val="solid"/>
            <a:miter lim="800000"/>
          </a:ln>
          <a:effectLst/>
        </p:spPr>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Explanation:</a:t>
            </a:r>
          </a:p>
          <a:p>
            <a:pPr lvl="0">
              <a:defRPr/>
            </a:pPr>
            <a:r>
              <a:rPr lang="en-US" kern="0" dirty="0">
                <a:solidFill>
                  <a:srgbClr val="C00000"/>
                </a:solidFill>
              </a:rPr>
              <a:t>The app should be free to attract as many customers as possible.</a:t>
            </a:r>
            <a:endPar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endParaRPr>
          </a:p>
        </p:txBody>
      </p:sp>
      <p:sp>
        <p:nvSpPr>
          <p:cNvPr id="19" name="Arrow: Pentagon 18">
            <a:extLst>
              <a:ext uri="{FF2B5EF4-FFF2-40B4-BE49-F238E27FC236}">
                <a16:creationId xmlns:a16="http://schemas.microsoft.com/office/drawing/2014/main" id="{4BC9C703-8516-48BE-8990-CC62E5BE2BF9}"/>
              </a:ext>
            </a:extLst>
          </p:cNvPr>
          <p:cNvSpPr/>
          <p:nvPr/>
        </p:nvSpPr>
        <p:spPr>
          <a:xfrm>
            <a:off x="188651" y="3714839"/>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Tree>
    <p:custDataLst>
      <p:tags r:id="rId1"/>
    </p:custDataLst>
    <p:extLst>
      <p:ext uri="{BB962C8B-B14F-4D97-AF65-F5344CB8AC3E}">
        <p14:creationId xmlns:p14="http://schemas.microsoft.com/office/powerpoint/2010/main" val="29805737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01855" y="1528394"/>
            <a:ext cx="11190145" cy="223932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rgbClr val="44546A"/>
                </a:solidFill>
                <a:latin typeface="Calibri" panose="020F0502020204030204"/>
              </a:rPr>
              <a:t>Charging a few dollars ought to help offset the costs of building the app. Next you have to decide how to allow customers to access the app. You could have them use the app anonymously without creating an account, or require them to login using their email address or social media profile. The programmer needs this information to build the interface. Which do you choose? </a:t>
            </a:r>
          </a:p>
        </p:txBody>
      </p:sp>
      <p:sp>
        <p:nvSpPr>
          <p:cNvPr id="12" name="Text Placeholder 1"/>
          <p:cNvSpPr txBox="1">
            <a:spLocks/>
          </p:cNvSpPr>
          <p:nvPr/>
        </p:nvSpPr>
        <p:spPr>
          <a:xfrm>
            <a:off x="2068655" y="3232342"/>
            <a:ext cx="10246087" cy="1981262"/>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50" dirty="0">
                <a:solidFill>
                  <a:schemeClr val="tx2"/>
                </a:solidFill>
                <a:ea typeface="Calibri"/>
                <a:cs typeface="Calibri"/>
                <a:hlinkClick r:id="rId4" action="ppaction://hlinksldjump"/>
              </a:rPr>
              <a:t>Allow for anonymous users. </a:t>
            </a:r>
            <a:r>
              <a:rPr lang="en-US" sz="2050" dirty="0">
                <a:solidFill>
                  <a:srgbClr val="44546A"/>
                </a:solidFill>
                <a:latin typeface="Calibri" panose="020F0502020204030204"/>
              </a:rPr>
              <a:t>[Level4_Dec1_OptA]</a:t>
            </a:r>
          </a:p>
          <a:p>
            <a:pPr marL="0" indent="0">
              <a:buNone/>
            </a:pPr>
            <a:endParaRPr lang="en-US" sz="2050" dirty="0">
              <a:solidFill>
                <a:schemeClr val="tx2"/>
              </a:solidFill>
              <a:ea typeface="Calibri"/>
              <a:cs typeface="Calibri"/>
            </a:endParaRPr>
          </a:p>
          <a:p>
            <a:pPr marL="0" indent="0">
              <a:buNone/>
            </a:pPr>
            <a:r>
              <a:rPr lang="en-US" sz="2050" dirty="0">
                <a:solidFill>
                  <a:schemeClr val="tx2"/>
                </a:solidFill>
                <a:ea typeface="Calibri"/>
                <a:cs typeface="Calibri"/>
                <a:hlinkClick r:id="rId5" action="ppaction://hlinksldjump"/>
              </a:rPr>
              <a:t>Require users to create a login. </a:t>
            </a:r>
            <a:r>
              <a:rPr lang="en-US" sz="2050" dirty="0">
                <a:solidFill>
                  <a:srgbClr val="44546A"/>
                </a:solidFill>
                <a:latin typeface="Calibri" panose="020F0502020204030204"/>
              </a:rPr>
              <a:t>[Level4_Dec2_OptB]</a:t>
            </a: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15" name="Text Placeholder 3"/>
          <p:cNvSpPr txBox="1">
            <a:spLocks/>
          </p:cNvSpPr>
          <p:nvPr/>
        </p:nvSpPr>
        <p:spPr>
          <a:xfrm>
            <a:off x="1430080" y="3232342"/>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8" name="Text Placeholder 3">
            <a:extLst>
              <a:ext uri="{FF2B5EF4-FFF2-40B4-BE49-F238E27FC236}">
                <a16:creationId xmlns:a16="http://schemas.microsoft.com/office/drawing/2014/main" id="{59084517-AE3F-42B9-B673-1937206652FE}"/>
              </a:ext>
            </a:extLst>
          </p:cNvPr>
          <p:cNvSpPr txBox="1">
            <a:spLocks/>
          </p:cNvSpPr>
          <p:nvPr/>
        </p:nvSpPr>
        <p:spPr>
          <a:xfrm>
            <a:off x="1430080" y="3993901"/>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p:txBody>
      </p:sp>
      <p:sp>
        <p:nvSpPr>
          <p:cNvPr id="2" name="AutoShape 2" descr="Image result for cafe with people on wifi"/>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 name="AutoShape 6" descr="Image result for cafe with people on wifi"/>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8" descr="Image result for cafe with people on wifi"/>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Rectangle 2">
            <a:extLst>
              <a:ext uri="{FF2B5EF4-FFF2-40B4-BE49-F238E27FC236}">
                <a16:creationId xmlns:a16="http://schemas.microsoft.com/office/drawing/2014/main" id="{2CD29F56-7AB9-41AC-95B1-682F73E29D48}"/>
              </a:ext>
            </a:extLst>
          </p:cNvPr>
          <p:cNvSpPr/>
          <p:nvPr/>
        </p:nvSpPr>
        <p:spPr>
          <a:xfrm>
            <a:off x="917575" y="7937"/>
            <a:ext cx="3398366" cy="646331"/>
          </a:xfrm>
          <a:prstGeom prst="rect">
            <a:avLst/>
          </a:prstGeom>
        </p:spPr>
        <p:txBody>
          <a:bodyPr wrap="none">
            <a:spAutoFit/>
          </a:bodyPr>
          <a:lstStyle/>
          <a:p>
            <a:pPr>
              <a:defRPr/>
            </a:pPr>
            <a:r>
              <a:rPr lang="en-US" sz="3600" dirty="0">
                <a:solidFill>
                  <a:prstClr val="black"/>
                </a:solidFill>
                <a:latin typeface="Calibri Light" panose="020F0302020204030204"/>
                <a:ea typeface="+mj-ea"/>
                <a:cs typeface="+mj-cs"/>
              </a:rPr>
              <a:t>Level4_Decision1</a:t>
            </a:r>
          </a:p>
        </p:txBody>
      </p:sp>
      <p:sp>
        <p:nvSpPr>
          <p:cNvPr id="17" name="TextBox 16">
            <a:extLst>
              <a:ext uri="{FF2B5EF4-FFF2-40B4-BE49-F238E27FC236}">
                <a16:creationId xmlns:a16="http://schemas.microsoft.com/office/drawing/2014/main" id="{0D37CF8B-BA67-4186-B53A-A678E467A8E4}"/>
              </a:ext>
            </a:extLst>
          </p:cNvPr>
          <p:cNvSpPr txBox="1"/>
          <p:nvPr/>
        </p:nvSpPr>
        <p:spPr>
          <a:xfrm>
            <a:off x="1036320"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to charge for the app.</a:t>
            </a:r>
          </a:p>
        </p:txBody>
      </p:sp>
      <p:sp>
        <p:nvSpPr>
          <p:cNvPr id="18" name="TextBox 17">
            <a:extLst>
              <a:ext uri="{FF2B5EF4-FFF2-40B4-BE49-F238E27FC236}">
                <a16:creationId xmlns:a16="http://schemas.microsoft.com/office/drawing/2014/main" id="{A5FF6818-F31F-44C2-8112-D118924D4A66}"/>
              </a:ext>
            </a:extLst>
          </p:cNvPr>
          <p:cNvSpPr txBox="1"/>
          <p:nvPr/>
        </p:nvSpPr>
        <p:spPr>
          <a:xfrm>
            <a:off x="1036320" y="6006266"/>
            <a:ext cx="9570720" cy="64633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lang="en-US" kern="0" dirty="0">
                <a:solidFill>
                  <a:prstClr val="black"/>
                </a:solidFill>
              </a:rPr>
              <a:t>If Option </a:t>
            </a: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A: The business partners pull funding from the project.</a:t>
            </a:r>
          </a:p>
          <a:p>
            <a:pPr lvl="0">
              <a:defRPr/>
            </a:pPr>
            <a:r>
              <a:rPr lang="en-US" kern="0" dirty="0">
                <a:solidFill>
                  <a:prstClr val="black"/>
                </a:solidFill>
              </a:rPr>
              <a:t>If Option </a:t>
            </a: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B: Student will need to choose app features.</a:t>
            </a:r>
          </a:p>
        </p:txBody>
      </p:sp>
      <p:sp>
        <p:nvSpPr>
          <p:cNvPr id="19" name="TextBox 18">
            <a:extLst>
              <a:ext uri="{FF2B5EF4-FFF2-40B4-BE49-F238E27FC236}">
                <a16:creationId xmlns:a16="http://schemas.microsoft.com/office/drawing/2014/main" id="{7CC6E601-DFBC-4A16-A28D-1B0F487FB87E}"/>
              </a:ext>
            </a:extLst>
          </p:cNvPr>
          <p:cNvSpPr txBox="1"/>
          <p:nvPr/>
        </p:nvSpPr>
        <p:spPr>
          <a:xfrm>
            <a:off x="1036320" y="4867941"/>
            <a:ext cx="9570720" cy="923330"/>
          </a:xfrm>
          <a:prstGeom prst="rect">
            <a:avLst/>
          </a:prstGeom>
          <a:gradFill rotWithShape="1">
            <a:gsLst>
              <a:gs pos="0">
                <a:srgbClr val="A5A5A5">
                  <a:lumMod val="110000"/>
                  <a:satMod val="105000"/>
                  <a:tint val="67000"/>
                </a:srgbClr>
              </a:gs>
              <a:gs pos="50000">
                <a:srgbClr val="A5A5A5">
                  <a:lumMod val="105000"/>
                  <a:satMod val="103000"/>
                  <a:tint val="73000"/>
                </a:srgbClr>
              </a:gs>
              <a:gs pos="100000">
                <a:srgbClr val="A5A5A5">
                  <a:lumMod val="105000"/>
                  <a:satMod val="109000"/>
                  <a:tint val="81000"/>
                </a:srgbClr>
              </a:gs>
            </a:gsLst>
            <a:lin ang="5400000" scaled="0"/>
          </a:gradFill>
          <a:ln w="6350" cap="flat" cmpd="sng" algn="ctr">
            <a:solidFill>
              <a:srgbClr val="A5A5A5"/>
            </a:solidFill>
            <a:prstDash val="solid"/>
            <a:miter lim="800000"/>
          </a:ln>
          <a:effectLst/>
        </p:spPr>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Requiring users to create an account allows better tracking of customer interests and other features, such as saving favorites. This increases the value of the app for the customer.</a:t>
            </a:r>
          </a:p>
        </p:txBody>
      </p:sp>
      <p:sp>
        <p:nvSpPr>
          <p:cNvPr id="20" name="Arrow: Pentagon 19">
            <a:extLst>
              <a:ext uri="{FF2B5EF4-FFF2-40B4-BE49-F238E27FC236}">
                <a16:creationId xmlns:a16="http://schemas.microsoft.com/office/drawing/2014/main" id="{8CFFE902-F226-446F-A591-D304918FD6D9}"/>
              </a:ext>
            </a:extLst>
          </p:cNvPr>
          <p:cNvSpPr/>
          <p:nvPr/>
        </p:nvSpPr>
        <p:spPr>
          <a:xfrm>
            <a:off x="188651" y="3993901"/>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Tree>
    <p:custDataLst>
      <p:tags r:id="rId1"/>
    </p:custDataLst>
    <p:extLst>
      <p:ext uri="{BB962C8B-B14F-4D97-AF65-F5344CB8AC3E}">
        <p14:creationId xmlns:p14="http://schemas.microsoft.com/office/powerpoint/2010/main" val="9501808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09043" y="1579285"/>
            <a:ext cx="11182957" cy="223932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50" dirty="0">
                <a:solidFill>
                  <a:srgbClr val="44546A"/>
                </a:solidFill>
                <a:latin typeface="Calibri" panose="020F0502020204030204"/>
              </a:rPr>
              <a:t>You think that providing the app for free will help you reach more customers. Next you have to decide how to allow customers to access the app. You could have them use the app anonymously without creating an account, or require them to login using their email address or social media profile. The programmer needs this information to build the interface. Which do you choose?</a:t>
            </a:r>
          </a:p>
        </p:txBody>
      </p:sp>
      <p:sp>
        <p:nvSpPr>
          <p:cNvPr id="12" name="Text Placeholder 1"/>
          <p:cNvSpPr txBox="1">
            <a:spLocks/>
          </p:cNvSpPr>
          <p:nvPr/>
        </p:nvSpPr>
        <p:spPr>
          <a:xfrm>
            <a:off x="2075843" y="3203981"/>
            <a:ext cx="10246087" cy="1927474"/>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50" dirty="0">
                <a:solidFill>
                  <a:schemeClr val="tx2"/>
                </a:solidFill>
                <a:ea typeface="Calibri"/>
                <a:cs typeface="Calibri"/>
                <a:hlinkClick r:id="rId4" action="ppaction://hlinksldjump"/>
              </a:rPr>
              <a:t>Require users to create a login.</a:t>
            </a:r>
            <a:r>
              <a:rPr lang="en-US" sz="2050" dirty="0">
                <a:solidFill>
                  <a:schemeClr val="tx2"/>
                </a:solidFill>
                <a:ea typeface="Calibri"/>
                <a:cs typeface="Calibri"/>
              </a:rPr>
              <a:t> </a:t>
            </a:r>
            <a:r>
              <a:rPr lang="en-US" sz="2050" dirty="0">
                <a:solidFill>
                  <a:srgbClr val="44546A"/>
                </a:solidFill>
                <a:latin typeface="Calibri" panose="020F0502020204030204"/>
              </a:rPr>
              <a:t>[Level4_Dec2_OptA]</a:t>
            </a:r>
          </a:p>
          <a:p>
            <a:pPr marL="0" indent="0">
              <a:buNone/>
            </a:pPr>
            <a:endParaRPr lang="en-US" sz="2050" dirty="0">
              <a:solidFill>
                <a:schemeClr val="tx2"/>
              </a:solidFill>
              <a:ea typeface="Calibri"/>
              <a:cs typeface="Calibri"/>
            </a:endParaRPr>
          </a:p>
          <a:p>
            <a:pPr marL="0" indent="0">
              <a:buNone/>
            </a:pPr>
            <a:r>
              <a:rPr lang="en-US" sz="2050" dirty="0">
                <a:solidFill>
                  <a:schemeClr val="tx2"/>
                </a:solidFill>
                <a:ea typeface="Calibri"/>
                <a:cs typeface="Calibri"/>
                <a:hlinkClick r:id="rId5" action="ppaction://hlinksldjump"/>
              </a:rPr>
              <a:t>Allow for anonymous users. </a:t>
            </a:r>
            <a:r>
              <a:rPr lang="en-US" sz="2050" dirty="0">
                <a:solidFill>
                  <a:srgbClr val="44546A"/>
                </a:solidFill>
                <a:latin typeface="Calibri" panose="020F0502020204030204"/>
              </a:rPr>
              <a:t>[Level4_Dec2_OptB]</a:t>
            </a: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15" name="Text Placeholder 3"/>
          <p:cNvSpPr txBox="1">
            <a:spLocks/>
          </p:cNvSpPr>
          <p:nvPr/>
        </p:nvSpPr>
        <p:spPr>
          <a:xfrm>
            <a:off x="1444456" y="3276880"/>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8" name="Text Placeholder 3">
            <a:extLst>
              <a:ext uri="{FF2B5EF4-FFF2-40B4-BE49-F238E27FC236}">
                <a16:creationId xmlns:a16="http://schemas.microsoft.com/office/drawing/2014/main" id="{59084517-AE3F-42B9-B673-1937206652FE}"/>
              </a:ext>
            </a:extLst>
          </p:cNvPr>
          <p:cNvSpPr txBox="1">
            <a:spLocks/>
          </p:cNvSpPr>
          <p:nvPr/>
        </p:nvSpPr>
        <p:spPr>
          <a:xfrm>
            <a:off x="1430079" y="3969394"/>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p:txBody>
      </p:sp>
      <p:sp>
        <p:nvSpPr>
          <p:cNvPr id="2" name="Rectangle 1">
            <a:extLst>
              <a:ext uri="{FF2B5EF4-FFF2-40B4-BE49-F238E27FC236}">
                <a16:creationId xmlns:a16="http://schemas.microsoft.com/office/drawing/2014/main" id="{012A6B11-956C-4814-8EA3-FD375F4B7B67}"/>
              </a:ext>
            </a:extLst>
          </p:cNvPr>
          <p:cNvSpPr/>
          <p:nvPr/>
        </p:nvSpPr>
        <p:spPr>
          <a:xfrm>
            <a:off x="795113" y="0"/>
            <a:ext cx="3398366" cy="646331"/>
          </a:xfrm>
          <a:prstGeom prst="rect">
            <a:avLst/>
          </a:prstGeom>
        </p:spPr>
        <p:txBody>
          <a:bodyPr wrap="none">
            <a:spAutoFit/>
          </a:bodyPr>
          <a:lstStyle/>
          <a:p>
            <a:pPr>
              <a:defRPr/>
            </a:pPr>
            <a:r>
              <a:rPr lang="en-US" sz="3600" dirty="0">
                <a:solidFill>
                  <a:prstClr val="black"/>
                </a:solidFill>
                <a:latin typeface="Calibri Light" panose="020F0302020204030204"/>
                <a:ea typeface="+mj-ea"/>
                <a:cs typeface="+mj-cs"/>
              </a:rPr>
              <a:t>Level4_Decision2</a:t>
            </a:r>
          </a:p>
        </p:txBody>
      </p:sp>
      <p:sp>
        <p:nvSpPr>
          <p:cNvPr id="16" name="TextBox 15">
            <a:extLst>
              <a:ext uri="{FF2B5EF4-FFF2-40B4-BE49-F238E27FC236}">
                <a16:creationId xmlns:a16="http://schemas.microsoft.com/office/drawing/2014/main" id="{C5B2D187-3678-4A59-897B-8AE25DE8404E}"/>
              </a:ext>
            </a:extLst>
          </p:cNvPr>
          <p:cNvSpPr txBox="1"/>
          <p:nvPr/>
        </p:nvSpPr>
        <p:spPr>
          <a:xfrm>
            <a:off x="1036320"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to offer the app for free.</a:t>
            </a:r>
          </a:p>
        </p:txBody>
      </p:sp>
      <p:sp>
        <p:nvSpPr>
          <p:cNvPr id="17" name="TextBox 16">
            <a:extLst>
              <a:ext uri="{FF2B5EF4-FFF2-40B4-BE49-F238E27FC236}">
                <a16:creationId xmlns:a16="http://schemas.microsoft.com/office/drawing/2014/main" id="{18B28906-E266-4390-8EE3-9B1B879B17F5}"/>
              </a:ext>
            </a:extLst>
          </p:cNvPr>
          <p:cNvSpPr txBox="1"/>
          <p:nvPr/>
        </p:nvSpPr>
        <p:spPr>
          <a:xfrm>
            <a:off x="1036320" y="6180758"/>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for both options: Student will need to choose app features.</a:t>
            </a:r>
          </a:p>
        </p:txBody>
      </p:sp>
      <p:sp>
        <p:nvSpPr>
          <p:cNvPr id="18" name="TextBox 17">
            <a:extLst>
              <a:ext uri="{FF2B5EF4-FFF2-40B4-BE49-F238E27FC236}">
                <a16:creationId xmlns:a16="http://schemas.microsoft.com/office/drawing/2014/main" id="{7AAAF74A-6439-4174-851E-F476C4D8ECDB}"/>
              </a:ext>
            </a:extLst>
          </p:cNvPr>
          <p:cNvSpPr txBox="1"/>
          <p:nvPr/>
        </p:nvSpPr>
        <p:spPr>
          <a:xfrm>
            <a:off x="1036320" y="4978486"/>
            <a:ext cx="9570720" cy="646331"/>
          </a:xfrm>
          <a:prstGeom prst="rect">
            <a:avLst/>
          </a:prstGeom>
          <a:gradFill rotWithShape="1">
            <a:gsLst>
              <a:gs pos="0">
                <a:srgbClr val="A5A5A5">
                  <a:lumMod val="110000"/>
                  <a:satMod val="105000"/>
                  <a:tint val="67000"/>
                </a:srgbClr>
              </a:gs>
              <a:gs pos="50000">
                <a:srgbClr val="A5A5A5">
                  <a:lumMod val="105000"/>
                  <a:satMod val="103000"/>
                  <a:tint val="73000"/>
                </a:srgbClr>
              </a:gs>
              <a:gs pos="100000">
                <a:srgbClr val="A5A5A5">
                  <a:lumMod val="105000"/>
                  <a:satMod val="109000"/>
                  <a:tint val="81000"/>
                </a:srgbClr>
              </a:gs>
            </a:gsLst>
            <a:lin ang="5400000" scaled="0"/>
          </a:gradFill>
          <a:ln w="6350" cap="flat" cmpd="sng" algn="ctr">
            <a:solidFill>
              <a:srgbClr val="A5A5A5"/>
            </a:solidFill>
            <a:prstDash val="solid"/>
            <a:miter lim="800000"/>
          </a:ln>
          <a:effectLst/>
        </p:spPr>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Explanation:</a:t>
            </a:r>
          </a:p>
          <a:p>
            <a:pPr>
              <a:defRPr/>
            </a:pPr>
            <a:r>
              <a:rPr lang="en-US" kern="0" dirty="0">
                <a:solidFill>
                  <a:srgbClr val="C00000"/>
                </a:solidFill>
              </a:rPr>
              <a:t>With a free app, allowing anonymous use is more convenient for customers.</a:t>
            </a:r>
            <a:endPar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endParaRPr>
          </a:p>
        </p:txBody>
      </p:sp>
      <p:sp>
        <p:nvSpPr>
          <p:cNvPr id="19" name="Arrow: Pentagon 18">
            <a:extLst>
              <a:ext uri="{FF2B5EF4-FFF2-40B4-BE49-F238E27FC236}">
                <a16:creationId xmlns:a16="http://schemas.microsoft.com/office/drawing/2014/main" id="{C85BA1E0-2D4B-42F5-814E-7EEBF61469CE}"/>
              </a:ext>
            </a:extLst>
          </p:cNvPr>
          <p:cNvSpPr/>
          <p:nvPr/>
        </p:nvSpPr>
        <p:spPr>
          <a:xfrm>
            <a:off x="188651" y="3969394"/>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Tree>
    <p:custDataLst>
      <p:tags r:id="rId1"/>
    </p:custDataLst>
    <p:extLst>
      <p:ext uri="{BB962C8B-B14F-4D97-AF65-F5344CB8AC3E}">
        <p14:creationId xmlns:p14="http://schemas.microsoft.com/office/powerpoint/2010/main" val="42810146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36320" y="1496077"/>
            <a:ext cx="9570720" cy="223932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00" dirty="0"/>
              <a:t>As you continue talking with the app development team, you're also running your ideas by customers to see what they think. So far, they're not happy. Turns out, they don't want to pay for an app that won't provide personalized information.</a:t>
            </a:r>
            <a:endParaRPr lang="en-US" sz="2000" b="1" dirty="0">
              <a:solidFill>
                <a:schemeClr val="accent1"/>
              </a:solidFill>
              <a:ea typeface="Calibri"/>
              <a:cs typeface="Calibri"/>
            </a:endParaRPr>
          </a:p>
        </p:txBody>
      </p:sp>
      <p:sp>
        <p:nvSpPr>
          <p:cNvPr id="12" name="Text Placeholder 1"/>
          <p:cNvSpPr txBox="1">
            <a:spLocks/>
          </p:cNvSpPr>
          <p:nvPr/>
        </p:nvSpPr>
        <p:spPr>
          <a:xfrm>
            <a:off x="1036320" y="3982416"/>
            <a:ext cx="9570721" cy="146044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50" dirty="0">
                <a:solidFill>
                  <a:schemeClr val="tx2"/>
                </a:solidFill>
                <a:ea typeface="Calibri"/>
                <a:cs typeface="Calibri"/>
                <a:hlinkClick r:id="rId4" action="ppaction://hlinksldjump"/>
              </a:rPr>
              <a:t>Continue</a:t>
            </a:r>
            <a:endParaRPr lang="en-US" sz="2050" dirty="0">
              <a:solidFill>
                <a:schemeClr val="tx2"/>
              </a:solidFill>
              <a:ea typeface="Calibri"/>
              <a:cs typeface="Calibri"/>
            </a:endParaRPr>
          </a:p>
          <a:p>
            <a:pPr marL="0" indent="0">
              <a:buNone/>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2" name="Rectangle 1">
            <a:extLst>
              <a:ext uri="{FF2B5EF4-FFF2-40B4-BE49-F238E27FC236}">
                <a16:creationId xmlns:a16="http://schemas.microsoft.com/office/drawing/2014/main" id="{063A16D7-F3CC-4142-8007-0A4960182D67}"/>
              </a:ext>
            </a:extLst>
          </p:cNvPr>
          <p:cNvSpPr/>
          <p:nvPr/>
        </p:nvSpPr>
        <p:spPr>
          <a:xfrm>
            <a:off x="795113" y="0"/>
            <a:ext cx="2791790" cy="646331"/>
          </a:xfrm>
          <a:prstGeom prst="rect">
            <a:avLst/>
          </a:prstGeom>
        </p:spPr>
        <p:txBody>
          <a:bodyPr wrap="none">
            <a:spAutoFit/>
          </a:bodyPr>
          <a:lstStyle/>
          <a:p>
            <a:pPr>
              <a:defRPr/>
            </a:pPr>
            <a:r>
              <a:rPr lang="en-US" sz="3600" dirty="0">
                <a:solidFill>
                  <a:prstClr val="black"/>
                </a:solidFill>
                <a:latin typeface="Calibri Light" panose="020F0302020204030204"/>
                <a:ea typeface="+mj-ea"/>
                <a:cs typeface="+mj-cs"/>
              </a:rPr>
              <a:t>Level4_Story1</a:t>
            </a:r>
          </a:p>
        </p:txBody>
      </p:sp>
      <p:sp>
        <p:nvSpPr>
          <p:cNvPr id="10" name="TextBox 9">
            <a:extLst>
              <a:ext uri="{FF2B5EF4-FFF2-40B4-BE49-F238E27FC236}">
                <a16:creationId xmlns:a16="http://schemas.microsoft.com/office/drawing/2014/main" id="{CCE512FA-C49D-45BB-A37F-3FAF05058BB7}"/>
              </a:ext>
            </a:extLst>
          </p:cNvPr>
          <p:cNvSpPr txBox="1"/>
          <p:nvPr/>
        </p:nvSpPr>
        <p:spPr>
          <a:xfrm>
            <a:off x="1036320"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to allow anonymous users.</a:t>
            </a:r>
          </a:p>
        </p:txBody>
      </p:sp>
      <p:sp>
        <p:nvSpPr>
          <p:cNvPr id="13" name="TextBox 12">
            <a:extLst>
              <a:ext uri="{FF2B5EF4-FFF2-40B4-BE49-F238E27FC236}">
                <a16:creationId xmlns:a16="http://schemas.microsoft.com/office/drawing/2014/main" id="{E4ECDF94-C53E-44D7-B0A7-332E9973FF56}"/>
              </a:ext>
            </a:extLst>
          </p:cNvPr>
          <p:cNvSpPr txBox="1"/>
          <p:nvPr/>
        </p:nvSpPr>
        <p:spPr>
          <a:xfrm>
            <a:off x="1036320" y="5868642"/>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a:t>
            </a:r>
            <a:r>
              <a:rPr lang="en-US" kern="0" dirty="0">
                <a:solidFill>
                  <a:prstClr val="black"/>
                </a:solidFill>
              </a:rPr>
              <a:t>The business partners pull funding from the project.</a:t>
            </a:r>
          </a:p>
        </p:txBody>
      </p:sp>
    </p:spTree>
    <p:custDataLst>
      <p:tags r:id="rId1"/>
    </p:custDataLst>
    <p:extLst>
      <p:ext uri="{BB962C8B-B14F-4D97-AF65-F5344CB8AC3E}">
        <p14:creationId xmlns:p14="http://schemas.microsoft.com/office/powerpoint/2010/main" val="38501985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36320" y="1383503"/>
            <a:ext cx="11155680" cy="2498683"/>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50" dirty="0">
                <a:solidFill>
                  <a:srgbClr val="44546A"/>
                </a:solidFill>
                <a:latin typeface="Calibri" panose="020F0502020204030204"/>
              </a:rPr>
              <a:t>Having users create an account will help you keep track of your customers, and allow them to choose settings to personalize the app. Next you decide on the level of interactivity that your app will have. Providing images of the route maps will be easy and inexpensive. You also could include options for users to rate and comment on the routes, which would require additional work by both the programmer and the designer. Which do you choose?  </a:t>
            </a:r>
          </a:p>
        </p:txBody>
      </p:sp>
      <p:sp>
        <p:nvSpPr>
          <p:cNvPr id="12" name="Text Placeholder 1"/>
          <p:cNvSpPr txBox="1">
            <a:spLocks/>
          </p:cNvSpPr>
          <p:nvPr/>
        </p:nvSpPr>
        <p:spPr>
          <a:xfrm>
            <a:off x="1968262" y="3291972"/>
            <a:ext cx="10246087" cy="2008156"/>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50" dirty="0">
                <a:solidFill>
                  <a:schemeClr val="tx2"/>
                </a:solidFill>
                <a:ea typeface="Calibri"/>
                <a:cs typeface="Calibri"/>
                <a:hlinkClick r:id="rId4" action="ppaction://hlinksldjump"/>
              </a:rPr>
              <a:t>Just show the route maps. </a:t>
            </a:r>
            <a:r>
              <a:rPr lang="en-US" sz="2050" dirty="0">
                <a:solidFill>
                  <a:srgbClr val="44546A"/>
                </a:solidFill>
                <a:latin typeface="Calibri" panose="020F0502020204030204"/>
              </a:rPr>
              <a:t>[Level5_Dec1_OptA]</a:t>
            </a:r>
          </a:p>
          <a:p>
            <a:pPr marL="0" indent="0">
              <a:buNone/>
            </a:pPr>
            <a:endParaRPr lang="en-US" sz="2050" dirty="0">
              <a:solidFill>
                <a:schemeClr val="tx2"/>
              </a:solidFill>
              <a:ea typeface="Calibri"/>
              <a:cs typeface="Calibri"/>
            </a:endParaRPr>
          </a:p>
          <a:p>
            <a:pPr marL="0" indent="0">
              <a:buNone/>
            </a:pPr>
            <a:r>
              <a:rPr lang="en-US" sz="2050" dirty="0">
                <a:solidFill>
                  <a:schemeClr val="tx2"/>
                </a:solidFill>
                <a:ea typeface="Calibri"/>
                <a:cs typeface="Calibri"/>
                <a:hlinkClick r:id="rId5" action="ppaction://hlinksldjump"/>
              </a:rPr>
              <a:t>Allow users to comment and rate routes. </a:t>
            </a:r>
            <a:r>
              <a:rPr lang="en-US" sz="2050" dirty="0">
                <a:solidFill>
                  <a:srgbClr val="44546A"/>
                </a:solidFill>
                <a:latin typeface="Calibri" panose="020F0502020204030204"/>
              </a:rPr>
              <a:t>[Level5_Dec1_OptB]</a:t>
            </a:r>
          </a:p>
          <a:p>
            <a:pPr marL="0" indent="0">
              <a:spcBef>
                <a:spcPts val="0"/>
              </a:spcBef>
              <a:buNone/>
              <a:defRPr/>
            </a:pPr>
            <a:endParaRPr lang="en-US" sz="2099" dirty="0">
              <a:solidFill>
                <a:schemeClr val="accent3">
                  <a:lumMod val="75000"/>
                </a:schemeClr>
              </a:solidFill>
              <a:ea typeface="Calibri"/>
              <a:cs typeface="Calibri"/>
            </a:endParaRPr>
          </a:p>
        </p:txBody>
      </p:sp>
      <p:sp>
        <p:nvSpPr>
          <p:cNvPr id="15" name="Text Placeholder 3"/>
          <p:cNvSpPr txBox="1">
            <a:spLocks/>
          </p:cNvSpPr>
          <p:nvPr/>
        </p:nvSpPr>
        <p:spPr>
          <a:xfrm>
            <a:off x="1322498" y="3291972"/>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8" name="Text Placeholder 3">
            <a:extLst>
              <a:ext uri="{FF2B5EF4-FFF2-40B4-BE49-F238E27FC236}">
                <a16:creationId xmlns:a16="http://schemas.microsoft.com/office/drawing/2014/main" id="{59084517-AE3F-42B9-B673-1937206652FE}"/>
              </a:ext>
            </a:extLst>
          </p:cNvPr>
          <p:cNvSpPr txBox="1">
            <a:spLocks/>
          </p:cNvSpPr>
          <p:nvPr/>
        </p:nvSpPr>
        <p:spPr>
          <a:xfrm>
            <a:off x="1322498" y="4010735"/>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p:txBody>
      </p:sp>
      <p:sp>
        <p:nvSpPr>
          <p:cNvPr id="2" name="Rectangle 1">
            <a:extLst>
              <a:ext uri="{FF2B5EF4-FFF2-40B4-BE49-F238E27FC236}">
                <a16:creationId xmlns:a16="http://schemas.microsoft.com/office/drawing/2014/main" id="{27D4F2A1-39FD-46EB-A9A5-F763A02486C9}"/>
              </a:ext>
            </a:extLst>
          </p:cNvPr>
          <p:cNvSpPr/>
          <p:nvPr/>
        </p:nvSpPr>
        <p:spPr>
          <a:xfrm>
            <a:off x="795113" y="0"/>
            <a:ext cx="2534348" cy="646331"/>
          </a:xfrm>
          <a:prstGeom prst="rect">
            <a:avLst/>
          </a:prstGeom>
        </p:spPr>
        <p:txBody>
          <a:bodyPr wrap="none">
            <a:spAutoFit/>
          </a:bodyPr>
          <a:lstStyle/>
          <a:p>
            <a:pPr>
              <a:defRPr/>
            </a:pPr>
            <a:r>
              <a:rPr lang="en-US" sz="3600" dirty="0">
                <a:solidFill>
                  <a:prstClr val="black"/>
                </a:solidFill>
                <a:latin typeface="Calibri Light" panose="020F0302020204030204"/>
                <a:ea typeface="+mj-ea"/>
                <a:cs typeface="+mj-cs"/>
              </a:rPr>
              <a:t>Level5_Dec1</a:t>
            </a:r>
          </a:p>
        </p:txBody>
      </p:sp>
      <p:sp>
        <p:nvSpPr>
          <p:cNvPr id="10" name="TextBox 9">
            <a:extLst>
              <a:ext uri="{FF2B5EF4-FFF2-40B4-BE49-F238E27FC236}">
                <a16:creationId xmlns:a16="http://schemas.microsoft.com/office/drawing/2014/main" id="{67964081-49A8-482D-A8A7-31D3EDF9B51B}"/>
              </a:ext>
            </a:extLst>
          </p:cNvPr>
          <p:cNvSpPr txBox="1"/>
          <p:nvPr/>
        </p:nvSpPr>
        <p:spPr>
          <a:xfrm>
            <a:off x="1036320"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to require users to create an account.</a:t>
            </a:r>
          </a:p>
        </p:txBody>
      </p:sp>
      <p:sp>
        <p:nvSpPr>
          <p:cNvPr id="13" name="TextBox 12">
            <a:extLst>
              <a:ext uri="{FF2B5EF4-FFF2-40B4-BE49-F238E27FC236}">
                <a16:creationId xmlns:a16="http://schemas.microsoft.com/office/drawing/2014/main" id="{07AA85F1-E64E-48F4-9585-F6832BD4786B}"/>
              </a:ext>
            </a:extLst>
          </p:cNvPr>
          <p:cNvSpPr txBox="1"/>
          <p:nvPr/>
        </p:nvSpPr>
        <p:spPr>
          <a:xfrm>
            <a:off x="1036320" y="5868642"/>
            <a:ext cx="9570720" cy="64633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lang="en-US" kern="0" dirty="0">
                <a:solidFill>
                  <a:prstClr val="black"/>
                </a:solidFill>
              </a:rPr>
              <a:t>If Option </a:t>
            </a: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A: </a:t>
            </a:r>
            <a:r>
              <a:rPr lang="en-US" kern="0" dirty="0">
                <a:solidFill>
                  <a:prstClr val="black"/>
                </a:solidFill>
              </a:rPr>
              <a:t>The business partners pull funding from the project.</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a:p>
            <a:pPr lvl="0">
              <a:defRPr/>
            </a:pPr>
            <a:r>
              <a:rPr lang="en-US" kern="0" dirty="0">
                <a:solidFill>
                  <a:prstClr val="black"/>
                </a:solidFill>
              </a:rPr>
              <a:t>If Option </a:t>
            </a: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B: Student will need to choose graphics quality.</a:t>
            </a:r>
          </a:p>
        </p:txBody>
      </p:sp>
      <p:sp>
        <p:nvSpPr>
          <p:cNvPr id="14" name="TextBox 13">
            <a:extLst>
              <a:ext uri="{FF2B5EF4-FFF2-40B4-BE49-F238E27FC236}">
                <a16:creationId xmlns:a16="http://schemas.microsoft.com/office/drawing/2014/main" id="{ADFACB0D-81B8-451B-8D0E-0EA71AC1920D}"/>
              </a:ext>
            </a:extLst>
          </p:cNvPr>
          <p:cNvSpPr txBox="1"/>
          <p:nvPr/>
        </p:nvSpPr>
        <p:spPr>
          <a:xfrm>
            <a:off x="1036320" y="4709914"/>
            <a:ext cx="9570720" cy="923330"/>
          </a:xfrm>
          <a:prstGeom prst="rect">
            <a:avLst/>
          </a:prstGeom>
          <a:gradFill rotWithShape="1">
            <a:gsLst>
              <a:gs pos="0">
                <a:srgbClr val="A5A5A5">
                  <a:lumMod val="110000"/>
                  <a:satMod val="105000"/>
                  <a:tint val="67000"/>
                </a:srgbClr>
              </a:gs>
              <a:gs pos="50000">
                <a:srgbClr val="A5A5A5">
                  <a:lumMod val="105000"/>
                  <a:satMod val="103000"/>
                  <a:tint val="73000"/>
                </a:srgbClr>
              </a:gs>
              <a:gs pos="100000">
                <a:srgbClr val="A5A5A5">
                  <a:lumMod val="105000"/>
                  <a:satMod val="109000"/>
                  <a:tint val="81000"/>
                </a:srgbClr>
              </a:gs>
            </a:gsLst>
            <a:lin ang="5400000" scaled="0"/>
          </a:gradFill>
          <a:ln w="6350" cap="flat" cmpd="sng" algn="ctr">
            <a:solidFill>
              <a:srgbClr val="A5A5A5"/>
            </a:solidFill>
            <a:prstDash val="solid"/>
            <a:miter lim="800000"/>
          </a:ln>
          <a:effectLst/>
        </p:spPr>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Users are more likely to keep engaging with the app if they can interact with it by commenting and rating routes.</a:t>
            </a:r>
          </a:p>
        </p:txBody>
      </p:sp>
      <p:sp>
        <p:nvSpPr>
          <p:cNvPr id="16" name="Arrow: Pentagon 15">
            <a:extLst>
              <a:ext uri="{FF2B5EF4-FFF2-40B4-BE49-F238E27FC236}">
                <a16:creationId xmlns:a16="http://schemas.microsoft.com/office/drawing/2014/main" id="{09AD9D67-86E2-4B2B-96F8-FA17D5DDCA1C}"/>
              </a:ext>
            </a:extLst>
          </p:cNvPr>
          <p:cNvSpPr/>
          <p:nvPr/>
        </p:nvSpPr>
        <p:spPr>
          <a:xfrm>
            <a:off x="188651" y="4010735"/>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Tree>
    <p:custDataLst>
      <p:tags r:id="rId1"/>
    </p:custDataLst>
    <p:extLst>
      <p:ext uri="{BB962C8B-B14F-4D97-AF65-F5344CB8AC3E}">
        <p14:creationId xmlns:p14="http://schemas.microsoft.com/office/powerpoint/2010/main" val="42396283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36320" y="1420661"/>
            <a:ext cx="11155680" cy="1454125"/>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50" dirty="0">
                <a:solidFill>
                  <a:srgbClr val="44546A"/>
                </a:solidFill>
                <a:latin typeface="Calibri" panose="020F0502020204030204"/>
              </a:rPr>
              <a:t>Not requiring a login to use the app simplifies the development process. Next you decide on the level of interactivity that your app will have. Providing images of the route maps will be easy and inexpensive. You also could include options for users to rate and comment on the routes, which would require additional work by both the programmer and the designer. Which do you choose?  </a:t>
            </a:r>
          </a:p>
        </p:txBody>
      </p:sp>
      <p:sp>
        <p:nvSpPr>
          <p:cNvPr id="12" name="Text Placeholder 1"/>
          <p:cNvSpPr txBox="1">
            <a:spLocks/>
          </p:cNvSpPr>
          <p:nvPr/>
        </p:nvSpPr>
        <p:spPr>
          <a:xfrm>
            <a:off x="1945913" y="3120694"/>
            <a:ext cx="10246087" cy="194092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50" dirty="0">
                <a:solidFill>
                  <a:schemeClr val="tx2"/>
                </a:solidFill>
                <a:ea typeface="Calibri"/>
                <a:cs typeface="Calibri"/>
                <a:hlinkClick r:id="rId4" action="ppaction://hlinksldjump"/>
              </a:rPr>
              <a:t>Just show the route maps. </a:t>
            </a:r>
            <a:r>
              <a:rPr lang="en-US" sz="2050" dirty="0">
                <a:solidFill>
                  <a:srgbClr val="44546A"/>
                </a:solidFill>
                <a:latin typeface="Calibri" panose="020F0502020204030204"/>
              </a:rPr>
              <a:t>[Level5_Dec2_OptA]</a:t>
            </a:r>
          </a:p>
          <a:p>
            <a:pPr marL="0" indent="0">
              <a:buNone/>
            </a:pPr>
            <a:endParaRPr lang="en-US" sz="2050" dirty="0">
              <a:solidFill>
                <a:schemeClr val="tx2"/>
              </a:solidFill>
              <a:ea typeface="Calibri"/>
              <a:cs typeface="Calibri"/>
            </a:endParaRPr>
          </a:p>
          <a:p>
            <a:pPr marL="0" indent="0">
              <a:buNone/>
            </a:pPr>
            <a:r>
              <a:rPr lang="en-US" sz="2050" dirty="0">
                <a:solidFill>
                  <a:schemeClr val="tx2"/>
                </a:solidFill>
                <a:ea typeface="Calibri"/>
                <a:cs typeface="Calibri"/>
                <a:hlinkClick r:id="rId5" action="ppaction://hlinksldjump"/>
              </a:rPr>
              <a:t>Allow users to comment and rate routes. </a:t>
            </a:r>
            <a:r>
              <a:rPr lang="en-US" sz="2050" dirty="0">
                <a:solidFill>
                  <a:srgbClr val="44546A"/>
                </a:solidFill>
                <a:latin typeface="Calibri" panose="020F0502020204030204"/>
              </a:rPr>
              <a:t>[Level5_Dec2_OptB]</a:t>
            </a:r>
          </a:p>
          <a:p>
            <a:pPr marL="0" indent="0">
              <a:spcBef>
                <a:spcPts val="0"/>
              </a:spcBef>
              <a:buNone/>
              <a:defRPr/>
            </a:pPr>
            <a:endParaRPr lang="en-US" sz="2050" dirty="0">
              <a:solidFill>
                <a:srgbClr val="44546A"/>
              </a:solidFill>
              <a:latin typeface="Calibri" panose="020F0502020204030204"/>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15" name="Text Placeholder 3"/>
          <p:cNvSpPr txBox="1">
            <a:spLocks/>
          </p:cNvSpPr>
          <p:nvPr/>
        </p:nvSpPr>
        <p:spPr>
          <a:xfrm>
            <a:off x="1300149" y="3110184"/>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8" name="Text Placeholder 3">
            <a:extLst>
              <a:ext uri="{FF2B5EF4-FFF2-40B4-BE49-F238E27FC236}">
                <a16:creationId xmlns:a16="http://schemas.microsoft.com/office/drawing/2014/main" id="{59084517-AE3F-42B9-B673-1937206652FE}"/>
              </a:ext>
            </a:extLst>
          </p:cNvPr>
          <p:cNvSpPr txBox="1">
            <a:spLocks/>
          </p:cNvSpPr>
          <p:nvPr/>
        </p:nvSpPr>
        <p:spPr>
          <a:xfrm>
            <a:off x="1300149" y="3817128"/>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p:txBody>
      </p:sp>
      <p:sp>
        <p:nvSpPr>
          <p:cNvPr id="2" name="Rectangle 1">
            <a:extLst>
              <a:ext uri="{FF2B5EF4-FFF2-40B4-BE49-F238E27FC236}">
                <a16:creationId xmlns:a16="http://schemas.microsoft.com/office/drawing/2014/main" id="{155B80AC-F209-445F-8271-6D78B791B580}"/>
              </a:ext>
            </a:extLst>
          </p:cNvPr>
          <p:cNvSpPr/>
          <p:nvPr/>
        </p:nvSpPr>
        <p:spPr>
          <a:xfrm>
            <a:off x="795114" y="0"/>
            <a:ext cx="3398366" cy="646331"/>
          </a:xfrm>
          <a:prstGeom prst="rect">
            <a:avLst/>
          </a:prstGeom>
        </p:spPr>
        <p:txBody>
          <a:bodyPr wrap="none">
            <a:spAutoFit/>
          </a:bodyPr>
          <a:lstStyle/>
          <a:p>
            <a:pPr>
              <a:defRPr/>
            </a:pPr>
            <a:r>
              <a:rPr lang="en-US" sz="3600" dirty="0">
                <a:solidFill>
                  <a:prstClr val="black"/>
                </a:solidFill>
                <a:latin typeface="Calibri Light" panose="020F0302020204030204"/>
                <a:ea typeface="+mj-ea"/>
                <a:cs typeface="+mj-cs"/>
              </a:rPr>
              <a:t>Level5_Decision2</a:t>
            </a:r>
          </a:p>
        </p:txBody>
      </p:sp>
      <p:sp>
        <p:nvSpPr>
          <p:cNvPr id="14" name="TextBox 13">
            <a:extLst>
              <a:ext uri="{FF2B5EF4-FFF2-40B4-BE49-F238E27FC236}">
                <a16:creationId xmlns:a16="http://schemas.microsoft.com/office/drawing/2014/main" id="{80DDEF85-E3CD-4EBC-80D8-2D152F244A58}"/>
              </a:ext>
            </a:extLst>
          </p:cNvPr>
          <p:cNvSpPr txBox="1"/>
          <p:nvPr/>
        </p:nvSpPr>
        <p:spPr>
          <a:xfrm>
            <a:off x="1036320"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to allow anonymous users.</a:t>
            </a:r>
          </a:p>
        </p:txBody>
      </p:sp>
      <p:sp>
        <p:nvSpPr>
          <p:cNvPr id="16" name="TextBox 15">
            <a:extLst>
              <a:ext uri="{FF2B5EF4-FFF2-40B4-BE49-F238E27FC236}">
                <a16:creationId xmlns:a16="http://schemas.microsoft.com/office/drawing/2014/main" id="{B31CF08C-6550-4313-8014-3A15FE6FC7FE}"/>
              </a:ext>
            </a:extLst>
          </p:cNvPr>
          <p:cNvSpPr txBox="1"/>
          <p:nvPr/>
        </p:nvSpPr>
        <p:spPr>
          <a:xfrm>
            <a:off x="1036320" y="5965131"/>
            <a:ext cx="9570720" cy="64633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lang="en-US" kern="0" dirty="0">
                <a:solidFill>
                  <a:prstClr val="black"/>
                </a:solidFill>
              </a:rPr>
              <a:t>If Option A: The business partners pull funding from the project.</a:t>
            </a:r>
          </a:p>
          <a:p>
            <a:pPr lvl="0">
              <a:defRPr/>
            </a:pPr>
            <a:r>
              <a:rPr lang="en-US" kern="0" dirty="0">
                <a:solidFill>
                  <a:prstClr val="black"/>
                </a:solidFill>
              </a:rPr>
              <a:t>If Option B: Student will need to choose graphics quality.</a:t>
            </a:r>
          </a:p>
        </p:txBody>
      </p:sp>
      <p:sp>
        <p:nvSpPr>
          <p:cNvPr id="17" name="TextBox 16">
            <a:extLst>
              <a:ext uri="{FF2B5EF4-FFF2-40B4-BE49-F238E27FC236}">
                <a16:creationId xmlns:a16="http://schemas.microsoft.com/office/drawing/2014/main" id="{B0AAE4B6-2E83-4C3C-849B-64FB26E02CA1}"/>
              </a:ext>
            </a:extLst>
          </p:cNvPr>
          <p:cNvSpPr txBox="1"/>
          <p:nvPr/>
        </p:nvSpPr>
        <p:spPr>
          <a:xfrm>
            <a:off x="1036320" y="4806403"/>
            <a:ext cx="9570720" cy="923330"/>
          </a:xfrm>
          <a:prstGeom prst="rect">
            <a:avLst/>
          </a:prstGeom>
          <a:gradFill rotWithShape="1">
            <a:gsLst>
              <a:gs pos="0">
                <a:srgbClr val="A5A5A5">
                  <a:lumMod val="110000"/>
                  <a:satMod val="105000"/>
                  <a:tint val="67000"/>
                </a:srgbClr>
              </a:gs>
              <a:gs pos="50000">
                <a:srgbClr val="A5A5A5">
                  <a:lumMod val="105000"/>
                  <a:satMod val="103000"/>
                  <a:tint val="73000"/>
                </a:srgbClr>
              </a:gs>
              <a:gs pos="100000">
                <a:srgbClr val="A5A5A5">
                  <a:lumMod val="105000"/>
                  <a:satMod val="109000"/>
                  <a:tint val="81000"/>
                </a:srgbClr>
              </a:gs>
            </a:gsLst>
            <a:lin ang="5400000" scaled="0"/>
          </a:gradFill>
          <a:ln w="6350" cap="flat" cmpd="sng" algn="ctr">
            <a:solidFill>
              <a:srgbClr val="A5A5A5"/>
            </a:solidFill>
            <a:prstDash val="solid"/>
            <a:miter lim="800000"/>
          </a:ln>
          <a:effectLst/>
        </p:spPr>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Explanation:</a:t>
            </a:r>
          </a:p>
          <a:p>
            <a:pPr>
              <a:defRPr/>
            </a:pPr>
            <a:r>
              <a:rPr lang="en-US" kern="0" dirty="0">
                <a:solidFill>
                  <a:srgbClr val="C00000"/>
                </a:solidFill>
              </a:rPr>
              <a:t>Users are more likely to keep engaging with the app if they can interact with it by commenting and rating routes.</a:t>
            </a:r>
            <a:endPar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endParaRPr>
          </a:p>
        </p:txBody>
      </p:sp>
      <p:sp>
        <p:nvSpPr>
          <p:cNvPr id="18" name="Arrow: Pentagon 17">
            <a:extLst>
              <a:ext uri="{FF2B5EF4-FFF2-40B4-BE49-F238E27FC236}">
                <a16:creationId xmlns:a16="http://schemas.microsoft.com/office/drawing/2014/main" id="{429840A6-BD80-4140-B303-B7EEC8D11AE1}"/>
              </a:ext>
            </a:extLst>
          </p:cNvPr>
          <p:cNvSpPr/>
          <p:nvPr/>
        </p:nvSpPr>
        <p:spPr>
          <a:xfrm>
            <a:off x="188651" y="3817128"/>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Tree>
    <p:custDataLst>
      <p:tags r:id="rId1"/>
    </p:custDataLst>
    <p:extLst>
      <p:ext uri="{BB962C8B-B14F-4D97-AF65-F5344CB8AC3E}">
        <p14:creationId xmlns:p14="http://schemas.microsoft.com/office/powerpoint/2010/main" val="35083151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36320" y="1424205"/>
            <a:ext cx="9570720" cy="272273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50" dirty="0">
                <a:solidFill>
                  <a:srgbClr val="44546A"/>
                </a:solidFill>
                <a:latin typeface="Calibri" panose="020F0502020204030204"/>
              </a:rPr>
              <a:t>The app development team works up a few wireframes and you eagerly show them to some customers and your partners to see what they think. Their feedback isn't very positive. They're saying it seems like a rather boring app that wouldn't really be all that useful.</a:t>
            </a:r>
          </a:p>
        </p:txBody>
      </p:sp>
      <p:sp>
        <p:nvSpPr>
          <p:cNvPr id="12" name="Text Placeholder 1"/>
          <p:cNvSpPr txBox="1">
            <a:spLocks/>
          </p:cNvSpPr>
          <p:nvPr/>
        </p:nvSpPr>
        <p:spPr>
          <a:xfrm>
            <a:off x="1036320" y="3585820"/>
            <a:ext cx="5854337" cy="964409"/>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50" dirty="0">
                <a:solidFill>
                  <a:schemeClr val="tx2"/>
                </a:solidFill>
                <a:ea typeface="Calibri"/>
                <a:cs typeface="Calibri"/>
                <a:hlinkClick r:id="rId4" action="ppaction://hlinksldjump"/>
              </a:rPr>
              <a:t>Continue</a:t>
            </a:r>
            <a:endParaRPr lang="en-US" sz="2050" dirty="0">
              <a:solidFill>
                <a:schemeClr val="tx2"/>
              </a:solidFill>
              <a:ea typeface="Calibri"/>
              <a:cs typeface="Calibri"/>
            </a:endParaRPr>
          </a:p>
          <a:p>
            <a:pPr marL="0" indent="0">
              <a:buNone/>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2" name="Rectangle 1">
            <a:extLst>
              <a:ext uri="{FF2B5EF4-FFF2-40B4-BE49-F238E27FC236}">
                <a16:creationId xmlns:a16="http://schemas.microsoft.com/office/drawing/2014/main" id="{4DA2CE5D-9759-48D2-AD88-38716B29D07B}"/>
              </a:ext>
            </a:extLst>
          </p:cNvPr>
          <p:cNvSpPr/>
          <p:nvPr/>
        </p:nvSpPr>
        <p:spPr>
          <a:xfrm>
            <a:off x="1328331" y="58250"/>
            <a:ext cx="2791790" cy="646331"/>
          </a:xfrm>
          <a:prstGeom prst="rect">
            <a:avLst/>
          </a:prstGeom>
        </p:spPr>
        <p:txBody>
          <a:bodyPr wrap="none">
            <a:spAutoFit/>
          </a:bodyPr>
          <a:lstStyle/>
          <a:p>
            <a:pPr>
              <a:defRPr/>
            </a:pPr>
            <a:r>
              <a:rPr lang="en-US" sz="3600" dirty="0">
                <a:solidFill>
                  <a:prstClr val="black"/>
                </a:solidFill>
                <a:latin typeface="Calibri Light" panose="020F0302020204030204"/>
                <a:ea typeface="+mj-ea"/>
                <a:cs typeface="+mj-cs"/>
              </a:rPr>
              <a:t>Level5_Story1</a:t>
            </a:r>
          </a:p>
        </p:txBody>
      </p:sp>
      <p:sp>
        <p:nvSpPr>
          <p:cNvPr id="10" name="TextBox 9">
            <a:extLst>
              <a:ext uri="{FF2B5EF4-FFF2-40B4-BE49-F238E27FC236}">
                <a16:creationId xmlns:a16="http://schemas.microsoft.com/office/drawing/2014/main" id="{69C5462E-A8C1-4E39-A0DE-4E2DBADE8073}"/>
              </a:ext>
            </a:extLst>
          </p:cNvPr>
          <p:cNvSpPr txBox="1"/>
          <p:nvPr/>
        </p:nvSpPr>
        <p:spPr>
          <a:xfrm>
            <a:off x="1036320"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not to include interactive features.</a:t>
            </a:r>
          </a:p>
        </p:txBody>
      </p:sp>
      <p:sp>
        <p:nvSpPr>
          <p:cNvPr id="14" name="TextBox 13">
            <a:extLst>
              <a:ext uri="{FF2B5EF4-FFF2-40B4-BE49-F238E27FC236}">
                <a16:creationId xmlns:a16="http://schemas.microsoft.com/office/drawing/2014/main" id="{B390EDB9-488F-4C67-A174-E24EAC09F01D}"/>
              </a:ext>
            </a:extLst>
          </p:cNvPr>
          <p:cNvSpPr txBox="1"/>
          <p:nvPr/>
        </p:nvSpPr>
        <p:spPr>
          <a:xfrm>
            <a:off x="1036320" y="5868642"/>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a:t>
            </a:r>
            <a:r>
              <a:rPr lang="en-US" kern="0" dirty="0">
                <a:solidFill>
                  <a:prstClr val="black"/>
                </a:solidFill>
              </a:rPr>
              <a:t>The business partners pull funding from the project.</a:t>
            </a:r>
          </a:p>
        </p:txBody>
      </p:sp>
    </p:spTree>
    <p:custDataLst>
      <p:tags r:id="rId1"/>
    </p:custDataLst>
    <p:extLst>
      <p:ext uri="{BB962C8B-B14F-4D97-AF65-F5344CB8AC3E}">
        <p14:creationId xmlns:p14="http://schemas.microsoft.com/office/powerpoint/2010/main" val="39341412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36320" y="1416195"/>
            <a:ext cx="11155680" cy="1538523"/>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50" dirty="0">
                <a:solidFill>
                  <a:srgbClr val="44546A"/>
                </a:solidFill>
                <a:latin typeface="Calibri" panose="020F0502020204030204"/>
              </a:rPr>
              <a:t>Customers are getting excited about being able to interact with the map to share their feedback on the routes. Next you work with the designer to choose the type of graphics to include in the app. You have several approaches you can take. Which do you choose? </a:t>
            </a:r>
          </a:p>
          <a:p>
            <a:pPr marL="0" indent="0">
              <a:buNone/>
            </a:pPr>
            <a:endParaRPr lang="en-US" sz="1800" dirty="0"/>
          </a:p>
        </p:txBody>
      </p:sp>
      <p:sp>
        <p:nvSpPr>
          <p:cNvPr id="12" name="Text Placeholder 1"/>
          <p:cNvSpPr txBox="1">
            <a:spLocks/>
          </p:cNvSpPr>
          <p:nvPr/>
        </p:nvSpPr>
        <p:spPr>
          <a:xfrm>
            <a:off x="1974615" y="2585859"/>
            <a:ext cx="10246087" cy="1940921"/>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00" dirty="0">
                <a:solidFill>
                  <a:schemeClr val="tx2"/>
                </a:solidFill>
                <a:ea typeface="Calibri"/>
                <a:cs typeface="Calibri"/>
                <a:hlinkClick r:id="rId4" action="ppaction://hlinksldjump"/>
              </a:rPr>
              <a:t>Simple graphics you can create using drawing tools. </a:t>
            </a:r>
            <a:r>
              <a:rPr lang="en-US" sz="2000" dirty="0">
                <a:solidFill>
                  <a:srgbClr val="44546A"/>
                </a:solidFill>
                <a:latin typeface="Calibri" panose="020F0502020204030204"/>
              </a:rPr>
              <a:t>[Level6_Dec1_OptA]</a:t>
            </a:r>
          </a:p>
          <a:p>
            <a:pPr marL="0" indent="0">
              <a:buNone/>
            </a:pPr>
            <a:endParaRPr lang="en-US" sz="2000" dirty="0">
              <a:solidFill>
                <a:schemeClr val="tx2"/>
              </a:solidFill>
              <a:ea typeface="Calibri"/>
              <a:cs typeface="Calibri"/>
              <a:hlinkClick r:id="rId5" action="ppaction://hlinksldjump"/>
            </a:endParaRPr>
          </a:p>
          <a:p>
            <a:pPr marL="0" indent="0">
              <a:buNone/>
            </a:pPr>
            <a:r>
              <a:rPr lang="en-US" sz="2000" dirty="0">
                <a:solidFill>
                  <a:schemeClr val="tx2"/>
                </a:solidFill>
                <a:ea typeface="Calibri"/>
                <a:cs typeface="Calibri"/>
                <a:hlinkClick r:id="rId6" action="ppaction://hlinksldjump"/>
              </a:rPr>
              <a:t>Stock graphics you can license and purchase for use</a:t>
            </a:r>
            <a:r>
              <a:rPr lang="en-US" sz="2000" dirty="0">
                <a:solidFill>
                  <a:schemeClr val="tx2"/>
                </a:solidFill>
                <a:ea typeface="Calibri"/>
                <a:cs typeface="Calibri"/>
              </a:rPr>
              <a:t>. </a:t>
            </a:r>
            <a:r>
              <a:rPr lang="en-US" sz="2000" dirty="0">
                <a:solidFill>
                  <a:srgbClr val="44546A"/>
                </a:solidFill>
                <a:latin typeface="Calibri" panose="020F0502020204030204"/>
              </a:rPr>
              <a:t>[Level6_Dec1_OptB]</a:t>
            </a:r>
          </a:p>
          <a:p>
            <a:pPr marL="0" indent="0">
              <a:buNone/>
            </a:pPr>
            <a:endParaRPr lang="en-US" sz="2000" dirty="0">
              <a:solidFill>
                <a:schemeClr val="tx2"/>
              </a:solidFill>
              <a:ea typeface="Calibri"/>
              <a:cs typeface="Calibri"/>
            </a:endParaRPr>
          </a:p>
          <a:p>
            <a:pPr marL="0" indent="0">
              <a:buNone/>
            </a:pPr>
            <a:r>
              <a:rPr lang="en-US" sz="2000" dirty="0">
                <a:solidFill>
                  <a:schemeClr val="tx2"/>
                </a:solidFill>
                <a:ea typeface="Calibri"/>
                <a:cs typeface="Calibri"/>
                <a:hlinkClick r:id="rId6" action="ppaction://hlinksldjump"/>
              </a:rPr>
              <a:t>Custom graphics that mirror your store’s logo and colors. </a:t>
            </a:r>
            <a:r>
              <a:rPr lang="en-US" sz="2000" dirty="0">
                <a:solidFill>
                  <a:srgbClr val="44546A"/>
                </a:solidFill>
                <a:latin typeface="Calibri" panose="020F0502020204030204"/>
              </a:rPr>
              <a:t>[Level6_Dec1_OptC]</a:t>
            </a:r>
          </a:p>
          <a:p>
            <a:pPr marL="0" indent="0">
              <a:buNone/>
            </a:pPr>
            <a:endParaRPr lang="en-US" sz="2000" dirty="0">
              <a:solidFill>
                <a:schemeClr val="accent3">
                  <a:lumMod val="75000"/>
                </a:schemeClr>
              </a:solidFill>
              <a:ea typeface="Calibri"/>
              <a:cs typeface="Calibri"/>
            </a:endParaRPr>
          </a:p>
          <a:p>
            <a:pPr marL="0" indent="0">
              <a:spcBef>
                <a:spcPts val="0"/>
              </a:spcBef>
              <a:buNone/>
              <a:defRPr/>
            </a:pPr>
            <a:endParaRPr lang="en-US" sz="2000" dirty="0">
              <a:solidFill>
                <a:schemeClr val="accent3">
                  <a:lumMod val="75000"/>
                </a:schemeClr>
              </a:solidFill>
              <a:ea typeface="Calibri"/>
              <a:cs typeface="Calibri"/>
            </a:endParaRPr>
          </a:p>
        </p:txBody>
      </p:sp>
      <p:sp>
        <p:nvSpPr>
          <p:cNvPr id="15" name="Text Placeholder 3"/>
          <p:cNvSpPr txBox="1">
            <a:spLocks/>
          </p:cNvSpPr>
          <p:nvPr/>
        </p:nvSpPr>
        <p:spPr>
          <a:xfrm>
            <a:off x="1350417" y="2585859"/>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8" name="Text Placeholder 3">
            <a:extLst>
              <a:ext uri="{FF2B5EF4-FFF2-40B4-BE49-F238E27FC236}">
                <a16:creationId xmlns:a16="http://schemas.microsoft.com/office/drawing/2014/main" id="{59084517-AE3F-42B9-B673-1937206652FE}"/>
              </a:ext>
            </a:extLst>
          </p:cNvPr>
          <p:cNvSpPr txBox="1">
            <a:spLocks/>
          </p:cNvSpPr>
          <p:nvPr/>
        </p:nvSpPr>
        <p:spPr>
          <a:xfrm>
            <a:off x="1375811" y="3355135"/>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p:txBody>
      </p:sp>
      <p:sp>
        <p:nvSpPr>
          <p:cNvPr id="9" name="Text Placeholder 3">
            <a:extLst>
              <a:ext uri="{FF2B5EF4-FFF2-40B4-BE49-F238E27FC236}">
                <a16:creationId xmlns:a16="http://schemas.microsoft.com/office/drawing/2014/main" id="{6A009C9E-CA92-4A18-97E6-F9540F5E4B00}"/>
              </a:ext>
            </a:extLst>
          </p:cNvPr>
          <p:cNvSpPr txBox="1">
            <a:spLocks/>
          </p:cNvSpPr>
          <p:nvPr/>
        </p:nvSpPr>
        <p:spPr>
          <a:xfrm>
            <a:off x="1375810" y="4157920"/>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C</a:t>
            </a:r>
          </a:p>
        </p:txBody>
      </p:sp>
      <p:sp>
        <p:nvSpPr>
          <p:cNvPr id="2" name="Rectangle 1">
            <a:extLst>
              <a:ext uri="{FF2B5EF4-FFF2-40B4-BE49-F238E27FC236}">
                <a16:creationId xmlns:a16="http://schemas.microsoft.com/office/drawing/2014/main" id="{69C7F0FC-2743-47B6-8B09-30DA82F453F7}"/>
              </a:ext>
            </a:extLst>
          </p:cNvPr>
          <p:cNvSpPr/>
          <p:nvPr/>
        </p:nvSpPr>
        <p:spPr>
          <a:xfrm>
            <a:off x="1350417" y="0"/>
            <a:ext cx="5108146" cy="646331"/>
          </a:xfrm>
          <a:prstGeom prst="rect">
            <a:avLst/>
          </a:prstGeom>
        </p:spPr>
        <p:txBody>
          <a:bodyPr wrap="square">
            <a:spAutoFit/>
          </a:bodyPr>
          <a:lstStyle/>
          <a:p>
            <a:pPr>
              <a:defRPr/>
            </a:pPr>
            <a:r>
              <a:rPr lang="en-US" sz="3600" dirty="0">
                <a:solidFill>
                  <a:prstClr val="black"/>
                </a:solidFill>
                <a:latin typeface="Calibri Light" panose="020F0302020204030204"/>
                <a:ea typeface="+mj-ea"/>
                <a:cs typeface="+mj-cs"/>
              </a:rPr>
              <a:t>Level6_Decision1</a:t>
            </a:r>
          </a:p>
        </p:txBody>
      </p:sp>
      <p:sp>
        <p:nvSpPr>
          <p:cNvPr id="14" name="TextBox 13">
            <a:extLst>
              <a:ext uri="{FF2B5EF4-FFF2-40B4-BE49-F238E27FC236}">
                <a16:creationId xmlns:a16="http://schemas.microsoft.com/office/drawing/2014/main" id="{2E8D3255-9370-4C50-914F-D887204A7356}"/>
              </a:ext>
            </a:extLst>
          </p:cNvPr>
          <p:cNvSpPr txBox="1"/>
          <p:nvPr/>
        </p:nvSpPr>
        <p:spPr>
          <a:xfrm>
            <a:off x="1036320"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to include interactive features.</a:t>
            </a:r>
          </a:p>
        </p:txBody>
      </p:sp>
      <p:sp>
        <p:nvSpPr>
          <p:cNvPr id="16" name="TextBox 15">
            <a:extLst>
              <a:ext uri="{FF2B5EF4-FFF2-40B4-BE49-F238E27FC236}">
                <a16:creationId xmlns:a16="http://schemas.microsoft.com/office/drawing/2014/main" id="{3661A336-43D0-435F-A5AE-B191F21735D3}"/>
              </a:ext>
            </a:extLst>
          </p:cNvPr>
          <p:cNvSpPr txBox="1"/>
          <p:nvPr/>
        </p:nvSpPr>
        <p:spPr>
          <a:xfrm>
            <a:off x="1036320" y="6137214"/>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for all options: Student will need to choose which contractor to contact.</a:t>
            </a:r>
          </a:p>
        </p:txBody>
      </p:sp>
      <p:sp>
        <p:nvSpPr>
          <p:cNvPr id="17" name="TextBox 16">
            <a:extLst>
              <a:ext uri="{FF2B5EF4-FFF2-40B4-BE49-F238E27FC236}">
                <a16:creationId xmlns:a16="http://schemas.microsoft.com/office/drawing/2014/main" id="{8C38C48C-2A7B-4B7D-B559-BBFF262CF2C6}"/>
              </a:ext>
            </a:extLst>
          </p:cNvPr>
          <p:cNvSpPr txBox="1"/>
          <p:nvPr/>
        </p:nvSpPr>
        <p:spPr>
          <a:xfrm>
            <a:off x="1036320" y="4978486"/>
            <a:ext cx="9570720" cy="923330"/>
          </a:xfrm>
          <a:prstGeom prst="rect">
            <a:avLst/>
          </a:prstGeom>
          <a:gradFill rotWithShape="1">
            <a:gsLst>
              <a:gs pos="0">
                <a:srgbClr val="A5A5A5">
                  <a:lumMod val="110000"/>
                  <a:satMod val="105000"/>
                  <a:tint val="67000"/>
                </a:srgbClr>
              </a:gs>
              <a:gs pos="50000">
                <a:srgbClr val="A5A5A5">
                  <a:lumMod val="105000"/>
                  <a:satMod val="103000"/>
                  <a:tint val="73000"/>
                </a:srgbClr>
              </a:gs>
              <a:gs pos="100000">
                <a:srgbClr val="A5A5A5">
                  <a:lumMod val="105000"/>
                  <a:satMod val="109000"/>
                  <a:tint val="81000"/>
                </a:srgbClr>
              </a:gs>
            </a:gsLst>
            <a:lin ang="5400000" scaled="0"/>
          </a:gradFill>
          <a:ln w="6350" cap="flat" cmpd="sng" algn="ctr">
            <a:solidFill>
              <a:srgbClr val="A5A5A5"/>
            </a:solidFill>
            <a:prstDash val="solid"/>
            <a:miter lim="800000"/>
          </a:ln>
          <a:effectLst/>
        </p:spPr>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Graphics quality has a great impact on the perception of the app’s quality. Either stock graphics or a few custom graphics is optimal.</a:t>
            </a:r>
          </a:p>
        </p:txBody>
      </p:sp>
      <p:sp>
        <p:nvSpPr>
          <p:cNvPr id="18" name="Arrow: Pentagon 17">
            <a:extLst>
              <a:ext uri="{FF2B5EF4-FFF2-40B4-BE49-F238E27FC236}">
                <a16:creationId xmlns:a16="http://schemas.microsoft.com/office/drawing/2014/main" id="{F0AF7FCE-6AEC-44A9-8983-DD815795D177}"/>
              </a:ext>
            </a:extLst>
          </p:cNvPr>
          <p:cNvSpPr/>
          <p:nvPr/>
        </p:nvSpPr>
        <p:spPr>
          <a:xfrm>
            <a:off x="188651" y="4122501"/>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
        <p:nvSpPr>
          <p:cNvPr id="13" name="Arrow: Pentagon 12">
            <a:extLst>
              <a:ext uri="{FF2B5EF4-FFF2-40B4-BE49-F238E27FC236}">
                <a16:creationId xmlns:a16="http://schemas.microsoft.com/office/drawing/2014/main" id="{E0CBE9B1-0211-4E19-93DC-9EA81674F2DA}"/>
              </a:ext>
            </a:extLst>
          </p:cNvPr>
          <p:cNvSpPr/>
          <p:nvPr/>
        </p:nvSpPr>
        <p:spPr>
          <a:xfrm>
            <a:off x="188651" y="3386397"/>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Tree>
    <p:custDataLst>
      <p:tags r:id="rId1"/>
    </p:custDataLst>
    <p:extLst>
      <p:ext uri="{BB962C8B-B14F-4D97-AF65-F5344CB8AC3E}">
        <p14:creationId xmlns:p14="http://schemas.microsoft.com/office/powerpoint/2010/main" val="1137133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36320" y="1368636"/>
            <a:ext cx="11155680" cy="1353910"/>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50" dirty="0">
                <a:solidFill>
                  <a:srgbClr val="44546A"/>
                </a:solidFill>
                <a:latin typeface="Calibri" panose="020F0502020204030204"/>
              </a:rPr>
              <a:t>The app is developed and ready for testing! A few of your customers have volunteered to beta test the app on their phones for a few weeks. A few days later, you start hearing back from your beta testers that the rating system isn't working right. Which contractor should you contact to get this fixed?</a:t>
            </a:r>
          </a:p>
        </p:txBody>
      </p:sp>
      <p:sp>
        <p:nvSpPr>
          <p:cNvPr id="12" name="Text Placeholder 1"/>
          <p:cNvSpPr txBox="1">
            <a:spLocks/>
          </p:cNvSpPr>
          <p:nvPr/>
        </p:nvSpPr>
        <p:spPr>
          <a:xfrm>
            <a:off x="1811156" y="2792968"/>
            <a:ext cx="8569687" cy="1389686"/>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00" dirty="0">
                <a:solidFill>
                  <a:schemeClr val="tx2"/>
                </a:solidFill>
                <a:ea typeface="Calibri"/>
                <a:cs typeface="Calibri"/>
                <a:hlinkClick r:id="rId4" action="ppaction://hlinksldjump"/>
              </a:rPr>
              <a:t>The graphic designer.  </a:t>
            </a:r>
            <a:r>
              <a:rPr lang="en-US" sz="2000" dirty="0">
                <a:solidFill>
                  <a:srgbClr val="44546A"/>
                </a:solidFill>
                <a:latin typeface="Calibri" panose="020F0502020204030204"/>
              </a:rPr>
              <a:t>[Level7_Dec1_OptA]</a:t>
            </a:r>
          </a:p>
          <a:p>
            <a:pPr marL="0" indent="0">
              <a:buNone/>
            </a:pPr>
            <a:endParaRPr lang="en-US" sz="2000" dirty="0">
              <a:solidFill>
                <a:schemeClr val="tx2"/>
              </a:solidFill>
              <a:ea typeface="Calibri"/>
              <a:cs typeface="Calibri"/>
              <a:hlinkClick r:id="rId5" action="ppaction://hlinksldjump"/>
            </a:endParaRPr>
          </a:p>
          <a:p>
            <a:pPr marL="0" indent="0">
              <a:buNone/>
            </a:pPr>
            <a:r>
              <a:rPr lang="en-US" sz="2000" dirty="0">
                <a:solidFill>
                  <a:schemeClr val="tx2"/>
                </a:solidFill>
                <a:ea typeface="Calibri"/>
                <a:cs typeface="Calibri"/>
                <a:hlinkClick r:id="rId5" action="ppaction://hlinksldjump"/>
              </a:rPr>
              <a:t>The programmer.</a:t>
            </a:r>
            <a:r>
              <a:rPr lang="en-US" sz="2000" dirty="0">
                <a:solidFill>
                  <a:schemeClr val="tx2"/>
                </a:solidFill>
                <a:ea typeface="Calibri"/>
                <a:cs typeface="Calibri"/>
              </a:rPr>
              <a:t> </a:t>
            </a:r>
            <a:r>
              <a:rPr lang="en-US" sz="2000" dirty="0">
                <a:solidFill>
                  <a:srgbClr val="44546A"/>
                </a:solidFill>
                <a:latin typeface="Calibri" panose="020F0502020204030204"/>
              </a:rPr>
              <a:t>[Level7_Dec1_OptB]</a:t>
            </a:r>
          </a:p>
          <a:p>
            <a:pPr marL="0" indent="0">
              <a:spcBef>
                <a:spcPts val="0"/>
              </a:spcBef>
              <a:buNone/>
              <a:defRPr/>
            </a:pPr>
            <a:endParaRPr lang="en-US" sz="2000" dirty="0">
              <a:solidFill>
                <a:schemeClr val="accent3">
                  <a:lumMod val="75000"/>
                </a:schemeClr>
              </a:solidFill>
              <a:ea typeface="Calibri"/>
              <a:cs typeface="Calibri"/>
            </a:endParaRPr>
          </a:p>
        </p:txBody>
      </p:sp>
      <p:sp>
        <p:nvSpPr>
          <p:cNvPr id="15" name="Text Placeholder 3"/>
          <p:cNvSpPr txBox="1">
            <a:spLocks/>
          </p:cNvSpPr>
          <p:nvPr/>
        </p:nvSpPr>
        <p:spPr>
          <a:xfrm>
            <a:off x="1300149" y="2792968"/>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8" name="Text Placeholder 3">
            <a:extLst>
              <a:ext uri="{FF2B5EF4-FFF2-40B4-BE49-F238E27FC236}">
                <a16:creationId xmlns:a16="http://schemas.microsoft.com/office/drawing/2014/main" id="{59084517-AE3F-42B9-B673-1937206652FE}"/>
              </a:ext>
            </a:extLst>
          </p:cNvPr>
          <p:cNvSpPr txBox="1">
            <a:spLocks/>
          </p:cNvSpPr>
          <p:nvPr/>
        </p:nvSpPr>
        <p:spPr>
          <a:xfrm>
            <a:off x="1285772" y="3523356"/>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p:txBody>
      </p:sp>
      <p:sp>
        <p:nvSpPr>
          <p:cNvPr id="2" name="Rectangle 1">
            <a:extLst>
              <a:ext uri="{FF2B5EF4-FFF2-40B4-BE49-F238E27FC236}">
                <a16:creationId xmlns:a16="http://schemas.microsoft.com/office/drawing/2014/main" id="{70D6EA18-9A63-40A7-9BDA-0CDEA3BC595B}"/>
              </a:ext>
            </a:extLst>
          </p:cNvPr>
          <p:cNvSpPr/>
          <p:nvPr/>
        </p:nvSpPr>
        <p:spPr>
          <a:xfrm>
            <a:off x="1335520" y="0"/>
            <a:ext cx="3398366" cy="646331"/>
          </a:xfrm>
          <a:prstGeom prst="rect">
            <a:avLst/>
          </a:prstGeom>
        </p:spPr>
        <p:txBody>
          <a:bodyPr wrap="none">
            <a:spAutoFit/>
          </a:bodyPr>
          <a:lstStyle/>
          <a:p>
            <a:pPr>
              <a:defRPr/>
            </a:pPr>
            <a:r>
              <a:rPr lang="en-US" sz="3600" dirty="0">
                <a:solidFill>
                  <a:prstClr val="black"/>
                </a:solidFill>
                <a:latin typeface="Calibri Light" panose="020F0302020204030204"/>
                <a:ea typeface="+mj-ea"/>
                <a:cs typeface="+mj-cs"/>
              </a:rPr>
              <a:t>Level7_Decision1</a:t>
            </a:r>
          </a:p>
        </p:txBody>
      </p:sp>
      <p:sp>
        <p:nvSpPr>
          <p:cNvPr id="13" name="TextBox 12">
            <a:extLst>
              <a:ext uri="{FF2B5EF4-FFF2-40B4-BE49-F238E27FC236}">
                <a16:creationId xmlns:a16="http://schemas.microsoft.com/office/drawing/2014/main" id="{88CE57AF-B7A3-4347-824B-B84A8918F59B}"/>
              </a:ext>
            </a:extLst>
          </p:cNvPr>
          <p:cNvSpPr txBox="1"/>
          <p:nvPr/>
        </p:nvSpPr>
        <p:spPr>
          <a:xfrm>
            <a:off x="1036320"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to create their own, simple graphics.</a:t>
            </a:r>
          </a:p>
        </p:txBody>
      </p:sp>
      <p:sp>
        <p:nvSpPr>
          <p:cNvPr id="14" name="TextBox 13">
            <a:extLst>
              <a:ext uri="{FF2B5EF4-FFF2-40B4-BE49-F238E27FC236}">
                <a16:creationId xmlns:a16="http://schemas.microsoft.com/office/drawing/2014/main" id="{AFB3670F-423A-4B79-9419-11FB9BA334E8}"/>
              </a:ext>
            </a:extLst>
          </p:cNvPr>
          <p:cNvSpPr txBox="1"/>
          <p:nvPr/>
        </p:nvSpPr>
        <p:spPr>
          <a:xfrm>
            <a:off x="1036320" y="5868642"/>
            <a:ext cx="9570720" cy="64633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lang="en-US" kern="0" dirty="0">
                <a:solidFill>
                  <a:prstClr val="black"/>
                </a:solidFill>
              </a:rPr>
              <a:t>If Option </a:t>
            </a: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A: </a:t>
            </a:r>
            <a:r>
              <a:rPr lang="en-US" kern="0" dirty="0">
                <a:solidFill>
                  <a:prstClr val="black"/>
                </a:solidFill>
              </a:rPr>
              <a:t>The business partners pull funding from the project.</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a:p>
            <a:pPr lvl="0">
              <a:defRPr/>
            </a:pPr>
            <a:r>
              <a:rPr lang="en-US" kern="0" dirty="0">
                <a:solidFill>
                  <a:prstClr val="black"/>
                </a:solidFill>
              </a:rPr>
              <a:t>If Option </a:t>
            </a: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B: The app is a big hit.</a:t>
            </a:r>
          </a:p>
        </p:txBody>
      </p:sp>
      <p:sp>
        <p:nvSpPr>
          <p:cNvPr id="16" name="TextBox 15">
            <a:extLst>
              <a:ext uri="{FF2B5EF4-FFF2-40B4-BE49-F238E27FC236}">
                <a16:creationId xmlns:a16="http://schemas.microsoft.com/office/drawing/2014/main" id="{56B59E27-B0F7-486E-9ADA-DF7FD1CB3BEE}"/>
              </a:ext>
            </a:extLst>
          </p:cNvPr>
          <p:cNvSpPr txBox="1"/>
          <p:nvPr/>
        </p:nvSpPr>
        <p:spPr>
          <a:xfrm>
            <a:off x="1036320" y="4709914"/>
            <a:ext cx="9570720" cy="646331"/>
          </a:xfrm>
          <a:prstGeom prst="rect">
            <a:avLst/>
          </a:prstGeom>
          <a:gradFill rotWithShape="1">
            <a:gsLst>
              <a:gs pos="0">
                <a:srgbClr val="A5A5A5">
                  <a:lumMod val="110000"/>
                  <a:satMod val="105000"/>
                  <a:tint val="67000"/>
                </a:srgbClr>
              </a:gs>
              <a:gs pos="50000">
                <a:srgbClr val="A5A5A5">
                  <a:lumMod val="105000"/>
                  <a:satMod val="103000"/>
                  <a:tint val="73000"/>
                </a:srgbClr>
              </a:gs>
              <a:gs pos="100000">
                <a:srgbClr val="A5A5A5">
                  <a:lumMod val="105000"/>
                  <a:satMod val="109000"/>
                  <a:tint val="81000"/>
                </a:srgbClr>
              </a:gs>
            </a:gsLst>
            <a:lin ang="5400000" scaled="0"/>
          </a:gradFill>
          <a:ln w="6350" cap="flat" cmpd="sng" algn="ctr">
            <a:solidFill>
              <a:srgbClr val="A5A5A5"/>
            </a:solidFill>
            <a:prstDash val="solid"/>
            <a:miter lim="800000"/>
          </a:ln>
          <a:effectLst/>
        </p:spPr>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Explanation:</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The programmer is in charge of designing the code that makes the rating system work.</a:t>
            </a:r>
          </a:p>
        </p:txBody>
      </p:sp>
      <p:sp>
        <p:nvSpPr>
          <p:cNvPr id="17" name="Arrow: Pentagon 16">
            <a:extLst>
              <a:ext uri="{FF2B5EF4-FFF2-40B4-BE49-F238E27FC236}">
                <a16:creationId xmlns:a16="http://schemas.microsoft.com/office/drawing/2014/main" id="{FCB7CB0C-D9A6-4B6E-8E34-2406603F91AA}"/>
              </a:ext>
            </a:extLst>
          </p:cNvPr>
          <p:cNvSpPr/>
          <p:nvPr/>
        </p:nvSpPr>
        <p:spPr>
          <a:xfrm>
            <a:off x="188651" y="3523356"/>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Tree>
    <p:custDataLst>
      <p:tags r:id="rId1"/>
    </p:custDataLst>
    <p:extLst>
      <p:ext uri="{BB962C8B-B14F-4D97-AF65-F5344CB8AC3E}">
        <p14:creationId xmlns:p14="http://schemas.microsoft.com/office/powerpoint/2010/main" val="17764147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795113" y="1598136"/>
            <a:ext cx="11396887" cy="2844437"/>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50" dirty="0">
                <a:solidFill>
                  <a:srgbClr val="44546A"/>
                </a:solidFill>
                <a:latin typeface="Calibri" panose="020F0502020204030204"/>
              </a:rPr>
              <a:t>The app is developed and ready for testing! A few of your customers have volunteered to beta test the app on their phones for a few weeks. A few days later, you start hearing back from your beta testers that the rating system isn't working right. Which contractor should you contact to get this fixed?</a:t>
            </a:r>
          </a:p>
        </p:txBody>
      </p:sp>
      <p:sp>
        <p:nvSpPr>
          <p:cNvPr id="12" name="Text Placeholder 1"/>
          <p:cNvSpPr txBox="1">
            <a:spLocks/>
          </p:cNvSpPr>
          <p:nvPr/>
        </p:nvSpPr>
        <p:spPr>
          <a:xfrm>
            <a:off x="1945914" y="2880336"/>
            <a:ext cx="8537030" cy="1562237"/>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00" dirty="0">
                <a:solidFill>
                  <a:schemeClr val="tx2"/>
                </a:solidFill>
                <a:ea typeface="Calibri"/>
                <a:cs typeface="Calibri"/>
                <a:hlinkClick r:id="rId4" action="ppaction://hlinksldjump"/>
              </a:rPr>
              <a:t>The graphic designer.  </a:t>
            </a:r>
            <a:r>
              <a:rPr lang="en-US" sz="2000" dirty="0">
                <a:solidFill>
                  <a:srgbClr val="44546A"/>
                </a:solidFill>
                <a:latin typeface="Calibri" panose="020F0502020204030204"/>
              </a:rPr>
              <a:t>[Level7_Dec2_OptA]</a:t>
            </a:r>
          </a:p>
          <a:p>
            <a:pPr marL="0" indent="0">
              <a:buNone/>
            </a:pPr>
            <a:endParaRPr lang="en-US" sz="2000" dirty="0">
              <a:solidFill>
                <a:schemeClr val="tx2"/>
              </a:solidFill>
              <a:ea typeface="Calibri"/>
              <a:cs typeface="Calibri"/>
              <a:hlinkClick r:id="rId5" action="ppaction://hlinksldjump"/>
            </a:endParaRPr>
          </a:p>
          <a:p>
            <a:pPr marL="0" indent="0">
              <a:buNone/>
            </a:pPr>
            <a:r>
              <a:rPr lang="en-US" sz="2000" dirty="0">
                <a:solidFill>
                  <a:schemeClr val="tx2"/>
                </a:solidFill>
                <a:ea typeface="Calibri"/>
                <a:cs typeface="Calibri"/>
                <a:hlinkClick r:id="rId5" action="ppaction://hlinksldjump"/>
              </a:rPr>
              <a:t>The programmer. </a:t>
            </a:r>
            <a:r>
              <a:rPr lang="en-US" sz="2000" dirty="0">
                <a:solidFill>
                  <a:srgbClr val="44546A"/>
                </a:solidFill>
                <a:latin typeface="Calibri" panose="020F0502020204030204"/>
              </a:rPr>
              <a:t>[Level7_Dec2_OptB]</a:t>
            </a:r>
          </a:p>
          <a:p>
            <a:pPr marL="0" indent="0">
              <a:spcBef>
                <a:spcPts val="0"/>
              </a:spcBef>
              <a:buNone/>
              <a:defRPr/>
            </a:pPr>
            <a:endParaRPr lang="en-US" sz="2000" dirty="0">
              <a:solidFill>
                <a:schemeClr val="accent3">
                  <a:lumMod val="75000"/>
                </a:schemeClr>
              </a:solidFill>
              <a:ea typeface="Calibri"/>
              <a:cs typeface="Calibri"/>
            </a:endParaRPr>
          </a:p>
        </p:txBody>
      </p:sp>
      <p:sp>
        <p:nvSpPr>
          <p:cNvPr id="15" name="Text Placeholder 3"/>
          <p:cNvSpPr txBox="1">
            <a:spLocks/>
          </p:cNvSpPr>
          <p:nvPr/>
        </p:nvSpPr>
        <p:spPr>
          <a:xfrm>
            <a:off x="1405506" y="2909934"/>
            <a:ext cx="624198" cy="531764"/>
          </a:xfrm>
          <a:prstGeom prst="rect">
            <a:avLst/>
          </a:prstGeom>
        </p:spPr>
        <p:txBody>
          <a:bodyPr lIns="121891" tIns="60945" rIns="121891" bIns="60945">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A</a:t>
            </a:r>
          </a:p>
        </p:txBody>
      </p:sp>
      <p:sp>
        <p:nvSpPr>
          <p:cNvPr id="8" name="Text Placeholder 3">
            <a:extLst>
              <a:ext uri="{FF2B5EF4-FFF2-40B4-BE49-F238E27FC236}">
                <a16:creationId xmlns:a16="http://schemas.microsoft.com/office/drawing/2014/main" id="{59084517-AE3F-42B9-B673-1937206652FE}"/>
              </a:ext>
            </a:extLst>
          </p:cNvPr>
          <p:cNvSpPr txBox="1">
            <a:spLocks/>
          </p:cNvSpPr>
          <p:nvPr/>
        </p:nvSpPr>
        <p:spPr>
          <a:xfrm>
            <a:off x="1405506" y="3641279"/>
            <a:ext cx="638575" cy="40236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99" b="1" dirty="0">
                <a:solidFill>
                  <a:schemeClr val="accent1">
                    <a:lumMod val="75000"/>
                  </a:schemeClr>
                </a:solidFill>
                <a:latin typeface="+mj-lt"/>
                <a:cs typeface="Titillium WebRegular"/>
              </a:rPr>
              <a:t>B</a:t>
            </a:r>
          </a:p>
        </p:txBody>
      </p:sp>
      <p:sp>
        <p:nvSpPr>
          <p:cNvPr id="2" name="Rectangle 1">
            <a:extLst>
              <a:ext uri="{FF2B5EF4-FFF2-40B4-BE49-F238E27FC236}">
                <a16:creationId xmlns:a16="http://schemas.microsoft.com/office/drawing/2014/main" id="{8546F8EE-5C1D-4414-9F21-AF3199F49047}"/>
              </a:ext>
            </a:extLst>
          </p:cNvPr>
          <p:cNvSpPr/>
          <p:nvPr/>
        </p:nvSpPr>
        <p:spPr>
          <a:xfrm>
            <a:off x="1001855" y="0"/>
            <a:ext cx="3398366" cy="646331"/>
          </a:xfrm>
          <a:prstGeom prst="rect">
            <a:avLst/>
          </a:prstGeom>
        </p:spPr>
        <p:txBody>
          <a:bodyPr wrap="none">
            <a:spAutoFit/>
          </a:bodyPr>
          <a:lstStyle/>
          <a:p>
            <a:pPr>
              <a:defRPr/>
            </a:pPr>
            <a:r>
              <a:rPr lang="en-US" sz="3600" dirty="0">
                <a:solidFill>
                  <a:prstClr val="black"/>
                </a:solidFill>
                <a:latin typeface="Calibri Light" panose="020F0302020204030204"/>
                <a:ea typeface="+mj-ea"/>
                <a:cs typeface="+mj-cs"/>
              </a:rPr>
              <a:t>Level7_Decision2</a:t>
            </a:r>
          </a:p>
        </p:txBody>
      </p:sp>
      <p:sp>
        <p:nvSpPr>
          <p:cNvPr id="13" name="TextBox 12">
            <a:extLst>
              <a:ext uri="{FF2B5EF4-FFF2-40B4-BE49-F238E27FC236}">
                <a16:creationId xmlns:a16="http://schemas.microsoft.com/office/drawing/2014/main" id="{56B87FF4-AA77-4EBA-AAF4-1F8DAE5CD1EA}"/>
              </a:ext>
            </a:extLst>
          </p:cNvPr>
          <p:cNvSpPr txBox="1"/>
          <p:nvPr/>
        </p:nvSpPr>
        <p:spPr>
          <a:xfrm>
            <a:off x="1036320"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to use good quality graphics.</a:t>
            </a:r>
          </a:p>
        </p:txBody>
      </p:sp>
      <p:sp>
        <p:nvSpPr>
          <p:cNvPr id="14" name="TextBox 13">
            <a:extLst>
              <a:ext uri="{FF2B5EF4-FFF2-40B4-BE49-F238E27FC236}">
                <a16:creationId xmlns:a16="http://schemas.microsoft.com/office/drawing/2014/main" id="{5A2ABF37-3E7B-4651-A430-C39CE8F9F943}"/>
              </a:ext>
            </a:extLst>
          </p:cNvPr>
          <p:cNvSpPr txBox="1"/>
          <p:nvPr/>
        </p:nvSpPr>
        <p:spPr>
          <a:xfrm>
            <a:off x="1036320" y="5868642"/>
            <a:ext cx="9570720" cy="646331"/>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lang="en-US" kern="0" dirty="0">
                <a:solidFill>
                  <a:prstClr val="black"/>
                </a:solidFill>
              </a:rPr>
              <a:t>If Option A: The beta testers aren’t very impressed with the app.</a:t>
            </a:r>
          </a:p>
          <a:p>
            <a:pPr lvl="0">
              <a:defRPr/>
            </a:pPr>
            <a:r>
              <a:rPr lang="en-US" kern="0" dirty="0">
                <a:solidFill>
                  <a:prstClr val="black"/>
                </a:solidFill>
              </a:rPr>
              <a:t>If Option B: The app is a big hit.</a:t>
            </a:r>
          </a:p>
        </p:txBody>
      </p:sp>
      <p:sp>
        <p:nvSpPr>
          <p:cNvPr id="16" name="TextBox 15">
            <a:extLst>
              <a:ext uri="{FF2B5EF4-FFF2-40B4-BE49-F238E27FC236}">
                <a16:creationId xmlns:a16="http://schemas.microsoft.com/office/drawing/2014/main" id="{8F75D20F-302E-48F4-B6E7-B7360CA29797}"/>
              </a:ext>
            </a:extLst>
          </p:cNvPr>
          <p:cNvSpPr txBox="1"/>
          <p:nvPr/>
        </p:nvSpPr>
        <p:spPr>
          <a:xfrm>
            <a:off x="1036320" y="4709914"/>
            <a:ext cx="9570720" cy="646331"/>
          </a:xfrm>
          <a:prstGeom prst="rect">
            <a:avLst/>
          </a:prstGeom>
          <a:gradFill rotWithShape="1">
            <a:gsLst>
              <a:gs pos="0">
                <a:srgbClr val="A5A5A5">
                  <a:lumMod val="110000"/>
                  <a:satMod val="105000"/>
                  <a:tint val="67000"/>
                </a:srgbClr>
              </a:gs>
              <a:gs pos="50000">
                <a:srgbClr val="A5A5A5">
                  <a:lumMod val="105000"/>
                  <a:satMod val="103000"/>
                  <a:tint val="73000"/>
                </a:srgbClr>
              </a:gs>
              <a:gs pos="100000">
                <a:srgbClr val="A5A5A5">
                  <a:lumMod val="105000"/>
                  <a:satMod val="109000"/>
                  <a:tint val="81000"/>
                </a:srgbClr>
              </a:gs>
            </a:gsLst>
            <a:lin ang="5400000" scaled="0"/>
          </a:gradFill>
          <a:ln w="6350" cap="flat" cmpd="sng" algn="ctr">
            <a:solidFill>
              <a:srgbClr val="A5A5A5"/>
            </a:solidFill>
            <a:prstDash val="solid"/>
            <a:miter lim="800000"/>
          </a:ln>
          <a:effectLst/>
        </p:spPr>
        <p:txBody>
          <a:bodyPr wrap="square" rtlCol="0">
            <a:spAutoFit/>
          </a:bodyPr>
          <a:lstStyle>
            <a:defPPr>
              <a:defRPr lang="en-US"/>
            </a:defPPr>
            <a:lvl1pPr>
              <a:defRPr>
                <a:solidFill>
                  <a:srgbClr val="FF0000"/>
                </a:solidFill>
              </a:defRPr>
            </a:lvl1pPr>
            <a:lvl2pPr>
              <a:defRPr>
                <a:solidFill>
                  <a:schemeClr val="dk1"/>
                </a:solidFill>
              </a:defRPr>
            </a:lvl2pPr>
            <a:lvl3pPr>
              <a:defRPr>
                <a:solidFill>
                  <a:schemeClr val="dk1"/>
                </a:solidFill>
              </a:defRPr>
            </a:lvl3pPr>
            <a:lvl4pPr>
              <a:defRPr>
                <a:solidFill>
                  <a:schemeClr val="dk1"/>
                </a:solidFill>
              </a:defRPr>
            </a:lvl4pPr>
            <a:lvl5pPr>
              <a:defRPr>
                <a:solidFill>
                  <a:schemeClr val="dk1"/>
                </a:solidFill>
              </a:defRPr>
            </a:lvl5pPr>
            <a:lvl6pPr>
              <a:defRPr>
                <a:solidFill>
                  <a:schemeClr val="dk1"/>
                </a:solidFill>
              </a:defRPr>
            </a:lvl6pPr>
            <a:lvl7pPr>
              <a:defRPr>
                <a:solidFill>
                  <a:schemeClr val="dk1"/>
                </a:solidFill>
              </a:defRPr>
            </a:lvl7pPr>
            <a:lvl8pPr>
              <a:defRPr>
                <a:solidFill>
                  <a:schemeClr val="dk1"/>
                </a:solidFill>
              </a:defRPr>
            </a:lvl8pPr>
            <a:lvl9pPr>
              <a:defRPr>
                <a:solidFill>
                  <a:schemeClr val="dk1"/>
                </a:solidFill>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rPr>
              <a:t>Explanation:</a:t>
            </a:r>
          </a:p>
          <a:p>
            <a:pPr>
              <a:defRPr/>
            </a:pPr>
            <a:r>
              <a:rPr lang="en-US" kern="0" dirty="0">
                <a:solidFill>
                  <a:srgbClr val="C00000"/>
                </a:solidFill>
              </a:rPr>
              <a:t>The programmer is in charge of designing the code that makes the rating system work.</a:t>
            </a:r>
            <a:endParaRPr kumimoji="0" lang="en-US" sz="1800" b="0" i="0" u="none" strike="noStrike" kern="0" cap="none" spc="0" normalizeH="0" baseline="0" noProof="0" dirty="0">
              <a:ln>
                <a:noFill/>
              </a:ln>
              <a:solidFill>
                <a:srgbClr val="C00000"/>
              </a:solidFill>
              <a:effectLst/>
              <a:uLnTx/>
              <a:uFillTx/>
              <a:latin typeface="Calibri" panose="020F0502020204030204"/>
              <a:ea typeface="+mn-ea"/>
              <a:cs typeface="+mn-cs"/>
            </a:endParaRPr>
          </a:p>
        </p:txBody>
      </p:sp>
      <p:sp>
        <p:nvSpPr>
          <p:cNvPr id="17" name="Arrow: Pentagon 16">
            <a:extLst>
              <a:ext uri="{FF2B5EF4-FFF2-40B4-BE49-F238E27FC236}">
                <a16:creationId xmlns:a16="http://schemas.microsoft.com/office/drawing/2014/main" id="{7177F171-84C6-4200-81AA-80C1FD323536}"/>
              </a:ext>
            </a:extLst>
          </p:cNvPr>
          <p:cNvSpPr/>
          <p:nvPr/>
        </p:nvSpPr>
        <p:spPr>
          <a:xfrm>
            <a:off x="188651" y="3641279"/>
            <a:ext cx="1066800" cy="402368"/>
          </a:xfrm>
          <a:prstGeom prst="homePlate">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Optimal</a:t>
            </a:r>
          </a:p>
        </p:txBody>
      </p:sp>
    </p:spTree>
    <p:custDataLst>
      <p:tags r:id="rId1"/>
    </p:custDataLst>
    <p:extLst>
      <p:ext uri="{BB962C8B-B14F-4D97-AF65-F5344CB8AC3E}">
        <p14:creationId xmlns:p14="http://schemas.microsoft.com/office/powerpoint/2010/main" val="27336697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
          <p:cNvSpPr txBox="1">
            <a:spLocks/>
          </p:cNvSpPr>
          <p:nvPr/>
        </p:nvSpPr>
        <p:spPr>
          <a:xfrm>
            <a:off x="1016232" y="1397636"/>
            <a:ext cx="11175768" cy="272273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rgbClr val="44546A"/>
                </a:solidFill>
                <a:latin typeface="Calibri" panose="020F0502020204030204"/>
              </a:rPr>
              <a:t>The designer is not able to fix the problem. After going back and forth a few times and getting frustrated that he doesn't understand what you want fixed, you decide to drop the entire feature.</a:t>
            </a:r>
          </a:p>
        </p:txBody>
      </p:sp>
      <p:sp>
        <p:nvSpPr>
          <p:cNvPr id="12" name="Text Placeholder 1"/>
          <p:cNvSpPr txBox="1">
            <a:spLocks/>
          </p:cNvSpPr>
          <p:nvPr/>
        </p:nvSpPr>
        <p:spPr>
          <a:xfrm>
            <a:off x="1036320" y="3585820"/>
            <a:ext cx="5647509" cy="997066"/>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sz="2050" dirty="0">
                <a:solidFill>
                  <a:schemeClr val="tx2"/>
                </a:solidFill>
                <a:ea typeface="Calibri"/>
                <a:cs typeface="Calibri"/>
                <a:hlinkClick r:id="rId4" action="ppaction://hlinksldjump"/>
              </a:rPr>
              <a:t>Continue</a:t>
            </a:r>
            <a:endParaRPr lang="en-US" sz="2050" dirty="0">
              <a:solidFill>
                <a:schemeClr val="tx2"/>
              </a:solidFill>
              <a:ea typeface="Calibri"/>
              <a:cs typeface="Calibri"/>
            </a:endParaRPr>
          </a:p>
          <a:p>
            <a:pPr marL="0" indent="0">
              <a:buNone/>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2" name="Rectangle 1">
            <a:extLst>
              <a:ext uri="{FF2B5EF4-FFF2-40B4-BE49-F238E27FC236}">
                <a16:creationId xmlns:a16="http://schemas.microsoft.com/office/drawing/2014/main" id="{84550A3C-AA09-4618-9D11-30DEF8A1E97C}"/>
              </a:ext>
            </a:extLst>
          </p:cNvPr>
          <p:cNvSpPr/>
          <p:nvPr/>
        </p:nvSpPr>
        <p:spPr>
          <a:xfrm>
            <a:off x="1016232" y="98581"/>
            <a:ext cx="2791790" cy="646331"/>
          </a:xfrm>
          <a:prstGeom prst="rect">
            <a:avLst/>
          </a:prstGeom>
        </p:spPr>
        <p:txBody>
          <a:bodyPr wrap="none">
            <a:spAutoFit/>
          </a:bodyPr>
          <a:lstStyle/>
          <a:p>
            <a:pPr>
              <a:defRPr/>
            </a:pPr>
            <a:r>
              <a:rPr lang="en-US" sz="3600" dirty="0">
                <a:solidFill>
                  <a:prstClr val="black"/>
                </a:solidFill>
                <a:latin typeface="Calibri Light" panose="020F0302020204030204"/>
                <a:ea typeface="+mj-ea"/>
                <a:cs typeface="+mj-cs"/>
              </a:rPr>
              <a:t>Level7_Story1</a:t>
            </a:r>
          </a:p>
        </p:txBody>
      </p:sp>
      <p:sp>
        <p:nvSpPr>
          <p:cNvPr id="9" name="TextBox 8">
            <a:extLst>
              <a:ext uri="{FF2B5EF4-FFF2-40B4-BE49-F238E27FC236}">
                <a16:creationId xmlns:a16="http://schemas.microsoft.com/office/drawing/2014/main" id="{6886E179-0923-42D2-87FE-D5399945626E}"/>
              </a:ext>
            </a:extLst>
          </p:cNvPr>
          <p:cNvSpPr txBox="1"/>
          <p:nvPr/>
        </p:nvSpPr>
        <p:spPr>
          <a:xfrm>
            <a:off x="1036320" y="879727"/>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Previous step: Student chose to ask the graphic designer to fix the rating system.</a:t>
            </a:r>
          </a:p>
        </p:txBody>
      </p:sp>
      <p:sp>
        <p:nvSpPr>
          <p:cNvPr id="10" name="TextBox 9">
            <a:extLst>
              <a:ext uri="{FF2B5EF4-FFF2-40B4-BE49-F238E27FC236}">
                <a16:creationId xmlns:a16="http://schemas.microsoft.com/office/drawing/2014/main" id="{1F39AC2D-DAC4-4434-82FB-6B65009F2AA4}"/>
              </a:ext>
            </a:extLst>
          </p:cNvPr>
          <p:cNvSpPr txBox="1"/>
          <p:nvPr/>
        </p:nvSpPr>
        <p:spPr>
          <a:xfrm>
            <a:off x="1036320" y="5868642"/>
            <a:ext cx="9570720" cy="369332"/>
          </a:xfrm>
          <a:prstGeom prst="rect">
            <a:avLst/>
          </a:prstGeom>
          <a:gradFill rotWithShape="1">
            <a:gsLst>
              <a:gs pos="0">
                <a:srgbClr val="5B9BD5">
                  <a:lumMod val="110000"/>
                  <a:satMod val="105000"/>
                  <a:tint val="67000"/>
                </a:srgbClr>
              </a:gs>
              <a:gs pos="50000">
                <a:srgbClr val="5B9BD5">
                  <a:lumMod val="105000"/>
                  <a:satMod val="103000"/>
                  <a:tint val="73000"/>
                </a:srgbClr>
              </a:gs>
              <a:gs pos="100000">
                <a:srgbClr val="5B9BD5">
                  <a:lumMod val="105000"/>
                  <a:satMod val="109000"/>
                  <a:tint val="81000"/>
                </a:srgbClr>
              </a:gs>
            </a:gsLst>
            <a:lin ang="5400000" scaled="0"/>
          </a:gradFill>
          <a:ln w="6350" cap="flat" cmpd="sng" algn="ctr">
            <a:solidFill>
              <a:srgbClr val="5B9BD5"/>
            </a:solidFill>
            <a:prstDash val="solid"/>
            <a:miter lim="800000"/>
          </a:ln>
          <a:effectLst/>
        </p:spPr>
        <p:txBody>
          <a:bodyPr wrap="square" rtlCol="0">
            <a:spAutoFit/>
          </a:bodyPr>
          <a:lstStyle/>
          <a:p>
            <a:pPr lvl="0">
              <a:defRPr/>
            </a:pPr>
            <a:r>
              <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rPr>
              <a:t>Next step: </a:t>
            </a:r>
            <a:r>
              <a:rPr lang="en-US" kern="0" dirty="0">
                <a:solidFill>
                  <a:prstClr val="black"/>
                </a:solidFill>
              </a:rPr>
              <a:t>The business partners pull funding from the project.</a:t>
            </a:r>
            <a:endParaRPr kumimoji="0" lang="en-US" sz="1800" b="0" i="0" u="none" strike="noStrike" kern="0" cap="none" spc="0" normalizeH="0" baseline="0" noProof="0" dirty="0">
              <a:ln>
                <a:noFill/>
              </a:ln>
              <a:solidFill>
                <a:prstClr val="black"/>
              </a:solidFill>
              <a:effectLst/>
              <a:uLnTx/>
              <a:uFillTx/>
              <a:latin typeface="Calibri" panose="020F0502020204030204"/>
              <a:ea typeface="+mn-ea"/>
              <a:cs typeface="+mn-cs"/>
            </a:endParaRPr>
          </a:p>
        </p:txBody>
      </p:sp>
    </p:spTree>
    <p:custDataLst>
      <p:tags r:id="rId1"/>
    </p:custDataLst>
    <p:extLst>
      <p:ext uri="{BB962C8B-B14F-4D97-AF65-F5344CB8AC3E}">
        <p14:creationId xmlns:p14="http://schemas.microsoft.com/office/powerpoint/2010/main" val="38791897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11" name="Text Placeholder 1"/>
          <p:cNvSpPr txBox="1">
            <a:spLocks/>
          </p:cNvSpPr>
          <p:nvPr/>
        </p:nvSpPr>
        <p:spPr>
          <a:xfrm>
            <a:off x="795113" y="863082"/>
            <a:ext cx="10667544" cy="3273489"/>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defTabSz="914400">
              <a:lnSpc>
                <a:spcPct val="70000"/>
              </a:lnSpc>
              <a:spcBef>
                <a:spcPct val="0"/>
              </a:spcBef>
              <a:buNone/>
              <a:defRPr/>
            </a:pPr>
            <a:r>
              <a:rPr lang="en-US" sz="3300" dirty="0">
                <a:solidFill>
                  <a:schemeClr val="tx1"/>
                </a:solidFill>
                <a:latin typeface="+mj-lt"/>
              </a:rPr>
              <a:t>Outcome 0</a:t>
            </a:r>
          </a:p>
          <a:p>
            <a:pPr marL="0" indent="0">
              <a:spcBef>
                <a:spcPts val="0"/>
              </a:spcBef>
              <a:buNone/>
              <a:defRPr/>
            </a:pPr>
            <a:br>
              <a:rPr lang="en-US" sz="2000" dirty="0"/>
            </a:br>
            <a:r>
              <a:rPr lang="en-US" sz="2800" b="1" dirty="0">
                <a:solidFill>
                  <a:schemeClr val="tx1"/>
                </a:solidFill>
                <a:latin typeface="+mj-lt"/>
                <a:ea typeface="+mj-ea"/>
                <a:cs typeface="+mj-cs"/>
              </a:rPr>
              <a:t>This isn't going at all how you expected. It seemed like such a good idea! But your partners say this is a waste of time and money, and they're pulling the plug from the project unless you want to pay for it yourself.</a:t>
            </a:r>
            <a:br>
              <a:rPr lang="en-US" sz="2800" b="1" dirty="0">
                <a:solidFill>
                  <a:schemeClr val="tx1"/>
                </a:solidFill>
                <a:latin typeface="+mj-lt"/>
                <a:ea typeface="+mj-ea"/>
                <a:cs typeface="+mj-cs"/>
              </a:rPr>
            </a:br>
            <a:endParaRPr lang="en-US" sz="2800" b="1" dirty="0">
              <a:solidFill>
                <a:schemeClr val="tx1"/>
              </a:solidFill>
              <a:latin typeface="+mj-lt"/>
              <a:ea typeface="+mj-ea"/>
              <a:cs typeface="+mj-cs"/>
            </a:endParaRPr>
          </a:p>
        </p:txBody>
      </p:sp>
      <p:sp>
        <p:nvSpPr>
          <p:cNvPr id="12" name="Text Placeholder 1"/>
          <p:cNvSpPr txBox="1">
            <a:spLocks/>
          </p:cNvSpPr>
          <p:nvPr/>
        </p:nvSpPr>
        <p:spPr>
          <a:xfrm>
            <a:off x="795113" y="5416943"/>
            <a:ext cx="5866944" cy="577975"/>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5" action="ppaction://hlinksldjump"/>
              </a:rPr>
              <a:t>Start over</a:t>
            </a: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4" name="Text Placeholder 1">
            <a:extLst>
              <a:ext uri="{FF2B5EF4-FFF2-40B4-BE49-F238E27FC236}">
                <a16:creationId xmlns:a16="http://schemas.microsoft.com/office/drawing/2014/main" id="{06D13ED8-4D3E-4769-9ACB-4201BCF281EF}"/>
              </a:ext>
            </a:extLst>
          </p:cNvPr>
          <p:cNvSpPr txBox="1">
            <a:spLocks/>
          </p:cNvSpPr>
          <p:nvPr/>
        </p:nvSpPr>
        <p:spPr>
          <a:xfrm>
            <a:off x="795113" y="4571045"/>
            <a:ext cx="7256782" cy="70654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1"/>
                </a:solidFill>
                <a:ea typeface="Calibri"/>
              </a:rPr>
              <a:t>Start again to explore other possible outcomes!</a:t>
            </a:r>
            <a:endParaRPr lang="en-US" sz="2099" dirty="0">
              <a:solidFill>
                <a:schemeClr val="tx1"/>
              </a:solidFill>
              <a:ea typeface="Calibri"/>
            </a:endParaRPr>
          </a:p>
        </p:txBody>
      </p:sp>
    </p:spTree>
    <p:custDataLst>
      <p:tags r:id="rId2"/>
    </p:custDataLst>
    <p:extLst>
      <p:ext uri="{BB962C8B-B14F-4D97-AF65-F5344CB8AC3E}">
        <p14:creationId xmlns:p14="http://schemas.microsoft.com/office/powerpoint/2010/main" val="141551121"/>
      </p:ext>
    </p:extLst>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4">
            <a:lumMod val="40000"/>
            <a:lumOff val="60000"/>
          </a:schemeClr>
        </a:solidFill>
        <a:effectLst/>
      </p:bgPr>
    </p:bg>
    <p:spTree>
      <p:nvGrpSpPr>
        <p:cNvPr id="1" name=""/>
        <p:cNvGrpSpPr/>
        <p:nvPr/>
      </p:nvGrpSpPr>
      <p:grpSpPr>
        <a:xfrm>
          <a:off x="0" y="0"/>
          <a:ext cx="0" cy="0"/>
          <a:chOff x="0" y="0"/>
          <a:chExt cx="0" cy="0"/>
        </a:xfrm>
      </p:grpSpPr>
      <p:sp>
        <p:nvSpPr>
          <p:cNvPr id="11" name="Text Placeholder 1"/>
          <p:cNvSpPr txBox="1">
            <a:spLocks/>
          </p:cNvSpPr>
          <p:nvPr/>
        </p:nvSpPr>
        <p:spPr>
          <a:xfrm>
            <a:off x="795112" y="379839"/>
            <a:ext cx="10569573" cy="4594932"/>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3300" dirty="0">
                <a:solidFill>
                  <a:schemeClr val="tx1"/>
                </a:solidFill>
                <a:latin typeface="+mj-lt"/>
              </a:rPr>
              <a:t>Outcome 1</a:t>
            </a:r>
          </a:p>
          <a:p>
            <a:pPr marL="0" indent="0">
              <a:spcBef>
                <a:spcPts val="0"/>
              </a:spcBef>
              <a:buNone/>
              <a:defRPr/>
            </a:pPr>
            <a:br>
              <a:rPr lang="en-US" sz="2000" dirty="0"/>
            </a:br>
            <a:r>
              <a:rPr lang="en-US" sz="2800" b="1" dirty="0">
                <a:solidFill>
                  <a:schemeClr val="tx1"/>
                </a:solidFill>
                <a:latin typeface="+mj-lt"/>
                <a:ea typeface="+mj-ea"/>
                <a:cs typeface="+mj-cs"/>
              </a:rPr>
              <a:t>The designer was not able to fix the problem, so you dropped the entire feature. Your beta testers aren't very impressed with the app. They say it's plain, awkward, and doesn't give nearly enough information. The maps are good, but the comment feature doesn't work well. Your loyal customers have been encouraging and say they look forward to using the app. But people aren't talking about it, and your partners seem pretty frustrated at the expense of developing it.</a:t>
            </a:r>
            <a:br>
              <a:rPr lang="en-US" sz="2800" b="1" dirty="0">
                <a:solidFill>
                  <a:schemeClr val="tx1"/>
                </a:solidFill>
                <a:latin typeface="+mj-lt"/>
                <a:ea typeface="+mj-ea"/>
                <a:cs typeface="+mj-cs"/>
              </a:rPr>
            </a:br>
            <a:endParaRPr lang="en-US" sz="2800" b="1" dirty="0">
              <a:solidFill>
                <a:schemeClr val="tx1"/>
              </a:solidFill>
              <a:latin typeface="+mj-lt"/>
              <a:ea typeface="+mj-ea"/>
              <a:cs typeface="+mj-cs"/>
            </a:endParaRPr>
          </a:p>
        </p:txBody>
      </p:sp>
      <p:sp>
        <p:nvSpPr>
          <p:cNvPr id="12" name="Text Placeholder 1"/>
          <p:cNvSpPr txBox="1">
            <a:spLocks/>
          </p:cNvSpPr>
          <p:nvPr/>
        </p:nvSpPr>
        <p:spPr>
          <a:xfrm>
            <a:off x="795112" y="5607565"/>
            <a:ext cx="5387974" cy="70654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5" action="ppaction://hlinksldjump"/>
              </a:rPr>
              <a:t>Start over</a:t>
            </a: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4" name="Text Placeholder 1">
            <a:extLst>
              <a:ext uri="{FF2B5EF4-FFF2-40B4-BE49-F238E27FC236}">
                <a16:creationId xmlns:a16="http://schemas.microsoft.com/office/drawing/2014/main" id="{F5F63EFB-257B-49BA-A136-CD73435B8626}"/>
              </a:ext>
            </a:extLst>
          </p:cNvPr>
          <p:cNvSpPr txBox="1">
            <a:spLocks/>
          </p:cNvSpPr>
          <p:nvPr/>
        </p:nvSpPr>
        <p:spPr>
          <a:xfrm>
            <a:off x="795112" y="4862772"/>
            <a:ext cx="7256782" cy="70654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1"/>
                </a:solidFill>
                <a:ea typeface="Calibri"/>
              </a:rPr>
              <a:t>Start again to explore other possible outcomes!</a:t>
            </a:r>
            <a:endParaRPr lang="en-US" sz="2099" dirty="0">
              <a:solidFill>
                <a:schemeClr val="tx1"/>
              </a:solidFill>
              <a:ea typeface="Calibri"/>
            </a:endParaRPr>
          </a:p>
        </p:txBody>
      </p:sp>
    </p:spTree>
    <p:custDataLst>
      <p:tags r:id="rId2"/>
    </p:custDataLst>
    <p:extLst>
      <p:ext uri="{BB962C8B-B14F-4D97-AF65-F5344CB8AC3E}">
        <p14:creationId xmlns:p14="http://schemas.microsoft.com/office/powerpoint/2010/main" val="3816988108"/>
      </p:ext>
    </p:extLst>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11" name="Text Placeholder 1"/>
          <p:cNvSpPr txBox="1">
            <a:spLocks/>
          </p:cNvSpPr>
          <p:nvPr/>
        </p:nvSpPr>
        <p:spPr>
          <a:xfrm>
            <a:off x="795113" y="318796"/>
            <a:ext cx="10939687" cy="4873689"/>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3300" dirty="0">
                <a:solidFill>
                  <a:schemeClr val="tx1"/>
                </a:solidFill>
                <a:latin typeface="+mj-lt"/>
              </a:rPr>
              <a:t>Outcome 2</a:t>
            </a:r>
          </a:p>
          <a:p>
            <a:pPr marL="0" indent="0">
              <a:spcBef>
                <a:spcPts val="0"/>
              </a:spcBef>
              <a:buNone/>
              <a:defRPr/>
            </a:pPr>
            <a:br>
              <a:rPr lang="en-US" sz="2000" dirty="0"/>
            </a:br>
            <a:r>
              <a:rPr lang="en-US" sz="2800" b="1" dirty="0">
                <a:solidFill>
                  <a:schemeClr val="tx1"/>
                </a:solidFill>
                <a:latin typeface="+mj-lt"/>
                <a:ea typeface="+mj-ea"/>
                <a:cs typeface="+mj-cs"/>
              </a:rPr>
              <a:t>The programmer fixed the problem in just a few minutes and was able to make an improvement at the same time for no extra charge!</a:t>
            </a:r>
          </a:p>
          <a:p>
            <a:pPr marL="0" indent="0">
              <a:spcBef>
                <a:spcPts val="0"/>
              </a:spcBef>
              <a:buNone/>
              <a:defRPr/>
            </a:pPr>
            <a:r>
              <a:rPr lang="en-US" sz="2800" b="1" dirty="0">
                <a:solidFill>
                  <a:schemeClr val="tx1"/>
                </a:solidFill>
                <a:latin typeface="+mj-lt"/>
                <a:ea typeface="+mj-ea"/>
                <a:cs typeface="+mj-cs"/>
              </a:rPr>
              <a:t>Your partners love the app and your beta testers have been posting about it on social media and showing their friends. Every day you get multiple phone calls and Facebook messages asking if the app is ready yet. You've had a dozen people come to the store specifically because they heard about your app, and one of your partners sold a high-end road bike to one of those customers. The work is already paying for itself even before the app is released due to all the positive attention and people taking notice!</a:t>
            </a:r>
            <a:br>
              <a:rPr lang="en-US" sz="2800" b="1" dirty="0">
                <a:solidFill>
                  <a:schemeClr val="tx1"/>
                </a:solidFill>
                <a:latin typeface="+mj-lt"/>
                <a:ea typeface="+mj-ea"/>
                <a:cs typeface="+mj-cs"/>
              </a:rPr>
            </a:br>
            <a:endParaRPr lang="en-US" sz="2800" b="1" dirty="0">
              <a:solidFill>
                <a:schemeClr val="tx1"/>
              </a:solidFill>
              <a:latin typeface="+mj-lt"/>
              <a:ea typeface="+mj-ea"/>
              <a:cs typeface="+mj-cs"/>
            </a:endParaRPr>
          </a:p>
        </p:txBody>
      </p:sp>
      <p:sp>
        <p:nvSpPr>
          <p:cNvPr id="4" name="Text Placeholder 1">
            <a:extLst>
              <a:ext uri="{FF2B5EF4-FFF2-40B4-BE49-F238E27FC236}">
                <a16:creationId xmlns:a16="http://schemas.microsoft.com/office/drawing/2014/main" id="{9756B5E1-58CE-4F80-B67A-B3CA98EB3B41}"/>
              </a:ext>
            </a:extLst>
          </p:cNvPr>
          <p:cNvSpPr txBox="1">
            <a:spLocks/>
          </p:cNvSpPr>
          <p:nvPr/>
        </p:nvSpPr>
        <p:spPr>
          <a:xfrm>
            <a:off x="795113" y="5974170"/>
            <a:ext cx="5387974" cy="70654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2"/>
                </a:solidFill>
                <a:ea typeface="Calibri"/>
                <a:cs typeface="Calibri"/>
                <a:hlinkClick r:id="rId5" action="ppaction://hlinksldjump"/>
              </a:rPr>
              <a:t>Start over</a:t>
            </a: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50" dirty="0">
              <a:solidFill>
                <a:schemeClr val="tx2"/>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a:p>
            <a:pPr marL="0" indent="0">
              <a:spcBef>
                <a:spcPts val="0"/>
              </a:spcBef>
              <a:buNone/>
              <a:defRPr/>
            </a:pPr>
            <a:endParaRPr lang="en-US" sz="2099" dirty="0">
              <a:solidFill>
                <a:schemeClr val="accent3">
                  <a:lumMod val="75000"/>
                </a:schemeClr>
              </a:solidFill>
              <a:ea typeface="Calibri"/>
              <a:cs typeface="Calibri"/>
            </a:endParaRPr>
          </a:p>
        </p:txBody>
      </p:sp>
      <p:sp>
        <p:nvSpPr>
          <p:cNvPr id="5" name="Text Placeholder 1">
            <a:extLst>
              <a:ext uri="{FF2B5EF4-FFF2-40B4-BE49-F238E27FC236}">
                <a16:creationId xmlns:a16="http://schemas.microsoft.com/office/drawing/2014/main" id="{69F444B1-6F8E-48D1-A4EF-E2E1B44692BD}"/>
              </a:ext>
            </a:extLst>
          </p:cNvPr>
          <p:cNvSpPr txBox="1">
            <a:spLocks/>
          </p:cNvSpPr>
          <p:nvPr/>
        </p:nvSpPr>
        <p:spPr>
          <a:xfrm>
            <a:off x="795113" y="5333999"/>
            <a:ext cx="7256782" cy="706548"/>
          </a:xfrm>
          <a:prstGeom prst="rect">
            <a:avLst/>
          </a:prstGeom>
        </p:spPr>
        <p:txBody>
          <a:bodyPr lIns="121891" tIns="60945" rIns="121891" bIns="60945" anchor="t">
            <a:noAutofit/>
          </a:bodyPr>
          <a:lstStyle>
            <a:lvl1pPr marL="342900" indent="-342900" algn="l" defTabSz="457200" rtl="0" eaLnBrk="1" latinLnBrk="0" hangingPunct="1">
              <a:spcBef>
                <a:spcPct val="20000"/>
              </a:spcBef>
              <a:buFont typeface="Arial"/>
              <a:buChar char="•"/>
              <a:defRPr sz="2400" kern="1200">
                <a:solidFill>
                  <a:srgbClr val="464D61"/>
                </a:solidFill>
                <a:latin typeface="+mn-lt"/>
                <a:ea typeface="+mn-ea"/>
                <a:cs typeface="+mn-cs"/>
              </a:defRPr>
            </a:lvl1pPr>
            <a:lvl2pPr marL="742950" indent="-285750" algn="l" defTabSz="457200" rtl="0" eaLnBrk="1" latinLnBrk="0" hangingPunct="1">
              <a:spcBef>
                <a:spcPct val="20000"/>
              </a:spcBef>
              <a:buFont typeface="Arial"/>
              <a:buChar char="–"/>
              <a:defRPr sz="2000" kern="1200">
                <a:solidFill>
                  <a:srgbClr val="464D61"/>
                </a:solidFill>
                <a:latin typeface="+mn-lt"/>
                <a:ea typeface="+mn-ea"/>
                <a:cs typeface="+mn-cs"/>
              </a:defRPr>
            </a:lvl2pPr>
            <a:lvl3pPr marL="1143000" indent="-228600" algn="l" defTabSz="457200" rtl="0" eaLnBrk="1" latinLnBrk="0" hangingPunct="1">
              <a:spcBef>
                <a:spcPct val="20000"/>
              </a:spcBef>
              <a:buFont typeface="Arial"/>
              <a:buChar char="•"/>
              <a:defRPr sz="1800" kern="1200">
                <a:solidFill>
                  <a:srgbClr val="464D61"/>
                </a:solidFill>
                <a:latin typeface="+mn-lt"/>
                <a:ea typeface="+mn-ea"/>
                <a:cs typeface="+mn-cs"/>
              </a:defRPr>
            </a:lvl3pPr>
            <a:lvl4pPr marL="1600200" indent="-228600" algn="l" defTabSz="457200" rtl="0" eaLnBrk="1" latinLnBrk="0" hangingPunct="1">
              <a:spcBef>
                <a:spcPct val="20000"/>
              </a:spcBef>
              <a:buFont typeface="Arial"/>
              <a:buChar char="–"/>
              <a:defRPr sz="1600" kern="1200">
                <a:solidFill>
                  <a:srgbClr val="464D61"/>
                </a:solidFill>
                <a:latin typeface="+mn-lt"/>
                <a:ea typeface="+mn-ea"/>
                <a:cs typeface="+mn-cs"/>
              </a:defRPr>
            </a:lvl4pPr>
            <a:lvl5pPr marL="2057400" indent="-228600" algn="l" defTabSz="457200" rtl="0" eaLnBrk="1" latinLnBrk="0" hangingPunct="1">
              <a:spcBef>
                <a:spcPct val="20000"/>
              </a:spcBef>
              <a:buFont typeface="Arial"/>
              <a:buChar char="»"/>
              <a:defRPr sz="1600" kern="1200">
                <a:solidFill>
                  <a:srgbClr val="464D6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Bef>
                <a:spcPts val="0"/>
              </a:spcBef>
              <a:buNone/>
              <a:defRPr/>
            </a:pPr>
            <a:r>
              <a:rPr lang="en-US" sz="2050" dirty="0">
                <a:solidFill>
                  <a:schemeClr val="tx1"/>
                </a:solidFill>
                <a:ea typeface="Calibri"/>
              </a:rPr>
              <a:t>Start again to explore other possible outcomes!</a:t>
            </a:r>
            <a:endParaRPr lang="en-US" sz="2099" dirty="0">
              <a:solidFill>
                <a:schemeClr val="tx1"/>
              </a:solidFill>
              <a:ea typeface="Calibri"/>
            </a:endParaRPr>
          </a:p>
        </p:txBody>
      </p:sp>
    </p:spTree>
    <p:custDataLst>
      <p:tags r:id="rId2"/>
    </p:custDataLst>
    <p:extLst>
      <p:ext uri="{BB962C8B-B14F-4D97-AF65-F5344CB8AC3E}">
        <p14:creationId xmlns:p14="http://schemas.microsoft.com/office/powerpoint/2010/main" val="2793273946"/>
      </p:ext>
    </p:extLst>
  </p:cSld>
  <p:clrMapOvr>
    <a:overrideClrMapping bg1="lt1" tx1="dk1" bg2="lt2" tx2="dk2" accent1="accent1" accent2="accent2" accent3="accent3" accent4="accent4" accent5="accent5" accent6="accent6" hlink="hlink" folHlink="folHlink"/>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58"/>
  <p:tag name="ARTICULATE_USED_LAYOUT" val="3"/>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60"/>
  <p:tag name="ARTICULATE_USED_LAYOUT"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70"/>
  <p:tag name="ARTICULATE_USED_LAYOUT" val="8"/>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 name="AUDIO_ID" val="295"/>
  <p:tag name="ARTICULATE_USED_LAYOUT" val="8"/>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C237A0CA6CD2A4D8CE02E9AA9870115" ma:contentTypeVersion="16" ma:contentTypeDescription="Create a new document." ma:contentTypeScope="" ma:versionID="2f071753289c9025b0e96c4a2a564c4f">
  <xsd:schema xmlns:xsd="http://www.w3.org/2001/XMLSchema" xmlns:xs="http://www.w3.org/2001/XMLSchema" xmlns:p="http://schemas.microsoft.com/office/2006/metadata/properties" xmlns:ns2="eeab3f26-09e2-49ed-a80d-9bb89f29cea5" xmlns:ns3="e4ea4eff-fefb-4c40-84b2-735fb9db1c89" targetNamespace="http://schemas.microsoft.com/office/2006/metadata/properties" ma:root="true" ma:fieldsID="de830c40366edfee498ef0fd810dc110" ns2:_="" ns3:_="">
    <xsd:import namespace="eeab3f26-09e2-49ed-a80d-9bb89f29cea5"/>
    <xsd:import namespace="e4ea4eff-fefb-4c40-84b2-735fb9db1c89"/>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Location" minOccurs="0"/>
                <xsd:element ref="ns3:SharedWithUsers" minOccurs="0"/>
                <xsd:element ref="ns3:SharedWithDetails" minOccurs="0"/>
                <xsd:element ref="ns2:Notes0" minOccurs="0"/>
                <xsd:element ref="ns2:MediaServiceEventHashCode" minOccurs="0"/>
                <xsd:element ref="ns2:MediaServiceGenerationTime" minOccurs="0"/>
                <xsd:element ref="ns2:MediaServiceAutoKeyPoints" minOccurs="0"/>
                <xsd:element ref="ns2:MediaServiceKeyPoints" minOccurs="0"/>
                <xsd:element ref="ns2:MediaLengthInSeconds" minOccurs="0"/>
                <xsd:element ref="ns2:BriefNo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eab3f26-09e2-49ed-a80d-9bb89f29ce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MediaServiceAutoTags" ma:internalName="MediaServiceAutoTags" ma:readOnly="true">
      <xsd:simpleType>
        <xsd:restriction base="dms:Text"/>
      </xsd:simpleType>
    </xsd:element>
    <xsd:element name="MediaServiceOCR" ma:index="12" nillable="true" ma:displayName="MediaServiceOCR" ma:internalName="MediaServiceOCR" ma:readOnly="true">
      <xsd:simpleType>
        <xsd:restriction base="dms:Note">
          <xsd:maxLength value="255"/>
        </xsd:restriction>
      </xsd:simpleType>
    </xsd:element>
    <xsd:element name="MediaServiceLocation" ma:index="13" nillable="true" ma:displayName="MediaServiceLocation" ma:internalName="MediaServiceLocation" ma:readOnly="true">
      <xsd:simpleType>
        <xsd:restriction base="dms:Text"/>
      </xsd:simpleType>
    </xsd:element>
    <xsd:element name="Notes0" ma:index="16" nillable="true" ma:displayName="Notes" ma:internalName="Notes0">
      <xsd:simpleType>
        <xsd:restriction base="dms:Note">
          <xsd:maxLength value="255"/>
        </xsd:restriction>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BriefNote" ma:index="22" nillable="true" ma:displayName="Brief Note" ma:format="Dropdown" ma:internalName="BriefNot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4ea4eff-fefb-4c40-84b2-735fb9db1c89"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Notes0 xmlns="eeab3f26-09e2-49ed-a80d-9bb89f29cea5" xsi:nil="true"/>
    <BriefNote xmlns="eeab3f26-09e2-49ed-a80d-9bb89f29cea5" xsi:nil="true"/>
  </documentManagement>
</p:properties>
</file>

<file path=customXml/item3.xml><?xml version="1.0" encoding="utf-8"?>
<Control xmlns="http://schemas.microsoft.com/VisualStudio/2011/storyboarding/control">
  <Id Name="1fd42469-89aa-4a08-b532-3332bc5f5ec1" Revision="1" Stencil="System.MyShapes" StencilVersion="1.0"/>
</Control>
</file>

<file path=customXml/item4.xml><?xml version="1.0" encoding="utf-8"?>
<Control xmlns="http://schemas.microsoft.com/VisualStudio/2011/storyboarding/control">
  <Id Name="1fd42469-89aa-4a08-b532-3332bc5f5ec1" Revision="1" Stencil="System.MyShapes" StencilVersion="1.0"/>
</Control>
</file>

<file path=customXml/item5.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0B1C30E-4D7E-4F32-A9CE-20F3308D0DED}"/>
</file>

<file path=customXml/itemProps2.xml><?xml version="1.0" encoding="utf-8"?>
<ds:datastoreItem xmlns:ds="http://schemas.openxmlformats.org/officeDocument/2006/customXml" ds:itemID="{60B98538-67CA-489B-8ACE-F0682A9A9526}">
  <ds:schemaRefs>
    <ds:schemaRef ds:uri="http://schemas.microsoft.com/office/2006/metadata/properties"/>
    <ds:schemaRef ds:uri="http://schemas.microsoft.com/office/infopath/2007/PartnerControls"/>
    <ds:schemaRef ds:uri="eeab3f26-09e2-49ed-a80d-9bb89f29cea5"/>
  </ds:schemaRefs>
</ds:datastoreItem>
</file>

<file path=customXml/itemProps3.xml><?xml version="1.0" encoding="utf-8"?>
<ds:datastoreItem xmlns:ds="http://schemas.openxmlformats.org/officeDocument/2006/customXml" ds:itemID="{3C5AA1C0-2736-4C35-9D36-1790D98FE524}">
  <ds:schemaRefs>
    <ds:schemaRef ds:uri="http://schemas.microsoft.com/VisualStudio/2011/storyboarding/control"/>
  </ds:schemaRefs>
</ds:datastoreItem>
</file>

<file path=customXml/itemProps4.xml><?xml version="1.0" encoding="utf-8"?>
<ds:datastoreItem xmlns:ds="http://schemas.openxmlformats.org/officeDocument/2006/customXml" ds:itemID="{7F546FF6-DD59-47E7-8627-1821B46FD2F1}">
  <ds:schemaRefs>
    <ds:schemaRef ds:uri="http://schemas.microsoft.com/VisualStudio/2011/storyboarding/control"/>
  </ds:schemaRefs>
</ds:datastoreItem>
</file>

<file path=customXml/itemProps5.xml><?xml version="1.0" encoding="utf-8"?>
<ds:datastoreItem xmlns:ds="http://schemas.openxmlformats.org/officeDocument/2006/customXml" ds:itemID="{AD92EAD0-DA55-4F7D-BD93-5513A29DFF6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160</TotalTime>
  <Words>2184</Words>
  <Application>Microsoft Office PowerPoint</Application>
  <PresentationFormat>Widescreen</PresentationFormat>
  <Paragraphs>255</Paragraphs>
  <Slides>21</Slides>
  <Notes>21</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21</vt:i4>
      </vt:variant>
    </vt:vector>
  </HeadingPairs>
  <TitlesOfParts>
    <vt:vector size="28" baseType="lpstr">
      <vt:lpstr>Arial</vt:lpstr>
      <vt:lpstr>Calibri</vt:lpstr>
      <vt:lpstr>Calibri Light</vt:lpstr>
      <vt:lpstr>Titillium Web</vt:lpstr>
      <vt:lpstr>Wingdings</vt:lpstr>
      <vt:lpstr>Office Theme</vt:lpstr>
      <vt:lpstr>1_Office Theme</vt:lpstr>
      <vt:lpstr>Creating a Successful App</vt:lpstr>
      <vt:lpstr>Creating a Successful App</vt:lpstr>
      <vt:lpstr>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Hoisington, Corinne</dc:creator>
  <cp:lastModifiedBy>Jill West</cp:lastModifiedBy>
  <cp:revision>1984</cp:revision>
  <dcterms:created xsi:type="dcterms:W3CDTF">2018-06-14T17:50:20Z</dcterms:created>
  <dcterms:modified xsi:type="dcterms:W3CDTF">2020-02-17T02:07:24Z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fs.IsStoryboard">
    <vt:bool>true</vt:bool>
  </property>
  <property fmtid="{D5CDD505-2E9C-101B-9397-08002B2CF9AE}" pid="3" name="ContentTypeId">
    <vt:lpwstr>0x010100CC237A0CA6CD2A4D8CE02E9AA9870115</vt:lpwstr>
  </property>
</Properties>
</file>