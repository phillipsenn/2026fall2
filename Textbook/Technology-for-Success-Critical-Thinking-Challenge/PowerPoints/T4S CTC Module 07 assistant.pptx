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notesSlides/notesSlide15.xml" ContentType="application/vnd.openxmlformats-officedocument.presentationml.notesSlide+xml"/>
  <Override PartName="/ppt/tags/tag20.xml" ContentType="application/vnd.openxmlformats-officedocument.presentationml.tags+xml"/>
  <Override PartName="/ppt/notesSlides/notesSlide16.xml" ContentType="application/vnd.openxmlformats-officedocument.presentationml.notesSlide+xml"/>
  <Override PartName="/ppt/tags/tag21.xml" ContentType="application/vnd.openxmlformats-officedocument.presentationml.tags+xml"/>
  <Override PartName="/ppt/notesSlides/notesSlide17.xml" ContentType="application/vnd.openxmlformats-officedocument.presentationml.notesSlide+xml"/>
  <Override PartName="/ppt/tags/tag22.xml" ContentType="application/vnd.openxmlformats-officedocument.presentationml.tags+xml"/>
  <Override PartName="/ppt/notesSlides/notesSlide18.xml" ContentType="application/vnd.openxmlformats-officedocument.presentationml.notesSlide+xml"/>
  <Override PartName="/ppt/tags/tag23.xml" ContentType="application/vnd.openxmlformats-officedocument.presentationml.tags+xml"/>
  <Override PartName="/ppt/notesSlides/notesSlide19.xml" ContentType="application/vnd.openxmlformats-officedocument.presentationml.notesSlide+xml"/>
  <Override PartName="/ppt/tags/tag24.xml" ContentType="application/vnd.openxmlformats-officedocument.presentationml.tags+xml"/>
  <Override PartName="/ppt/notesSlides/notesSlide20.xml" ContentType="application/vnd.openxmlformats-officedocument.presentationml.notesSlide+xml"/>
  <Override PartName="/ppt/tags/tag25.xml" ContentType="application/vnd.openxmlformats-officedocument.presentationml.tags+xml"/>
  <Override PartName="/ppt/notesSlides/notesSlide21.xml" ContentType="application/vnd.openxmlformats-officedocument.presentationml.notesSlide+xml"/>
  <Override PartName="/ppt/tags/tag26.xml" ContentType="application/vnd.openxmlformats-officedocument.presentationml.tags+xml"/>
  <Override PartName="/ppt/notesSlides/notesSlide22.xml" ContentType="application/vnd.openxmlformats-officedocument.presentationml.notesSlide+xml"/>
  <Override PartName="/ppt/tags/tag27.xml" ContentType="application/vnd.openxmlformats-officedocument.presentationml.tags+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6"/>
  </p:sldMasterIdLst>
  <p:notesMasterIdLst>
    <p:notesMasterId r:id="rId30"/>
  </p:notesMasterIdLst>
  <p:sldIdLst>
    <p:sldId id="258" r:id="rId7"/>
    <p:sldId id="260" r:id="rId8"/>
    <p:sldId id="395" r:id="rId9"/>
    <p:sldId id="295" r:id="rId10"/>
    <p:sldId id="390" r:id="rId11"/>
    <p:sldId id="375" r:id="rId12"/>
    <p:sldId id="392" r:id="rId13"/>
    <p:sldId id="379" r:id="rId14"/>
    <p:sldId id="380" r:id="rId15"/>
    <p:sldId id="378" r:id="rId16"/>
    <p:sldId id="394" r:id="rId17"/>
    <p:sldId id="393" r:id="rId18"/>
    <p:sldId id="396" r:id="rId19"/>
    <p:sldId id="397" r:id="rId20"/>
    <p:sldId id="381" r:id="rId21"/>
    <p:sldId id="383" r:id="rId22"/>
    <p:sldId id="399" r:id="rId23"/>
    <p:sldId id="386" r:id="rId24"/>
    <p:sldId id="400" r:id="rId25"/>
    <p:sldId id="401" r:id="rId26"/>
    <p:sldId id="286" r:id="rId27"/>
    <p:sldId id="391" r:id="rId28"/>
    <p:sldId id="35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9D8A47-5A93-4DEB-AFB8-8554CB1F1CA0}">
          <p14:sldIdLst>
            <p14:sldId id="258"/>
            <p14:sldId id="260"/>
            <p14:sldId id="395"/>
            <p14:sldId id="295"/>
            <p14:sldId id="390"/>
            <p14:sldId id="375"/>
            <p14:sldId id="392"/>
            <p14:sldId id="379"/>
            <p14:sldId id="380"/>
            <p14:sldId id="378"/>
            <p14:sldId id="394"/>
            <p14:sldId id="393"/>
            <p14:sldId id="396"/>
            <p14:sldId id="397"/>
            <p14:sldId id="381"/>
            <p14:sldId id="383"/>
            <p14:sldId id="399"/>
            <p14:sldId id="386"/>
            <p14:sldId id="400"/>
            <p14:sldId id="401"/>
            <p14:sldId id="286"/>
            <p14:sldId id="391"/>
            <p14:sldId id="35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nnifer Campbell" initials="JC" lastIdx="18" clrIdx="0">
    <p:extLst>
      <p:ext uri="{19B8F6BF-5375-455C-9EA6-DF929625EA0E}">
        <p15:presenceInfo xmlns:p15="http://schemas.microsoft.com/office/powerpoint/2012/main" userId="9252b8fd17e1143e" providerId="Windows Live"/>
      </p:ext>
    </p:extLst>
  </p:cmAuthor>
  <p:cmAuthor id="2" name="Jill West" initials="JW" lastIdx="14" clrIdx="1">
    <p:extLst>
      <p:ext uri="{19B8F6BF-5375-455C-9EA6-DF929625EA0E}">
        <p15:presenceInfo xmlns:p15="http://schemas.microsoft.com/office/powerpoint/2012/main" userId="Jill West" providerId="None"/>
      </p:ext>
    </p:extLst>
  </p:cmAuthor>
  <p:cmAuthor id="3" name="Pope, Emily D" initials="PED" lastIdx="17" clrIdx="2">
    <p:extLst>
      <p:ext uri="{19B8F6BF-5375-455C-9EA6-DF929625EA0E}">
        <p15:presenceInfo xmlns:p15="http://schemas.microsoft.com/office/powerpoint/2012/main" userId="S-1-5-21-4027829005-1107895287-290554039-212238" providerId="AD"/>
      </p:ext>
    </p:extLst>
  </p:cmAuthor>
  <p:cmAuthor id="4" name="Jessica West" initials="JW" lastIdx="4" clrIdx="3">
    <p:extLst>
      <p:ext uri="{19B8F6BF-5375-455C-9EA6-DF929625EA0E}">
        <p15:presenceInfo xmlns:p15="http://schemas.microsoft.com/office/powerpoint/2012/main" userId="Jessica Wes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B7831D-D59C-48F1-BA2D-7996E4F42F16}" v="1" dt="2020-02-16T23:19:40.4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87755" autoAdjust="0"/>
  </p:normalViewPr>
  <p:slideViewPr>
    <p:cSldViewPr snapToGrid="0">
      <p:cViewPr varScale="1">
        <p:scale>
          <a:sx n="82" d="100"/>
          <a:sy n="82" d="100"/>
        </p:scale>
        <p:origin x="504" y="96"/>
      </p:cViewPr>
      <p:guideLst/>
    </p:cSldViewPr>
  </p:slideViewPr>
  <p:outlineViewPr>
    <p:cViewPr>
      <p:scale>
        <a:sx n="33" d="100"/>
        <a:sy n="33" d="100"/>
      </p:scale>
      <p:origin x="0" y="-36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andJill West" userId="0caeac936585bbb7" providerId="LiveId" clId="{23B7831D-D59C-48F1-BA2D-7996E4F42F16}"/>
    <pc:docChg chg="custSel modSld">
      <pc:chgData name="MikeandJill West" userId="0caeac936585bbb7" providerId="LiveId" clId="{23B7831D-D59C-48F1-BA2D-7996E4F42F16}" dt="2020-02-17T15:28:41.751" v="78" actId="113"/>
      <pc:docMkLst>
        <pc:docMk/>
      </pc:docMkLst>
      <pc:sldChg chg="modSp">
        <pc:chgData name="MikeandJill West" userId="0caeac936585bbb7" providerId="LiveId" clId="{23B7831D-D59C-48F1-BA2D-7996E4F42F16}" dt="2020-02-17T15:28:41.751" v="78" actId="113"/>
        <pc:sldMkLst>
          <pc:docMk/>
          <pc:sldMk cId="987616076" sldId="258"/>
        </pc:sldMkLst>
        <pc:spChg chg="mod">
          <ac:chgData name="MikeandJill West" userId="0caeac936585bbb7" providerId="LiveId" clId="{23B7831D-D59C-48F1-BA2D-7996E4F42F16}" dt="2020-02-17T15:28:41.751" v="78" actId="113"/>
          <ac:spMkLst>
            <pc:docMk/>
            <pc:sldMk cId="987616076" sldId="258"/>
            <ac:spMk id="26" creationId="{40184B40-508E-4CC0-A6B8-3111CAA042DC}"/>
          </ac:spMkLst>
        </pc:spChg>
      </pc:sldChg>
      <pc:sldChg chg="modSp">
        <pc:chgData name="MikeandJill West" userId="0caeac936585bbb7" providerId="LiveId" clId="{23B7831D-D59C-48F1-BA2D-7996E4F42F16}" dt="2020-02-17T02:01:25.264" v="25" actId="20577"/>
        <pc:sldMkLst>
          <pc:docMk/>
          <pc:sldMk cId="1413706052" sldId="260"/>
        </pc:sldMkLst>
        <pc:spChg chg="mod">
          <ac:chgData name="MikeandJill West" userId="0caeac936585bbb7" providerId="LiveId" clId="{23B7831D-D59C-48F1-BA2D-7996E4F42F16}" dt="2020-02-17T02:01:25.264" v="25" actId="20577"/>
          <ac:spMkLst>
            <pc:docMk/>
            <pc:sldMk cId="1413706052" sldId="260"/>
            <ac:spMk id="2" creationId="{00000000-0000-0000-0000-000000000000}"/>
          </ac:spMkLst>
        </pc:spChg>
      </pc:sldChg>
      <pc:sldChg chg="addCm delCm">
        <pc:chgData name="MikeandJill West" userId="0caeac936585bbb7" providerId="LiveId" clId="{23B7831D-D59C-48F1-BA2D-7996E4F42F16}" dt="2020-02-17T02:04:05.105" v="77" actId="1592"/>
        <pc:sldMkLst>
          <pc:docMk/>
          <pc:sldMk cId="1729003034" sldId="353"/>
        </pc:sldMkLst>
      </pc:sldChg>
      <pc:sldChg chg="addSp modSp">
        <pc:chgData name="MikeandJill West" userId="0caeac936585bbb7" providerId="LiveId" clId="{23B7831D-D59C-48F1-BA2D-7996E4F42F16}" dt="2020-02-17T02:02:59.738" v="75" actId="14100"/>
        <pc:sldMkLst>
          <pc:docMk/>
          <pc:sldMk cId="4195001174" sldId="390"/>
        </pc:sldMkLst>
        <pc:spChg chg="mod">
          <ac:chgData name="MikeandJill West" userId="0caeac936585bbb7" providerId="LiveId" clId="{23B7831D-D59C-48F1-BA2D-7996E4F42F16}" dt="2020-02-17T02:02:46.276" v="60" actId="1036"/>
          <ac:spMkLst>
            <pc:docMk/>
            <pc:sldMk cId="4195001174" sldId="390"/>
            <ac:spMk id="9" creationId="{D71E4396-03FA-487E-822B-448FB4E83EF7}"/>
          </ac:spMkLst>
        </pc:spChg>
        <pc:spChg chg="mod">
          <ac:chgData name="MikeandJill West" userId="0caeac936585bbb7" providerId="LiveId" clId="{23B7831D-D59C-48F1-BA2D-7996E4F42F16}" dt="2020-02-17T02:02:59.738" v="75" actId="14100"/>
          <ac:spMkLst>
            <pc:docMk/>
            <pc:sldMk cId="4195001174" sldId="390"/>
            <ac:spMk id="11" creationId="{00000000-0000-0000-0000-000000000000}"/>
          </ac:spMkLst>
        </pc:spChg>
        <pc:spChg chg="mod">
          <ac:chgData name="MikeandJill West" userId="0caeac936585bbb7" providerId="LiveId" clId="{23B7831D-D59C-48F1-BA2D-7996E4F42F16}" dt="2020-02-17T02:02:46.276" v="60" actId="1036"/>
          <ac:spMkLst>
            <pc:docMk/>
            <pc:sldMk cId="4195001174" sldId="390"/>
            <ac:spMk id="12" creationId="{00000000-0000-0000-0000-000000000000}"/>
          </ac:spMkLst>
        </pc:spChg>
        <pc:spChg chg="mod">
          <ac:chgData name="MikeandJill West" userId="0caeac936585bbb7" providerId="LiveId" clId="{23B7831D-D59C-48F1-BA2D-7996E4F42F16}" dt="2020-02-17T02:02:51.859" v="74" actId="1036"/>
          <ac:spMkLst>
            <pc:docMk/>
            <pc:sldMk cId="4195001174" sldId="390"/>
            <ac:spMk id="13" creationId="{2FB377EE-E7D9-45EB-81BB-F444A1A5060F}"/>
          </ac:spMkLst>
        </pc:spChg>
        <pc:spChg chg="mod">
          <ac:chgData name="MikeandJill West" userId="0caeac936585bbb7" providerId="LiveId" clId="{23B7831D-D59C-48F1-BA2D-7996E4F42F16}" dt="2020-02-17T02:02:46.276" v="60" actId="1036"/>
          <ac:spMkLst>
            <pc:docMk/>
            <pc:sldMk cId="4195001174" sldId="390"/>
            <ac:spMk id="14" creationId="{59962B5E-6531-4A93-9E1C-B06DDE431D32}"/>
          </ac:spMkLst>
        </pc:spChg>
        <pc:spChg chg="mod">
          <ac:chgData name="MikeandJill West" userId="0caeac936585bbb7" providerId="LiveId" clId="{23B7831D-D59C-48F1-BA2D-7996E4F42F16}" dt="2020-02-17T02:02:46.276" v="60" actId="1036"/>
          <ac:spMkLst>
            <pc:docMk/>
            <pc:sldMk cId="4195001174" sldId="390"/>
            <ac:spMk id="15" creationId="{00000000-0000-0000-0000-000000000000}"/>
          </ac:spMkLst>
        </pc:spChg>
        <pc:spChg chg="add mod">
          <ac:chgData name="MikeandJill West" userId="0caeac936585bbb7" providerId="LiveId" clId="{23B7831D-D59C-48F1-BA2D-7996E4F42F16}" dt="2020-02-17T02:02:46.276" v="60" actId="1036"/>
          <ac:spMkLst>
            <pc:docMk/>
            <pc:sldMk cId="4195001174" sldId="390"/>
            <ac:spMk id="16" creationId="{82EF9A88-9BE4-4FC9-8AD8-57E40A93316B}"/>
          </ac:spMkLst>
        </pc:spChg>
        <pc:spChg chg="mod">
          <ac:chgData name="MikeandJill West" userId="0caeac936585bbb7" providerId="LiveId" clId="{23B7831D-D59C-48F1-BA2D-7996E4F42F16}" dt="2020-02-17T02:02:46.276" v="60" actId="1036"/>
          <ac:spMkLst>
            <pc:docMk/>
            <pc:sldMk cId="4195001174" sldId="390"/>
            <ac:spMk id="20" creationId="{59084517-AE3F-42B9-B673-1937206652F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8ED681-2264-4772-96D9-571C19ED82FB}" type="datetimeFigureOut">
              <a:rPr lang="en-US" smtClean="0"/>
              <a:t>2/17/2020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CA19FE-9A12-437D-A6C3-5DD612832ED6}" type="slidenum">
              <a:rPr lang="en-US" smtClean="0"/>
              <a:t>‹#›</a:t>
            </a:fld>
            <a:endParaRPr lang="en-US"/>
          </a:p>
        </p:txBody>
      </p:sp>
    </p:spTree>
    <p:extLst>
      <p:ext uri="{BB962C8B-B14F-4D97-AF65-F5344CB8AC3E}">
        <p14:creationId xmlns:p14="http://schemas.microsoft.com/office/powerpoint/2010/main" val="1588205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a:t>
            </a:fld>
            <a:endParaRPr lang="en-US" dirty="0"/>
          </a:p>
        </p:txBody>
      </p:sp>
    </p:spTree>
    <p:extLst>
      <p:ext uri="{BB962C8B-B14F-4D97-AF65-F5344CB8AC3E}">
        <p14:creationId xmlns:p14="http://schemas.microsoft.com/office/powerpoint/2010/main" val="4029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a:t>
            </a:fld>
            <a:endParaRPr lang="en-US" dirty="0"/>
          </a:p>
        </p:txBody>
      </p:sp>
    </p:spTree>
    <p:extLst>
      <p:ext uri="{BB962C8B-B14F-4D97-AF65-F5344CB8AC3E}">
        <p14:creationId xmlns:p14="http://schemas.microsoft.com/office/powerpoint/2010/main" val="855768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a:t>
            </a:fld>
            <a:endParaRPr lang="en-US" dirty="0"/>
          </a:p>
        </p:txBody>
      </p:sp>
    </p:spTree>
    <p:extLst>
      <p:ext uri="{BB962C8B-B14F-4D97-AF65-F5344CB8AC3E}">
        <p14:creationId xmlns:p14="http://schemas.microsoft.com/office/powerpoint/2010/main" val="2470584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4</a:t>
            </a:fld>
            <a:endParaRPr lang="en-US" dirty="0"/>
          </a:p>
        </p:txBody>
      </p:sp>
    </p:spTree>
    <p:extLst>
      <p:ext uri="{BB962C8B-B14F-4D97-AF65-F5344CB8AC3E}">
        <p14:creationId xmlns:p14="http://schemas.microsoft.com/office/powerpoint/2010/main" val="1104528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5</a:t>
            </a:fld>
            <a:endParaRPr lang="en-US" dirty="0"/>
          </a:p>
        </p:txBody>
      </p:sp>
    </p:spTree>
    <p:extLst>
      <p:ext uri="{BB962C8B-B14F-4D97-AF65-F5344CB8AC3E}">
        <p14:creationId xmlns:p14="http://schemas.microsoft.com/office/powerpoint/2010/main" val="1010947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b="0" dirty="0"/>
          </a:p>
        </p:txBody>
      </p:sp>
      <p:sp>
        <p:nvSpPr>
          <p:cNvPr id="4" name="Slide Number Placeholder 3"/>
          <p:cNvSpPr>
            <a:spLocks noGrp="1"/>
          </p:cNvSpPr>
          <p:nvPr>
            <p:ph type="sldNum" sz="quarter" idx="10"/>
          </p:nvPr>
        </p:nvSpPr>
        <p:spPr/>
        <p:txBody>
          <a:bodyPr/>
          <a:lstStyle/>
          <a:p>
            <a:fld id="{E2AA3592-D5F1-C049-A75C-8C2FAAE2A508}" type="slidenum">
              <a:rPr lang="en-US" smtClean="0"/>
              <a:t>6</a:t>
            </a:fld>
            <a:endParaRPr lang="en-US" dirty="0"/>
          </a:p>
        </p:txBody>
      </p:sp>
    </p:spTree>
    <p:extLst>
      <p:ext uri="{BB962C8B-B14F-4D97-AF65-F5344CB8AC3E}">
        <p14:creationId xmlns:p14="http://schemas.microsoft.com/office/powerpoint/2010/main" val="4112525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7</a:t>
            </a:fld>
            <a:endParaRPr lang="en-US" dirty="0"/>
          </a:p>
        </p:txBody>
      </p:sp>
    </p:spTree>
    <p:extLst>
      <p:ext uri="{BB962C8B-B14F-4D97-AF65-F5344CB8AC3E}">
        <p14:creationId xmlns:p14="http://schemas.microsoft.com/office/powerpoint/2010/main" val="3376587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8</a:t>
            </a:fld>
            <a:endParaRPr lang="en-US" dirty="0"/>
          </a:p>
        </p:txBody>
      </p:sp>
    </p:spTree>
    <p:extLst>
      <p:ext uri="{BB962C8B-B14F-4D97-AF65-F5344CB8AC3E}">
        <p14:creationId xmlns:p14="http://schemas.microsoft.com/office/powerpoint/2010/main" val="662181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9</a:t>
            </a:fld>
            <a:endParaRPr lang="en-US" dirty="0"/>
          </a:p>
        </p:txBody>
      </p:sp>
    </p:spTree>
    <p:extLst>
      <p:ext uri="{BB962C8B-B14F-4D97-AF65-F5344CB8AC3E}">
        <p14:creationId xmlns:p14="http://schemas.microsoft.com/office/powerpoint/2010/main" val="2618975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10</a:t>
            </a:fld>
            <a:endParaRPr lang="en-US" dirty="0"/>
          </a:p>
        </p:txBody>
      </p:sp>
    </p:spTree>
    <p:extLst>
      <p:ext uri="{BB962C8B-B14F-4D97-AF65-F5344CB8AC3E}">
        <p14:creationId xmlns:p14="http://schemas.microsoft.com/office/powerpoint/2010/main" val="3110607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11</a:t>
            </a:fld>
            <a:endParaRPr lang="en-US" dirty="0"/>
          </a:p>
        </p:txBody>
      </p:sp>
    </p:spTree>
    <p:extLst>
      <p:ext uri="{BB962C8B-B14F-4D97-AF65-F5344CB8AC3E}">
        <p14:creationId xmlns:p14="http://schemas.microsoft.com/office/powerpoint/2010/main" val="380857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12</a:t>
            </a:fld>
            <a:endParaRPr lang="en-US" dirty="0"/>
          </a:p>
        </p:txBody>
      </p:sp>
    </p:spTree>
    <p:extLst>
      <p:ext uri="{BB962C8B-B14F-4D97-AF65-F5344CB8AC3E}">
        <p14:creationId xmlns:p14="http://schemas.microsoft.com/office/powerpoint/2010/main" val="1627781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13</a:t>
            </a:fld>
            <a:endParaRPr lang="en-US" dirty="0"/>
          </a:p>
        </p:txBody>
      </p:sp>
    </p:spTree>
    <p:extLst>
      <p:ext uri="{BB962C8B-B14F-4D97-AF65-F5344CB8AC3E}">
        <p14:creationId xmlns:p14="http://schemas.microsoft.com/office/powerpoint/2010/main" val="3618194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14</a:t>
            </a:fld>
            <a:endParaRPr lang="en-US" dirty="0"/>
          </a:p>
        </p:txBody>
      </p:sp>
    </p:spTree>
    <p:extLst>
      <p:ext uri="{BB962C8B-B14F-4D97-AF65-F5344CB8AC3E}">
        <p14:creationId xmlns:p14="http://schemas.microsoft.com/office/powerpoint/2010/main" val="4231061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15</a:t>
            </a:fld>
            <a:endParaRPr lang="en-US" dirty="0"/>
          </a:p>
        </p:txBody>
      </p:sp>
    </p:spTree>
    <p:extLst>
      <p:ext uri="{BB962C8B-B14F-4D97-AF65-F5344CB8AC3E}">
        <p14:creationId xmlns:p14="http://schemas.microsoft.com/office/powerpoint/2010/main" val="37895374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16</a:t>
            </a:fld>
            <a:endParaRPr lang="en-US" dirty="0"/>
          </a:p>
        </p:txBody>
      </p:sp>
    </p:spTree>
    <p:extLst>
      <p:ext uri="{BB962C8B-B14F-4D97-AF65-F5344CB8AC3E}">
        <p14:creationId xmlns:p14="http://schemas.microsoft.com/office/powerpoint/2010/main" val="4150611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17</a:t>
            </a:fld>
            <a:endParaRPr lang="en-US" dirty="0"/>
          </a:p>
        </p:txBody>
      </p:sp>
    </p:spTree>
    <p:extLst>
      <p:ext uri="{BB962C8B-B14F-4D97-AF65-F5344CB8AC3E}">
        <p14:creationId xmlns:p14="http://schemas.microsoft.com/office/powerpoint/2010/main" val="469231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18</a:t>
            </a:fld>
            <a:endParaRPr lang="en-US" dirty="0"/>
          </a:p>
        </p:txBody>
      </p:sp>
    </p:spTree>
    <p:extLst>
      <p:ext uri="{BB962C8B-B14F-4D97-AF65-F5344CB8AC3E}">
        <p14:creationId xmlns:p14="http://schemas.microsoft.com/office/powerpoint/2010/main" val="2639164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19</a:t>
            </a:fld>
            <a:endParaRPr lang="en-US" dirty="0"/>
          </a:p>
        </p:txBody>
      </p:sp>
    </p:spTree>
    <p:extLst>
      <p:ext uri="{BB962C8B-B14F-4D97-AF65-F5344CB8AC3E}">
        <p14:creationId xmlns:p14="http://schemas.microsoft.com/office/powerpoint/2010/main" val="38223422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20</a:t>
            </a:fld>
            <a:endParaRPr lang="en-US" dirty="0"/>
          </a:p>
        </p:txBody>
      </p:sp>
    </p:spTree>
    <p:extLst>
      <p:ext uri="{BB962C8B-B14F-4D97-AF65-F5344CB8AC3E}">
        <p14:creationId xmlns:p14="http://schemas.microsoft.com/office/powerpoint/2010/main" val="9786405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21</a:t>
            </a:fld>
            <a:endParaRPr lang="en-US" dirty="0"/>
          </a:p>
        </p:txBody>
      </p:sp>
    </p:spTree>
    <p:extLst>
      <p:ext uri="{BB962C8B-B14F-4D97-AF65-F5344CB8AC3E}">
        <p14:creationId xmlns:p14="http://schemas.microsoft.com/office/powerpoint/2010/main" val="19859773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22</a:t>
            </a:fld>
            <a:endParaRPr lang="en-US" dirty="0"/>
          </a:p>
        </p:txBody>
      </p:sp>
    </p:spTree>
    <p:extLst>
      <p:ext uri="{BB962C8B-B14F-4D97-AF65-F5344CB8AC3E}">
        <p14:creationId xmlns:p14="http://schemas.microsoft.com/office/powerpoint/2010/main" val="2752358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23</a:t>
            </a:fld>
            <a:endParaRPr lang="en-US" dirty="0"/>
          </a:p>
        </p:txBody>
      </p:sp>
    </p:spTree>
    <p:extLst>
      <p:ext uri="{BB962C8B-B14F-4D97-AF65-F5344CB8AC3E}">
        <p14:creationId xmlns:p14="http://schemas.microsoft.com/office/powerpoint/2010/main" val="3611865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26790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947285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790670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2/17/2020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173476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2/17/2020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821110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2/17/2020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762513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2/17/2020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86248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2/17/2020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286472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2/17/2020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935963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4093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83702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103901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7" name="Slide Number Placeholder 2"/>
          <p:cNvSpPr>
            <a:spLocks noGrp="1"/>
          </p:cNvSpPr>
          <p:nvPr>
            <p:ph type="sldNum" sz="quarter" idx="12"/>
          </p:nvPr>
        </p:nvSpPr>
        <p:spPr>
          <a:xfrm>
            <a:off x="312" y="487606"/>
            <a:ext cx="611681" cy="365125"/>
          </a:xfrm>
        </p:spPr>
        <p:txBody>
          <a:bodyPr/>
          <a:lstStyle/>
          <a:p>
            <a:fld id="{2760AF0F-E753-4DD9-B8E5-577C039A067C}" type="slidenum">
              <a:rPr lang="en-JM" smtClean="0"/>
              <a:t>‹#›</a:t>
            </a:fld>
            <a:endParaRPr lang="en-JM" dirty="0"/>
          </a:p>
        </p:txBody>
      </p:sp>
    </p:spTree>
    <p:custDataLst>
      <p:tags r:id="rId1"/>
    </p:custDataLst>
    <p:extLst>
      <p:ext uri="{BB962C8B-B14F-4D97-AF65-F5344CB8AC3E}">
        <p14:creationId xmlns:p14="http://schemas.microsoft.com/office/powerpoint/2010/main" val="2562263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6" name="Rectangle 5"/>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3" name="Slide Number Placeholder 2"/>
          <p:cNvSpPr>
            <a:spLocks noGrp="1"/>
          </p:cNvSpPr>
          <p:nvPr>
            <p:ph type="sldNum" sz="quarter" idx="13"/>
          </p:nvPr>
        </p:nvSpPr>
        <p:spPr>
          <a:xfrm>
            <a:off x="312" y="487606"/>
            <a:ext cx="611681" cy="365125"/>
          </a:xfrm>
        </p:spPr>
        <p:txBody>
          <a:bodyPr/>
          <a:lstStyle/>
          <a:p>
            <a:fld id="{2760AF0F-E753-4DD9-B8E5-577C039A067C}" type="slidenum">
              <a:rPr lang="en-JM" smtClean="0"/>
              <a:t>‹#›</a:t>
            </a:fld>
            <a:endParaRPr lang="en-JM" dirty="0"/>
          </a:p>
        </p:txBody>
      </p:sp>
    </p:spTree>
    <p:custDataLst>
      <p:tags r:id="rId1"/>
    </p:custDataLst>
    <p:extLst>
      <p:ext uri="{BB962C8B-B14F-4D97-AF65-F5344CB8AC3E}">
        <p14:creationId xmlns:p14="http://schemas.microsoft.com/office/powerpoint/2010/main" val="147453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Top">
    <p:spTree>
      <p:nvGrpSpPr>
        <p:cNvPr id="1" name=""/>
        <p:cNvGrpSpPr/>
        <p:nvPr/>
      </p:nvGrpSpPr>
      <p:grpSpPr>
        <a:xfrm>
          <a:off x="0" y="0"/>
          <a:ext cx="0" cy="0"/>
          <a:chOff x="0" y="0"/>
          <a:chExt cx="0" cy="0"/>
        </a:xfrm>
      </p:grpSpPr>
      <p:sp>
        <p:nvSpPr>
          <p:cNvPr id="5"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6" name="Text Placeholder 4"/>
          <p:cNvSpPr>
            <a:spLocks noGrp="1"/>
          </p:cNvSpPr>
          <p:nvPr>
            <p:ph type="body" sz="quarter" idx="10" hasCustomPrompt="1"/>
          </p:nvPr>
        </p:nvSpPr>
        <p:spPr>
          <a:xfrm>
            <a:off x="792483" y="447919"/>
            <a:ext cx="10411884" cy="349251"/>
          </a:xfrm>
        </p:spPr>
        <p:txBody>
          <a:bodyPr lIns="134149" anchor="ctr">
            <a:noAutofit/>
          </a:bodyPr>
          <a:lstStyle>
            <a:lvl1pPr marL="0" indent="0">
              <a:buFontTx/>
              <a:buNone/>
              <a:defRPr sz="2099" kern="100" spc="0" baseline="0">
                <a:solidFill>
                  <a:schemeClr val="accent1">
                    <a:lumMod val="75000"/>
                  </a:schemeClr>
                </a:solidFill>
                <a:latin typeface="+mj-lt"/>
              </a:defRPr>
            </a:lvl1pPr>
            <a:lvl2pPr marL="609463" indent="0">
              <a:buFontTx/>
              <a:buNone/>
              <a:defRPr/>
            </a:lvl2pPr>
            <a:lvl3pPr marL="1218925" indent="0">
              <a:buFontTx/>
              <a:buNone/>
              <a:defRPr/>
            </a:lvl3pPr>
            <a:lvl4pPr marL="1828388" indent="0">
              <a:buFontTx/>
              <a:buNone/>
              <a:defRPr/>
            </a:lvl4pPr>
            <a:lvl5pPr marL="2437851" indent="0">
              <a:buFontTx/>
              <a:buNone/>
              <a:defRPr/>
            </a:lvl5pPr>
          </a:lstStyle>
          <a:p>
            <a:pPr lvl="0"/>
            <a:r>
              <a:rPr lang="en-JM" dirty="0"/>
              <a:t>Click to add text</a:t>
            </a:r>
          </a:p>
        </p:txBody>
      </p:sp>
      <p:sp>
        <p:nvSpPr>
          <p:cNvPr id="7" name="Rectangle 6"/>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3" name="Slide Number Placeholder 2"/>
          <p:cNvSpPr>
            <a:spLocks noGrp="1"/>
          </p:cNvSpPr>
          <p:nvPr>
            <p:ph type="sldNum" sz="quarter" idx="12"/>
          </p:nvPr>
        </p:nvSpPr>
        <p:spPr>
          <a:xfrm>
            <a:off x="312" y="484633"/>
            <a:ext cx="611681" cy="365125"/>
          </a:xfrm>
        </p:spPr>
        <p:txBody>
          <a:bodyPr/>
          <a:lstStyle>
            <a:lvl1pPr algn="ctr">
              <a:defRPr/>
            </a:lvl1pPr>
          </a:lstStyle>
          <a:p>
            <a:fld id="{2760AF0F-E753-4DD9-B8E5-577C039A067C}" type="slidenum">
              <a:rPr lang="en-JM" smtClean="0"/>
              <a:pPr/>
              <a:t>‹#›</a:t>
            </a:fld>
            <a:endParaRPr lang="en-JM" dirty="0"/>
          </a:p>
        </p:txBody>
      </p:sp>
    </p:spTree>
    <p:custDataLst>
      <p:tags r:id="rId1"/>
    </p:custDataLst>
    <p:extLst>
      <p:ext uri="{BB962C8B-B14F-4D97-AF65-F5344CB8AC3E}">
        <p14:creationId xmlns:p14="http://schemas.microsoft.com/office/powerpoint/2010/main" val="3918035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2/17/2020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a:p>
        </p:txBody>
      </p:sp>
    </p:spTree>
    <p:extLst>
      <p:ext uri="{BB962C8B-B14F-4D97-AF65-F5344CB8AC3E}">
        <p14:creationId xmlns:p14="http://schemas.microsoft.com/office/powerpoint/2010/main" val="78108080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7.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8.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9.xml"/><Relationship Id="rId5" Type="http://schemas.openxmlformats.org/officeDocument/2006/relationships/slide" Target="slide8.xml"/><Relationship Id="rId4" Type="http://schemas.openxmlformats.org/officeDocument/2006/relationships/slide" Target="slide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10.xml"/><Relationship Id="rId5" Type="http://schemas.openxmlformats.org/officeDocument/2006/relationships/slide" Target="slide8.xml"/><Relationship Id="rId4" Type="http://schemas.openxmlformats.org/officeDocument/2006/relationships/slide" Target="slide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11.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slide" Target="slide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1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tags" Target="../tags/tag13.xml"/><Relationship Id="rId4" Type="http://schemas.openxmlformats.org/officeDocument/2006/relationships/slide" Target="slide2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ags" Target="../tags/tag14.xml"/><Relationship Id="rId4" Type="http://schemas.openxmlformats.org/officeDocument/2006/relationships/slide" Target="slide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tags" Target="../tags/tag15.xml"/><Relationship Id="rId4" Type="http://schemas.openxmlformats.org/officeDocument/2006/relationships/slide" Target="slide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tags" Target="../tags/tag16.xml"/><Relationship Id="rId5" Type="http://schemas.openxmlformats.org/officeDocument/2006/relationships/slide" Target="slide15.xml"/><Relationship Id="rId4" Type="http://schemas.openxmlformats.org/officeDocument/2006/relationships/slide" Target="slide1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17.xml"/><Relationship Id="rId5" Type="http://schemas.openxmlformats.org/officeDocument/2006/relationships/slide" Target="slide15.xml"/><Relationship Id="rId4" Type="http://schemas.openxmlformats.org/officeDocument/2006/relationships/slide" Target="slide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18.xml"/><Relationship Id="rId4" Type="http://schemas.openxmlformats.org/officeDocument/2006/relationships/slide" Target="slide2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19.xml"/><Relationship Id="rId5" Type="http://schemas.openxmlformats.org/officeDocument/2006/relationships/slide" Target="slide17.xml"/><Relationship Id="rId4" Type="http://schemas.openxmlformats.org/officeDocument/2006/relationships/slide" Target="slide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20.xml"/><Relationship Id="rId5" Type="http://schemas.openxmlformats.org/officeDocument/2006/relationships/slide" Target="slide19.xml"/><Relationship Id="rId4" Type="http://schemas.openxmlformats.org/officeDocument/2006/relationships/slide" Target="slide1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tags" Target="../tags/tag21.xml"/><Relationship Id="rId5" Type="http://schemas.openxmlformats.org/officeDocument/2006/relationships/slide" Target="slide20.xml"/><Relationship Id="rId4" Type="http://schemas.openxmlformats.org/officeDocument/2006/relationships/slide" Target="slide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tags" Target="../tags/tag22.xml"/><Relationship Id="rId4" Type="http://schemas.openxmlformats.org/officeDocument/2006/relationships/slide" Target="slide2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4.xml"/><Relationship Id="rId1" Type="http://schemas.openxmlformats.org/officeDocument/2006/relationships/tags" Target="../tags/tag23.xml"/><Relationship Id="rId4" Type="http://schemas.openxmlformats.org/officeDocument/2006/relationships/slide" Target="slide2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4.xml"/><Relationship Id="rId1" Type="http://schemas.openxmlformats.org/officeDocument/2006/relationships/tags" Target="../tags/tag24.xml"/><Relationship Id="rId5" Type="http://schemas.openxmlformats.org/officeDocument/2006/relationships/slide" Target="slide23.xml"/><Relationship Id="rId4" Type="http://schemas.openxmlformats.org/officeDocument/2006/relationships/slide" Target="slide2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tags" Target="../tags/tag25.xml"/><Relationship Id="rId4" Type="http://schemas.openxmlformats.org/officeDocument/2006/relationships/slide" Target="slide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26.xml"/><Relationship Id="rId4" Type="http://schemas.openxmlformats.org/officeDocument/2006/relationships/slide" Target="slide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ags" Target="../tags/tag27.xml"/><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64D937-4073-4FCC-911D-EF74F0EACC18}"/>
              </a:ext>
            </a:extLst>
          </p:cNvPr>
          <p:cNvPicPr>
            <a:picLocks noChangeAspect="1"/>
          </p:cNvPicPr>
          <p:nvPr/>
        </p:nvPicPr>
        <p:blipFill>
          <a:blip r:embed="rId4"/>
          <a:stretch>
            <a:fillRect/>
          </a:stretch>
        </p:blipFill>
        <p:spPr>
          <a:xfrm>
            <a:off x="0" y="10853"/>
            <a:ext cx="12192000" cy="6836294"/>
          </a:xfrm>
          <a:prstGeom prst="rect">
            <a:avLst/>
          </a:prstGeom>
        </p:spPr>
      </p:pic>
      <p:pic>
        <p:nvPicPr>
          <p:cNvPr id="9" name="Picture 8">
            <a:extLst>
              <a:ext uri="{FF2B5EF4-FFF2-40B4-BE49-F238E27FC236}">
                <a16:creationId xmlns:a16="http://schemas.microsoft.com/office/drawing/2014/main" id="{22DE292E-E569-4CEA-A829-264F6AE52A39}"/>
              </a:ext>
            </a:extLst>
          </p:cNvPr>
          <p:cNvPicPr>
            <a:picLocks noChangeAspect="1"/>
          </p:cNvPicPr>
          <p:nvPr/>
        </p:nvPicPr>
        <p:blipFill>
          <a:blip r:embed="rId5"/>
          <a:stretch>
            <a:fillRect/>
          </a:stretch>
        </p:blipFill>
        <p:spPr>
          <a:xfrm>
            <a:off x="0" y="2144298"/>
            <a:ext cx="12192000" cy="4744016"/>
          </a:xfrm>
          <a:prstGeom prst="rect">
            <a:avLst/>
          </a:prstGeom>
        </p:spPr>
      </p:pic>
      <p:sp>
        <p:nvSpPr>
          <p:cNvPr id="27" name="Content Placeholder 3">
            <a:extLst>
              <a:ext uri="{FF2B5EF4-FFF2-40B4-BE49-F238E27FC236}">
                <a16:creationId xmlns:a16="http://schemas.microsoft.com/office/drawing/2014/main" id="{578918F1-B05F-4C66-87EE-3C54FF84F74A}"/>
              </a:ext>
            </a:extLst>
          </p:cNvPr>
          <p:cNvSpPr txBox="1">
            <a:spLocks/>
          </p:cNvSpPr>
          <p:nvPr/>
        </p:nvSpPr>
        <p:spPr>
          <a:xfrm>
            <a:off x="1085376" y="2277075"/>
            <a:ext cx="9993441" cy="4400172"/>
          </a:xfrm>
          <a:prstGeom prst="rect">
            <a:avLst/>
          </a:prstGeom>
        </p:spPr>
        <p:txBody>
          <a:bodyPr vert="horz" lIns="121954" tIns="60977" rIns="121954" bIns="60977" rtlCol="0" anchor="t">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None/>
            </a:pPr>
            <a:r>
              <a:rPr lang="en-US" sz="2400" b="1" dirty="0">
                <a:solidFill>
                  <a:schemeClr val="tx1"/>
                </a:solidFill>
                <a:latin typeface="+mj-lt"/>
              </a:rPr>
              <a:t>Module 7: </a:t>
            </a:r>
            <a:r>
              <a:rPr lang="en-US" sz="2400" dirty="0">
                <a:solidFill>
                  <a:schemeClr val="tx1"/>
                </a:solidFill>
                <a:latin typeface="+mj-lt"/>
              </a:rPr>
              <a:t>Digital Media</a:t>
            </a:r>
          </a:p>
          <a:p>
            <a:pPr marL="0" indent="0">
              <a:buNone/>
            </a:pPr>
            <a:r>
              <a:rPr lang="en-US" sz="2400" b="1" dirty="0">
                <a:solidFill>
                  <a:schemeClr val="tx1"/>
                </a:solidFill>
                <a:latin typeface="+mj-lt"/>
                <a:cs typeface="Calibri Light"/>
              </a:rPr>
              <a:t>Lesson objective 7.3</a:t>
            </a:r>
            <a:r>
              <a:rPr lang="en-US" sz="2400" dirty="0">
                <a:solidFill>
                  <a:schemeClr val="tx1"/>
                </a:solidFill>
                <a:latin typeface="+mj-lt"/>
                <a:cs typeface="Calibri Light"/>
              </a:rPr>
              <a:t>: Record and edit digital media</a:t>
            </a:r>
          </a:p>
          <a:p>
            <a:pPr marL="0" indent="0">
              <a:buNone/>
            </a:pPr>
            <a:r>
              <a:rPr lang="en-US" sz="2400" b="1" i="1" dirty="0">
                <a:solidFill>
                  <a:schemeClr val="tx1"/>
                </a:solidFill>
                <a:latin typeface="+mj-lt"/>
                <a:cs typeface="Calibri Light"/>
              </a:rPr>
              <a:t>Learning objectives:</a:t>
            </a:r>
            <a:endParaRPr lang="en-US" sz="2400" dirty="0">
              <a:solidFill>
                <a:schemeClr val="tx1"/>
              </a:solidFill>
              <a:latin typeface="+mj-lt"/>
              <a:cs typeface="Calibri Light"/>
            </a:endParaRPr>
          </a:p>
          <a:p>
            <a:pPr marL="0" indent="0">
              <a:buNone/>
            </a:pPr>
            <a:r>
              <a:rPr lang="en-US" sz="2400" dirty="0">
                <a:solidFill>
                  <a:schemeClr val="tx1"/>
                </a:solidFill>
                <a:latin typeface="+mj-lt"/>
                <a:cs typeface="Calibri Light"/>
              </a:rPr>
              <a:t>7.3.1 Create graphics and animation.</a:t>
            </a:r>
          </a:p>
          <a:p>
            <a:pPr marL="0" indent="0">
              <a:buNone/>
            </a:pPr>
            <a:r>
              <a:rPr lang="en-US" sz="2400" dirty="0">
                <a:solidFill>
                  <a:schemeClr val="tx1"/>
                </a:solidFill>
                <a:latin typeface="+mj-lt"/>
                <a:cs typeface="Calibri Light"/>
              </a:rPr>
              <a:t>7.3.2 Record and play sounds and music.</a:t>
            </a:r>
          </a:p>
          <a:p>
            <a:pPr marL="0" indent="0">
              <a:buNone/>
            </a:pPr>
            <a:r>
              <a:rPr lang="en-US" sz="2400" dirty="0">
                <a:solidFill>
                  <a:schemeClr val="tx1"/>
                </a:solidFill>
                <a:latin typeface="+mj-lt"/>
                <a:cs typeface="Calibri Light"/>
              </a:rPr>
              <a:t>7.3.3 Develop original videos.</a:t>
            </a:r>
          </a:p>
          <a:p>
            <a:pPr marL="0" indent="0">
              <a:buNone/>
            </a:pPr>
            <a:r>
              <a:rPr lang="en-US" sz="2400" dirty="0">
                <a:solidFill>
                  <a:schemeClr val="tx1"/>
                </a:solidFill>
                <a:latin typeface="+mj-lt"/>
                <a:cs typeface="Calibri Light"/>
              </a:rPr>
              <a:t>7.3.4 Edit digital media files.</a:t>
            </a:r>
          </a:p>
        </p:txBody>
      </p:sp>
      <p:sp>
        <p:nvSpPr>
          <p:cNvPr id="26" name="Title 2">
            <a:extLst>
              <a:ext uri="{FF2B5EF4-FFF2-40B4-BE49-F238E27FC236}">
                <a16:creationId xmlns:a16="http://schemas.microsoft.com/office/drawing/2014/main" id="{40184B40-508E-4CC0-A6B8-3111CAA042DC}"/>
              </a:ext>
            </a:extLst>
          </p:cNvPr>
          <p:cNvSpPr>
            <a:spLocks noGrp="1"/>
          </p:cNvSpPr>
          <p:nvPr>
            <p:ph type="title"/>
          </p:nvPr>
        </p:nvSpPr>
        <p:spPr>
          <a:xfrm>
            <a:off x="1792920" y="610064"/>
            <a:ext cx="7236538" cy="1143000"/>
          </a:xfrm>
        </p:spPr>
        <p:txBody>
          <a:bodyPr>
            <a:normAutofit/>
          </a:bodyPr>
          <a:lstStyle/>
          <a:p>
            <a:r>
              <a:rPr lang="en-US" sz="5400" dirty="0">
                <a:solidFill>
                  <a:schemeClr val="tx1"/>
                </a:solidFill>
              </a:rPr>
              <a:t>Working with Media Files</a:t>
            </a:r>
          </a:p>
        </p:txBody>
      </p:sp>
    </p:spTree>
    <p:custDataLst>
      <p:tags r:id="rId1"/>
    </p:custDataLst>
    <p:extLst>
      <p:ext uri="{BB962C8B-B14F-4D97-AF65-F5344CB8AC3E}">
        <p14:creationId xmlns:p14="http://schemas.microsoft.com/office/powerpoint/2010/main" val="98761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836" y="338256"/>
            <a:ext cx="10412618" cy="671145"/>
          </a:xfrm>
        </p:spPr>
        <p:txBody>
          <a:bodyPr/>
          <a:lstStyle/>
          <a:p>
            <a:r>
              <a:rPr lang="en-US" sz="3650" dirty="0"/>
              <a:t>Working with Media Files</a:t>
            </a:r>
            <a:endParaRPr lang="en-JM" dirty="0"/>
          </a:p>
        </p:txBody>
      </p:sp>
      <p:sp>
        <p:nvSpPr>
          <p:cNvPr id="15" name="Text Placeholder 5">
            <a:extLst>
              <a:ext uri="{FF2B5EF4-FFF2-40B4-BE49-F238E27FC236}">
                <a16:creationId xmlns:a16="http://schemas.microsoft.com/office/drawing/2014/main" id="{47D1FE18-551E-4534-A0BF-A7663EF07112}"/>
              </a:ext>
            </a:extLst>
          </p:cNvPr>
          <p:cNvSpPr txBox="1">
            <a:spLocks/>
          </p:cNvSpPr>
          <p:nvPr/>
        </p:nvSpPr>
        <p:spPr>
          <a:xfrm>
            <a:off x="790836" y="1192618"/>
            <a:ext cx="10988209" cy="5487881"/>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How to acquire, license, and distribute music</a:t>
            </a:r>
          </a:p>
          <a:p>
            <a:pPr>
              <a:buNone/>
            </a:pPr>
            <a:r>
              <a:rPr lang="en-US" dirty="0">
                <a:solidFill>
                  <a:schemeClr val="tx2"/>
                </a:solidFill>
              </a:rPr>
              <a:t>•	How to create or acquire photos</a:t>
            </a:r>
          </a:p>
          <a:p>
            <a:pPr>
              <a:buNone/>
            </a:pPr>
            <a:r>
              <a:rPr lang="en-US" dirty="0">
                <a:solidFill>
                  <a:schemeClr val="tx2"/>
                </a:solidFill>
              </a:rPr>
              <a:t>•	How to edit and post videos</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decide what kinds of audio, video, and photo files will work best in certain situations. At each step, think carefully about quality versus convenience and decide which of these priorities is most important at each step.</a:t>
            </a:r>
          </a:p>
          <a:p>
            <a:pPr>
              <a:buFont typeface="Wingdings" panose="05000000000000000000" pitchFamily="2" charset="2"/>
              <a:buChar char="ü"/>
            </a:pPr>
            <a:r>
              <a:rPr lang="en-US" dirty="0">
                <a:solidFill>
                  <a:schemeClr val="tx2"/>
                </a:solidFill>
              </a:rPr>
              <a:t>Remember to consider your budget along the way.</a:t>
            </a:r>
          </a:p>
          <a:p>
            <a:pPr>
              <a:buFont typeface="Wingdings" panose="05000000000000000000" pitchFamily="2" charset="2"/>
              <a:buChar char="ü"/>
            </a:pPr>
            <a:r>
              <a:rPr lang="en-US" dirty="0">
                <a:solidFill>
                  <a:schemeClr val="tx2"/>
                </a:solidFill>
              </a:rPr>
              <a:t>Keep in mind what devices will be used to access various multi-media files, and which file type is best for that kind of device.</a:t>
            </a:r>
          </a:p>
          <a:p>
            <a:pPr>
              <a:buFont typeface="Wingdings" panose="05000000000000000000" pitchFamily="2" charset="2"/>
              <a:buChar char="ü"/>
            </a:pPr>
            <a:r>
              <a:rPr lang="en-US" dirty="0">
                <a:solidFill>
                  <a:schemeClr val="tx2"/>
                </a:solidFill>
              </a:rPr>
              <a:t>Consider licensing restrictions.</a:t>
            </a:r>
          </a:p>
          <a:p>
            <a:pPr>
              <a:buFont typeface="Wingdings" panose="05000000000000000000" pitchFamily="2" charset="2"/>
              <a:buChar char="ü"/>
            </a:pPr>
            <a:r>
              <a:rPr lang="en-US" dirty="0">
                <a:solidFill>
                  <a:schemeClr val="tx2"/>
                </a:solidFill>
              </a:rPr>
              <a:t>Think about how to maximize accessibility to as many people as possible.</a:t>
            </a:r>
            <a:endParaRPr lang="en-JM" dirty="0">
              <a:solidFill>
                <a:schemeClr val="tx2"/>
              </a:solidFill>
            </a:endParaRPr>
          </a:p>
        </p:txBody>
      </p:sp>
    </p:spTree>
    <p:custDataLst>
      <p:tags r:id="rId1"/>
    </p:custDataLst>
    <p:extLst>
      <p:ext uri="{BB962C8B-B14F-4D97-AF65-F5344CB8AC3E}">
        <p14:creationId xmlns:p14="http://schemas.microsoft.com/office/powerpoint/2010/main" val="1413706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946576"/>
            <a:ext cx="11079729" cy="384871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volunteer at a local recreation center that serves underprivileged populations. Recently the center decided to organize a fitness program for middle and high school students. A dietician is developing dietary guidelines that promote resources, such as school meal programs. Fitness instructors are designing workout routines that target each major muscle group and keep an aerobic level heart rate. Local sports stores have donated basic equipment and volunteered to lead a group hike. Also, school teachers and some various community members will serve as mentors for kids in the program. There isn’t a budget to fund an IT consultant, but you have an associate’s degree and are working in a technology field. You volunteer to coordinate the technical side of creating the multimedia resources for the fitness program. You’ve been given access to a computer at the rec center with several media editing apps and tools already installed to get you started. </a:t>
            </a:r>
          </a:p>
        </p:txBody>
      </p:sp>
      <p:sp>
        <p:nvSpPr>
          <p:cNvPr id="12" name="Text Placeholder 1"/>
          <p:cNvSpPr txBox="1">
            <a:spLocks/>
          </p:cNvSpPr>
          <p:nvPr/>
        </p:nvSpPr>
        <p:spPr>
          <a:xfrm>
            <a:off x="795113" y="4795283"/>
            <a:ext cx="10677482" cy="777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 </a:t>
            </a:r>
            <a:r>
              <a:rPr lang="en-US" sz="2050" b="1" dirty="0">
                <a:solidFill>
                  <a:schemeClr val="tx2"/>
                </a:solidFill>
                <a:ea typeface="Calibri"/>
                <a:cs typeface="Calibri"/>
                <a:hlinkClick r:id="rId4" action="ppaction://hlinksldjump"/>
              </a:rPr>
              <a:t>[Level1_Story1]</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50" dirty="0"/>
              <a:t>Introduction</a:t>
            </a:r>
          </a:p>
        </p:txBody>
      </p:sp>
    </p:spTree>
    <p:custDataLst>
      <p:tags r:id="rId1"/>
    </p:custDataLst>
    <p:extLst>
      <p:ext uri="{BB962C8B-B14F-4D97-AF65-F5344CB8AC3E}">
        <p14:creationId xmlns:p14="http://schemas.microsoft.com/office/powerpoint/2010/main" val="443978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20876"/>
            <a:ext cx="11079729" cy="366795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rgbClr val="44546A"/>
                </a:solidFill>
                <a:latin typeface="Calibri" panose="020F0502020204030204"/>
              </a:rPr>
              <a:t>The program coordinator has asked to you to create a basic video showing the workout that kids can watch on their smartphones so they can practice on their own. The video is part of the larger strategy the board of directors approved that will help them to work with donors to get funding to create professional media for the program. You have been tasked with the following:</a:t>
            </a:r>
          </a:p>
          <a:p>
            <a:pPr>
              <a:spcBef>
                <a:spcPts val="0"/>
              </a:spcBef>
              <a:defRPr/>
            </a:pPr>
            <a:r>
              <a:rPr lang="en-US" sz="2050" dirty="0">
                <a:solidFill>
                  <a:srgbClr val="44546A"/>
                </a:solidFill>
                <a:latin typeface="Calibri" panose="020F0502020204030204"/>
              </a:rPr>
              <a:t>Acquire, license, and distribute music to accompany the workout routines.</a:t>
            </a:r>
          </a:p>
          <a:p>
            <a:pPr>
              <a:spcBef>
                <a:spcPts val="0"/>
              </a:spcBef>
              <a:defRPr/>
            </a:pPr>
            <a:r>
              <a:rPr lang="en-US" sz="2050" dirty="0">
                <a:solidFill>
                  <a:srgbClr val="44546A"/>
                </a:solidFill>
                <a:latin typeface="Calibri" panose="020F0502020204030204"/>
              </a:rPr>
              <a:t>Create or acquire photos or drawings to accompany the dietary guidelines.</a:t>
            </a:r>
          </a:p>
          <a:p>
            <a:pPr>
              <a:spcBef>
                <a:spcPts val="0"/>
              </a:spcBef>
              <a:defRPr/>
            </a:pPr>
            <a:r>
              <a:rPr lang="en-US" sz="2050" dirty="0">
                <a:solidFill>
                  <a:srgbClr val="44546A"/>
                </a:solidFill>
                <a:latin typeface="Calibri" panose="020F0502020204030204"/>
              </a:rPr>
              <a:t>Edit a video that shows the kids working out and on their hike. </a:t>
            </a:r>
          </a:p>
          <a:p>
            <a:pPr>
              <a:spcBef>
                <a:spcPts val="0"/>
              </a:spcBef>
              <a:defRPr/>
            </a:pPr>
            <a:r>
              <a:rPr lang="en-US" sz="2050" dirty="0">
                <a:solidFill>
                  <a:srgbClr val="44546A"/>
                </a:solidFill>
                <a:latin typeface="Calibri" panose="020F0502020204030204"/>
              </a:rPr>
              <a:t>Decide on a platform to show the video to others.</a:t>
            </a:r>
          </a:p>
        </p:txBody>
      </p:sp>
      <p:sp>
        <p:nvSpPr>
          <p:cNvPr id="12" name="Text Placeholder 1"/>
          <p:cNvSpPr txBox="1">
            <a:spLocks/>
          </p:cNvSpPr>
          <p:nvPr/>
        </p:nvSpPr>
        <p:spPr>
          <a:xfrm>
            <a:off x="795113" y="4497572"/>
            <a:ext cx="10677482" cy="59126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 </a:t>
            </a:r>
            <a:r>
              <a:rPr lang="en-US" sz="2050" b="1" dirty="0">
                <a:solidFill>
                  <a:schemeClr val="tx2"/>
                </a:solidFill>
                <a:ea typeface="Calibri"/>
                <a:cs typeface="Calibri"/>
                <a:hlinkClick r:id="rId4" action="ppaction://hlinksldjump"/>
              </a:rPr>
              <a:t>[Level1_Decision1]</a:t>
            </a:r>
            <a:endParaRPr lang="en-US" sz="2050" b="1" dirty="0">
              <a:solidFill>
                <a:schemeClr val="tx2"/>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Level1_Story1</a:t>
            </a:r>
          </a:p>
        </p:txBody>
      </p:sp>
      <p:sp>
        <p:nvSpPr>
          <p:cNvPr id="9" name="TextBox 8">
            <a:extLst>
              <a:ext uri="{FF2B5EF4-FFF2-40B4-BE49-F238E27FC236}">
                <a16:creationId xmlns:a16="http://schemas.microsoft.com/office/drawing/2014/main" id="{57B78D78-4529-4678-9CE4-3AAD33BD00A2}"/>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choose a file format.</a:t>
            </a:r>
          </a:p>
        </p:txBody>
      </p:sp>
    </p:spTree>
    <p:custDataLst>
      <p:tags r:id="rId1"/>
    </p:custDataLst>
    <p:extLst>
      <p:ext uri="{BB962C8B-B14F-4D97-AF65-F5344CB8AC3E}">
        <p14:creationId xmlns:p14="http://schemas.microsoft.com/office/powerpoint/2010/main" val="4136002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2" y="871049"/>
            <a:ext cx="11396887" cy="304297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Because you have a small budget, you choose low-cost music you can license. You’ve received permission from a music publisher to use the songs the fitness instructors selected. The publisher sent the song files in a variety of file formats. The instructors will stream the music from an iPhone using wireless speakers as they teach the kids the choreography. In order to create the workout videos they’ll need a file format that works on an iPhone.</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Which file format should you choose when sending music files to the fitness instructors to create the videos?</a:t>
            </a:r>
          </a:p>
        </p:txBody>
      </p:sp>
      <p:sp>
        <p:nvSpPr>
          <p:cNvPr id="12" name="Text Placeholder 1"/>
          <p:cNvSpPr txBox="1">
            <a:spLocks/>
          </p:cNvSpPr>
          <p:nvPr/>
        </p:nvSpPr>
        <p:spPr>
          <a:xfrm>
            <a:off x="1703169" y="3636403"/>
            <a:ext cx="6759696" cy="133996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600"/>
              </a:spcAft>
              <a:buNone/>
              <a:defRPr/>
            </a:pPr>
            <a:r>
              <a:rPr lang="en-US" sz="2050" dirty="0">
                <a:solidFill>
                  <a:schemeClr val="tx2"/>
                </a:solidFill>
                <a:ea typeface="Calibri"/>
                <a:cs typeface="Calibri"/>
                <a:hlinkClick r:id="rId4" action="ppaction://hlinksldjump"/>
              </a:rPr>
              <a:t>WAV </a:t>
            </a:r>
            <a:r>
              <a:rPr lang="en-US" sz="2050" b="1" dirty="0">
                <a:solidFill>
                  <a:schemeClr val="tx2"/>
                </a:solidFill>
                <a:ea typeface="Calibri"/>
                <a:cs typeface="Calibri"/>
                <a:hlinkClick r:id="rId4" action="ppaction://hlinksldjump"/>
              </a:rPr>
              <a:t>[Level1_Decision1_OptionA]</a:t>
            </a:r>
            <a:endParaRPr lang="en-US" sz="2050" b="1" dirty="0">
              <a:solidFill>
                <a:schemeClr val="tx2"/>
              </a:solidFill>
              <a:ea typeface="Calibri"/>
              <a:cs typeface="Calibri"/>
            </a:endParaRPr>
          </a:p>
          <a:p>
            <a:pPr marL="0" indent="0">
              <a:spcBef>
                <a:spcPts val="0"/>
              </a:spcBef>
              <a:spcAft>
                <a:spcPts val="600"/>
              </a:spcAft>
              <a:buNone/>
              <a:defRPr/>
            </a:pPr>
            <a:r>
              <a:rPr lang="en-US" sz="2050" dirty="0">
                <a:solidFill>
                  <a:schemeClr val="tx2"/>
                </a:solidFill>
                <a:ea typeface="Calibri"/>
                <a:cs typeface="Calibri"/>
                <a:hlinkClick r:id="rId5" action="ppaction://hlinksldjump"/>
              </a:rPr>
              <a:t>MP3 </a:t>
            </a:r>
            <a:r>
              <a:rPr lang="en-US" sz="2050" b="1" dirty="0">
                <a:solidFill>
                  <a:schemeClr val="tx2"/>
                </a:solidFill>
                <a:ea typeface="Calibri"/>
                <a:cs typeface="Calibri"/>
                <a:hlinkClick r:id="rId5" action="ppaction://hlinksldjump"/>
              </a:rPr>
              <a:t>[Level1_Decision1_OptionB]</a:t>
            </a:r>
            <a:endParaRPr lang="en-US" sz="2050" b="1" dirty="0">
              <a:solidFill>
                <a:schemeClr val="tx2"/>
              </a:solidFill>
              <a:ea typeface="Calibri"/>
              <a:cs typeface="Calibri"/>
            </a:endParaRPr>
          </a:p>
          <a:p>
            <a:pPr marL="0" indent="0">
              <a:spcBef>
                <a:spcPts val="0"/>
              </a:spcBef>
              <a:spcAft>
                <a:spcPts val="600"/>
              </a:spcAft>
              <a:buNone/>
              <a:defRPr/>
            </a:pPr>
            <a:r>
              <a:rPr lang="en-US" sz="2050" dirty="0">
                <a:solidFill>
                  <a:schemeClr val="tx2"/>
                </a:solidFill>
                <a:ea typeface="Calibri"/>
                <a:cs typeface="Calibri"/>
                <a:hlinkClick r:id="rId5" action="ppaction://hlinksldjump"/>
              </a:rPr>
              <a:t>AAC </a:t>
            </a:r>
            <a:r>
              <a:rPr lang="en-US" sz="2050" b="1" dirty="0">
                <a:solidFill>
                  <a:schemeClr val="tx2"/>
                </a:solidFill>
                <a:ea typeface="Calibri"/>
                <a:cs typeface="Calibri"/>
                <a:hlinkClick r:id="rId5" action="ppaction://hlinksldjump"/>
              </a:rPr>
              <a:t>[Level1_Decision1_OptionC]</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30757" y="3647036"/>
            <a:ext cx="640080" cy="402336"/>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330757" y="4028393"/>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Level1_Decision1</a:t>
            </a:r>
          </a:p>
        </p:txBody>
      </p:sp>
      <p:sp>
        <p:nvSpPr>
          <p:cNvPr id="9" name="Text Placeholder 3">
            <a:extLst>
              <a:ext uri="{FF2B5EF4-FFF2-40B4-BE49-F238E27FC236}">
                <a16:creationId xmlns:a16="http://schemas.microsoft.com/office/drawing/2014/main" id="{D71E4396-03FA-487E-822B-448FB4E83EF7}"/>
              </a:ext>
            </a:extLst>
          </p:cNvPr>
          <p:cNvSpPr txBox="1">
            <a:spLocks/>
          </p:cNvSpPr>
          <p:nvPr/>
        </p:nvSpPr>
        <p:spPr>
          <a:xfrm>
            <a:off x="1330757" y="440978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C</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TextBox 9">
            <a:extLst>
              <a:ext uri="{FF2B5EF4-FFF2-40B4-BE49-F238E27FC236}">
                <a16:creationId xmlns:a16="http://schemas.microsoft.com/office/drawing/2014/main" id="{E35834ED-E09D-427F-B895-3F060FBBD3DC}"/>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a file delivery method.</a:t>
            </a:r>
          </a:p>
          <a:p>
            <a:pPr lvl="0">
              <a:defRPr/>
            </a:pPr>
            <a:r>
              <a:rPr lang="en-US" kern="0" dirty="0">
                <a:solidFill>
                  <a:prstClr val="black"/>
                </a:solidFill>
              </a:rPr>
              <a:t>If Option B or C: Student will need to choose a graphic source.</a:t>
            </a:r>
          </a:p>
        </p:txBody>
      </p:sp>
      <p:sp>
        <p:nvSpPr>
          <p:cNvPr id="13" name="TextBox 12">
            <a:extLst>
              <a:ext uri="{FF2B5EF4-FFF2-40B4-BE49-F238E27FC236}">
                <a16:creationId xmlns:a16="http://schemas.microsoft.com/office/drawing/2014/main" id="{2FB377EE-E7D9-45EB-81BB-F444A1A5060F}"/>
              </a:ext>
            </a:extLst>
          </p:cNvPr>
          <p:cNvSpPr txBox="1"/>
          <p:nvPr/>
        </p:nvSpPr>
        <p:spPr>
          <a:xfrm>
            <a:off x="1036320" y="5084698"/>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WAV files are larger than the other options. MP3 and AAC are better options for an iPhone.</a:t>
            </a:r>
          </a:p>
        </p:txBody>
      </p:sp>
      <p:sp>
        <p:nvSpPr>
          <p:cNvPr id="14" name="Arrow: Pentagon 13">
            <a:extLst>
              <a:ext uri="{FF2B5EF4-FFF2-40B4-BE49-F238E27FC236}">
                <a16:creationId xmlns:a16="http://schemas.microsoft.com/office/drawing/2014/main" id="{59962B5E-6531-4A93-9E1C-B06DDE431D32}"/>
              </a:ext>
            </a:extLst>
          </p:cNvPr>
          <p:cNvSpPr/>
          <p:nvPr/>
        </p:nvSpPr>
        <p:spPr>
          <a:xfrm>
            <a:off x="188651" y="444244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6" name="Arrow: Pentagon 15">
            <a:extLst>
              <a:ext uri="{FF2B5EF4-FFF2-40B4-BE49-F238E27FC236}">
                <a16:creationId xmlns:a16="http://schemas.microsoft.com/office/drawing/2014/main" id="{82EF9A88-9BE4-4FC9-8AD8-57E40A93316B}"/>
              </a:ext>
            </a:extLst>
          </p:cNvPr>
          <p:cNvSpPr/>
          <p:nvPr/>
        </p:nvSpPr>
        <p:spPr>
          <a:xfrm>
            <a:off x="188651" y="401261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4195001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1483833"/>
            <a:ext cx="11079729"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email the WAV file for the first song to the fitness instructors. Soon, you get an automated email back saying the file is too large and it can’t be delivered. How else can you deliver the music files to the instructors?</a:t>
            </a:r>
            <a:endParaRPr lang="en-US" dirty="0">
              <a:solidFill>
                <a:schemeClr val="tx2"/>
              </a:solidFill>
            </a:endParaRPr>
          </a:p>
        </p:txBody>
      </p:sp>
      <p:sp>
        <p:nvSpPr>
          <p:cNvPr id="12" name="Text Placeholder 1"/>
          <p:cNvSpPr txBox="1">
            <a:spLocks/>
          </p:cNvSpPr>
          <p:nvPr/>
        </p:nvSpPr>
        <p:spPr>
          <a:xfrm>
            <a:off x="1861914" y="2652279"/>
            <a:ext cx="10330086"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Save the files to a large capacity USB flash drive and hand deliver the drive </a:t>
            </a:r>
            <a:r>
              <a:rPr lang="en-US" sz="2050" b="1" dirty="0">
                <a:solidFill>
                  <a:schemeClr val="tx2"/>
                </a:solidFill>
                <a:ea typeface="Calibri"/>
                <a:cs typeface="Calibri"/>
                <a:hlinkClick r:id="rId4" action="ppaction://hlinksldjump"/>
              </a:rPr>
              <a:t>[Level2_Decision1_OptionA]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Email a </a:t>
            </a:r>
            <a:r>
              <a:rPr lang="en-US" sz="2050" dirty="0" err="1">
                <a:solidFill>
                  <a:schemeClr val="tx2"/>
                </a:solidFill>
                <a:ea typeface="Calibri"/>
                <a:cs typeface="Calibri"/>
                <a:hlinkClick r:id="rId5" action="ppaction://hlinksldjump"/>
              </a:rPr>
              <a:t>dropbox</a:t>
            </a:r>
            <a:r>
              <a:rPr lang="en-US" sz="2050" dirty="0">
                <a:solidFill>
                  <a:schemeClr val="tx2"/>
                </a:solidFill>
                <a:ea typeface="Calibri"/>
                <a:cs typeface="Calibri"/>
                <a:hlinkClick r:id="rId5" action="ppaction://hlinksldjump"/>
              </a:rPr>
              <a:t> link so the instructors can download the files directly </a:t>
            </a:r>
            <a:r>
              <a:rPr lang="en-US" sz="2050" b="1" dirty="0">
                <a:solidFill>
                  <a:schemeClr val="tx2"/>
                </a:solidFill>
                <a:ea typeface="Calibri"/>
                <a:cs typeface="Calibri"/>
                <a:hlinkClick r:id="rId5" action="ppaction://hlinksldjump"/>
              </a:rPr>
              <a:t>[Level2_Decision1_OptionB]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Level2_Decision1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401742" y="2639806"/>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401742" y="360778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7" name="TextBox 6">
            <a:extLst>
              <a:ext uri="{FF2B5EF4-FFF2-40B4-BE49-F238E27FC236}">
                <a16:creationId xmlns:a16="http://schemas.microsoft.com/office/drawing/2014/main" id="{6ED147C0-26D9-4DE3-8D41-4569AB2FC9F0}"/>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WAV files.</a:t>
            </a:r>
          </a:p>
        </p:txBody>
      </p:sp>
      <p:sp>
        <p:nvSpPr>
          <p:cNvPr id="14" name="Arrow: Pentagon 13">
            <a:extLst>
              <a:ext uri="{FF2B5EF4-FFF2-40B4-BE49-F238E27FC236}">
                <a16:creationId xmlns:a16="http://schemas.microsoft.com/office/drawing/2014/main" id="{4B76F218-B76A-49DC-8D03-A195B3798340}"/>
              </a:ext>
            </a:extLst>
          </p:cNvPr>
          <p:cNvSpPr/>
          <p:nvPr/>
        </p:nvSpPr>
        <p:spPr>
          <a:xfrm>
            <a:off x="188651" y="366220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544CFCBB-15E7-4CC2-9F45-6EAE8AC092A0}"/>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graphic source.</a:t>
            </a:r>
          </a:p>
        </p:txBody>
      </p:sp>
      <p:sp>
        <p:nvSpPr>
          <p:cNvPr id="16" name="TextBox 15">
            <a:extLst>
              <a:ext uri="{FF2B5EF4-FFF2-40B4-BE49-F238E27FC236}">
                <a16:creationId xmlns:a16="http://schemas.microsoft.com/office/drawing/2014/main" id="{18029C9C-BD9B-463D-BDFE-BB9F6654C83A}"/>
              </a:ext>
            </a:extLst>
          </p:cNvPr>
          <p:cNvSpPr txBox="1"/>
          <p:nvPr/>
        </p:nvSpPr>
        <p:spPr>
          <a:xfrm>
            <a:off x="1036320" y="5141774"/>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The flash drive option is inconvenient and takes longer. The </a:t>
            </a:r>
            <a:r>
              <a:rPr kumimoji="0" lang="en-US" sz="1800" b="0" i="0" u="none" strike="noStrike" kern="0" cap="none" spc="0" normalizeH="0" baseline="0" noProof="0" dirty="0" err="1">
                <a:ln>
                  <a:noFill/>
                </a:ln>
                <a:solidFill>
                  <a:srgbClr val="C00000"/>
                </a:solidFill>
                <a:effectLst/>
                <a:uLnTx/>
                <a:uFillTx/>
                <a:latin typeface="Calibri" panose="020F0502020204030204"/>
                <a:ea typeface="+mn-ea"/>
                <a:cs typeface="+mn-cs"/>
              </a:rPr>
              <a:t>dropbox</a:t>
            </a: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 option will be more efficient.</a:t>
            </a:r>
          </a:p>
        </p:txBody>
      </p:sp>
    </p:spTree>
    <p:custDataLst>
      <p:tags r:id="rId1"/>
    </p:custDataLst>
    <p:extLst>
      <p:ext uri="{BB962C8B-B14F-4D97-AF65-F5344CB8AC3E}">
        <p14:creationId xmlns:p14="http://schemas.microsoft.com/office/powerpoint/2010/main" val="2078663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911662"/>
            <a:ext cx="11155679" cy="224669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00" dirty="0">
                <a:solidFill>
                  <a:schemeClr val="tx2"/>
                </a:solidFill>
                <a:ea typeface="Calibri"/>
                <a:cs typeface="Calibri"/>
              </a:rPr>
              <a:t>You drop the flash drive at the rec center on your way to work the next morning. This side trip costs you more time than you expected, and you are late to work. You tell yourself it will be worth it when you see what the instructors come up with! On your lunch break, you work on selecting graphics for the doctor and dietician to use in their guidelines. You want the document to be visually appealing, and you’re also concerned about legal implications in honoring copyright for the images.</a:t>
            </a:r>
          </a:p>
          <a:p>
            <a:pPr marL="0" indent="0">
              <a:spcBef>
                <a:spcPts val="0"/>
              </a:spcBef>
              <a:buNone/>
              <a:defRPr/>
            </a:pPr>
            <a:r>
              <a:rPr lang="en-US" sz="2000" dirty="0">
                <a:solidFill>
                  <a:schemeClr val="tx2"/>
                </a:solidFill>
                <a:ea typeface="Calibri"/>
                <a:cs typeface="Calibri"/>
              </a:rPr>
              <a:t>Where will you get the graphics for the dietary guidelines document?</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Level3_Decision1</a:t>
            </a:r>
          </a:p>
        </p:txBody>
      </p:sp>
      <p:sp>
        <p:nvSpPr>
          <p:cNvPr id="10" name="Text Placeholder 1">
            <a:extLst>
              <a:ext uri="{FF2B5EF4-FFF2-40B4-BE49-F238E27FC236}">
                <a16:creationId xmlns:a16="http://schemas.microsoft.com/office/drawing/2014/main" id="{5395DAD5-DB23-4F94-AA22-42EB30769D8F}"/>
              </a:ext>
            </a:extLst>
          </p:cNvPr>
          <p:cNvSpPr txBox="1">
            <a:spLocks/>
          </p:cNvSpPr>
          <p:nvPr/>
        </p:nvSpPr>
        <p:spPr>
          <a:xfrm>
            <a:off x="1637852" y="3009074"/>
            <a:ext cx="10430813" cy="217584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600"/>
              </a:spcAft>
              <a:buNone/>
              <a:defRPr/>
            </a:pPr>
            <a:r>
              <a:rPr lang="en-US" sz="2050" dirty="0">
                <a:solidFill>
                  <a:schemeClr val="tx2"/>
                </a:solidFill>
                <a:ea typeface="Calibri"/>
                <a:cs typeface="Calibri"/>
                <a:hlinkClick r:id="rId4" action="ppaction://hlinksldjump"/>
              </a:rPr>
              <a:t>Use Google to search for interesting images, and download your favorites </a:t>
            </a:r>
            <a:r>
              <a:rPr lang="en-US" sz="2050" b="1" dirty="0">
                <a:solidFill>
                  <a:schemeClr val="tx2"/>
                </a:solidFill>
                <a:ea typeface="Calibri"/>
                <a:cs typeface="Calibri"/>
                <a:hlinkClick r:id="rId4" action="ppaction://hlinksldjump"/>
              </a:rPr>
              <a:t>[Level3_Decision1_OptionA]</a:t>
            </a:r>
            <a:endParaRPr lang="en-US" sz="2050" dirty="0">
              <a:solidFill>
                <a:srgbClr val="AD7318"/>
              </a:solidFill>
              <a:ea typeface="Calibri"/>
              <a:cs typeface="Calibri"/>
            </a:endParaRPr>
          </a:p>
          <a:p>
            <a:pPr marL="0" indent="0">
              <a:spcBef>
                <a:spcPts val="0"/>
              </a:spcBef>
              <a:spcAft>
                <a:spcPts val="600"/>
              </a:spcAft>
              <a:buNone/>
              <a:defRPr/>
            </a:pPr>
            <a:r>
              <a:rPr lang="en-US" sz="2050" dirty="0">
                <a:solidFill>
                  <a:schemeClr val="tx2"/>
                </a:solidFill>
                <a:ea typeface="Calibri"/>
                <a:cs typeface="Calibri"/>
                <a:hlinkClick r:id="rId5" action="ppaction://hlinksldjump"/>
              </a:rPr>
              <a:t>Draw the images yourself using a graphics app and a graphics tablet</a:t>
            </a:r>
            <a:r>
              <a:rPr lang="en-US" sz="2050" dirty="0">
                <a:solidFill>
                  <a:schemeClr val="tx2"/>
                </a:solidFill>
                <a:ea typeface="Calibri"/>
                <a:cs typeface="Calibri"/>
              </a:rPr>
              <a:t> </a:t>
            </a:r>
            <a:r>
              <a:rPr lang="en-US" sz="2050" b="1" dirty="0">
                <a:solidFill>
                  <a:schemeClr val="tx2"/>
                </a:solidFill>
                <a:ea typeface="Calibri"/>
                <a:cs typeface="Calibri"/>
                <a:hlinkClick r:id="rId5" action="ppaction://hlinksldjump"/>
              </a:rPr>
              <a:t>[Level3_Decision1_OptionB]</a:t>
            </a:r>
            <a:endParaRPr lang="en-US" sz="2050" dirty="0">
              <a:solidFill>
                <a:schemeClr val="tx2"/>
              </a:solidFill>
              <a:ea typeface="Calibri"/>
              <a:cs typeface="Calibri"/>
              <a:hlinkClick r:id="rId6" action="ppaction://hlinksldjump"/>
            </a:endParaRPr>
          </a:p>
          <a:p>
            <a:pPr marL="0" indent="0">
              <a:spcBef>
                <a:spcPts val="0"/>
              </a:spcBef>
              <a:spcAft>
                <a:spcPts val="600"/>
              </a:spcAft>
              <a:buNone/>
              <a:defRPr/>
            </a:pPr>
            <a:r>
              <a:rPr lang="en-US" sz="2050" dirty="0">
                <a:solidFill>
                  <a:schemeClr val="tx2"/>
                </a:solidFill>
                <a:ea typeface="Calibri"/>
                <a:cs typeface="Calibri"/>
                <a:hlinkClick r:id="rId6" action="ppaction://hlinksldjump"/>
              </a:rPr>
              <a:t>Select some images from a stock photo gallery </a:t>
            </a:r>
            <a:r>
              <a:rPr lang="en-US" sz="2050" b="1" dirty="0">
                <a:solidFill>
                  <a:schemeClr val="tx2"/>
                </a:solidFill>
                <a:ea typeface="Calibri"/>
                <a:cs typeface="Calibri"/>
                <a:hlinkClick r:id="rId6" action="ppaction://hlinksldjump"/>
              </a:rPr>
              <a:t>[Level3_Decision1_OptionC]</a:t>
            </a:r>
            <a:endParaRPr lang="en-US" sz="2050" dirty="0">
              <a:solidFill>
                <a:schemeClr val="tx2"/>
              </a:solidFill>
              <a:cs typeface="Calibri"/>
            </a:endParaRPr>
          </a:p>
        </p:txBody>
      </p:sp>
      <p:sp>
        <p:nvSpPr>
          <p:cNvPr id="13" name="Text Placeholder 3">
            <a:extLst>
              <a:ext uri="{FF2B5EF4-FFF2-40B4-BE49-F238E27FC236}">
                <a16:creationId xmlns:a16="http://schemas.microsoft.com/office/drawing/2014/main" id="{0B6F476F-3D6F-4632-8047-DE2C9AB48ADC}"/>
              </a:ext>
            </a:extLst>
          </p:cNvPr>
          <p:cNvSpPr txBox="1">
            <a:spLocks/>
          </p:cNvSpPr>
          <p:nvPr/>
        </p:nvSpPr>
        <p:spPr>
          <a:xfrm>
            <a:off x="1265440" y="3027564"/>
            <a:ext cx="640080" cy="402336"/>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4" name="Text Placeholder 3">
            <a:extLst>
              <a:ext uri="{FF2B5EF4-FFF2-40B4-BE49-F238E27FC236}">
                <a16:creationId xmlns:a16="http://schemas.microsoft.com/office/drawing/2014/main" id="{E3BB1553-45CB-47F7-94EA-454E70D27567}"/>
              </a:ext>
            </a:extLst>
          </p:cNvPr>
          <p:cNvSpPr txBox="1">
            <a:spLocks/>
          </p:cNvSpPr>
          <p:nvPr/>
        </p:nvSpPr>
        <p:spPr>
          <a:xfrm>
            <a:off x="1266945" y="371796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5" name="Text Placeholder 3">
            <a:extLst>
              <a:ext uri="{FF2B5EF4-FFF2-40B4-BE49-F238E27FC236}">
                <a16:creationId xmlns:a16="http://schemas.microsoft.com/office/drawing/2014/main" id="{7B09E3CD-D37E-46DA-A150-38BEE9F33B35}"/>
              </a:ext>
            </a:extLst>
          </p:cNvPr>
          <p:cNvSpPr txBox="1">
            <a:spLocks/>
          </p:cNvSpPr>
          <p:nvPr/>
        </p:nvSpPr>
        <p:spPr>
          <a:xfrm>
            <a:off x="1265440" y="4400953"/>
            <a:ext cx="640080" cy="402336"/>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C</a:t>
            </a:r>
          </a:p>
        </p:txBody>
      </p:sp>
      <p:sp>
        <p:nvSpPr>
          <p:cNvPr id="8" name="TextBox 7">
            <a:extLst>
              <a:ext uri="{FF2B5EF4-FFF2-40B4-BE49-F238E27FC236}">
                <a16:creationId xmlns:a16="http://schemas.microsoft.com/office/drawing/2014/main" id="{45B0C853-C11B-4F2B-802B-3910C744C660}"/>
              </a:ext>
            </a:extLst>
          </p:cNvPr>
          <p:cNvSpPr txBox="1"/>
          <p:nvPr/>
        </p:nvSpPr>
        <p:spPr>
          <a:xfrm>
            <a:off x="1036320" y="561673"/>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flash drive.</a:t>
            </a:r>
          </a:p>
        </p:txBody>
      </p:sp>
      <p:sp>
        <p:nvSpPr>
          <p:cNvPr id="9" name="TextBox 8">
            <a:extLst>
              <a:ext uri="{FF2B5EF4-FFF2-40B4-BE49-F238E27FC236}">
                <a16:creationId xmlns:a16="http://schemas.microsoft.com/office/drawing/2014/main" id="{1CC2DAB2-88B6-4989-899E-3A2B3FAFB43F}"/>
              </a:ext>
            </a:extLst>
          </p:cNvPr>
          <p:cNvSpPr txBox="1"/>
          <p:nvPr/>
        </p:nvSpPr>
        <p:spPr>
          <a:xfrm>
            <a:off x="1036320" y="6106711"/>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a:t>
            </a:r>
            <a:r>
              <a:rPr lang="en-US" kern="0" dirty="0">
                <a:solidFill>
                  <a:prstClr val="black"/>
                </a:solidFill>
                <a:latin typeface="Calibri" panose="020F0502020204030204"/>
              </a:rPr>
              <a:t>hire an IT consultant.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lvl="0">
              <a:defRPr/>
            </a:pPr>
            <a:r>
              <a:rPr lang="en-US" kern="0" dirty="0">
                <a:solidFill>
                  <a:prstClr val="black"/>
                </a:solidFill>
              </a:rPr>
              <a:t>If Option B or C: Student will need to choose a video editing app.</a:t>
            </a:r>
          </a:p>
        </p:txBody>
      </p:sp>
      <p:sp>
        <p:nvSpPr>
          <p:cNvPr id="12" name="TextBox 11">
            <a:extLst>
              <a:ext uri="{FF2B5EF4-FFF2-40B4-BE49-F238E27FC236}">
                <a16:creationId xmlns:a16="http://schemas.microsoft.com/office/drawing/2014/main" id="{9A3286A0-F6ED-454A-8685-874BE19A1ACE}"/>
              </a:ext>
            </a:extLst>
          </p:cNvPr>
          <p:cNvSpPr txBox="1"/>
          <p:nvPr/>
        </p:nvSpPr>
        <p:spPr>
          <a:xfrm>
            <a:off x="1036320" y="5097066"/>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Google images are not licensed for use in this way. The graphics app is a slightly better option. The best option here is the stock photo gallery.</a:t>
            </a:r>
          </a:p>
        </p:txBody>
      </p:sp>
      <p:sp>
        <p:nvSpPr>
          <p:cNvPr id="16" name="Arrow: Pentagon 15">
            <a:extLst>
              <a:ext uri="{FF2B5EF4-FFF2-40B4-BE49-F238E27FC236}">
                <a16:creationId xmlns:a16="http://schemas.microsoft.com/office/drawing/2014/main" id="{E68702DD-870A-4DDA-9B2D-44B481936CD9}"/>
              </a:ext>
            </a:extLst>
          </p:cNvPr>
          <p:cNvSpPr/>
          <p:nvPr/>
        </p:nvSpPr>
        <p:spPr>
          <a:xfrm>
            <a:off x="123335" y="445537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1291610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070404"/>
            <a:ext cx="11155679" cy="218963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00" dirty="0">
                <a:solidFill>
                  <a:schemeClr val="tx2"/>
                </a:solidFill>
                <a:ea typeface="Calibri"/>
                <a:cs typeface="Calibri"/>
              </a:rPr>
              <a:t>You email the music files to the fitness instructors. You’re excited to see what they come up with! On your lunch break, you work on selecting graphics for the doctor and dietician to use in their guidelines. You want the document to be visually appealing, and you’re also concerned about legal implications in honoring copyright for the images.</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r>
              <a:rPr lang="en-US" sz="2000" dirty="0">
                <a:solidFill>
                  <a:schemeClr val="tx2"/>
                </a:solidFill>
                <a:ea typeface="Calibri"/>
                <a:cs typeface="Calibri"/>
              </a:rPr>
              <a:t>Where will you get the graphics for the dietary guidelines document?</a:t>
            </a:r>
          </a:p>
          <a:p>
            <a:pPr marL="0" indent="0">
              <a:spcBef>
                <a:spcPts val="0"/>
              </a:spcBef>
              <a:buNone/>
              <a:defRPr/>
            </a:pPr>
            <a:endParaRPr lang="en-US" sz="2000" dirty="0">
              <a:solidFill>
                <a:schemeClr val="tx2"/>
              </a:solidFill>
              <a:cs typeface="Calibri"/>
            </a:endParaRPr>
          </a:p>
          <a:p>
            <a:pPr marL="0" indent="0">
              <a:spcBef>
                <a:spcPts val="0"/>
              </a:spcBef>
              <a:buNone/>
              <a:defRPr/>
            </a:pPr>
            <a:endParaRPr lang="en-US" sz="2000" dirty="0">
              <a:solidFill>
                <a:schemeClr val="tx2"/>
              </a:solidFill>
            </a:endParaRPr>
          </a:p>
        </p:txBody>
      </p:sp>
      <p:sp>
        <p:nvSpPr>
          <p:cNvPr id="12" name="Text Placeholder 1"/>
          <p:cNvSpPr txBox="1">
            <a:spLocks/>
          </p:cNvSpPr>
          <p:nvPr/>
        </p:nvSpPr>
        <p:spPr>
          <a:xfrm>
            <a:off x="1629368" y="3201884"/>
            <a:ext cx="10562631" cy="17261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600"/>
              </a:spcAft>
              <a:buNone/>
              <a:defRPr/>
            </a:pPr>
            <a:r>
              <a:rPr lang="en-US" sz="2050" dirty="0">
                <a:solidFill>
                  <a:schemeClr val="tx2"/>
                </a:solidFill>
                <a:ea typeface="Calibri"/>
                <a:cs typeface="Calibri"/>
                <a:hlinkClick r:id="rId4" action="ppaction://hlinksldjump"/>
              </a:rPr>
              <a:t>Use Google to search for interesting images, and download your favorites </a:t>
            </a:r>
            <a:r>
              <a:rPr lang="en-US" sz="2050" b="1" dirty="0">
                <a:solidFill>
                  <a:schemeClr val="tx2"/>
                </a:solidFill>
                <a:ea typeface="Calibri"/>
                <a:cs typeface="Calibri"/>
                <a:hlinkClick r:id="rId4" action="ppaction://hlinksldjump"/>
              </a:rPr>
              <a:t>[Level3_Decision2_OptionA]</a:t>
            </a:r>
            <a:endParaRPr lang="en-US" sz="2050" b="1" dirty="0">
              <a:solidFill>
                <a:schemeClr val="tx2"/>
              </a:solidFill>
              <a:ea typeface="Calibri"/>
              <a:cs typeface="Calibri"/>
            </a:endParaRPr>
          </a:p>
          <a:p>
            <a:pPr marL="0" indent="0">
              <a:spcBef>
                <a:spcPts val="0"/>
              </a:spcBef>
              <a:spcAft>
                <a:spcPts val="600"/>
              </a:spcAft>
              <a:buNone/>
              <a:defRPr/>
            </a:pPr>
            <a:r>
              <a:rPr lang="en-US" sz="2050" dirty="0">
                <a:solidFill>
                  <a:schemeClr val="tx2"/>
                </a:solidFill>
                <a:ea typeface="Calibri"/>
                <a:cs typeface="Calibri"/>
                <a:hlinkClick r:id="rId5" action="ppaction://hlinksldjump"/>
              </a:rPr>
              <a:t>Draw the images yourself using a graphics app and a graphics tablet</a:t>
            </a:r>
            <a:r>
              <a:rPr lang="en-US" sz="2050" dirty="0">
                <a:solidFill>
                  <a:schemeClr val="tx2"/>
                </a:solidFill>
                <a:ea typeface="Calibri"/>
                <a:cs typeface="Calibri"/>
              </a:rPr>
              <a:t> </a:t>
            </a:r>
            <a:r>
              <a:rPr lang="en-US" sz="2050" b="1" dirty="0">
                <a:solidFill>
                  <a:schemeClr val="tx2"/>
                </a:solidFill>
                <a:ea typeface="Calibri"/>
                <a:cs typeface="Calibri"/>
                <a:hlinkClick r:id="rId5" action="ppaction://hlinksldjump"/>
              </a:rPr>
              <a:t>[Level3_Decision2_OptionB]</a:t>
            </a:r>
            <a:endParaRPr lang="en-US" sz="2050" b="1" dirty="0">
              <a:solidFill>
                <a:schemeClr val="tx2"/>
              </a:solidFill>
              <a:ea typeface="Calibri"/>
              <a:cs typeface="Calibri"/>
            </a:endParaRPr>
          </a:p>
          <a:p>
            <a:pPr marL="0" indent="0">
              <a:spcBef>
                <a:spcPts val="0"/>
              </a:spcBef>
              <a:spcAft>
                <a:spcPts val="600"/>
              </a:spcAft>
              <a:buNone/>
              <a:defRPr/>
            </a:pPr>
            <a:r>
              <a:rPr lang="en-US" sz="2050" dirty="0">
                <a:solidFill>
                  <a:schemeClr val="tx2"/>
                </a:solidFill>
                <a:ea typeface="Calibri"/>
                <a:cs typeface="Calibri"/>
                <a:hlinkClick r:id="rId6" action="ppaction://hlinksldjump"/>
              </a:rPr>
              <a:t>Select some images from a stock photo gallery </a:t>
            </a:r>
            <a:r>
              <a:rPr lang="en-US" sz="2050" b="1" dirty="0">
                <a:solidFill>
                  <a:schemeClr val="tx2"/>
                </a:solidFill>
                <a:ea typeface="Calibri"/>
                <a:cs typeface="Calibri"/>
                <a:hlinkClick r:id="rId6" action="ppaction://hlinksldjump"/>
              </a:rPr>
              <a:t>[Level3_Decision2_OptionC]</a:t>
            </a:r>
            <a:endParaRPr lang="en-US" sz="2050" dirty="0">
              <a:solidFill>
                <a:schemeClr val="tx2"/>
              </a:solidFill>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Level3_Decision2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56956" y="3220374"/>
            <a:ext cx="640080" cy="402336"/>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56956" y="392456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3" name="Text Placeholder 3">
            <a:extLst>
              <a:ext uri="{FF2B5EF4-FFF2-40B4-BE49-F238E27FC236}">
                <a16:creationId xmlns:a16="http://schemas.microsoft.com/office/drawing/2014/main" id="{F3E4B067-D4E2-4C99-A636-AB3E347973B7}"/>
              </a:ext>
            </a:extLst>
          </p:cNvPr>
          <p:cNvSpPr txBox="1">
            <a:spLocks/>
          </p:cNvSpPr>
          <p:nvPr/>
        </p:nvSpPr>
        <p:spPr>
          <a:xfrm>
            <a:off x="1255451" y="4304598"/>
            <a:ext cx="640080" cy="402336"/>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C</a:t>
            </a:r>
          </a:p>
        </p:txBody>
      </p:sp>
      <p:sp>
        <p:nvSpPr>
          <p:cNvPr id="10" name="TextBox 9">
            <a:extLst>
              <a:ext uri="{FF2B5EF4-FFF2-40B4-BE49-F238E27FC236}">
                <a16:creationId xmlns:a16="http://schemas.microsoft.com/office/drawing/2014/main" id="{92C8F5D9-E172-4A8D-B9D4-41D97ADE17D2}"/>
              </a:ext>
            </a:extLst>
          </p:cNvPr>
          <p:cNvSpPr txBox="1"/>
          <p:nvPr/>
        </p:nvSpPr>
        <p:spPr>
          <a:xfrm>
            <a:off x="1036320" y="614685"/>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an MP3 or AAC file, or chose to use Dropbox.</a:t>
            </a:r>
          </a:p>
        </p:txBody>
      </p:sp>
      <p:sp>
        <p:nvSpPr>
          <p:cNvPr id="14" name="TextBox 13">
            <a:extLst>
              <a:ext uri="{FF2B5EF4-FFF2-40B4-BE49-F238E27FC236}">
                <a16:creationId xmlns:a16="http://schemas.microsoft.com/office/drawing/2014/main" id="{BAA3432A-56BF-444F-9B10-73427549FF3B}"/>
              </a:ext>
            </a:extLst>
          </p:cNvPr>
          <p:cNvSpPr txBox="1"/>
          <p:nvPr/>
        </p:nvSpPr>
        <p:spPr>
          <a:xfrm>
            <a:off x="1036320" y="6139367"/>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a:t>
            </a:r>
            <a:r>
              <a:rPr lang="en-US" kern="0" dirty="0">
                <a:solidFill>
                  <a:prstClr val="black"/>
                </a:solidFill>
              </a:rPr>
              <a:t>need to hire an IT consultant.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lvl="0">
              <a:defRPr/>
            </a:pPr>
            <a:r>
              <a:rPr lang="en-US" kern="0" dirty="0">
                <a:solidFill>
                  <a:prstClr val="black"/>
                </a:solidFill>
              </a:rPr>
              <a:t>If Option B or C: Student will need to choose a video editing app.</a:t>
            </a:r>
          </a:p>
        </p:txBody>
      </p:sp>
      <p:sp>
        <p:nvSpPr>
          <p:cNvPr id="15" name="TextBox 14">
            <a:extLst>
              <a:ext uri="{FF2B5EF4-FFF2-40B4-BE49-F238E27FC236}">
                <a16:creationId xmlns:a16="http://schemas.microsoft.com/office/drawing/2014/main" id="{72EE95A3-8366-43E5-86B0-AFAD0757C997}"/>
              </a:ext>
            </a:extLst>
          </p:cNvPr>
          <p:cNvSpPr txBox="1"/>
          <p:nvPr/>
        </p:nvSpPr>
        <p:spPr>
          <a:xfrm>
            <a:off x="1036320" y="5140610"/>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Google images are not licensed for use in this way. The graphics app is a slightly better option. The best option here is the stock photo gallery.</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6" name="Arrow: Pentagon 15">
            <a:extLst>
              <a:ext uri="{FF2B5EF4-FFF2-40B4-BE49-F238E27FC236}">
                <a16:creationId xmlns:a16="http://schemas.microsoft.com/office/drawing/2014/main" id="{1F764DAC-6A4F-4FB4-A91A-2C967AE65E0B}"/>
              </a:ext>
            </a:extLst>
          </p:cNvPr>
          <p:cNvSpPr/>
          <p:nvPr/>
        </p:nvSpPr>
        <p:spPr>
          <a:xfrm>
            <a:off x="188651" y="4351573"/>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313694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531761"/>
            <a:ext cx="10838522"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spent a couple of hours looking for images on Google. It was difficult to find images that blended together well—some images were line drawings, others looked like cartoons, and some were photos.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After sending the images by email, the dietician emails you back and asks where you got these images. He says the images don’t really fit together well, the quality on some of them isn’t good, and he wants to make sure the correct licensing permissions are in place. You reply with information on some of the Google searches you used and describe how frustrating it was to find images you liked. He replies saying the images won’t work if you don’t have permission from the image creators to use those graphics.</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036319" y="4847517"/>
            <a:ext cx="10436275"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Level3_Story1</a:t>
            </a:r>
          </a:p>
        </p:txBody>
      </p:sp>
      <p:sp>
        <p:nvSpPr>
          <p:cNvPr id="5" name="TextBox 4">
            <a:extLst>
              <a:ext uri="{FF2B5EF4-FFF2-40B4-BE49-F238E27FC236}">
                <a16:creationId xmlns:a16="http://schemas.microsoft.com/office/drawing/2014/main" id="{09B57BF4-CA4B-482C-84ED-9F1401CA7228}"/>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unlicensed Google images.</a:t>
            </a:r>
          </a:p>
        </p:txBody>
      </p:sp>
      <p:sp>
        <p:nvSpPr>
          <p:cNvPr id="6" name="TextBox 5">
            <a:extLst>
              <a:ext uri="{FF2B5EF4-FFF2-40B4-BE49-F238E27FC236}">
                <a16:creationId xmlns:a16="http://schemas.microsoft.com/office/drawing/2014/main" id="{79C2135A-96E6-4478-A383-A7203B7E126B}"/>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a:t>
            </a:r>
            <a:r>
              <a:rPr lang="en-US" kern="0" dirty="0">
                <a:solidFill>
                  <a:prstClr val="black"/>
                </a:solidFill>
                <a:latin typeface="Calibri" panose="020F0502020204030204"/>
              </a:rPr>
              <a:t>hire an IT consultant.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695337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34386"/>
            <a:ext cx="10838522" cy="418922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spent a few hours figuring out the graphics app and trying to draw images like what you wanted. You finally produce a few that you think will work. It was difficult to make the images look professional and clean.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After sending the images by email to the doctor and dietician, one of the fitness instructors emails you saying the fitness choreography video is ready for you to edit and format. He says they recorded nearly four hours of video that will need to be heavily edited and cut down to fit within the half-hour time frame required for the final version. He also suggests adding closed captioning to make the video more accessible to students with hearing disabilities or auditory processing challenges.</a:t>
            </a:r>
          </a:p>
          <a:p>
            <a:pPr marL="0" indent="0">
              <a:spcBef>
                <a:spcPts val="0"/>
              </a:spcBef>
              <a:buNone/>
              <a:defRPr/>
            </a:pPr>
            <a:endParaRPr lang="en-US" sz="2050" dirty="0">
              <a:solidFill>
                <a:schemeClr val="tx2"/>
              </a:solidFill>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Level3_Story2</a:t>
            </a:r>
          </a:p>
        </p:txBody>
      </p:sp>
      <p:sp>
        <p:nvSpPr>
          <p:cNvPr id="13" name="Text Placeholder 1">
            <a:extLst>
              <a:ext uri="{FF2B5EF4-FFF2-40B4-BE49-F238E27FC236}">
                <a16:creationId xmlns:a16="http://schemas.microsoft.com/office/drawing/2014/main" id="{67A50AAE-C219-4480-A791-2958621DE363}"/>
              </a:ext>
            </a:extLst>
          </p:cNvPr>
          <p:cNvSpPr txBox="1">
            <a:spLocks/>
          </p:cNvSpPr>
          <p:nvPr/>
        </p:nvSpPr>
        <p:spPr>
          <a:xfrm>
            <a:off x="1036319" y="4358417"/>
            <a:ext cx="10436275"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 </a:t>
            </a:r>
            <a:r>
              <a:rPr lang="en-US" sz="2050" b="1" dirty="0">
                <a:solidFill>
                  <a:schemeClr val="tx2"/>
                </a:solidFill>
                <a:ea typeface="Calibri"/>
                <a:cs typeface="Calibri"/>
                <a:hlinkClick r:id="rId4" action="ppaction://hlinksldjump"/>
              </a:rPr>
              <a:t>[Level4_Decision1]</a:t>
            </a:r>
            <a:endParaRPr lang="en-US" sz="2050" b="1" dirty="0">
              <a:solidFill>
                <a:schemeClr val="tx2"/>
              </a:solidFill>
              <a:ea typeface="Calibri"/>
              <a:cs typeface="Calibri"/>
            </a:endParaRPr>
          </a:p>
          <a:p>
            <a:pPr marL="0" indent="0">
              <a:spcBef>
                <a:spcPts val="0"/>
              </a:spcBef>
              <a:buNone/>
              <a:defRPr/>
            </a:pP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5" name="TextBox 4">
            <a:extLst>
              <a:ext uri="{FF2B5EF4-FFF2-40B4-BE49-F238E27FC236}">
                <a16:creationId xmlns:a16="http://schemas.microsoft.com/office/drawing/2014/main" id="{66635FF6-5B28-4536-8F5D-D226BD6F4EB8}"/>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graphics app.</a:t>
            </a:r>
          </a:p>
        </p:txBody>
      </p:sp>
      <p:sp>
        <p:nvSpPr>
          <p:cNvPr id="6" name="TextBox 5">
            <a:extLst>
              <a:ext uri="{FF2B5EF4-FFF2-40B4-BE49-F238E27FC236}">
                <a16:creationId xmlns:a16="http://schemas.microsoft.com/office/drawing/2014/main" id="{8E803F37-10D2-439B-BC36-C08562283A0D}"/>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choose a video editing app.</a:t>
            </a:r>
          </a:p>
        </p:txBody>
      </p:sp>
    </p:spTree>
    <p:custDataLst>
      <p:tags r:id="rId1"/>
    </p:custDataLst>
    <p:extLst>
      <p:ext uri="{BB962C8B-B14F-4D97-AF65-F5344CB8AC3E}">
        <p14:creationId xmlns:p14="http://schemas.microsoft.com/office/powerpoint/2010/main" val="4159072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34386"/>
            <a:ext cx="10838522" cy="418922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spent about an hour finding some high-quality, inexpensive images on Shutterstock. You’re pleased to discover how little of your budget was required to obtain the images.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After sending the images by email to the doctor and dietician, one of the fitness instructors emails you saying the fitness choreography video is ready for you to edit and format. He says they recorded nearly four hours of video that will need to be heavily edited and cut down to fit within the half-hour time frame required for the final version. He also suggests adding closed captioning to make the video more accessible to students with hearing disabilities or auditory processing challenges.</a:t>
            </a:r>
          </a:p>
          <a:p>
            <a:pPr marL="0" indent="0">
              <a:spcBef>
                <a:spcPts val="0"/>
              </a:spcBef>
              <a:buNone/>
              <a:defRPr/>
            </a:pPr>
            <a:endParaRPr lang="en-US" sz="2050" dirty="0">
              <a:solidFill>
                <a:schemeClr val="tx2"/>
              </a:solidFill>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Level3_Story3</a:t>
            </a:r>
          </a:p>
        </p:txBody>
      </p:sp>
      <p:sp>
        <p:nvSpPr>
          <p:cNvPr id="13" name="Text Placeholder 1">
            <a:extLst>
              <a:ext uri="{FF2B5EF4-FFF2-40B4-BE49-F238E27FC236}">
                <a16:creationId xmlns:a16="http://schemas.microsoft.com/office/drawing/2014/main" id="{67A50AAE-C219-4480-A791-2958621DE363}"/>
              </a:ext>
            </a:extLst>
          </p:cNvPr>
          <p:cNvSpPr txBox="1">
            <a:spLocks/>
          </p:cNvSpPr>
          <p:nvPr/>
        </p:nvSpPr>
        <p:spPr>
          <a:xfrm>
            <a:off x="1036319" y="4358417"/>
            <a:ext cx="10436275"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 </a:t>
            </a:r>
            <a:r>
              <a:rPr lang="en-US" sz="2050" b="1" dirty="0">
                <a:solidFill>
                  <a:schemeClr val="tx2"/>
                </a:solidFill>
                <a:ea typeface="Calibri"/>
                <a:cs typeface="Calibri"/>
                <a:hlinkClick r:id="rId4" action="ppaction://hlinksldjump"/>
              </a:rPr>
              <a:t>[Level4_Decision2]</a:t>
            </a:r>
            <a:endParaRPr lang="en-US" sz="2050" b="1" dirty="0">
              <a:solidFill>
                <a:schemeClr val="tx2"/>
              </a:solidFill>
              <a:ea typeface="Calibri"/>
              <a:cs typeface="Calibri"/>
            </a:endParaRPr>
          </a:p>
          <a:p>
            <a:pPr marL="0" indent="0">
              <a:spcBef>
                <a:spcPts val="0"/>
              </a:spcBef>
              <a:buNone/>
              <a:defRPr/>
            </a:pP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5" name="TextBox 4">
            <a:extLst>
              <a:ext uri="{FF2B5EF4-FFF2-40B4-BE49-F238E27FC236}">
                <a16:creationId xmlns:a16="http://schemas.microsoft.com/office/drawing/2014/main" id="{9A30EC32-D625-4423-9248-F6508BA78B7D}"/>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stock photo gallery.</a:t>
            </a:r>
          </a:p>
        </p:txBody>
      </p:sp>
      <p:sp>
        <p:nvSpPr>
          <p:cNvPr id="6" name="TextBox 5">
            <a:extLst>
              <a:ext uri="{FF2B5EF4-FFF2-40B4-BE49-F238E27FC236}">
                <a16:creationId xmlns:a16="http://schemas.microsoft.com/office/drawing/2014/main" id="{4886AE67-A069-42A2-9A50-F1AB27FADFA4}"/>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choose a video editing app.</a:t>
            </a:r>
          </a:p>
        </p:txBody>
      </p:sp>
    </p:spTree>
    <p:custDataLst>
      <p:tags r:id="rId1"/>
    </p:custDataLst>
    <p:extLst>
      <p:ext uri="{BB962C8B-B14F-4D97-AF65-F5344CB8AC3E}">
        <p14:creationId xmlns:p14="http://schemas.microsoft.com/office/powerpoint/2010/main" val="1282454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963413"/>
            <a:ext cx="11155680" cy="285541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This is going to require a lot more time than you originally anticipated. But you take a deep breath and get started. </a:t>
            </a:r>
          </a:p>
          <a:p>
            <a:pPr marL="0" indent="0">
              <a:spcBef>
                <a:spcPts val="0"/>
              </a:spcBef>
              <a:buNone/>
              <a:defRPr/>
            </a:pPr>
            <a:r>
              <a:rPr lang="en-US" sz="2050" dirty="0">
                <a:solidFill>
                  <a:schemeClr val="tx2"/>
                </a:solidFill>
                <a:cs typeface="Calibri"/>
              </a:rPr>
              <a:t>You decide the best option for editing the video would be to use the Camtasia app on the rec center’s computer. However, you won’t have time to go over there until the weekend, and today is only Tuesday. </a:t>
            </a:r>
          </a:p>
          <a:p>
            <a:pPr marL="0" indent="0">
              <a:spcBef>
                <a:spcPts val="0"/>
              </a:spcBef>
              <a:buNone/>
              <a:defRPr/>
            </a:pPr>
            <a:r>
              <a:rPr lang="en-US" sz="2050" dirty="0">
                <a:solidFill>
                  <a:schemeClr val="tx2"/>
                </a:solidFill>
                <a:cs typeface="Calibri"/>
              </a:rPr>
              <a:t>After doing a little research, you find there are some basic video editing apps available online that are free and easy to learn but lacking in certain features you might need. Alternatively, Camtasia offers a 30-day free trial, but takes a little longer to learn. Which video editing app will you use?</a:t>
            </a: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71191" y="3723970"/>
            <a:ext cx="10620809" cy="155804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600"/>
              </a:spcAft>
              <a:buNone/>
              <a:defRPr/>
            </a:pPr>
            <a:r>
              <a:rPr lang="en-US" sz="2050" dirty="0">
                <a:solidFill>
                  <a:schemeClr val="tx2"/>
                </a:solidFill>
                <a:ea typeface="Calibri"/>
                <a:cs typeface="Calibri"/>
                <a:hlinkClick r:id="rId4" action="ppaction://hlinksldjump"/>
              </a:rPr>
              <a:t>Install a free video editing app onto your home computer and work on the video each evening throughout the week </a:t>
            </a:r>
            <a:r>
              <a:rPr lang="en-US" sz="2050" b="1" dirty="0">
                <a:solidFill>
                  <a:schemeClr val="tx2"/>
                </a:solidFill>
                <a:ea typeface="Calibri"/>
                <a:cs typeface="Calibri"/>
                <a:hlinkClick r:id="rId4" action="ppaction://hlinksldjump"/>
              </a:rPr>
              <a:t>[Level4_Decision1_OptionA]</a:t>
            </a:r>
            <a:endParaRPr lang="en-US" sz="2050" b="1" dirty="0">
              <a:solidFill>
                <a:schemeClr val="tx2"/>
              </a:solidFill>
              <a:ea typeface="Calibri"/>
              <a:cs typeface="Calibri"/>
            </a:endParaRPr>
          </a:p>
          <a:p>
            <a:pPr marL="0" indent="0">
              <a:spcBef>
                <a:spcPts val="0"/>
              </a:spcBef>
              <a:spcAft>
                <a:spcPts val="600"/>
              </a:spcAft>
              <a:buNone/>
              <a:defRPr/>
            </a:pPr>
            <a:r>
              <a:rPr lang="en-US" sz="2050" dirty="0">
                <a:solidFill>
                  <a:schemeClr val="tx2"/>
                </a:solidFill>
                <a:ea typeface="Calibri"/>
                <a:cs typeface="Calibri"/>
                <a:hlinkClick r:id="rId5" action="ppaction://hlinksldjump"/>
              </a:rPr>
              <a:t>Start a 30-day free trial of Camtasia on your home computer and finish the video editing on the rec center’s computer over the weekend. </a:t>
            </a:r>
            <a:r>
              <a:rPr lang="en-US" sz="2050" b="1" dirty="0">
                <a:solidFill>
                  <a:schemeClr val="tx2"/>
                </a:solidFill>
                <a:ea typeface="Calibri"/>
                <a:cs typeface="Calibri"/>
                <a:hlinkClick r:id="rId5" action="ppaction://hlinksldjump"/>
              </a:rPr>
              <a:t>[Level4_Decision1_OptionB]</a:t>
            </a:r>
            <a:endParaRPr lang="en-US" sz="2050" b="1" dirty="0">
              <a:solidFill>
                <a:schemeClr val="tx2"/>
              </a:solidFill>
              <a:ea typeface="Calibri"/>
              <a:cs typeface="Calibri"/>
            </a:endParaRPr>
          </a:p>
          <a:p>
            <a:pPr marL="0" indent="0">
              <a:spcBef>
                <a:spcPts val="0"/>
              </a:spcBef>
              <a:spcAft>
                <a:spcPts val="600"/>
              </a:spcAft>
              <a:buNone/>
              <a:defRPr/>
            </a:pPr>
            <a:endParaRPr lang="en-US" sz="2050" dirty="0">
              <a:solidFill>
                <a:schemeClr val="tx2"/>
              </a:solidFill>
              <a:cs typeface="Calibri"/>
            </a:endParaRPr>
          </a:p>
          <a:p>
            <a:pPr marL="0" indent="0">
              <a:spcBef>
                <a:spcPts val="0"/>
              </a:spcBef>
              <a:spcAft>
                <a:spcPts val="600"/>
              </a:spcAft>
              <a:buNone/>
              <a:defRPr/>
            </a:pPr>
            <a:endParaRPr lang="en-US" sz="2050" dirty="0">
              <a:solidFill>
                <a:schemeClr val="tx2"/>
              </a:solidFill>
              <a:ea typeface="Calibri"/>
              <a:cs typeface="Calibri"/>
            </a:endParaRPr>
          </a:p>
          <a:p>
            <a:pPr marL="0" indent="0">
              <a:spcBef>
                <a:spcPts val="0"/>
              </a:spcBef>
              <a:spcAft>
                <a:spcPts val="600"/>
              </a:spcAft>
              <a:buNone/>
              <a:defRPr/>
            </a:pPr>
            <a:endParaRPr lang="en-US" sz="2050" dirty="0">
              <a:solidFill>
                <a:schemeClr val="tx2"/>
              </a:solidFill>
              <a:ea typeface="Calibri"/>
              <a:cs typeface="Calibri"/>
            </a:endParaRPr>
          </a:p>
          <a:p>
            <a:pPr marL="0" indent="0">
              <a:spcBef>
                <a:spcPts val="0"/>
              </a:spcBef>
              <a:spcAft>
                <a:spcPts val="600"/>
              </a:spcAft>
              <a:buNone/>
              <a:defRPr/>
            </a:pPr>
            <a:endParaRPr lang="en-US" sz="2050" dirty="0">
              <a:solidFill>
                <a:schemeClr val="tx2"/>
              </a:solidFill>
              <a:ea typeface="Calibri"/>
              <a:cs typeface="Calibri"/>
            </a:endParaRPr>
          </a:p>
          <a:p>
            <a:pPr marL="0" indent="0">
              <a:spcBef>
                <a:spcPts val="0"/>
              </a:spcBef>
              <a:spcAft>
                <a:spcPts val="600"/>
              </a:spcAft>
              <a:buNone/>
              <a:defRPr/>
            </a:pPr>
            <a:endParaRPr lang="en-US" sz="2099" dirty="0">
              <a:solidFill>
                <a:schemeClr val="accent3">
                  <a:lumMod val="75000"/>
                </a:schemeClr>
              </a:solidFill>
              <a:ea typeface="Calibri"/>
              <a:cs typeface="Calibri"/>
            </a:endParaRPr>
          </a:p>
          <a:p>
            <a:pPr marL="0" indent="0">
              <a:spcBef>
                <a:spcPts val="0"/>
              </a:spcBef>
              <a:spcAft>
                <a:spcPts val="600"/>
              </a:spcAft>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Level4_Decision1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98779" y="373276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98779" y="446115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7" name="TextBox 6">
            <a:extLst>
              <a:ext uri="{FF2B5EF4-FFF2-40B4-BE49-F238E27FC236}">
                <a16:creationId xmlns:a16="http://schemas.microsoft.com/office/drawing/2014/main" id="{4CA33112-8F28-49EC-9294-46E299640E68}"/>
              </a:ext>
            </a:extLst>
          </p:cNvPr>
          <p:cNvSpPr txBox="1"/>
          <p:nvPr/>
        </p:nvSpPr>
        <p:spPr>
          <a:xfrm>
            <a:off x="1036320" y="588540"/>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graphics app.</a:t>
            </a:r>
          </a:p>
        </p:txBody>
      </p:sp>
      <p:sp>
        <p:nvSpPr>
          <p:cNvPr id="10" name="TextBox 9">
            <a:extLst>
              <a:ext uri="{FF2B5EF4-FFF2-40B4-BE49-F238E27FC236}">
                <a16:creationId xmlns:a16="http://schemas.microsoft.com/office/drawing/2014/main" id="{6BA9B900-F368-481D-84DB-A4BFBC909B10}"/>
              </a:ext>
            </a:extLst>
          </p:cNvPr>
          <p:cNvSpPr txBox="1"/>
          <p:nvPr/>
        </p:nvSpPr>
        <p:spPr>
          <a:xfrm>
            <a:off x="1036320" y="610312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Student will need to hire an IT consultant.</a:t>
            </a: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Student will need to choose video resolution.</a:t>
            </a:r>
          </a:p>
        </p:txBody>
      </p:sp>
      <p:sp>
        <p:nvSpPr>
          <p:cNvPr id="13" name="TextBox 12">
            <a:extLst>
              <a:ext uri="{FF2B5EF4-FFF2-40B4-BE49-F238E27FC236}">
                <a16:creationId xmlns:a16="http://schemas.microsoft.com/office/drawing/2014/main" id="{43B26262-56DC-4483-A615-E4E94010A3C4}"/>
              </a:ext>
            </a:extLst>
          </p:cNvPr>
          <p:cNvSpPr txBox="1"/>
          <p:nvPr/>
        </p:nvSpPr>
        <p:spPr>
          <a:xfrm>
            <a:off x="1036320" y="5322479"/>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srgbClr val="C00000"/>
                </a:solidFill>
                <a:latin typeface="Calibri" panose="020F0502020204030204"/>
              </a:rPr>
              <a:t>Free apps often don’t offer needed features. A free trial of Camtasia will provide needed features.</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4" name="Arrow: Pentagon 13">
            <a:extLst>
              <a:ext uri="{FF2B5EF4-FFF2-40B4-BE49-F238E27FC236}">
                <a16:creationId xmlns:a16="http://schemas.microsoft.com/office/drawing/2014/main" id="{26A28318-513E-4A06-AE17-499AA949E7CD}"/>
              </a:ext>
            </a:extLst>
          </p:cNvPr>
          <p:cNvSpPr/>
          <p:nvPr/>
        </p:nvSpPr>
        <p:spPr>
          <a:xfrm>
            <a:off x="188651" y="4471779"/>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21166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001033"/>
            <a:ext cx="11155679" cy="282819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This is going to require a lot more time than you originally anticipated. But you take a deep breath and get started. </a:t>
            </a:r>
          </a:p>
          <a:p>
            <a:pPr marL="0" indent="0">
              <a:spcBef>
                <a:spcPts val="0"/>
              </a:spcBef>
              <a:buNone/>
              <a:defRPr/>
            </a:pPr>
            <a:r>
              <a:rPr lang="en-US" sz="2050" dirty="0">
                <a:solidFill>
                  <a:schemeClr val="tx2"/>
                </a:solidFill>
                <a:cs typeface="Calibri"/>
              </a:rPr>
              <a:t>You decide the best option for editing the video would be to use the Camtasia app on the rec center’s computer. However, you won’t have time to go over there until the weekend, and today is only Tuesday. </a:t>
            </a:r>
          </a:p>
          <a:p>
            <a:pPr marL="0" indent="0">
              <a:spcBef>
                <a:spcPts val="0"/>
              </a:spcBef>
              <a:buNone/>
              <a:defRPr/>
            </a:pPr>
            <a:r>
              <a:rPr lang="en-US" sz="2050" dirty="0">
                <a:solidFill>
                  <a:schemeClr val="tx2"/>
                </a:solidFill>
                <a:cs typeface="Calibri"/>
              </a:rPr>
              <a:t>After doing a little research, you find there are some basic video editing apps available online that are free and easy to learn, but lacking in certain features you might need. Alternatively, Camtasia offers a 30-day free trial, but takes a little longer to learn. Which video editing app will you use?</a:t>
            </a:r>
          </a:p>
        </p:txBody>
      </p:sp>
      <p:sp>
        <p:nvSpPr>
          <p:cNvPr id="12" name="Text Placeholder 1"/>
          <p:cNvSpPr txBox="1">
            <a:spLocks/>
          </p:cNvSpPr>
          <p:nvPr/>
        </p:nvSpPr>
        <p:spPr>
          <a:xfrm>
            <a:off x="1514518" y="3632921"/>
            <a:ext cx="10677482"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600"/>
              </a:spcAft>
              <a:buNone/>
              <a:defRPr/>
            </a:pPr>
            <a:r>
              <a:rPr lang="en-US" sz="2050" dirty="0">
                <a:solidFill>
                  <a:schemeClr val="tx2"/>
                </a:solidFill>
                <a:ea typeface="Calibri"/>
                <a:cs typeface="Calibri"/>
                <a:hlinkClick r:id="rId4" action="ppaction://hlinksldjump"/>
              </a:rPr>
              <a:t>Install a free video editing app onto your home computer and work on the video each evening throughout the week </a:t>
            </a:r>
            <a:r>
              <a:rPr lang="en-US" sz="2050" b="1" dirty="0">
                <a:solidFill>
                  <a:schemeClr val="tx2"/>
                </a:solidFill>
                <a:ea typeface="Calibri"/>
                <a:cs typeface="Calibri"/>
                <a:hlinkClick r:id="rId4" action="ppaction://hlinksldjump"/>
              </a:rPr>
              <a:t>[Level4_Decision2_OptionA]</a:t>
            </a:r>
            <a:endParaRPr lang="en-US" sz="2050" b="1" dirty="0">
              <a:solidFill>
                <a:schemeClr val="tx2"/>
              </a:solidFill>
              <a:ea typeface="Calibri"/>
              <a:cs typeface="Calibri"/>
            </a:endParaRPr>
          </a:p>
          <a:p>
            <a:pPr marL="0" indent="0">
              <a:spcBef>
                <a:spcPts val="0"/>
              </a:spcBef>
              <a:spcAft>
                <a:spcPts val="600"/>
              </a:spcAft>
              <a:buNone/>
              <a:defRPr/>
            </a:pPr>
            <a:r>
              <a:rPr lang="en-US" sz="2050" dirty="0">
                <a:solidFill>
                  <a:schemeClr val="tx2"/>
                </a:solidFill>
                <a:ea typeface="Calibri"/>
                <a:cs typeface="Calibri"/>
                <a:hlinkClick r:id="rId5" action="ppaction://hlinksldjump"/>
              </a:rPr>
              <a:t>Start a 30-day free trial of Camtasia on your home computer and finish the video editing on the rec center’s computer over the weekend</a:t>
            </a:r>
            <a:r>
              <a:rPr lang="en-US" sz="2050" dirty="0">
                <a:solidFill>
                  <a:schemeClr val="tx2"/>
                </a:solidFill>
                <a:ea typeface="Calibri"/>
                <a:cs typeface="Calibri"/>
              </a:rPr>
              <a:t> </a:t>
            </a:r>
            <a:r>
              <a:rPr lang="en-US" sz="2050" b="1" dirty="0">
                <a:solidFill>
                  <a:schemeClr val="tx2"/>
                </a:solidFill>
                <a:ea typeface="Calibri"/>
                <a:cs typeface="Calibri"/>
                <a:hlinkClick r:id="rId5" action="ppaction://hlinksldjump"/>
              </a:rPr>
              <a:t>[Level4_Decision2_OptionB]</a:t>
            </a:r>
            <a:endParaRPr lang="en-US" sz="2050" b="1" dirty="0">
              <a:solidFill>
                <a:schemeClr val="tx2"/>
              </a:solidFill>
              <a:ea typeface="Calibri"/>
              <a:cs typeface="Calibri"/>
            </a:endParaRPr>
          </a:p>
          <a:p>
            <a:pPr marL="0" indent="0">
              <a:spcBef>
                <a:spcPts val="0"/>
              </a:spcBef>
              <a:spcAft>
                <a:spcPts val="600"/>
              </a:spcAft>
              <a:buNone/>
              <a:defRPr/>
            </a:pPr>
            <a:endParaRPr lang="en-US" sz="2050" dirty="0">
              <a:solidFill>
                <a:schemeClr val="tx2"/>
              </a:solidFill>
              <a:cs typeface="Calibri"/>
            </a:endParaRPr>
          </a:p>
          <a:p>
            <a:pPr marL="0" indent="0">
              <a:spcBef>
                <a:spcPts val="0"/>
              </a:spcBef>
              <a:spcAft>
                <a:spcPts val="600"/>
              </a:spcAft>
              <a:buNone/>
              <a:defRPr/>
            </a:pPr>
            <a:endParaRPr lang="en-US" sz="2050" dirty="0">
              <a:solidFill>
                <a:schemeClr val="tx2"/>
              </a:solidFill>
              <a:ea typeface="Calibri"/>
              <a:cs typeface="Calibri"/>
            </a:endParaRPr>
          </a:p>
          <a:p>
            <a:pPr marL="0" indent="0">
              <a:spcBef>
                <a:spcPts val="0"/>
              </a:spcBef>
              <a:spcAft>
                <a:spcPts val="600"/>
              </a:spcAft>
              <a:buNone/>
              <a:defRPr/>
            </a:pPr>
            <a:endParaRPr lang="en-US" sz="2050" dirty="0">
              <a:solidFill>
                <a:schemeClr val="tx2"/>
              </a:solidFill>
              <a:ea typeface="Calibri"/>
              <a:cs typeface="Calibri"/>
            </a:endParaRPr>
          </a:p>
          <a:p>
            <a:pPr marL="0" indent="0">
              <a:spcBef>
                <a:spcPts val="0"/>
              </a:spcBef>
              <a:spcAft>
                <a:spcPts val="600"/>
              </a:spcAft>
              <a:buNone/>
              <a:defRPr/>
            </a:pPr>
            <a:endParaRPr lang="en-US" sz="2050" dirty="0">
              <a:solidFill>
                <a:schemeClr val="tx2"/>
              </a:solidFill>
              <a:ea typeface="Calibri"/>
              <a:cs typeface="Calibri"/>
            </a:endParaRPr>
          </a:p>
          <a:p>
            <a:pPr marL="0" indent="0">
              <a:spcBef>
                <a:spcPts val="0"/>
              </a:spcBef>
              <a:spcAft>
                <a:spcPts val="600"/>
              </a:spcAft>
              <a:buNone/>
              <a:defRPr/>
            </a:pPr>
            <a:endParaRPr lang="en-US" sz="2099" dirty="0">
              <a:solidFill>
                <a:schemeClr val="accent3">
                  <a:lumMod val="75000"/>
                </a:schemeClr>
              </a:solidFill>
              <a:ea typeface="Calibri"/>
              <a:cs typeface="Calibri"/>
            </a:endParaRPr>
          </a:p>
          <a:p>
            <a:pPr marL="0" indent="0">
              <a:spcBef>
                <a:spcPts val="0"/>
              </a:spcBef>
              <a:spcAft>
                <a:spcPts val="600"/>
              </a:spcAft>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Level4_Decision2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42106" y="364171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42106" y="434858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7" name="TextBox 6">
            <a:extLst>
              <a:ext uri="{FF2B5EF4-FFF2-40B4-BE49-F238E27FC236}">
                <a16:creationId xmlns:a16="http://schemas.microsoft.com/office/drawing/2014/main" id="{FADA66AE-72CE-4473-BBEB-0A51C25539FE}"/>
              </a:ext>
            </a:extLst>
          </p:cNvPr>
          <p:cNvSpPr txBox="1"/>
          <p:nvPr/>
        </p:nvSpPr>
        <p:spPr>
          <a:xfrm>
            <a:off x="1036320" y="621589"/>
            <a:ext cx="957072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a stock photo gallery.</a:t>
            </a:r>
          </a:p>
        </p:txBody>
      </p:sp>
      <p:sp>
        <p:nvSpPr>
          <p:cNvPr id="10" name="TextBox 9">
            <a:extLst>
              <a:ext uri="{FF2B5EF4-FFF2-40B4-BE49-F238E27FC236}">
                <a16:creationId xmlns:a16="http://schemas.microsoft.com/office/drawing/2014/main" id="{6C6751C7-8928-4AEA-8D82-789692634DF6}"/>
              </a:ext>
            </a:extLst>
          </p:cNvPr>
          <p:cNvSpPr txBox="1"/>
          <p:nvPr/>
        </p:nvSpPr>
        <p:spPr>
          <a:xfrm>
            <a:off x="1036320" y="6124637"/>
            <a:ext cx="957072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kern="0" dirty="0">
                <a:solidFill>
                  <a:prstClr val="black"/>
                </a:solidFill>
              </a:rPr>
              <a:t>If Option A: Student will need to hire an IT consultant.</a:t>
            </a:r>
          </a:p>
          <a:p>
            <a:pPr lvl="0">
              <a:defRPr/>
            </a:pPr>
            <a:r>
              <a:rPr lang="en-US" kern="0" dirty="0">
                <a:solidFill>
                  <a:prstClr val="black"/>
                </a:solidFill>
              </a:rPr>
              <a:t>If Option B: Student will need to choose video resolution.</a:t>
            </a:r>
            <a:endParaRPr lang="en-US" dirty="0">
              <a:solidFill>
                <a:prstClr val="black"/>
              </a:solidFill>
            </a:endParaRPr>
          </a:p>
        </p:txBody>
      </p:sp>
      <p:sp>
        <p:nvSpPr>
          <p:cNvPr id="13" name="TextBox 12">
            <a:extLst>
              <a:ext uri="{FF2B5EF4-FFF2-40B4-BE49-F238E27FC236}">
                <a16:creationId xmlns:a16="http://schemas.microsoft.com/office/drawing/2014/main" id="{B30ECD39-9494-4EA6-97E5-8B0EC3AB6B2B}"/>
              </a:ext>
            </a:extLst>
          </p:cNvPr>
          <p:cNvSpPr txBox="1"/>
          <p:nvPr/>
        </p:nvSpPr>
        <p:spPr>
          <a:xfrm>
            <a:off x="1036320" y="5308445"/>
            <a:ext cx="957072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kern="0" dirty="0">
                <a:solidFill>
                  <a:srgbClr val="C00000"/>
                </a:solidFill>
              </a:rPr>
              <a:t>Free apps often don’t offer needed features. A free trial of Camtasia will provide needed features.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4" name="Arrow: Pentagon 13">
            <a:extLst>
              <a:ext uri="{FF2B5EF4-FFF2-40B4-BE49-F238E27FC236}">
                <a16:creationId xmlns:a16="http://schemas.microsoft.com/office/drawing/2014/main" id="{1EB84D03-30FB-4ED9-9165-1AA981C4D371}"/>
              </a:ext>
            </a:extLst>
          </p:cNvPr>
          <p:cNvSpPr/>
          <p:nvPr/>
        </p:nvSpPr>
        <p:spPr>
          <a:xfrm>
            <a:off x="37653" y="4358997"/>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14463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01992"/>
            <a:ext cx="10838522"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It only took about 30 minutes to download, install, and learn how to use the free video editing app. The interface is smooth, and it’s been fun to see how you can add some special effects to the video and cut it down to size. However, the app is greatly limited in what it can do, and after a while, the effects start to appear crude and unprofessional. You make some compromises on how you want the video to look, and finally, after much time and frustration, you settle on a final version.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Next, you try to add closed captioning and discover the app doesn’t offer this feature. You realize after some research that you can add closed captioning once the video is published to YouTube, but when you try to produce the video, you discover the app won’t publish into a file format you can use on YouTube. </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036319" y="4847517"/>
            <a:ext cx="10436275"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Level4_Story1</a:t>
            </a:r>
          </a:p>
        </p:txBody>
      </p:sp>
      <p:sp>
        <p:nvSpPr>
          <p:cNvPr id="5" name="TextBox 4">
            <a:extLst>
              <a:ext uri="{FF2B5EF4-FFF2-40B4-BE49-F238E27FC236}">
                <a16:creationId xmlns:a16="http://schemas.microsoft.com/office/drawing/2014/main" id="{EA7932E7-8840-4205-9146-0D07A063ECDE}"/>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free video editing app.</a:t>
            </a:r>
          </a:p>
        </p:txBody>
      </p:sp>
      <p:sp>
        <p:nvSpPr>
          <p:cNvPr id="6" name="TextBox 5">
            <a:extLst>
              <a:ext uri="{FF2B5EF4-FFF2-40B4-BE49-F238E27FC236}">
                <a16:creationId xmlns:a16="http://schemas.microsoft.com/office/drawing/2014/main" id="{CADEE0AA-23A4-40AB-AAC4-1A8090219532}"/>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hire an IT consultant.</a:t>
            </a:r>
          </a:p>
        </p:txBody>
      </p:sp>
    </p:spTree>
    <p:custDataLst>
      <p:tags r:id="rId1"/>
    </p:custDataLst>
    <p:extLst>
      <p:ext uri="{BB962C8B-B14F-4D97-AF65-F5344CB8AC3E}">
        <p14:creationId xmlns:p14="http://schemas.microsoft.com/office/powerpoint/2010/main" val="1555290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27251"/>
            <a:ext cx="11155680" cy="266669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	Learning how to use Camtasia wasn’t nearly as difficult as you expected. You realize there are of lots of ways you might want to keep using Camtasia and you’re considering purchasing it for yourself after the free trial is over. You’re almost ready to finish up the video at the rec center this weekend. </a:t>
            </a:r>
          </a:p>
          <a:p>
            <a:pPr marL="0" indent="0">
              <a:spcBef>
                <a:spcPts val="0"/>
              </a:spcBef>
              <a:buNone/>
              <a:defRPr/>
            </a:pPr>
            <a:r>
              <a:rPr lang="en-US" sz="2050" dirty="0">
                <a:solidFill>
                  <a:schemeClr val="tx2"/>
                </a:solidFill>
                <a:ea typeface="Calibri"/>
                <a:cs typeface="Calibri"/>
              </a:rPr>
              <a:t>	Because of the license restrictions the music publisher gave you, you will need to post the video to YouTube using a private link available only to students and volunteers in the program. Most participants will be viewing the videos on a smartphone. To produce the final video, you need to choose a resolution that will work well on YouTube. Which resolution will you choose?</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 </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627863" y="3905458"/>
            <a:ext cx="10270223" cy="135097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UHD (Ultra High Definition) </a:t>
            </a:r>
            <a:r>
              <a:rPr lang="en-US" sz="2050" b="1" dirty="0">
                <a:solidFill>
                  <a:schemeClr val="tx2"/>
                </a:solidFill>
                <a:ea typeface="Calibri"/>
                <a:cs typeface="Calibri"/>
                <a:hlinkClick r:id="rId4" action="ppaction://hlinksldjump"/>
              </a:rPr>
              <a:t>[Level5_Decision1_OptionA]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SD (Standard Definition) </a:t>
            </a:r>
            <a:r>
              <a:rPr lang="en-US" sz="2050" b="1" dirty="0">
                <a:solidFill>
                  <a:schemeClr val="tx2"/>
                </a:solidFill>
                <a:ea typeface="Calibri"/>
                <a:cs typeface="Calibri"/>
                <a:hlinkClick r:id="rId5" action="ppaction://hlinksldjump"/>
              </a:rPr>
              <a:t>[Level5_Decision1_OptionB]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Level5_Decision1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55451" y="390475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55451" y="451750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7" name="TextBox 6">
            <a:extLst>
              <a:ext uri="{FF2B5EF4-FFF2-40B4-BE49-F238E27FC236}">
                <a16:creationId xmlns:a16="http://schemas.microsoft.com/office/drawing/2014/main" id="{A71A4818-2E2E-48F1-9655-B678D6F07597}"/>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the Camtasia free trial.</a:t>
            </a:r>
          </a:p>
        </p:txBody>
      </p:sp>
      <p:sp>
        <p:nvSpPr>
          <p:cNvPr id="10" name="TextBox 9">
            <a:extLst>
              <a:ext uri="{FF2B5EF4-FFF2-40B4-BE49-F238E27FC236}">
                <a16:creationId xmlns:a16="http://schemas.microsoft.com/office/drawing/2014/main" id="{A1BFF7CA-FD3B-4900-B4E6-4C0A5C3CEFF9}"/>
              </a:ext>
            </a:extLst>
          </p:cNvPr>
          <p:cNvSpPr txBox="1"/>
          <p:nvPr/>
        </p:nvSpPr>
        <p:spPr>
          <a:xfrm>
            <a:off x="1036320" y="6352370"/>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video streaming app.</a:t>
            </a:r>
          </a:p>
        </p:txBody>
      </p:sp>
      <p:sp>
        <p:nvSpPr>
          <p:cNvPr id="13" name="TextBox 12">
            <a:extLst>
              <a:ext uri="{FF2B5EF4-FFF2-40B4-BE49-F238E27FC236}">
                <a16:creationId xmlns:a16="http://schemas.microsoft.com/office/drawing/2014/main" id="{3B4C72CD-5233-4434-ADF8-BB743142E63C}"/>
              </a:ext>
            </a:extLst>
          </p:cNvPr>
          <p:cNvSpPr txBox="1"/>
          <p:nvPr/>
        </p:nvSpPr>
        <p:spPr>
          <a:xfrm>
            <a:off x="1036320" y="5279706"/>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UHD quality is much higher than needed for this situation. SD is more appropriate for streaming videos on a smartphone.</a:t>
            </a:r>
          </a:p>
        </p:txBody>
      </p:sp>
      <p:sp>
        <p:nvSpPr>
          <p:cNvPr id="14" name="Arrow: Pentagon 13">
            <a:extLst>
              <a:ext uri="{FF2B5EF4-FFF2-40B4-BE49-F238E27FC236}">
                <a16:creationId xmlns:a16="http://schemas.microsoft.com/office/drawing/2014/main" id="{1A2680CD-12DC-4A7A-B8B8-51C0AA1388FC}"/>
              </a:ext>
            </a:extLst>
          </p:cNvPr>
          <p:cNvSpPr/>
          <p:nvPr/>
        </p:nvSpPr>
        <p:spPr>
          <a:xfrm>
            <a:off x="188651" y="4525540"/>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487088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151860"/>
            <a:ext cx="11155679" cy="329650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The 30-minute UHD video file was too large to upload to YouTube, so you split the video into two segments and uploaded them separately. It’s frustrating the workout video can’t be accessed in one link, but at least you got it posted.</a:t>
            </a:r>
          </a:p>
          <a:p>
            <a:pPr marL="0" indent="0">
              <a:spcBef>
                <a:spcPts val="0"/>
              </a:spcBef>
              <a:buNone/>
              <a:defRPr/>
            </a:pPr>
            <a:r>
              <a:rPr lang="en-US" sz="2050" dirty="0">
                <a:solidFill>
                  <a:schemeClr val="tx2"/>
                </a:solidFill>
                <a:ea typeface="Calibri"/>
                <a:cs typeface="Calibri"/>
              </a:rPr>
              <a:t>A few weeks later, the kids have all gotten their copies of the dietary guidelines along with some instructions.  The fitness instructors have run several workout classes, and the first hike is scheduled for this weekend. The program coordinators have asked you to broadcast some video online during the hike.</a:t>
            </a:r>
          </a:p>
          <a:p>
            <a:pPr marL="0" indent="0">
              <a:spcBef>
                <a:spcPts val="0"/>
              </a:spcBef>
              <a:buNone/>
              <a:defRPr/>
            </a:pPr>
            <a:r>
              <a:rPr lang="en-US" sz="2050" dirty="0">
                <a:solidFill>
                  <a:schemeClr val="tx2"/>
                </a:solidFill>
                <a:ea typeface="Calibri"/>
                <a:cs typeface="Calibri"/>
              </a:rPr>
              <a:t>You have a couple of apps on your smartphone that can do the job. You’ve also advertised on social media the time when the video will happen for those who can’t attend the hike. Which app will you use for the video broadcast to get the most viewers possible?</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859969" y="4412915"/>
            <a:ext cx="5839544" cy="92333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600"/>
              </a:spcAft>
              <a:buNone/>
              <a:defRPr/>
            </a:pPr>
            <a:r>
              <a:rPr lang="en-US" sz="2050" dirty="0">
                <a:solidFill>
                  <a:schemeClr val="tx2"/>
                </a:solidFill>
                <a:ea typeface="Calibri"/>
                <a:cs typeface="Calibri"/>
                <a:hlinkClick r:id="rId4" action="ppaction://hlinksldjump"/>
              </a:rPr>
              <a:t>Skype conference call </a:t>
            </a:r>
            <a:r>
              <a:rPr lang="en-US" sz="2050" b="1" dirty="0">
                <a:solidFill>
                  <a:schemeClr val="tx2"/>
                </a:solidFill>
                <a:ea typeface="Calibri"/>
                <a:cs typeface="Calibri"/>
                <a:hlinkClick r:id="rId4" action="ppaction://hlinksldjump"/>
              </a:rPr>
              <a:t>[Level6_Decision1_OptionA]</a:t>
            </a:r>
            <a:endParaRPr lang="en-US" sz="2050" b="1" dirty="0">
              <a:solidFill>
                <a:schemeClr val="tx2"/>
              </a:solidFill>
              <a:ea typeface="Calibri"/>
              <a:cs typeface="Calibri"/>
            </a:endParaRPr>
          </a:p>
          <a:p>
            <a:pPr marL="0" indent="0">
              <a:spcBef>
                <a:spcPts val="0"/>
              </a:spcBef>
              <a:spcAft>
                <a:spcPts val="600"/>
              </a:spcAft>
              <a:buNone/>
              <a:defRPr/>
            </a:pPr>
            <a:r>
              <a:rPr lang="en-US" sz="2050" dirty="0">
                <a:solidFill>
                  <a:schemeClr val="tx2"/>
                </a:solidFill>
                <a:ea typeface="Calibri"/>
                <a:cs typeface="Calibri"/>
                <a:hlinkClick r:id="rId5" action="ppaction://hlinksldjump"/>
              </a:rPr>
              <a:t>Facebook live video </a:t>
            </a:r>
            <a:r>
              <a:rPr lang="en-US" sz="2050" b="1" dirty="0">
                <a:solidFill>
                  <a:schemeClr val="tx2"/>
                </a:solidFill>
                <a:ea typeface="Calibri"/>
                <a:cs typeface="Calibri"/>
                <a:hlinkClick r:id="rId5" action="ppaction://hlinksldjump"/>
              </a:rPr>
              <a:t>[Level6_Decision1_OptionB]</a:t>
            </a:r>
            <a:endParaRPr lang="en-US" sz="2050" b="1" dirty="0">
              <a:solidFill>
                <a:schemeClr val="tx2"/>
              </a:solidFill>
              <a:ea typeface="Calibri"/>
              <a:cs typeface="Calibri"/>
            </a:endParaRPr>
          </a:p>
          <a:p>
            <a:pPr marL="0" indent="0">
              <a:spcBef>
                <a:spcPts val="0"/>
              </a:spcBef>
              <a:spcAft>
                <a:spcPts val="600"/>
              </a:spcAft>
              <a:buNone/>
              <a:defRPr/>
            </a:pPr>
            <a:endParaRPr lang="en-US" sz="2050" dirty="0">
              <a:solidFill>
                <a:schemeClr val="tx2"/>
              </a:solidFill>
              <a:cs typeface="Calibri"/>
            </a:endParaRPr>
          </a:p>
          <a:p>
            <a:pPr marL="0" indent="0">
              <a:spcBef>
                <a:spcPts val="0"/>
              </a:spcBef>
              <a:spcAft>
                <a:spcPts val="600"/>
              </a:spcAft>
              <a:buNone/>
              <a:defRPr/>
            </a:pPr>
            <a:endParaRPr lang="en-US" sz="2050" dirty="0">
              <a:solidFill>
                <a:schemeClr val="tx2"/>
              </a:solidFill>
              <a:ea typeface="Calibri"/>
              <a:cs typeface="Calibri"/>
            </a:endParaRPr>
          </a:p>
          <a:p>
            <a:pPr marL="0" indent="0">
              <a:spcBef>
                <a:spcPts val="0"/>
              </a:spcBef>
              <a:spcAft>
                <a:spcPts val="600"/>
              </a:spcAft>
              <a:buNone/>
              <a:defRPr/>
            </a:pPr>
            <a:endParaRPr lang="en-US" sz="2050" dirty="0">
              <a:solidFill>
                <a:schemeClr val="tx2"/>
              </a:solidFill>
              <a:ea typeface="Calibri"/>
              <a:cs typeface="Calibri"/>
            </a:endParaRPr>
          </a:p>
          <a:p>
            <a:pPr marL="0" indent="0">
              <a:spcBef>
                <a:spcPts val="0"/>
              </a:spcBef>
              <a:spcAft>
                <a:spcPts val="600"/>
              </a:spcAft>
              <a:buNone/>
              <a:defRPr/>
            </a:pPr>
            <a:endParaRPr lang="en-US" sz="2050" dirty="0">
              <a:solidFill>
                <a:schemeClr val="tx2"/>
              </a:solidFill>
              <a:ea typeface="Calibri"/>
              <a:cs typeface="Calibri"/>
            </a:endParaRPr>
          </a:p>
          <a:p>
            <a:pPr marL="0" indent="0">
              <a:spcBef>
                <a:spcPts val="0"/>
              </a:spcBef>
              <a:spcAft>
                <a:spcPts val="600"/>
              </a:spcAft>
              <a:buNone/>
              <a:defRPr/>
            </a:pPr>
            <a:endParaRPr lang="en-US" sz="2099" dirty="0">
              <a:solidFill>
                <a:schemeClr val="accent3">
                  <a:lumMod val="75000"/>
                </a:schemeClr>
              </a:solidFill>
              <a:ea typeface="Calibri"/>
              <a:cs typeface="Calibri"/>
            </a:endParaRPr>
          </a:p>
          <a:p>
            <a:pPr marL="0" indent="0">
              <a:spcBef>
                <a:spcPts val="0"/>
              </a:spcBef>
              <a:spcAft>
                <a:spcPts val="600"/>
              </a:spcAft>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Level6_Decision1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487557" y="4434959"/>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487557" y="481467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7" name="TextBox 6">
            <a:extLst>
              <a:ext uri="{FF2B5EF4-FFF2-40B4-BE49-F238E27FC236}">
                <a16:creationId xmlns:a16="http://schemas.microsoft.com/office/drawing/2014/main" id="{14ABE67B-5AB9-43FA-A552-ACD28E75965A}"/>
              </a:ext>
            </a:extLst>
          </p:cNvPr>
          <p:cNvSpPr txBox="1"/>
          <p:nvPr/>
        </p:nvSpPr>
        <p:spPr>
          <a:xfrm>
            <a:off x="1036320" y="717838"/>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UHD resolution.</a:t>
            </a:r>
          </a:p>
        </p:txBody>
      </p:sp>
      <p:sp>
        <p:nvSpPr>
          <p:cNvPr id="10" name="TextBox 9">
            <a:extLst>
              <a:ext uri="{FF2B5EF4-FFF2-40B4-BE49-F238E27FC236}">
                <a16:creationId xmlns:a16="http://schemas.microsoft.com/office/drawing/2014/main" id="{BD1DDAC0-2EBE-485D-881C-5473B7AF1339}"/>
              </a:ext>
            </a:extLst>
          </p:cNvPr>
          <p:cNvSpPr txBox="1"/>
          <p:nvPr/>
        </p:nvSpPr>
        <p:spPr>
          <a:xfrm>
            <a:off x="1036320" y="6390715"/>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photo file format.</a:t>
            </a:r>
          </a:p>
        </p:txBody>
      </p:sp>
      <p:sp>
        <p:nvSpPr>
          <p:cNvPr id="13" name="TextBox 12">
            <a:extLst>
              <a:ext uri="{FF2B5EF4-FFF2-40B4-BE49-F238E27FC236}">
                <a16:creationId xmlns:a16="http://schemas.microsoft.com/office/drawing/2014/main" id="{24990C07-0294-4CED-B3B3-0DB11337D925}"/>
              </a:ext>
            </a:extLst>
          </p:cNvPr>
          <p:cNvSpPr txBox="1"/>
          <p:nvPr/>
        </p:nvSpPr>
        <p:spPr>
          <a:xfrm>
            <a:off x="1036320" y="5339715"/>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A Skype call would be limited to Skype users, and would take greater coordination. A Facebook live video is easy to share on social media.</a:t>
            </a:r>
          </a:p>
        </p:txBody>
      </p:sp>
      <p:sp>
        <p:nvSpPr>
          <p:cNvPr id="14" name="Arrow: Pentagon 13">
            <a:extLst>
              <a:ext uri="{FF2B5EF4-FFF2-40B4-BE49-F238E27FC236}">
                <a16:creationId xmlns:a16="http://schemas.microsoft.com/office/drawing/2014/main" id="{7FFFEB37-9576-4FA2-A9EE-289988833AA6}"/>
              </a:ext>
            </a:extLst>
          </p:cNvPr>
          <p:cNvSpPr/>
          <p:nvPr/>
        </p:nvSpPr>
        <p:spPr>
          <a:xfrm>
            <a:off x="188651" y="4804246"/>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545091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224076"/>
            <a:ext cx="11155679" cy="307898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The 30-minute SD video looks great on YouTube! The fitness instructors are very pleased, and several of the students are showing it to their friends and using the video at home.</a:t>
            </a:r>
          </a:p>
          <a:p>
            <a:pPr marL="0" indent="0">
              <a:spcBef>
                <a:spcPts val="0"/>
              </a:spcBef>
              <a:buNone/>
              <a:defRPr/>
            </a:pPr>
            <a:r>
              <a:rPr lang="en-US" sz="2050" dirty="0">
                <a:solidFill>
                  <a:schemeClr val="tx2"/>
                </a:solidFill>
                <a:ea typeface="Calibri"/>
                <a:cs typeface="Calibri"/>
              </a:rPr>
              <a:t>A few weeks later, the kids have all gotten their copies of the dietary guidelines along with some instructions.  The fitness instructors have run several workout classes, and the first hike is scheduled for this weekend. The program coordinators have asked you to broadcast some video online during the hike.</a:t>
            </a:r>
          </a:p>
          <a:p>
            <a:pPr marL="0" indent="0">
              <a:spcBef>
                <a:spcPts val="0"/>
              </a:spcBef>
              <a:buNone/>
              <a:defRPr/>
            </a:pPr>
            <a:r>
              <a:rPr lang="en-US" sz="2050" dirty="0">
                <a:solidFill>
                  <a:schemeClr val="tx2"/>
                </a:solidFill>
                <a:ea typeface="Calibri"/>
                <a:cs typeface="Calibri"/>
              </a:rPr>
              <a:t>You have a couple of apps on your smartphone that can do the job. You’ve also advertised on social media the time when the video will happen for those who can’t attend the hike. Which app will you use for the video broadcast to get the most viewers possible?</a:t>
            </a: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962638" y="4168751"/>
            <a:ext cx="5693770" cy="107481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600"/>
              </a:spcAft>
              <a:buNone/>
              <a:defRPr/>
            </a:pPr>
            <a:r>
              <a:rPr lang="en-US" sz="2050" dirty="0">
                <a:solidFill>
                  <a:schemeClr val="tx2"/>
                </a:solidFill>
                <a:ea typeface="Calibri"/>
                <a:cs typeface="Calibri"/>
                <a:hlinkClick r:id="rId4" action="ppaction://hlinksldjump"/>
              </a:rPr>
              <a:t>Skype conference call </a:t>
            </a:r>
            <a:r>
              <a:rPr lang="en-US" sz="2050" b="1" dirty="0">
                <a:solidFill>
                  <a:schemeClr val="tx2"/>
                </a:solidFill>
                <a:ea typeface="Calibri"/>
                <a:cs typeface="Calibri"/>
                <a:hlinkClick r:id="rId4" action="ppaction://hlinksldjump"/>
              </a:rPr>
              <a:t>[Level6_Decision2_OptionA]</a:t>
            </a:r>
            <a:endParaRPr lang="en-US" sz="2050" b="1" dirty="0">
              <a:solidFill>
                <a:schemeClr val="tx2"/>
              </a:solidFill>
              <a:ea typeface="Calibri"/>
              <a:cs typeface="Calibri"/>
            </a:endParaRPr>
          </a:p>
          <a:p>
            <a:pPr marL="0" indent="0">
              <a:spcBef>
                <a:spcPts val="0"/>
              </a:spcBef>
              <a:spcAft>
                <a:spcPts val="600"/>
              </a:spcAft>
              <a:buNone/>
              <a:defRPr/>
            </a:pPr>
            <a:r>
              <a:rPr lang="en-US" sz="2050" dirty="0">
                <a:solidFill>
                  <a:schemeClr val="tx2"/>
                </a:solidFill>
                <a:ea typeface="Calibri"/>
                <a:cs typeface="Calibri"/>
                <a:hlinkClick r:id="rId5" action="ppaction://hlinksldjump"/>
              </a:rPr>
              <a:t>Facebook live video </a:t>
            </a:r>
            <a:r>
              <a:rPr lang="en-US" sz="2050" b="1" dirty="0">
                <a:solidFill>
                  <a:schemeClr val="tx2"/>
                </a:solidFill>
                <a:ea typeface="Calibri"/>
                <a:cs typeface="Calibri"/>
                <a:hlinkClick r:id="rId5" action="ppaction://hlinksldjump"/>
              </a:rPr>
              <a:t>[Level6_Decision2_OptionB]</a:t>
            </a:r>
            <a:endParaRPr lang="en-US" sz="2050" b="1" dirty="0">
              <a:solidFill>
                <a:schemeClr val="tx2"/>
              </a:solidFill>
              <a:ea typeface="Calibri"/>
              <a:cs typeface="Calibri"/>
            </a:endParaRPr>
          </a:p>
          <a:p>
            <a:pPr marL="0" indent="0">
              <a:spcBef>
                <a:spcPts val="0"/>
              </a:spcBef>
              <a:spcAft>
                <a:spcPts val="600"/>
              </a:spcAft>
              <a:buNone/>
              <a:defRPr/>
            </a:pPr>
            <a:endParaRPr lang="en-US" sz="2050" dirty="0">
              <a:solidFill>
                <a:schemeClr val="tx2"/>
              </a:solidFill>
              <a:cs typeface="Calibri"/>
            </a:endParaRPr>
          </a:p>
          <a:p>
            <a:pPr marL="0" indent="0">
              <a:spcBef>
                <a:spcPts val="0"/>
              </a:spcBef>
              <a:spcAft>
                <a:spcPts val="600"/>
              </a:spcAft>
              <a:buNone/>
              <a:defRPr/>
            </a:pPr>
            <a:endParaRPr lang="en-US" sz="2050" dirty="0">
              <a:solidFill>
                <a:schemeClr val="tx2"/>
              </a:solidFill>
              <a:ea typeface="Calibri"/>
              <a:cs typeface="Calibri"/>
            </a:endParaRPr>
          </a:p>
          <a:p>
            <a:pPr marL="0" indent="0">
              <a:spcBef>
                <a:spcPts val="0"/>
              </a:spcBef>
              <a:spcAft>
                <a:spcPts val="600"/>
              </a:spcAft>
              <a:buNone/>
              <a:defRPr/>
            </a:pPr>
            <a:endParaRPr lang="en-US" sz="2050" dirty="0">
              <a:solidFill>
                <a:schemeClr val="tx2"/>
              </a:solidFill>
              <a:ea typeface="Calibri"/>
              <a:cs typeface="Calibri"/>
            </a:endParaRPr>
          </a:p>
          <a:p>
            <a:pPr marL="0" indent="0">
              <a:spcBef>
                <a:spcPts val="0"/>
              </a:spcBef>
              <a:spcAft>
                <a:spcPts val="600"/>
              </a:spcAft>
              <a:buNone/>
              <a:defRPr/>
            </a:pPr>
            <a:endParaRPr lang="en-US" sz="2050" dirty="0">
              <a:solidFill>
                <a:schemeClr val="tx2"/>
              </a:solidFill>
              <a:ea typeface="Calibri"/>
              <a:cs typeface="Calibri"/>
            </a:endParaRPr>
          </a:p>
          <a:p>
            <a:pPr marL="0" indent="0">
              <a:spcBef>
                <a:spcPts val="0"/>
              </a:spcBef>
              <a:spcAft>
                <a:spcPts val="600"/>
              </a:spcAft>
              <a:buNone/>
              <a:defRPr/>
            </a:pPr>
            <a:endParaRPr lang="en-US" sz="2099" dirty="0">
              <a:solidFill>
                <a:schemeClr val="accent3">
                  <a:lumMod val="75000"/>
                </a:schemeClr>
              </a:solidFill>
              <a:ea typeface="Calibri"/>
              <a:cs typeface="Calibri"/>
            </a:endParaRPr>
          </a:p>
          <a:p>
            <a:pPr marL="0" indent="0">
              <a:spcBef>
                <a:spcPts val="0"/>
              </a:spcBef>
              <a:spcAft>
                <a:spcPts val="600"/>
              </a:spcAft>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Level6_Decision2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590226" y="417754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590226" y="45794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7" name="TextBox 6">
            <a:extLst>
              <a:ext uri="{FF2B5EF4-FFF2-40B4-BE49-F238E27FC236}">
                <a16:creationId xmlns:a16="http://schemas.microsoft.com/office/drawing/2014/main" id="{495DB134-D0E2-47A5-97B6-D922EF384DAC}"/>
              </a:ext>
            </a:extLst>
          </p:cNvPr>
          <p:cNvSpPr txBox="1"/>
          <p:nvPr/>
        </p:nvSpPr>
        <p:spPr>
          <a:xfrm>
            <a:off x="1036320" y="66769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SD resolution.</a:t>
            </a:r>
          </a:p>
        </p:txBody>
      </p:sp>
      <p:sp>
        <p:nvSpPr>
          <p:cNvPr id="10" name="TextBox 9">
            <a:extLst>
              <a:ext uri="{FF2B5EF4-FFF2-40B4-BE49-F238E27FC236}">
                <a16:creationId xmlns:a16="http://schemas.microsoft.com/office/drawing/2014/main" id="{00823EEF-398C-45AB-88E0-EDD033034F8B}"/>
              </a:ext>
            </a:extLst>
          </p:cNvPr>
          <p:cNvSpPr txBox="1"/>
          <p:nvPr/>
        </p:nvSpPr>
        <p:spPr>
          <a:xfrm>
            <a:off x="1036320" y="6329445"/>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photo file format.</a:t>
            </a:r>
          </a:p>
        </p:txBody>
      </p:sp>
      <p:sp>
        <p:nvSpPr>
          <p:cNvPr id="13" name="TextBox 12">
            <a:extLst>
              <a:ext uri="{FF2B5EF4-FFF2-40B4-BE49-F238E27FC236}">
                <a16:creationId xmlns:a16="http://schemas.microsoft.com/office/drawing/2014/main" id="{340E5394-2B3B-43E1-B20F-5D6F165A30A1}"/>
              </a:ext>
            </a:extLst>
          </p:cNvPr>
          <p:cNvSpPr txBox="1"/>
          <p:nvPr/>
        </p:nvSpPr>
        <p:spPr>
          <a:xfrm>
            <a:off x="1036320" y="5236196"/>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A Skype call would be limited to Skype users, and would take greater coordination. A Facebook live video is easy to share on social media.</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4" name="Arrow: Pentagon 13">
            <a:extLst>
              <a:ext uri="{FF2B5EF4-FFF2-40B4-BE49-F238E27FC236}">
                <a16:creationId xmlns:a16="http://schemas.microsoft.com/office/drawing/2014/main" id="{7C50FEBE-095B-4E17-B7D2-1504412977C3}"/>
              </a:ext>
            </a:extLst>
          </p:cNvPr>
          <p:cNvSpPr/>
          <p:nvPr/>
        </p:nvSpPr>
        <p:spPr>
          <a:xfrm>
            <a:off x="261713" y="457883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439224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550076"/>
            <a:ext cx="10791947" cy="148860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The Skype call didn’t go very well. Actually, only one person—the program coordinator—called in. However, you got some photos of the hike, and the coordinator asks you to post the photos to social media. Which image file format will you use to get the best quality photos and hopefully attract some attention to the program?</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803822" y="3234733"/>
            <a:ext cx="9403909" cy="119575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PNG </a:t>
            </a:r>
            <a:r>
              <a:rPr lang="en-US" sz="2050" b="1" dirty="0">
                <a:solidFill>
                  <a:schemeClr val="tx2"/>
                </a:solidFill>
                <a:ea typeface="Calibri"/>
                <a:cs typeface="Calibri"/>
                <a:hlinkClick r:id="rId4" action="ppaction://hlinksldjump"/>
              </a:rPr>
              <a:t>[Level7_Decision1_OptionA]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JPEG </a:t>
            </a:r>
            <a:r>
              <a:rPr lang="en-US" sz="2050" b="1" dirty="0">
                <a:solidFill>
                  <a:schemeClr val="tx2"/>
                </a:solidFill>
                <a:ea typeface="Calibri"/>
                <a:cs typeface="Calibri"/>
                <a:hlinkClick r:id="rId4" action="ppaction://hlinksldjump"/>
              </a:rPr>
              <a:t>[Level7_Decision1_OptionB]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Level7_Decision1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431410" y="3243526"/>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431410" y="388217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7" name="TextBox 6">
            <a:extLst>
              <a:ext uri="{FF2B5EF4-FFF2-40B4-BE49-F238E27FC236}">
                <a16:creationId xmlns:a16="http://schemas.microsoft.com/office/drawing/2014/main" id="{263779B6-4A46-4C4E-984E-07F19EC01862}"/>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Skype call.</a:t>
            </a:r>
          </a:p>
        </p:txBody>
      </p:sp>
      <p:sp>
        <p:nvSpPr>
          <p:cNvPr id="10" name="TextBox 9">
            <a:extLst>
              <a:ext uri="{FF2B5EF4-FFF2-40B4-BE49-F238E27FC236}">
                <a16:creationId xmlns:a16="http://schemas.microsoft.com/office/drawing/2014/main" id="{51BAC304-B9EB-463B-AC04-1D3CCD350718}"/>
              </a:ext>
            </a:extLst>
          </p:cNvPr>
          <p:cNvSpPr txBox="1"/>
          <p:nvPr/>
        </p:nvSpPr>
        <p:spPr>
          <a:xfrm>
            <a:off x="1036320" y="6071898"/>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have mixed program results.</a:t>
            </a:r>
          </a:p>
        </p:txBody>
      </p:sp>
      <p:sp>
        <p:nvSpPr>
          <p:cNvPr id="13" name="TextBox 12">
            <a:extLst>
              <a:ext uri="{FF2B5EF4-FFF2-40B4-BE49-F238E27FC236}">
                <a16:creationId xmlns:a16="http://schemas.microsoft.com/office/drawing/2014/main" id="{B3F270B0-E8F2-433D-8FA4-70BE4729E78E}"/>
              </a:ext>
            </a:extLst>
          </p:cNvPr>
          <p:cNvSpPr txBox="1"/>
          <p:nvPr/>
        </p:nvSpPr>
        <p:spPr>
          <a:xfrm>
            <a:off x="1036320" y="4978486"/>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JPEG files will give the best quality photos.</a:t>
            </a:r>
          </a:p>
        </p:txBody>
      </p:sp>
      <p:sp>
        <p:nvSpPr>
          <p:cNvPr id="14" name="Arrow: Pentagon 13">
            <a:extLst>
              <a:ext uri="{FF2B5EF4-FFF2-40B4-BE49-F238E27FC236}">
                <a16:creationId xmlns:a16="http://schemas.microsoft.com/office/drawing/2014/main" id="{24A542AB-178A-4260-A28D-2D374423B41A}"/>
              </a:ext>
            </a:extLst>
          </p:cNvPr>
          <p:cNvSpPr/>
          <p:nvPr/>
        </p:nvSpPr>
        <p:spPr>
          <a:xfrm>
            <a:off x="188651" y="388217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276004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265852"/>
            <a:ext cx="11155679" cy="267077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The Facebook live video went over well—the kids loved jumping in front of the camera and waving to their friends, and a practical joke from the kids on the volunteers earned some great laughs. You were also able to post the video to all of the program’s social media pages, and view counts are increasing daily.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You got some great photos of the hike, and the coordinator asks you to post the photos to social media. Which image file format will you use to get the best quality photos and hopefully attract even more attention to the program?</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00" dirty="0">
              <a:solidFill>
                <a:schemeClr val="tx2"/>
              </a:solidFill>
            </a:endParaRPr>
          </a:p>
        </p:txBody>
      </p:sp>
      <p:sp>
        <p:nvSpPr>
          <p:cNvPr id="12" name="Text Placeholder 1"/>
          <p:cNvSpPr txBox="1">
            <a:spLocks/>
          </p:cNvSpPr>
          <p:nvPr/>
        </p:nvSpPr>
        <p:spPr>
          <a:xfrm>
            <a:off x="1957372" y="4078237"/>
            <a:ext cx="5401371" cy="118609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PNG </a:t>
            </a:r>
            <a:r>
              <a:rPr lang="en-US" sz="2050" b="1" dirty="0">
                <a:solidFill>
                  <a:schemeClr val="tx2"/>
                </a:solidFill>
                <a:ea typeface="Calibri"/>
                <a:cs typeface="Calibri"/>
                <a:hlinkClick r:id="rId4" action="ppaction://hlinksldjump"/>
              </a:rPr>
              <a:t>[Level7_Decision2_OptionA]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JPEG </a:t>
            </a:r>
            <a:r>
              <a:rPr lang="en-US" sz="2050" b="1" dirty="0">
                <a:solidFill>
                  <a:schemeClr val="tx2"/>
                </a:solidFill>
                <a:ea typeface="Calibri"/>
                <a:cs typeface="Calibri"/>
                <a:hlinkClick r:id="rId4" action="ppaction://hlinksldjump"/>
              </a:rPr>
              <a:t>[Level7_Decision2_OptionB]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Level7_Decision2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584960" y="408703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584960" y="4695601"/>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7" name="TextBox 6">
            <a:extLst>
              <a:ext uri="{FF2B5EF4-FFF2-40B4-BE49-F238E27FC236}">
                <a16:creationId xmlns:a16="http://schemas.microsoft.com/office/drawing/2014/main" id="{E63B7B9E-2EFF-4078-B3EB-DD68D41CAA45}"/>
              </a:ext>
            </a:extLst>
          </p:cNvPr>
          <p:cNvSpPr txBox="1"/>
          <p:nvPr/>
        </p:nvSpPr>
        <p:spPr>
          <a:xfrm>
            <a:off x="1036320" y="694199"/>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Facebook live video.</a:t>
            </a:r>
          </a:p>
        </p:txBody>
      </p:sp>
      <p:sp>
        <p:nvSpPr>
          <p:cNvPr id="10" name="TextBox 9">
            <a:extLst>
              <a:ext uri="{FF2B5EF4-FFF2-40B4-BE49-F238E27FC236}">
                <a16:creationId xmlns:a16="http://schemas.microsoft.com/office/drawing/2014/main" id="{5FC642FF-F139-49FC-9328-6AFA07F46F8E}"/>
              </a:ext>
            </a:extLst>
          </p:cNvPr>
          <p:cNvSpPr txBox="1"/>
          <p:nvPr/>
        </p:nvSpPr>
        <p:spPr>
          <a:xfrm>
            <a:off x="1036320" y="6311388"/>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have mixed program results.</a:t>
            </a:r>
          </a:p>
        </p:txBody>
      </p:sp>
      <p:sp>
        <p:nvSpPr>
          <p:cNvPr id="13" name="TextBox 12">
            <a:extLst>
              <a:ext uri="{FF2B5EF4-FFF2-40B4-BE49-F238E27FC236}">
                <a16:creationId xmlns:a16="http://schemas.microsoft.com/office/drawing/2014/main" id="{67A4876F-7B06-4A5E-9082-CA02A7A24F01}"/>
              </a:ext>
            </a:extLst>
          </p:cNvPr>
          <p:cNvSpPr txBox="1"/>
          <p:nvPr/>
        </p:nvSpPr>
        <p:spPr>
          <a:xfrm>
            <a:off x="1036320" y="5424801"/>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JPEG files will give the best quality photos.</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4" name="Arrow: Pentagon 13">
            <a:extLst>
              <a:ext uri="{FF2B5EF4-FFF2-40B4-BE49-F238E27FC236}">
                <a16:creationId xmlns:a16="http://schemas.microsoft.com/office/drawing/2014/main" id="{9FFC6C18-0F9A-4E2D-978B-4A3466F37F1A}"/>
              </a:ext>
            </a:extLst>
          </p:cNvPr>
          <p:cNvSpPr/>
          <p:nvPr/>
        </p:nvSpPr>
        <p:spPr>
          <a:xfrm>
            <a:off x="170966" y="469560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4146339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142747"/>
            <a:ext cx="11155680" cy="269587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The Facebook live video went over well—the kids loved jumping in front of the camera and waving to their friends, and a practical joke from the kids on the volunteers earned some great laughs. You were also able to post the video to all of the program’s social media pages, and view counts are increasing daily.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You got some great photos of the hike, and the coordinator asks you to post the photos to social media. Which image file format will you use to get the best quality photos and hopefully attract even more attention to the program?</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957372" y="3805505"/>
            <a:ext cx="5368714" cy="126378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PNG </a:t>
            </a:r>
            <a:r>
              <a:rPr lang="en-US" sz="2050" b="1" dirty="0">
                <a:solidFill>
                  <a:schemeClr val="tx2"/>
                </a:solidFill>
                <a:ea typeface="Calibri"/>
                <a:cs typeface="Calibri"/>
                <a:hlinkClick r:id="rId4" action="ppaction://hlinksldjump"/>
              </a:rPr>
              <a:t>[Level7_Decision3_OptionA]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JPEG </a:t>
            </a:r>
            <a:r>
              <a:rPr lang="en-US" sz="2050" b="1" dirty="0">
                <a:solidFill>
                  <a:schemeClr val="tx2"/>
                </a:solidFill>
                <a:ea typeface="Calibri"/>
                <a:cs typeface="Calibri"/>
                <a:hlinkClick r:id="rId5" action="ppaction://hlinksldjump"/>
              </a:rPr>
              <a:t>[Level7_Decision3_OptionB]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Autofit/>
          </a:bodyPr>
          <a:lstStyle/>
          <a:p>
            <a:r>
              <a:rPr lang="en-US" sz="3600" dirty="0">
                <a:solidFill>
                  <a:prstClr val="black"/>
                </a:solidFill>
                <a:latin typeface="Calibri Light" panose="020F0302020204030204"/>
              </a:rPr>
              <a:t>Level7_Decision3</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584960" y="3814298"/>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584960" y="445115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7" name="TextBox 6">
            <a:extLst>
              <a:ext uri="{FF2B5EF4-FFF2-40B4-BE49-F238E27FC236}">
                <a16:creationId xmlns:a16="http://schemas.microsoft.com/office/drawing/2014/main" id="{66A743DD-007D-47C0-804B-3214FAF89982}"/>
              </a:ext>
            </a:extLst>
          </p:cNvPr>
          <p:cNvSpPr txBox="1"/>
          <p:nvPr/>
        </p:nvSpPr>
        <p:spPr>
          <a:xfrm>
            <a:off x="1036320" y="566245"/>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Facebook live video.</a:t>
            </a:r>
          </a:p>
        </p:txBody>
      </p:sp>
      <p:sp>
        <p:nvSpPr>
          <p:cNvPr id="10" name="TextBox 9">
            <a:extLst>
              <a:ext uri="{FF2B5EF4-FFF2-40B4-BE49-F238E27FC236}">
                <a16:creationId xmlns:a16="http://schemas.microsoft.com/office/drawing/2014/main" id="{F2A6E8B8-1DEB-43C3-88F2-F1A8B60AAF34}"/>
              </a:ext>
            </a:extLst>
          </p:cNvPr>
          <p:cNvSpPr txBox="1"/>
          <p:nvPr/>
        </p:nvSpPr>
        <p:spPr>
          <a:xfrm>
            <a:off x="1036320" y="6053700"/>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Student will have mixed program results.</a:t>
            </a: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Student will have resounding success with the program.</a:t>
            </a:r>
          </a:p>
        </p:txBody>
      </p:sp>
      <p:sp>
        <p:nvSpPr>
          <p:cNvPr id="13" name="TextBox 12">
            <a:extLst>
              <a:ext uri="{FF2B5EF4-FFF2-40B4-BE49-F238E27FC236}">
                <a16:creationId xmlns:a16="http://schemas.microsoft.com/office/drawing/2014/main" id="{A7DDB660-7214-42D8-986D-48331CC42D9D}"/>
              </a:ext>
            </a:extLst>
          </p:cNvPr>
          <p:cNvSpPr txBox="1"/>
          <p:nvPr/>
        </p:nvSpPr>
        <p:spPr>
          <a:xfrm>
            <a:off x="1036320" y="5199770"/>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JPEG files will give the best quality photos.</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4" name="Arrow: Pentagon 13">
            <a:extLst>
              <a:ext uri="{FF2B5EF4-FFF2-40B4-BE49-F238E27FC236}">
                <a16:creationId xmlns:a16="http://schemas.microsoft.com/office/drawing/2014/main" id="{BFF8F902-2E8E-46A1-B7EA-B06A97A97D5D}"/>
              </a:ext>
            </a:extLst>
          </p:cNvPr>
          <p:cNvSpPr/>
          <p:nvPr/>
        </p:nvSpPr>
        <p:spPr>
          <a:xfrm>
            <a:off x="170966" y="445115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1200194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 name="Rectangle 2"/>
          <p:cNvSpPr/>
          <p:nvPr/>
        </p:nvSpPr>
        <p:spPr>
          <a:xfrm>
            <a:off x="2" y="2232162"/>
            <a:ext cx="534049" cy="28316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latin typeface="Titillium Web" panose="00000500000000000000" pitchFamily="2" charset="0"/>
              <a:cs typeface="Titillium WebRegular"/>
            </a:endParaRPr>
          </a:p>
        </p:txBody>
      </p:sp>
      <p:sp>
        <p:nvSpPr>
          <p:cNvPr id="2" name="Title 1"/>
          <p:cNvSpPr>
            <a:spLocks noGrp="1"/>
          </p:cNvSpPr>
          <p:nvPr>
            <p:ph type="title"/>
          </p:nvPr>
        </p:nvSpPr>
        <p:spPr>
          <a:xfrm>
            <a:off x="769189" y="956422"/>
            <a:ext cx="10412618" cy="2834640"/>
          </a:xfrm>
        </p:spPr>
        <p:txBody>
          <a:bodyPr>
            <a:normAutofit/>
          </a:bodyPr>
          <a:lstStyle/>
          <a:p>
            <a:r>
              <a:rPr lang="en-US" sz="2800" b="1" dirty="0">
                <a:solidFill>
                  <a:schemeClr val="tx1"/>
                </a:solidFill>
                <a:ea typeface="+mj-ea"/>
                <a:cs typeface="+mj-cs"/>
              </a:rPr>
              <a:t>This isn’t going as you expected. When you report your latest updates to the program coordinators, they decide to pull some funds from the advertising budget and hire an IT consultant.</a:t>
            </a:r>
          </a:p>
        </p:txBody>
      </p:sp>
      <p:sp>
        <p:nvSpPr>
          <p:cNvPr id="4" name="TextBox 3">
            <a:extLst>
              <a:ext uri="{FF2B5EF4-FFF2-40B4-BE49-F238E27FC236}">
                <a16:creationId xmlns:a16="http://schemas.microsoft.com/office/drawing/2014/main" id="{24FB24DC-C296-4F8C-BFE5-9C81CF03011C}"/>
              </a:ext>
            </a:extLst>
          </p:cNvPr>
          <p:cNvSpPr txBox="1"/>
          <p:nvPr/>
        </p:nvSpPr>
        <p:spPr>
          <a:xfrm>
            <a:off x="1175898" y="108929"/>
            <a:ext cx="4799600" cy="600164"/>
          </a:xfrm>
          <a:prstGeom prst="rect">
            <a:avLst/>
          </a:prstGeom>
          <a:noFill/>
        </p:spPr>
        <p:txBody>
          <a:bodyPr wrap="square" rtlCol="0">
            <a:spAutoFit/>
          </a:bodyPr>
          <a:lstStyle/>
          <a:p>
            <a:r>
              <a:rPr lang="en-US" sz="3300" dirty="0">
                <a:latin typeface="+mj-lt"/>
              </a:rPr>
              <a:t>Outcome 0</a:t>
            </a:r>
          </a:p>
        </p:txBody>
      </p:sp>
      <p:sp>
        <p:nvSpPr>
          <p:cNvPr id="5" name="Text Placeholder 1">
            <a:extLst>
              <a:ext uri="{FF2B5EF4-FFF2-40B4-BE49-F238E27FC236}">
                <a16:creationId xmlns:a16="http://schemas.microsoft.com/office/drawing/2014/main" id="{7C0E5773-2096-4463-91FD-37E4BD59E203}"/>
              </a:ext>
            </a:extLst>
          </p:cNvPr>
          <p:cNvSpPr txBox="1">
            <a:spLocks/>
          </p:cNvSpPr>
          <p:nvPr/>
        </p:nvSpPr>
        <p:spPr>
          <a:xfrm>
            <a:off x="795113" y="4074788"/>
            <a:ext cx="8598269" cy="50607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6" name="Rectangle 5">
            <a:extLst>
              <a:ext uri="{FF2B5EF4-FFF2-40B4-BE49-F238E27FC236}">
                <a16:creationId xmlns:a16="http://schemas.microsoft.com/office/drawing/2014/main" id="{C8B3C357-D450-4766-BDFE-6306EB956AF6}"/>
              </a:ext>
            </a:extLst>
          </p:cNvPr>
          <p:cNvSpPr/>
          <p:nvPr/>
        </p:nvSpPr>
        <p:spPr>
          <a:xfrm>
            <a:off x="835318" y="4958375"/>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4" action="ppaction://hlinksldjump"/>
              </a:rPr>
              <a:t>Start</a:t>
            </a:r>
            <a:r>
              <a:rPr lang="en-US" sz="2050" dirty="0">
                <a:solidFill>
                  <a:schemeClr val="bg1"/>
                </a:solidFill>
                <a:latin typeface="+mj-lt"/>
                <a:cs typeface="Calibri Light"/>
                <a:hlinkClick r:id="rId4" action="ppaction://hlinksldjump"/>
              </a:rPr>
              <a:t> Again</a:t>
            </a:r>
            <a:endParaRPr lang="en-US" sz="2099" dirty="0">
              <a:solidFill>
                <a:schemeClr val="bg1"/>
              </a:solidFill>
              <a:latin typeface="+mj-lt"/>
              <a:cs typeface="Titillium WebRegular"/>
            </a:endParaRPr>
          </a:p>
        </p:txBody>
      </p:sp>
    </p:spTree>
    <p:custDataLst>
      <p:tags r:id="rId1"/>
    </p:custDataLst>
    <p:extLst>
      <p:ext uri="{BB962C8B-B14F-4D97-AF65-F5344CB8AC3E}">
        <p14:creationId xmlns:p14="http://schemas.microsoft.com/office/powerpoint/2010/main" val="513619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Rectangle 2"/>
          <p:cNvSpPr/>
          <p:nvPr/>
        </p:nvSpPr>
        <p:spPr>
          <a:xfrm>
            <a:off x="2" y="2232162"/>
            <a:ext cx="534049" cy="28316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latin typeface="Titillium Web" panose="00000500000000000000" pitchFamily="2" charset="0"/>
              <a:cs typeface="Titillium WebRegular"/>
            </a:endParaRPr>
          </a:p>
        </p:txBody>
      </p:sp>
      <p:sp>
        <p:nvSpPr>
          <p:cNvPr id="2" name="Title 1"/>
          <p:cNvSpPr>
            <a:spLocks noGrp="1"/>
          </p:cNvSpPr>
          <p:nvPr>
            <p:ph type="title"/>
          </p:nvPr>
        </p:nvSpPr>
        <p:spPr>
          <a:xfrm>
            <a:off x="1175898" y="920982"/>
            <a:ext cx="10412618" cy="3984846"/>
          </a:xfrm>
        </p:spPr>
        <p:txBody>
          <a:bodyPr>
            <a:noAutofit/>
          </a:bodyPr>
          <a:lstStyle/>
          <a:p>
            <a:r>
              <a:rPr lang="en-US" sz="2800" b="1" dirty="0">
                <a:solidFill>
                  <a:schemeClr val="tx1"/>
                </a:solidFill>
                <a:ea typeface="+mj-ea"/>
                <a:cs typeface="+mj-cs"/>
              </a:rPr>
              <a:t>The fitness program seems to have had mixed results. The participants report moderate improvements in dietary habits, and the few who went on the first hike of the school year really enjoyed it. The students have fun when they show up to class, but they say they don’t use the media resources. Enthusiasm for the program is waning, and volunteers are dropping out. The board thanks you for your efforts, but has decided to focus its efforts elsewhere and not develop further media content.</a:t>
            </a:r>
          </a:p>
        </p:txBody>
      </p:sp>
      <p:sp>
        <p:nvSpPr>
          <p:cNvPr id="4" name="TextBox 3">
            <a:extLst>
              <a:ext uri="{FF2B5EF4-FFF2-40B4-BE49-F238E27FC236}">
                <a16:creationId xmlns:a16="http://schemas.microsoft.com/office/drawing/2014/main" id="{24FB24DC-C296-4F8C-BFE5-9C81CF03011C}"/>
              </a:ext>
            </a:extLst>
          </p:cNvPr>
          <p:cNvSpPr txBox="1"/>
          <p:nvPr/>
        </p:nvSpPr>
        <p:spPr>
          <a:xfrm>
            <a:off x="1175898" y="108929"/>
            <a:ext cx="5150474" cy="600164"/>
          </a:xfrm>
          <a:prstGeom prst="rect">
            <a:avLst/>
          </a:prstGeom>
          <a:noFill/>
        </p:spPr>
        <p:txBody>
          <a:bodyPr wrap="square" rtlCol="0">
            <a:spAutoFit/>
          </a:bodyPr>
          <a:lstStyle/>
          <a:p>
            <a:r>
              <a:rPr lang="en-US" sz="3300" dirty="0">
                <a:latin typeface="+mj-lt"/>
              </a:rPr>
              <a:t>Outcome 1</a:t>
            </a:r>
          </a:p>
        </p:txBody>
      </p:sp>
      <p:sp>
        <p:nvSpPr>
          <p:cNvPr id="5" name="Text Placeholder 1">
            <a:extLst>
              <a:ext uri="{FF2B5EF4-FFF2-40B4-BE49-F238E27FC236}">
                <a16:creationId xmlns:a16="http://schemas.microsoft.com/office/drawing/2014/main" id="{B1A4F652-0A8E-46D6-82DB-DF372A32E7D0}"/>
              </a:ext>
            </a:extLst>
          </p:cNvPr>
          <p:cNvSpPr txBox="1">
            <a:spLocks/>
          </p:cNvSpPr>
          <p:nvPr/>
        </p:nvSpPr>
        <p:spPr>
          <a:xfrm>
            <a:off x="1175898" y="4652792"/>
            <a:ext cx="8598269" cy="50607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6" name="Rectangle 5">
            <a:extLst>
              <a:ext uri="{FF2B5EF4-FFF2-40B4-BE49-F238E27FC236}">
                <a16:creationId xmlns:a16="http://schemas.microsoft.com/office/drawing/2014/main" id="{DB32E2B9-41CF-48C7-9785-66F45E2A160C}"/>
              </a:ext>
            </a:extLst>
          </p:cNvPr>
          <p:cNvSpPr/>
          <p:nvPr/>
        </p:nvSpPr>
        <p:spPr>
          <a:xfrm>
            <a:off x="1216103" y="5536379"/>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4" action="ppaction://hlinksldjump"/>
              </a:rPr>
              <a:t>Start</a:t>
            </a:r>
            <a:r>
              <a:rPr lang="en-US" sz="2050" dirty="0">
                <a:solidFill>
                  <a:schemeClr val="bg1"/>
                </a:solidFill>
                <a:latin typeface="+mj-lt"/>
                <a:cs typeface="Calibri Light"/>
                <a:hlinkClick r:id="rId4" action="ppaction://hlinksldjump"/>
              </a:rPr>
              <a:t> Again</a:t>
            </a:r>
            <a:endParaRPr lang="en-US" sz="2099" dirty="0">
              <a:solidFill>
                <a:schemeClr val="bg1"/>
              </a:solidFill>
              <a:latin typeface="+mj-lt"/>
              <a:cs typeface="Titillium WebRegular"/>
            </a:endParaRPr>
          </a:p>
        </p:txBody>
      </p:sp>
    </p:spTree>
    <p:custDataLst>
      <p:tags r:id="rId1"/>
    </p:custDataLst>
    <p:extLst>
      <p:ext uri="{BB962C8B-B14F-4D97-AF65-F5344CB8AC3E}">
        <p14:creationId xmlns:p14="http://schemas.microsoft.com/office/powerpoint/2010/main" val="1327887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3" name="Rectangle 2"/>
          <p:cNvSpPr/>
          <p:nvPr/>
        </p:nvSpPr>
        <p:spPr>
          <a:xfrm>
            <a:off x="2" y="2232162"/>
            <a:ext cx="534049" cy="28316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latin typeface="Titillium Web" panose="00000500000000000000" pitchFamily="2" charset="0"/>
              <a:cs typeface="Titillium WebRegular"/>
            </a:endParaRPr>
          </a:p>
        </p:txBody>
      </p:sp>
      <p:sp>
        <p:nvSpPr>
          <p:cNvPr id="2" name="Title 1"/>
          <p:cNvSpPr>
            <a:spLocks noGrp="1"/>
          </p:cNvSpPr>
          <p:nvPr>
            <p:ph type="title"/>
          </p:nvPr>
        </p:nvSpPr>
        <p:spPr>
          <a:xfrm>
            <a:off x="1175898" y="1086609"/>
            <a:ext cx="10234489" cy="3958727"/>
          </a:xfrm>
        </p:spPr>
        <p:txBody>
          <a:bodyPr>
            <a:noAutofit/>
          </a:bodyPr>
          <a:lstStyle/>
          <a:p>
            <a:r>
              <a:rPr lang="en-US" sz="2800" b="1" dirty="0">
                <a:solidFill>
                  <a:schemeClr val="tx1"/>
                </a:solidFill>
                <a:ea typeface="+mj-ea"/>
                <a:cs typeface="+mj-cs"/>
              </a:rPr>
              <a:t>The fitness program has been a resounding success. The kids are excited and engaged, the volunteers report excellent progress for program participants, and the public news coverage has been so good that other community centers are asking for advice on how to implement the same program in their towns. With more multimedia resources, the program can reach more kids. The rec center has received a grant from a local charity to hire an IT consultant to continue the work you started. The director is very pleased with your work!</a:t>
            </a:r>
          </a:p>
        </p:txBody>
      </p:sp>
      <p:sp>
        <p:nvSpPr>
          <p:cNvPr id="10" name="TextBox 9">
            <a:extLst>
              <a:ext uri="{FF2B5EF4-FFF2-40B4-BE49-F238E27FC236}">
                <a16:creationId xmlns:a16="http://schemas.microsoft.com/office/drawing/2014/main" id="{35898ED8-64C9-4336-AF4F-21128FD51D8B}"/>
              </a:ext>
            </a:extLst>
          </p:cNvPr>
          <p:cNvSpPr txBox="1"/>
          <p:nvPr/>
        </p:nvSpPr>
        <p:spPr>
          <a:xfrm>
            <a:off x="1175898" y="108929"/>
            <a:ext cx="4506686" cy="600164"/>
          </a:xfrm>
          <a:prstGeom prst="rect">
            <a:avLst/>
          </a:prstGeom>
          <a:noFill/>
        </p:spPr>
        <p:txBody>
          <a:bodyPr wrap="square" rtlCol="0">
            <a:spAutoFit/>
          </a:bodyPr>
          <a:lstStyle/>
          <a:p>
            <a:r>
              <a:rPr lang="en-US" sz="3300" dirty="0">
                <a:latin typeface="+mj-lt"/>
              </a:rPr>
              <a:t>Outcome 2</a:t>
            </a:r>
          </a:p>
        </p:txBody>
      </p:sp>
      <p:sp>
        <p:nvSpPr>
          <p:cNvPr id="5" name="Text Placeholder 1">
            <a:extLst>
              <a:ext uri="{FF2B5EF4-FFF2-40B4-BE49-F238E27FC236}">
                <a16:creationId xmlns:a16="http://schemas.microsoft.com/office/drawing/2014/main" id="{841504CA-2302-4825-B886-864FE5C19FF1}"/>
              </a:ext>
            </a:extLst>
          </p:cNvPr>
          <p:cNvSpPr txBox="1">
            <a:spLocks/>
          </p:cNvSpPr>
          <p:nvPr/>
        </p:nvSpPr>
        <p:spPr>
          <a:xfrm>
            <a:off x="1175898" y="5193198"/>
            <a:ext cx="8598269" cy="50607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6" name="Rectangle 5">
            <a:extLst>
              <a:ext uri="{FF2B5EF4-FFF2-40B4-BE49-F238E27FC236}">
                <a16:creationId xmlns:a16="http://schemas.microsoft.com/office/drawing/2014/main" id="{2B851415-ED0B-4AE9-8E63-0CE4B9CE7F43}"/>
              </a:ext>
            </a:extLst>
          </p:cNvPr>
          <p:cNvSpPr/>
          <p:nvPr/>
        </p:nvSpPr>
        <p:spPr>
          <a:xfrm>
            <a:off x="1216103" y="6076785"/>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4" action="ppaction://hlinksldjump"/>
              </a:rPr>
              <a:t>Start</a:t>
            </a:r>
            <a:r>
              <a:rPr lang="en-US" sz="2050" dirty="0">
                <a:solidFill>
                  <a:schemeClr val="bg1"/>
                </a:solidFill>
                <a:latin typeface="+mj-lt"/>
                <a:cs typeface="Calibri Light"/>
                <a:hlinkClick r:id="rId4" action="ppaction://hlinksldjump"/>
              </a:rPr>
              <a:t> Again</a:t>
            </a:r>
            <a:endParaRPr lang="en-US" sz="2099" dirty="0">
              <a:solidFill>
                <a:schemeClr val="bg1"/>
              </a:solidFill>
              <a:latin typeface="+mj-lt"/>
              <a:cs typeface="Titillium WebRegular"/>
            </a:endParaRPr>
          </a:p>
        </p:txBody>
      </p:sp>
    </p:spTree>
    <p:custDataLst>
      <p:tags r:id="rId1"/>
    </p:custDataLst>
    <p:extLst>
      <p:ext uri="{BB962C8B-B14F-4D97-AF65-F5344CB8AC3E}">
        <p14:creationId xmlns:p14="http://schemas.microsoft.com/office/powerpoint/2010/main" val="1729003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58"/>
  <p:tag name="ARTICULATE_USED_LAYOUT" val="3"/>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60"/>
  <p:tag name="ARTICULATE_USED_LAYOUT"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ontrol xmlns="http://schemas.microsoft.com/VisualStudio/2011/storyboarding/control">
  <Id Name="1fd42469-89aa-4a08-b532-3332bc5f5ec1" Revision="1" Stencil="System.MyShapes" StencilVersion="1.0"/>
</Control>
</file>

<file path=customXml/item2.xml><?xml version="1.0" encoding="utf-8"?>
<Control xmlns="http://schemas.microsoft.com/VisualStudio/2011/storyboarding/control">
  <Id Name="1fd42469-89aa-4a08-b532-3332bc5f5ec1" Revision="1" Stencil="System.MyShapes" StencilVersion="1.0"/>
</Control>
</file>

<file path=customXml/item3.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F546FF6-DD59-47E7-8627-1821B46FD2F1}">
  <ds:schemaRefs>
    <ds:schemaRef ds:uri="http://schemas.microsoft.com/VisualStudio/2011/storyboarding/control"/>
  </ds:schemaRefs>
</ds:datastoreItem>
</file>

<file path=customXml/itemProps2.xml><?xml version="1.0" encoding="utf-8"?>
<ds:datastoreItem xmlns:ds="http://schemas.openxmlformats.org/officeDocument/2006/customXml" ds:itemID="{3C5AA1C0-2736-4C35-9D36-1790D98FE524}">
  <ds:schemaRefs>
    <ds:schemaRef ds:uri="http://schemas.microsoft.com/VisualStudio/2011/storyboarding/control"/>
  </ds:schemaRefs>
</ds:datastoreItem>
</file>

<file path=customXml/itemProps3.xml><?xml version="1.0" encoding="utf-8"?>
<ds:datastoreItem xmlns:ds="http://schemas.openxmlformats.org/officeDocument/2006/customXml" ds:itemID="{60B98538-67CA-489B-8ACE-F0682A9A9526}">
  <ds:schemaRefs>
    <ds:schemaRef ds:uri="http://schemas.microsoft.com/office/2006/metadata/properties"/>
    <ds:schemaRef ds:uri="http://schemas.microsoft.com/office/infopath/2007/PartnerControls"/>
    <ds:schemaRef ds:uri="eeab3f26-09e2-49ed-a80d-9bb89f29cea5"/>
  </ds:schemaRefs>
</ds:datastoreItem>
</file>

<file path=customXml/itemProps4.xml><?xml version="1.0" encoding="utf-8"?>
<ds:datastoreItem xmlns:ds="http://schemas.openxmlformats.org/officeDocument/2006/customXml" ds:itemID="{AAC9EFF6-2F28-402F-80E4-B9A1B1030757}"/>
</file>

<file path=customXml/itemProps5.xml><?xml version="1.0" encoding="utf-8"?>
<ds:datastoreItem xmlns:ds="http://schemas.openxmlformats.org/officeDocument/2006/customXml" ds:itemID="{AD92EAD0-DA55-4F7D-BD93-5513A29DFF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1009</TotalTime>
  <Words>3606</Words>
  <Application>Microsoft Office PowerPoint</Application>
  <PresentationFormat>Widescreen</PresentationFormat>
  <Paragraphs>342</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Titillium Web</vt:lpstr>
      <vt:lpstr>Wingdings</vt:lpstr>
      <vt:lpstr>Office Theme</vt:lpstr>
      <vt:lpstr>Working with Media Files</vt:lpstr>
      <vt:lpstr>Working with Media Files</vt:lpstr>
      <vt:lpstr>Introduction</vt:lpstr>
      <vt:lpstr>Level1_Story1</vt:lpstr>
      <vt:lpstr>Level1_Decision1</vt:lpstr>
      <vt:lpstr>Level2_Decision1</vt:lpstr>
      <vt:lpstr>Level3_Decision1</vt:lpstr>
      <vt:lpstr>Level3_Decision2</vt:lpstr>
      <vt:lpstr>Level3_Story1</vt:lpstr>
      <vt:lpstr>Level3_Story2</vt:lpstr>
      <vt:lpstr>Level3_Story3</vt:lpstr>
      <vt:lpstr>Level4_Decision1</vt:lpstr>
      <vt:lpstr>Level4_Decision2</vt:lpstr>
      <vt:lpstr>Level4_Story1</vt:lpstr>
      <vt:lpstr>Level5_Decision1</vt:lpstr>
      <vt:lpstr>Level6_Decision1</vt:lpstr>
      <vt:lpstr>Level6_Decision2</vt:lpstr>
      <vt:lpstr>Level7_Decision1</vt:lpstr>
      <vt:lpstr>Level7_Decision2</vt:lpstr>
      <vt:lpstr>Level7_Decision3</vt:lpstr>
      <vt:lpstr>This isn’t going as you expected. When you report your latest updates to the program coordinators, they decide to pull some funds from the advertising budget and hire an IT consultant.</vt:lpstr>
      <vt:lpstr>The fitness program seems to have had mixed results. The participants report moderate improvements in dietary habits, and the few who went on the first hike of the school year really enjoyed it. The students have fun when they show up to class, but they say they don’t use the media resources. Enthusiasm for the program is waning, and volunteers are dropping out. The board thanks you for your efforts, but has decided to focus its efforts elsewhere and not develop further media content.</vt:lpstr>
      <vt:lpstr>The fitness program has been a resounding success. The kids are excited and engaged, the volunteers report excellent progress for program participants, and the public news coverage has been so good that other community centers are asking for advice on how to implement the same program in their towns. With more multimedia resources, the program can reach more kids. The rec center has received a grant from a local charity to hire an IT consultant to continue the work you started. The director is very pleased with your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Hoisington, Corinne</dc:creator>
  <cp:lastModifiedBy>Jill West</cp:lastModifiedBy>
  <cp:revision>2147</cp:revision>
  <dcterms:created xsi:type="dcterms:W3CDTF">2018-06-14T17:50:20Z</dcterms:created>
  <dcterms:modified xsi:type="dcterms:W3CDTF">2020-02-17T15:28:50Z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y fmtid="{D5CDD505-2E9C-101B-9397-08002B2CF9AE}" pid="3" name="ContentTypeId">
    <vt:lpwstr>0x010100CC237A0CA6CD2A4D8CE02E9AA9870115</vt:lpwstr>
  </property>
</Properties>
</file>