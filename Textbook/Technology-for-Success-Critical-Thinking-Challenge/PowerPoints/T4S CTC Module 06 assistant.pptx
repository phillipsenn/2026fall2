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ppt/theme/themeOverride1.xml" ContentType="application/vnd.openxmlformats-officedocument.themeOverride+xml"/>
  <Override PartName="/ppt/tags/tag37.xml" ContentType="application/vnd.openxmlformats-officedocument.presentationml.tags+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tags/tag39.xml" ContentType="application/vnd.openxmlformats-officedocument.presentationml.tags+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258" r:id="rId5"/>
    <p:sldId id="259" r:id="rId6"/>
    <p:sldId id="260" r:id="rId7"/>
    <p:sldId id="257" r:id="rId8"/>
    <p:sldId id="261" r:id="rId9"/>
    <p:sldId id="304" r:id="rId10"/>
    <p:sldId id="305" r:id="rId11"/>
    <p:sldId id="306" r:id="rId12"/>
    <p:sldId id="307" r:id="rId13"/>
    <p:sldId id="308" r:id="rId14"/>
    <p:sldId id="268" r:id="rId15"/>
    <p:sldId id="309" r:id="rId16"/>
    <p:sldId id="264" r:id="rId17"/>
    <p:sldId id="275" r:id="rId18"/>
    <p:sldId id="310" r:id="rId19"/>
    <p:sldId id="311" r:id="rId20"/>
    <p:sldId id="269" r:id="rId21"/>
    <p:sldId id="283" r:id="rId22"/>
    <p:sldId id="312" r:id="rId23"/>
    <p:sldId id="313" r:id="rId24"/>
    <p:sldId id="314" r:id="rId25"/>
    <p:sldId id="315" r:id="rId26"/>
    <p:sldId id="316" r:id="rId27"/>
    <p:sldId id="317" r:id="rId28"/>
    <p:sldId id="278" r:id="rId29"/>
    <p:sldId id="318" r:id="rId30"/>
    <p:sldId id="319" r:id="rId31"/>
    <p:sldId id="271" r:id="rId32"/>
    <p:sldId id="320" r:id="rId33"/>
    <p:sldId id="321" r:id="rId34"/>
    <p:sldId id="322" r:id="rId35"/>
    <p:sldId id="323" r:id="rId36"/>
    <p:sldId id="324" r:id="rId37"/>
    <p:sldId id="303" r:id="rId38"/>
    <p:sldId id="296" r:id="rId39"/>
    <p:sldId id="29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pe, Emily D" initials="PED" lastIdx="27" clrIdx="0">
    <p:extLst>
      <p:ext uri="{19B8F6BF-5375-455C-9EA6-DF929625EA0E}">
        <p15:presenceInfo xmlns:p15="http://schemas.microsoft.com/office/powerpoint/2012/main" userId="S-1-5-21-4027829005-1107895287-290554039-212238" providerId="AD"/>
      </p:ext>
    </p:extLst>
  </p:cmAuthor>
  <p:cmAuthor id="2" name="Jill West" initials="JW" lastIdx="12" clrIdx="1">
    <p:extLst>
      <p:ext uri="{19B8F6BF-5375-455C-9EA6-DF929625EA0E}">
        <p15:presenceInfo xmlns:p15="http://schemas.microsoft.com/office/powerpoint/2012/main" userId="Jill West" providerId="None"/>
      </p:ext>
    </p:extLst>
  </p:cmAuthor>
  <p:cmAuthor id="3" name="Jessica West" initials="JW" lastIdx="1" clrIdx="2">
    <p:extLst>
      <p:ext uri="{19B8F6BF-5375-455C-9EA6-DF929625EA0E}">
        <p15:presenceInfo xmlns:p15="http://schemas.microsoft.com/office/powerpoint/2012/main" userId="Jessica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CED298-4E8D-44B4-943E-7014C67801C4}" v="5" dt="2020-03-05T16:22:45.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94" autoAdjust="0"/>
    <p:restoredTop sz="85627" autoAdjust="0"/>
  </p:normalViewPr>
  <p:slideViewPr>
    <p:cSldViewPr snapToGrid="0">
      <p:cViewPr varScale="1">
        <p:scale>
          <a:sx n="37" d="100"/>
          <a:sy n="37" d="100"/>
        </p:scale>
        <p:origin x="36"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EFF3D5BC-0534-418C-B48C-261C8A1F1345}"/>
    <pc:docChg chg="custSel modSld">
      <pc:chgData name="MikeandJill West" userId="0caeac936585bbb7" providerId="LiveId" clId="{EFF3D5BC-0534-418C-B48C-261C8A1F1345}" dt="2020-02-17T15:28:03.451" v="6" actId="113"/>
      <pc:docMkLst>
        <pc:docMk/>
      </pc:docMkLst>
      <pc:sldChg chg="modSp">
        <pc:chgData name="MikeandJill West" userId="0caeac936585bbb7" providerId="LiveId" clId="{EFF3D5BC-0534-418C-B48C-261C8A1F1345}" dt="2020-02-17T15:28:03.451" v="6" actId="113"/>
        <pc:sldMkLst>
          <pc:docMk/>
          <pc:sldMk cId="1468384188" sldId="258"/>
        </pc:sldMkLst>
        <pc:spChg chg="mod">
          <ac:chgData name="MikeandJill West" userId="0caeac936585bbb7" providerId="LiveId" clId="{EFF3D5BC-0534-418C-B48C-261C8A1F1345}" dt="2020-02-17T15:28:03.451" v="6" actId="113"/>
          <ac:spMkLst>
            <pc:docMk/>
            <pc:sldMk cId="1468384188" sldId="258"/>
            <ac:spMk id="26" creationId="{40184B40-508E-4CC0-A6B8-3111CAA042DC}"/>
          </ac:spMkLst>
        </pc:spChg>
      </pc:sldChg>
      <pc:sldChg chg="modSp">
        <pc:chgData name="MikeandJill West" userId="0caeac936585bbb7" providerId="LiveId" clId="{EFF3D5BC-0534-418C-B48C-261C8A1F1345}" dt="2020-02-17T02:00:58.475" v="5" actId="14100"/>
        <pc:sldMkLst>
          <pc:docMk/>
          <pc:sldMk cId="4211966811" sldId="259"/>
        </pc:sldMkLst>
        <pc:spChg chg="mod">
          <ac:chgData name="MikeandJill West" userId="0caeac936585bbb7" providerId="LiveId" clId="{EFF3D5BC-0534-418C-B48C-261C8A1F1345}" dt="2020-02-17T02:00:58.475" v="5" actId="14100"/>
          <ac:spMkLst>
            <pc:docMk/>
            <pc:sldMk cId="4211966811" sldId="259"/>
            <ac:spMk id="2" creationId="{00000000-0000-0000-0000-000000000000}"/>
          </ac:spMkLst>
        </pc:spChg>
      </pc:sldChg>
      <pc:sldChg chg="setBg">
        <pc:chgData name="MikeandJill West" userId="0caeac936585bbb7" providerId="LiveId" clId="{EFF3D5BC-0534-418C-B48C-261C8A1F1345}" dt="2020-02-17T02:00:34.897" v="1"/>
        <pc:sldMkLst>
          <pc:docMk/>
          <pc:sldMk cId="610327845" sldId="296"/>
        </pc:sldMkLst>
      </pc:sldChg>
      <pc:sldChg chg="setBg addCm delCm">
        <pc:chgData name="MikeandJill West" userId="0caeac936585bbb7" providerId="LiveId" clId="{EFF3D5BC-0534-418C-B48C-261C8A1F1345}" dt="2020-02-17T02:00:46.930" v="4" actId="1592"/>
        <pc:sldMkLst>
          <pc:docMk/>
          <pc:sldMk cId="803338873" sldId="297"/>
        </pc:sldMkLst>
      </pc:sldChg>
      <pc:sldChg chg="setBg">
        <pc:chgData name="MikeandJill West" userId="0caeac936585bbb7" providerId="LiveId" clId="{EFF3D5BC-0534-418C-B48C-261C8A1F1345}" dt="2020-02-17T02:00:31.535" v="0"/>
        <pc:sldMkLst>
          <pc:docMk/>
          <pc:sldMk cId="3072946042" sldId="303"/>
        </pc:sldMkLst>
      </pc:sldChg>
    </pc:docChg>
  </pc:docChgLst>
  <pc:docChgLst>
    <pc:chgData name="Molnar, Zenya" userId="d17daa46-33bc-45d8-ab7d-8dd45e08dac2" providerId="ADAL" clId="{A1CED298-4E8D-44B4-943E-7014C67801C4}"/>
    <pc:docChg chg="undo custSel modSld">
      <pc:chgData name="Molnar, Zenya" userId="d17daa46-33bc-45d8-ab7d-8dd45e08dac2" providerId="ADAL" clId="{A1CED298-4E8D-44B4-943E-7014C67801C4}" dt="2020-03-05T16:22:45.065" v="36"/>
      <pc:docMkLst>
        <pc:docMk/>
      </pc:docMkLst>
      <pc:sldChg chg="modSp mod">
        <pc:chgData name="Molnar, Zenya" userId="d17daa46-33bc-45d8-ab7d-8dd45e08dac2" providerId="ADAL" clId="{A1CED298-4E8D-44B4-943E-7014C67801C4}" dt="2020-03-05T16:10:47.745" v="0" actId="6549"/>
        <pc:sldMkLst>
          <pc:docMk/>
          <pc:sldMk cId="2010715710" sldId="257"/>
        </pc:sldMkLst>
        <pc:spChg chg="mod">
          <ac:chgData name="Molnar, Zenya" userId="d17daa46-33bc-45d8-ab7d-8dd45e08dac2" providerId="ADAL" clId="{A1CED298-4E8D-44B4-943E-7014C67801C4}" dt="2020-03-05T16:10:47.745" v="0" actId="6549"/>
          <ac:spMkLst>
            <pc:docMk/>
            <pc:sldMk cId="2010715710" sldId="257"/>
            <ac:spMk id="13" creationId="{BC2BAA4F-1E5E-4A57-BD56-2F3572E2C9AB}"/>
          </ac:spMkLst>
        </pc:spChg>
      </pc:sldChg>
      <pc:sldChg chg="modSp mod">
        <pc:chgData name="Molnar, Zenya" userId="d17daa46-33bc-45d8-ab7d-8dd45e08dac2" providerId="ADAL" clId="{A1CED298-4E8D-44B4-943E-7014C67801C4}" dt="2020-03-05T16:21:46.137" v="35" actId="20577"/>
        <pc:sldMkLst>
          <pc:docMk/>
          <pc:sldMk cId="410178050" sldId="271"/>
        </pc:sldMkLst>
        <pc:spChg chg="mod">
          <ac:chgData name="Molnar, Zenya" userId="d17daa46-33bc-45d8-ab7d-8dd45e08dac2" providerId="ADAL" clId="{A1CED298-4E8D-44B4-943E-7014C67801C4}" dt="2020-03-05T16:21:46.137" v="35" actId="20577"/>
          <ac:spMkLst>
            <pc:docMk/>
            <pc:sldMk cId="410178050" sldId="271"/>
            <ac:spMk id="10" creationId="{EDBF5172-A7DB-41F6-A9E2-42CA841EDB2D}"/>
          </ac:spMkLst>
        </pc:spChg>
      </pc:sldChg>
      <pc:sldChg chg="addSp delSp modSp mod">
        <pc:chgData name="Molnar, Zenya" userId="d17daa46-33bc-45d8-ab7d-8dd45e08dac2" providerId="ADAL" clId="{A1CED298-4E8D-44B4-943E-7014C67801C4}" dt="2020-03-05T16:14:23.977" v="9" actId="1076"/>
        <pc:sldMkLst>
          <pc:docMk/>
          <pc:sldMk cId="3306012018" sldId="275"/>
        </pc:sldMkLst>
        <pc:spChg chg="add del mod">
          <ac:chgData name="Molnar, Zenya" userId="d17daa46-33bc-45d8-ab7d-8dd45e08dac2" providerId="ADAL" clId="{A1CED298-4E8D-44B4-943E-7014C67801C4}" dt="2020-03-05T16:14:12.716" v="5" actId="478"/>
          <ac:spMkLst>
            <pc:docMk/>
            <pc:sldMk cId="3306012018" sldId="275"/>
            <ac:spMk id="3" creationId="{0612BDAC-F487-4B3C-B1BC-65149F280311}"/>
          </ac:spMkLst>
        </pc:spChg>
        <pc:spChg chg="add mod">
          <ac:chgData name="Molnar, Zenya" userId="d17daa46-33bc-45d8-ab7d-8dd45e08dac2" providerId="ADAL" clId="{A1CED298-4E8D-44B4-943E-7014C67801C4}" dt="2020-03-05T16:14:18.539" v="7" actId="1076"/>
          <ac:spMkLst>
            <pc:docMk/>
            <pc:sldMk cId="3306012018" sldId="275"/>
            <ac:spMk id="13" creationId="{C4343343-92A5-4AC2-A0B4-99EDC84ADEAB}"/>
          </ac:spMkLst>
        </pc:spChg>
        <pc:spChg chg="add mod">
          <ac:chgData name="Molnar, Zenya" userId="d17daa46-33bc-45d8-ab7d-8dd45e08dac2" providerId="ADAL" clId="{A1CED298-4E8D-44B4-943E-7014C67801C4}" dt="2020-03-05T16:14:23.977" v="9" actId="1076"/>
          <ac:spMkLst>
            <pc:docMk/>
            <pc:sldMk cId="3306012018" sldId="275"/>
            <ac:spMk id="18" creationId="{8D7A4320-79B6-463D-AF64-439159684B11}"/>
          </ac:spMkLst>
        </pc:spChg>
      </pc:sldChg>
      <pc:sldChg chg="modSp mod">
        <pc:chgData name="Molnar, Zenya" userId="d17daa46-33bc-45d8-ab7d-8dd45e08dac2" providerId="ADAL" clId="{A1CED298-4E8D-44B4-943E-7014C67801C4}" dt="2020-03-05T16:15:40.722" v="11" actId="313"/>
        <pc:sldMkLst>
          <pc:docMk/>
          <pc:sldMk cId="3503711327" sldId="312"/>
        </pc:sldMkLst>
        <pc:spChg chg="mod">
          <ac:chgData name="Molnar, Zenya" userId="d17daa46-33bc-45d8-ab7d-8dd45e08dac2" providerId="ADAL" clId="{A1CED298-4E8D-44B4-943E-7014C67801C4}" dt="2020-03-05T16:15:40.722" v="11" actId="313"/>
          <ac:spMkLst>
            <pc:docMk/>
            <pc:sldMk cId="3503711327" sldId="312"/>
            <ac:spMk id="12" creationId="{00000000-0000-0000-0000-000000000000}"/>
          </ac:spMkLst>
        </pc:spChg>
      </pc:sldChg>
      <pc:sldChg chg="modSp mod">
        <pc:chgData name="Molnar, Zenya" userId="d17daa46-33bc-45d8-ab7d-8dd45e08dac2" providerId="ADAL" clId="{A1CED298-4E8D-44B4-943E-7014C67801C4}" dt="2020-03-05T16:16:20.952" v="13" actId="313"/>
        <pc:sldMkLst>
          <pc:docMk/>
          <pc:sldMk cId="1816160391" sldId="314"/>
        </pc:sldMkLst>
        <pc:spChg chg="mod">
          <ac:chgData name="Molnar, Zenya" userId="d17daa46-33bc-45d8-ab7d-8dd45e08dac2" providerId="ADAL" clId="{A1CED298-4E8D-44B4-943E-7014C67801C4}" dt="2020-03-05T16:16:20.952" v="13" actId="313"/>
          <ac:spMkLst>
            <pc:docMk/>
            <pc:sldMk cId="1816160391" sldId="314"/>
            <ac:spMk id="12" creationId="{00000000-0000-0000-0000-000000000000}"/>
          </ac:spMkLst>
        </pc:spChg>
      </pc:sldChg>
      <pc:sldChg chg="modSp">
        <pc:chgData name="Molnar, Zenya" userId="d17daa46-33bc-45d8-ab7d-8dd45e08dac2" providerId="ADAL" clId="{A1CED298-4E8D-44B4-943E-7014C67801C4}" dt="2020-03-05T16:22:45.065" v="36"/>
        <pc:sldMkLst>
          <pc:docMk/>
          <pc:sldMk cId="3024589433" sldId="320"/>
        </pc:sldMkLst>
        <pc:spChg chg="mod">
          <ac:chgData name="Molnar, Zenya" userId="d17daa46-33bc-45d8-ab7d-8dd45e08dac2" providerId="ADAL" clId="{A1CED298-4E8D-44B4-943E-7014C67801C4}" dt="2020-03-05T16:22:45.065" v="36"/>
          <ac:spMkLst>
            <pc:docMk/>
            <pc:sldMk cId="3024589433" sldId="320"/>
            <ac:spMk id="10" creationId="{9258B292-899C-41CB-892B-69E8DB738C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CFECEA-F6C2-48B4-9001-6AE87CAC4F6E}" type="datetimeFigureOut">
              <a:rPr lang="en-US" smtClean="0"/>
              <a:t>3/5/2020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955C6-2763-45E1-A57F-6C08AC92E900}" type="slidenum">
              <a:rPr lang="en-US" smtClean="0"/>
              <a:t>‹#›</a:t>
            </a:fld>
            <a:endParaRPr lang="en-US"/>
          </a:p>
        </p:txBody>
      </p:sp>
    </p:spTree>
    <p:extLst>
      <p:ext uri="{BB962C8B-B14F-4D97-AF65-F5344CB8AC3E}">
        <p14:creationId xmlns:p14="http://schemas.microsoft.com/office/powerpoint/2010/main" val="1341184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170667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4030616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264640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aseline="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812811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728563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3343447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3945904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1064139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3296211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2883526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1462625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3072292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383139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595220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3682148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58589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1121847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4045300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826792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1305841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1507023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3871310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23</a:t>
            </a:fld>
            <a:endParaRPr lang="en-US" dirty="0"/>
          </a:p>
        </p:txBody>
      </p:sp>
    </p:spTree>
    <p:extLst>
      <p:ext uri="{BB962C8B-B14F-4D97-AF65-F5344CB8AC3E}">
        <p14:creationId xmlns:p14="http://schemas.microsoft.com/office/powerpoint/2010/main" val="3144863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24</a:t>
            </a:fld>
            <a:endParaRPr lang="en-US" dirty="0"/>
          </a:p>
        </p:txBody>
      </p:sp>
    </p:spTree>
    <p:extLst>
      <p:ext uri="{BB962C8B-B14F-4D97-AF65-F5344CB8AC3E}">
        <p14:creationId xmlns:p14="http://schemas.microsoft.com/office/powerpoint/2010/main" val="80284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25</a:t>
            </a:fld>
            <a:endParaRPr lang="en-US" dirty="0"/>
          </a:p>
        </p:txBody>
      </p:sp>
    </p:spTree>
    <p:extLst>
      <p:ext uri="{BB962C8B-B14F-4D97-AF65-F5344CB8AC3E}">
        <p14:creationId xmlns:p14="http://schemas.microsoft.com/office/powerpoint/2010/main" val="426325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26</a:t>
            </a:fld>
            <a:endParaRPr lang="en-US" dirty="0"/>
          </a:p>
        </p:txBody>
      </p:sp>
    </p:spTree>
    <p:extLst>
      <p:ext uri="{BB962C8B-B14F-4D97-AF65-F5344CB8AC3E}">
        <p14:creationId xmlns:p14="http://schemas.microsoft.com/office/powerpoint/2010/main" val="30048112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27</a:t>
            </a:fld>
            <a:endParaRPr lang="en-US" dirty="0"/>
          </a:p>
        </p:txBody>
      </p:sp>
    </p:spTree>
    <p:extLst>
      <p:ext uri="{BB962C8B-B14F-4D97-AF65-F5344CB8AC3E}">
        <p14:creationId xmlns:p14="http://schemas.microsoft.com/office/powerpoint/2010/main" val="29231125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28</a:t>
            </a:fld>
            <a:endParaRPr lang="en-US" dirty="0"/>
          </a:p>
        </p:txBody>
      </p:sp>
    </p:spTree>
    <p:extLst>
      <p:ext uri="{BB962C8B-B14F-4D97-AF65-F5344CB8AC3E}">
        <p14:creationId xmlns:p14="http://schemas.microsoft.com/office/powerpoint/2010/main" val="733831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29</a:t>
            </a:fld>
            <a:endParaRPr lang="en-US" dirty="0"/>
          </a:p>
        </p:txBody>
      </p:sp>
    </p:spTree>
    <p:extLst>
      <p:ext uri="{BB962C8B-B14F-4D97-AF65-F5344CB8AC3E}">
        <p14:creationId xmlns:p14="http://schemas.microsoft.com/office/powerpoint/2010/main" val="1052240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30</a:t>
            </a:fld>
            <a:endParaRPr lang="en-US" dirty="0"/>
          </a:p>
        </p:txBody>
      </p:sp>
    </p:spTree>
    <p:extLst>
      <p:ext uri="{BB962C8B-B14F-4D97-AF65-F5344CB8AC3E}">
        <p14:creationId xmlns:p14="http://schemas.microsoft.com/office/powerpoint/2010/main" val="1483630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31</a:t>
            </a:fld>
            <a:endParaRPr lang="en-US" dirty="0"/>
          </a:p>
        </p:txBody>
      </p:sp>
    </p:spTree>
    <p:extLst>
      <p:ext uri="{BB962C8B-B14F-4D97-AF65-F5344CB8AC3E}">
        <p14:creationId xmlns:p14="http://schemas.microsoft.com/office/powerpoint/2010/main" val="4183915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aseline="0" dirty="0"/>
          </a:p>
        </p:txBody>
      </p:sp>
      <p:sp>
        <p:nvSpPr>
          <p:cNvPr id="4" name="Slide Number Placeholder 3"/>
          <p:cNvSpPr>
            <a:spLocks noGrp="1"/>
          </p:cNvSpPr>
          <p:nvPr>
            <p:ph type="sldNum" sz="quarter" idx="10"/>
          </p:nvPr>
        </p:nvSpPr>
        <p:spPr/>
        <p:txBody>
          <a:bodyPr/>
          <a:lstStyle/>
          <a:p>
            <a:fld id="{E2AA3592-D5F1-C049-A75C-8C2FAAE2A508}" type="slidenum">
              <a:rPr lang="en-US" smtClean="0"/>
              <a:t>32</a:t>
            </a:fld>
            <a:endParaRPr lang="en-US" dirty="0"/>
          </a:p>
        </p:txBody>
      </p:sp>
    </p:spTree>
    <p:extLst>
      <p:ext uri="{BB962C8B-B14F-4D97-AF65-F5344CB8AC3E}">
        <p14:creationId xmlns:p14="http://schemas.microsoft.com/office/powerpoint/2010/main" val="1199186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aseline="0" dirty="0"/>
          </a:p>
        </p:txBody>
      </p:sp>
      <p:sp>
        <p:nvSpPr>
          <p:cNvPr id="4" name="Slide Number Placeholder 3"/>
          <p:cNvSpPr>
            <a:spLocks noGrp="1"/>
          </p:cNvSpPr>
          <p:nvPr>
            <p:ph type="sldNum" sz="quarter" idx="10"/>
          </p:nvPr>
        </p:nvSpPr>
        <p:spPr/>
        <p:txBody>
          <a:bodyPr/>
          <a:lstStyle/>
          <a:p>
            <a:fld id="{E2AA3592-D5F1-C049-A75C-8C2FAAE2A508}" type="slidenum">
              <a:rPr lang="en-US" smtClean="0"/>
              <a:t>33</a:t>
            </a:fld>
            <a:endParaRPr lang="en-US" dirty="0"/>
          </a:p>
        </p:txBody>
      </p:sp>
    </p:spTree>
    <p:extLst>
      <p:ext uri="{BB962C8B-B14F-4D97-AF65-F5344CB8AC3E}">
        <p14:creationId xmlns:p14="http://schemas.microsoft.com/office/powerpoint/2010/main" val="1143468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34</a:t>
            </a:fld>
            <a:endParaRPr lang="en-US" dirty="0"/>
          </a:p>
        </p:txBody>
      </p:sp>
    </p:spTree>
    <p:extLst>
      <p:ext uri="{BB962C8B-B14F-4D97-AF65-F5344CB8AC3E}">
        <p14:creationId xmlns:p14="http://schemas.microsoft.com/office/powerpoint/2010/main" val="804837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35</a:t>
            </a:fld>
            <a:endParaRPr lang="en-US" dirty="0"/>
          </a:p>
        </p:txBody>
      </p:sp>
    </p:spTree>
    <p:extLst>
      <p:ext uri="{BB962C8B-B14F-4D97-AF65-F5344CB8AC3E}">
        <p14:creationId xmlns:p14="http://schemas.microsoft.com/office/powerpoint/2010/main" val="33296574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36</a:t>
            </a:fld>
            <a:endParaRPr lang="en-US" dirty="0"/>
          </a:p>
        </p:txBody>
      </p:sp>
    </p:spTree>
    <p:extLst>
      <p:ext uri="{BB962C8B-B14F-4D97-AF65-F5344CB8AC3E}">
        <p14:creationId xmlns:p14="http://schemas.microsoft.com/office/powerpoint/2010/main" val="1331578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04E58FD-CF5D-4834-88A6-C766781DBD99}"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3097488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4E58FD-CF5D-4834-88A6-C766781DBD99}"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292692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4E58FD-CF5D-4834-88A6-C766781DBD99}"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432319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4E58FD-CF5D-4834-88A6-C766781DBD99}"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12585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4E58FD-CF5D-4834-88A6-C766781DBD99}" type="datetimeFigureOut">
              <a:rPr lang="en-US" smtClean="0"/>
              <a:t>3/5/2020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3326858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4E58FD-CF5D-4834-88A6-C766781DBD99}" type="datetimeFigureOut">
              <a:rPr lang="en-US" smtClean="0"/>
              <a:t>3/5/2020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3138284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4E58FD-CF5D-4834-88A6-C766781DBD99}" type="datetimeFigureOut">
              <a:rPr lang="en-US" smtClean="0"/>
              <a:t>3/5/2020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3288570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4E58FD-CF5D-4834-88A6-C766781DBD99}"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3470784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4E58FD-CF5D-4834-88A6-C766781DBD99}"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255273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4E58FD-CF5D-4834-88A6-C766781DBD99}"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266353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4E58FD-CF5D-4834-88A6-C766781DBD99}"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EC4F0A-B6BD-41B6-85AF-0025CAE5BB20}" type="slidenum">
              <a:rPr lang="en-US" smtClean="0"/>
              <a:t>‹#›</a:t>
            </a:fld>
            <a:endParaRPr lang="en-US"/>
          </a:p>
        </p:txBody>
      </p:sp>
    </p:spTree>
    <p:extLst>
      <p:ext uri="{BB962C8B-B14F-4D97-AF65-F5344CB8AC3E}">
        <p14:creationId xmlns:p14="http://schemas.microsoft.com/office/powerpoint/2010/main" val="1268270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161001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2931963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353278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4E58FD-CF5D-4834-88A6-C766781DBD99}" type="datetimeFigureOut">
              <a:rPr lang="en-US" smtClean="0"/>
              <a:t>3/5/2020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C4F0A-B6BD-41B6-85AF-0025CAE5BB20}" type="slidenum">
              <a:rPr lang="en-US" smtClean="0"/>
              <a:t>‹#›</a:t>
            </a:fld>
            <a:endParaRPr lang="en-US"/>
          </a:p>
        </p:txBody>
      </p:sp>
    </p:spTree>
    <p:extLst>
      <p:ext uri="{BB962C8B-B14F-4D97-AF65-F5344CB8AC3E}">
        <p14:creationId xmlns:p14="http://schemas.microsoft.com/office/powerpoint/2010/main" val="2334670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8.xml"/><Relationship Id="rId5" Type="http://schemas.openxmlformats.org/officeDocument/2006/relationships/slide" Target="slide8.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9.xml"/><Relationship Id="rId5" Type="http://schemas.openxmlformats.org/officeDocument/2006/relationships/slide" Target="slide10.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10.xml"/><Relationship Id="rId4" Type="http://schemas.openxmlformats.org/officeDocument/2006/relationships/slide" Target="slide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11.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12.xml"/><Relationship Id="rId4"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3.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4.xml"/><Relationship Id="rId5" Type="http://schemas.openxmlformats.org/officeDocument/2006/relationships/slide" Target="slide13.xml"/><Relationship Id="rId4" Type="http://schemas.openxmlformats.org/officeDocument/2006/relationships/slide" Target="slide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5.xml"/><Relationship Id="rId5" Type="http://schemas.openxmlformats.org/officeDocument/2006/relationships/slide" Target="slide16.xml"/><Relationship Id="rId4" Type="http://schemas.openxmlformats.org/officeDocument/2006/relationships/slide" Target="slide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6.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17.xml"/><Relationship Id="rId4" Type="http://schemas.openxmlformats.org/officeDocument/2006/relationships/slide" Target="slide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8.xml"/><Relationship Id="rId5" Type="http://schemas.openxmlformats.org/officeDocument/2006/relationships/slide" Target="slide19.xml"/><Relationship Id="rId4" Type="http://schemas.openxmlformats.org/officeDocument/2006/relationships/slide" Target="slide1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9.xml"/><Relationship Id="rId5" Type="http://schemas.openxmlformats.org/officeDocument/2006/relationships/slide" Target="slide21.xml"/><Relationship Id="rId4" Type="http://schemas.openxmlformats.org/officeDocument/2006/relationships/slide" Target="slide2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20.xml"/><Relationship Id="rId4" Type="http://schemas.openxmlformats.org/officeDocument/2006/relationships/slide" Target="slide3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tags" Target="../tags/tag21.xml"/><Relationship Id="rId5" Type="http://schemas.openxmlformats.org/officeDocument/2006/relationships/slide" Target="slide25.xm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tags" Target="../tags/tag22.xml"/><Relationship Id="rId5" Type="http://schemas.openxmlformats.org/officeDocument/2006/relationships/slide" Target="slide23.xml"/><Relationship Id="rId4" Type="http://schemas.openxmlformats.org/officeDocument/2006/relationships/slide" Target="slide2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23.xml"/><Relationship Id="rId5" Type="http://schemas.openxmlformats.org/officeDocument/2006/relationships/slide" Target="slide29.xml"/><Relationship Id="rId4" Type="http://schemas.openxmlformats.org/officeDocument/2006/relationships/slide" Target="slide1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24.xml"/><Relationship Id="rId5" Type="http://schemas.openxmlformats.org/officeDocument/2006/relationships/slide" Target="slide24.xml"/><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25.xml"/><Relationship Id="rId4" Type="http://schemas.openxmlformats.org/officeDocument/2006/relationships/slide" Target="slide2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6.xml"/><Relationship Id="rId4" Type="http://schemas.openxmlformats.org/officeDocument/2006/relationships/slide" Target="slide2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27.xml"/><Relationship Id="rId4" Type="http://schemas.openxmlformats.org/officeDocument/2006/relationships/slide" Target="slide2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28.xml"/><Relationship Id="rId5" Type="http://schemas.openxmlformats.org/officeDocument/2006/relationships/slide" Target="slide27.xml"/><Relationship Id="rId4" Type="http://schemas.openxmlformats.org/officeDocument/2006/relationships/slide" Target="slide2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29.xml"/><Relationship Id="rId4" Type="http://schemas.openxmlformats.org/officeDocument/2006/relationships/slide" Target="slide3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30.xml"/><Relationship Id="rId4" Type="http://schemas.openxmlformats.org/officeDocument/2006/relationships/slide" Target="slide3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31.xml"/><Relationship Id="rId5" Type="http://schemas.openxmlformats.org/officeDocument/2006/relationships/slide" Target="slide31.xml"/><Relationship Id="rId4" Type="http://schemas.openxmlformats.org/officeDocument/2006/relationships/slide" Target="slide3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tags" Target="../tags/tag32.xml"/><Relationship Id="rId5" Type="http://schemas.openxmlformats.org/officeDocument/2006/relationships/slide" Target="slide33.xml"/><Relationship Id="rId4" Type="http://schemas.openxmlformats.org/officeDocument/2006/relationships/slide" Target="slide3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tags" Target="../tags/tag33.xml"/><Relationship Id="rId4" Type="http://schemas.openxmlformats.org/officeDocument/2006/relationships/slide" Target="slide3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34.xml"/><Relationship Id="rId4" Type="http://schemas.openxmlformats.org/officeDocument/2006/relationships/slide" Target="slide3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tags" Target="../tags/tag35.xml"/><Relationship Id="rId4" Type="http://schemas.openxmlformats.org/officeDocument/2006/relationships/slide" Target="slide3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tags" Target="../tags/tag36.xml"/><Relationship Id="rId4" Type="http://schemas.openxmlformats.org/officeDocument/2006/relationships/slide" Target="slide36.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7.xml"/><Relationship Id="rId1" Type="http://schemas.openxmlformats.org/officeDocument/2006/relationships/themeOverride" Target="../theme/themeOverride1.xml"/><Relationship Id="rId5" Type="http://schemas.openxmlformats.org/officeDocument/2006/relationships/slide" Target="slide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38.xml"/><Relationship Id="rId4" Type="http://schemas.openxmlformats.org/officeDocument/2006/relationships/slide" Target="slide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tags" Target="../tags/tag39.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4DB30FF-9E28-42F5-A259-77606AF4927F}"/>
              </a:ext>
            </a:extLst>
          </p:cNvPr>
          <p:cNvSpPr/>
          <p:nvPr/>
        </p:nvSpPr>
        <p:spPr>
          <a:xfrm>
            <a:off x="0" y="3572"/>
            <a:ext cx="12191998" cy="6836640"/>
          </a:xfrm>
          <a:prstGeom prst="rect">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lIns="121891" tIns="60945" rIns="121891" bIns="60945" rtlCol="0" anchor="ctr">
            <a:noAutofit/>
          </a:bodyPr>
          <a:lstStyle/>
          <a:p>
            <a:pPr marL="342900" marR="0" lvl="0" indent="-342900" algn="ctr" defTabSz="914400" eaLnBrk="1" fontAlgn="auto" latinLnBrk="0" hangingPunct="1">
              <a:lnSpc>
                <a:spcPct val="100000"/>
              </a:lnSpc>
              <a:spcBef>
                <a:spcPts val="0"/>
              </a:spcBef>
              <a:spcAft>
                <a:spcPts val="0"/>
              </a:spcAft>
              <a:buClrTx/>
              <a:buSzTx/>
              <a:buFontTx/>
              <a:buAutoNum type="arabicPeriod" startAt="3"/>
              <a:tabLst/>
              <a:defRPr/>
            </a:pPr>
            <a:endParaRPr kumimoji="0" lang="en-US" sz="2350" b="0" i="0" u="none" strike="noStrike" kern="0" cap="none" spc="0" normalizeH="0" baseline="0" noProof="0" dirty="0">
              <a:ln>
                <a:noFill/>
              </a:ln>
              <a:solidFill>
                <a:prstClr val="black"/>
              </a:solidFill>
              <a:effectLst/>
              <a:uLnTx/>
              <a:uFillTx/>
              <a:latin typeface="Calibri" panose="020F0502020204030204"/>
              <a:ea typeface="+mn-ea"/>
              <a:cs typeface="Calibri"/>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350" b="0" i="0" u="none" strike="noStrike" kern="0" cap="none" spc="0" normalizeH="0" baseline="0" noProof="0" dirty="0">
              <a:ln>
                <a:noFill/>
              </a:ln>
              <a:solidFill>
                <a:prstClr val="black"/>
              </a:solidFill>
              <a:effectLst/>
              <a:uLnTx/>
              <a:uFillTx/>
              <a:latin typeface="Calibri" panose="020F0502020204030204"/>
              <a:ea typeface="+mn-ea"/>
              <a:cs typeface="Calibri"/>
            </a:endParaRPr>
          </a:p>
        </p:txBody>
      </p:sp>
      <p:sp>
        <p:nvSpPr>
          <p:cNvPr id="17" name="Rectangle 16">
            <a:extLst>
              <a:ext uri="{FF2B5EF4-FFF2-40B4-BE49-F238E27FC236}">
                <a16:creationId xmlns:a16="http://schemas.microsoft.com/office/drawing/2014/main" id="{F3EA1F29-9027-4176-8B50-2D15E6CF7F03}"/>
              </a:ext>
            </a:extLst>
          </p:cNvPr>
          <p:cNvSpPr/>
          <p:nvPr/>
        </p:nvSpPr>
        <p:spPr>
          <a:xfrm>
            <a:off x="0" y="2172064"/>
            <a:ext cx="12192000" cy="4668147"/>
          </a:xfrm>
          <a:prstGeom prst="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2659855" y="477290"/>
            <a:ext cx="5839561" cy="1143000"/>
          </a:xfrm>
        </p:spPr>
        <p:txBody>
          <a:bodyPr>
            <a:normAutofit/>
          </a:bodyPr>
          <a:lstStyle/>
          <a:p>
            <a:r>
              <a:rPr lang="en-US" sz="5400" dirty="0">
                <a:solidFill>
                  <a:schemeClr val="tx1"/>
                </a:solidFill>
              </a:rPr>
              <a:t>Privacy and Security</a:t>
            </a:r>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1085376" y="2405743"/>
            <a:ext cx="10562338" cy="4223656"/>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rPr>
              <a:t>Module</a:t>
            </a:r>
            <a:r>
              <a:rPr lang="en-US" sz="2050" dirty="0">
                <a:solidFill>
                  <a:schemeClr val="tx1"/>
                </a:solidFill>
                <a:latin typeface="+mj-lt"/>
                <a:cs typeface="Titillium WebSemiBold"/>
              </a:rPr>
              <a:t> </a:t>
            </a:r>
            <a:r>
              <a:rPr lang="en-US" sz="2400" b="1" dirty="0">
                <a:solidFill>
                  <a:schemeClr val="tx1"/>
                </a:solidFill>
                <a:latin typeface="+mj-lt"/>
              </a:rPr>
              <a:t>6 :</a:t>
            </a:r>
            <a:r>
              <a:rPr lang="en-US" sz="2050" dirty="0">
                <a:solidFill>
                  <a:schemeClr val="tx1"/>
                </a:solidFill>
                <a:latin typeface="+mj-lt"/>
                <a:cs typeface="Titillium WebSemiBold"/>
              </a:rPr>
              <a:t> </a:t>
            </a:r>
            <a:r>
              <a:rPr lang="en-US" sz="2400" dirty="0">
                <a:solidFill>
                  <a:schemeClr val="tx1"/>
                </a:solidFill>
                <a:latin typeface="+mj-lt"/>
              </a:rPr>
              <a:t>Safety and Security</a:t>
            </a:r>
          </a:p>
          <a:p>
            <a:pPr marL="0" indent="0">
              <a:buNone/>
            </a:pPr>
            <a:r>
              <a:rPr lang="en-US" sz="2400" b="1" dirty="0">
                <a:solidFill>
                  <a:schemeClr val="tx1"/>
                </a:solidFill>
                <a:latin typeface="+mj-lt"/>
              </a:rPr>
              <a:t>Lesson objective 6.2: </a:t>
            </a:r>
            <a:r>
              <a:rPr lang="en-US" sz="2400" dirty="0">
                <a:solidFill>
                  <a:schemeClr val="tx1"/>
                </a:solidFill>
                <a:latin typeface="+mj-lt"/>
              </a:rPr>
              <a:t>Use protective measures to safeguard computers and data.</a:t>
            </a:r>
          </a:p>
          <a:p>
            <a:pPr marL="0" indent="0">
              <a:buNone/>
            </a:pPr>
            <a:r>
              <a:rPr lang="en-US" sz="2400" b="1" i="1" dirty="0">
                <a:solidFill>
                  <a:schemeClr val="tx1"/>
                </a:solidFill>
                <a:latin typeface="+mj-lt"/>
              </a:rPr>
              <a:t>Learning objectives:</a:t>
            </a:r>
            <a:endParaRPr lang="en-US" sz="2400" dirty="0">
              <a:solidFill>
                <a:schemeClr val="tx1"/>
              </a:solidFill>
              <a:latin typeface="+mj-lt"/>
            </a:endParaRPr>
          </a:p>
          <a:p>
            <a:pPr marL="0" indent="0">
              <a:buNone/>
            </a:pPr>
            <a:r>
              <a:rPr lang="en-US" sz="2400" dirty="0">
                <a:solidFill>
                  <a:schemeClr val="tx1"/>
                </a:solidFill>
                <a:latin typeface="+mj-lt"/>
              </a:rPr>
              <a:t>6.2.1 Explain the steps to protect computer equipment.</a:t>
            </a:r>
          </a:p>
          <a:p>
            <a:pPr marL="0" indent="0">
              <a:buNone/>
            </a:pPr>
            <a:r>
              <a:rPr lang="en-US" sz="2400" dirty="0">
                <a:solidFill>
                  <a:schemeClr val="tx1"/>
                </a:solidFill>
                <a:latin typeface="+mj-lt"/>
              </a:rPr>
              <a:t>6.2.2 Protect mobile devices and your privacy.</a:t>
            </a:r>
          </a:p>
          <a:p>
            <a:pPr marL="0" indent="0">
              <a:buNone/>
            </a:pPr>
            <a:r>
              <a:rPr lang="en-US" sz="2400" dirty="0">
                <a:solidFill>
                  <a:schemeClr val="tx1"/>
                </a:solidFill>
                <a:latin typeface="+mj-lt"/>
              </a:rPr>
              <a:t>6.2.3 Use strong authentication.</a:t>
            </a:r>
          </a:p>
          <a:p>
            <a:pPr marL="0" indent="0">
              <a:buNone/>
            </a:pPr>
            <a:r>
              <a:rPr lang="en-US" sz="2400" dirty="0">
                <a:solidFill>
                  <a:schemeClr val="tx1"/>
                </a:solidFill>
                <a:latin typeface="+mj-lt"/>
              </a:rPr>
              <a:t>6.2.4 Explain the benefits of encryption.</a:t>
            </a:r>
          </a:p>
          <a:p>
            <a:pPr marL="0" indent="0">
              <a:buNone/>
            </a:pPr>
            <a:r>
              <a:rPr lang="en-US" sz="2400" dirty="0">
                <a:solidFill>
                  <a:schemeClr val="tx1"/>
                </a:solidFill>
                <a:latin typeface="+mj-lt"/>
              </a:rPr>
              <a:t>6.2.5 Discuss measures to prevent identity theft and protect financial information.</a:t>
            </a:r>
          </a:p>
          <a:p>
            <a:pPr marL="0" indent="0">
              <a:buNone/>
            </a:pPr>
            <a:endParaRPr lang="en-US" sz="2400" dirty="0">
              <a:solidFill>
                <a:schemeClr val="tx1"/>
              </a:solidFill>
              <a:latin typeface="+mj-lt"/>
            </a:endParaRPr>
          </a:p>
        </p:txBody>
      </p:sp>
    </p:spTree>
    <p:custDataLst>
      <p:tags r:id="rId1"/>
    </p:custDataLst>
    <p:extLst>
      <p:ext uri="{BB962C8B-B14F-4D97-AF65-F5344CB8AC3E}">
        <p14:creationId xmlns:p14="http://schemas.microsoft.com/office/powerpoint/2010/main" val="1468384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40" y="369952"/>
            <a:ext cx="10412618" cy="656415"/>
          </a:xfrm>
        </p:spPr>
        <p:txBody>
          <a:bodyPr/>
          <a:lstStyle/>
          <a:p>
            <a:r>
              <a:rPr lang="en-US" sz="3650" dirty="0"/>
              <a:t>Privacy and Security</a:t>
            </a:r>
            <a:endParaRPr lang="en-JM" dirty="0"/>
          </a:p>
        </p:txBody>
      </p:sp>
      <p:sp>
        <p:nvSpPr>
          <p:cNvPr id="23" name="Text Placeholder 5">
            <a:extLst>
              <a:ext uri="{FF2B5EF4-FFF2-40B4-BE49-F238E27FC236}">
                <a16:creationId xmlns:a16="http://schemas.microsoft.com/office/drawing/2014/main" id="{1A020ED8-5D57-4920-A776-AB751552818E}"/>
              </a:ext>
            </a:extLst>
          </p:cNvPr>
          <p:cNvSpPr txBox="1">
            <a:spLocks/>
          </p:cNvSpPr>
          <p:nvPr/>
        </p:nvSpPr>
        <p:spPr>
          <a:xfrm>
            <a:off x="1562120" y="4449156"/>
            <a:ext cx="6692824" cy="710830"/>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endParaRPr lang="en-US" dirty="0">
              <a:solidFill>
                <a:schemeClr val="tx2"/>
              </a:solidFill>
            </a:endParaRPr>
          </a:p>
        </p:txBody>
      </p:sp>
      <p:sp>
        <p:nvSpPr>
          <p:cNvPr id="18" name="Text Placeholder 5">
            <a:extLst>
              <a:ext uri="{FF2B5EF4-FFF2-40B4-BE49-F238E27FC236}">
                <a16:creationId xmlns:a16="http://schemas.microsoft.com/office/drawing/2014/main" id="{343097FE-AF9F-4650-8C23-3660B0FAB284}"/>
              </a:ext>
            </a:extLst>
          </p:cNvPr>
          <p:cNvSpPr txBox="1">
            <a:spLocks/>
          </p:cNvSpPr>
          <p:nvPr/>
        </p:nvSpPr>
        <p:spPr>
          <a:xfrm>
            <a:off x="790835" y="1394707"/>
            <a:ext cx="10988209" cy="5093179"/>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create a secure password</a:t>
            </a:r>
          </a:p>
          <a:p>
            <a:pPr>
              <a:buNone/>
            </a:pPr>
            <a:r>
              <a:rPr lang="en-US" dirty="0">
                <a:solidFill>
                  <a:schemeClr val="tx2"/>
                </a:solidFill>
              </a:rPr>
              <a:t>•	How to safely connect to the Internet</a:t>
            </a:r>
          </a:p>
          <a:p>
            <a:pPr>
              <a:buNone/>
            </a:pPr>
            <a:r>
              <a:rPr lang="en-US" dirty="0">
                <a:solidFill>
                  <a:schemeClr val="tx2"/>
                </a:solidFill>
              </a:rPr>
              <a:t>•	How to protect themselves from security attacks</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make several decisions to try to keep your data and your client’s data safe. At each step, think carefully about how security might be compromised and find ways to avoid unnecessary risks.</a:t>
            </a:r>
          </a:p>
          <a:p>
            <a:pPr>
              <a:buFont typeface="Wingdings" panose="05000000000000000000" pitchFamily="2" charset="2"/>
              <a:buChar char="ü"/>
            </a:pPr>
            <a:r>
              <a:rPr lang="en-US" dirty="0">
                <a:solidFill>
                  <a:schemeClr val="tx2"/>
                </a:solidFill>
              </a:rPr>
              <a:t>Think about how to protect data when it is stored so that unauthorized users can’t get to it.</a:t>
            </a:r>
          </a:p>
          <a:p>
            <a:pPr>
              <a:buFont typeface="Wingdings" panose="05000000000000000000" pitchFamily="2" charset="2"/>
              <a:buChar char="ü"/>
            </a:pPr>
            <a:r>
              <a:rPr lang="en-US" dirty="0">
                <a:solidFill>
                  <a:schemeClr val="tx2"/>
                </a:solidFill>
              </a:rPr>
              <a:t>Carefully consider what kind of wireless network is safe enough to use for transmitting sensitive information.</a:t>
            </a:r>
          </a:p>
          <a:p>
            <a:pPr>
              <a:buFont typeface="Wingdings" panose="05000000000000000000" pitchFamily="2" charset="2"/>
              <a:buChar char="ü"/>
            </a:pPr>
            <a:r>
              <a:rPr lang="en-US" dirty="0">
                <a:solidFill>
                  <a:schemeClr val="tx2"/>
                </a:solidFill>
              </a:rPr>
              <a:t>Be careful about what kinds of emails you open, and what you do with those emails.</a:t>
            </a:r>
            <a:endParaRPr lang="en-JM" dirty="0">
              <a:solidFill>
                <a:schemeClr val="tx2"/>
              </a:solidFill>
            </a:endParaRPr>
          </a:p>
          <a:p>
            <a:pPr>
              <a:buNone/>
            </a:pPr>
            <a:endParaRPr lang="en-US" dirty="0">
              <a:solidFill>
                <a:schemeClr val="tx2"/>
              </a:solidFill>
            </a:endParaRPr>
          </a:p>
        </p:txBody>
      </p:sp>
    </p:spTree>
    <p:custDataLst>
      <p:tags r:id="rId1"/>
    </p:custDataLst>
    <p:extLst>
      <p:ext uri="{BB962C8B-B14F-4D97-AF65-F5344CB8AC3E}">
        <p14:creationId xmlns:p14="http://schemas.microsoft.com/office/powerpoint/2010/main" val="4211966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US" sz="3650" dirty="0"/>
              <a:t>Introduction</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583721" y="1525437"/>
            <a:ext cx="10737011" cy="194668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457200">
              <a:defRPr/>
            </a:pPr>
            <a:r>
              <a:rPr lang="en-US" sz="2050" dirty="0">
                <a:solidFill>
                  <a:schemeClr val="tx2"/>
                </a:solidFill>
                <a:cs typeface="Calibri"/>
              </a:rPr>
              <a:t>You are a new sales executive for </a:t>
            </a:r>
            <a:r>
              <a:rPr lang="en-US" sz="2050" dirty="0" err="1">
                <a:solidFill>
                  <a:schemeClr val="tx2"/>
                </a:solidFill>
                <a:cs typeface="Calibri"/>
              </a:rPr>
              <a:t>MusicX</a:t>
            </a:r>
            <a:r>
              <a:rPr lang="en-US" sz="2050" dirty="0">
                <a:solidFill>
                  <a:schemeClr val="tx2"/>
                </a:solidFill>
                <a:cs typeface="Calibri"/>
              </a:rPr>
              <a:t>, the latest and hottest music subscription service for businesses.  You have just started at </a:t>
            </a:r>
            <a:r>
              <a:rPr lang="en-US" sz="2050" dirty="0" err="1">
                <a:solidFill>
                  <a:schemeClr val="tx2"/>
                </a:solidFill>
                <a:cs typeface="Calibri"/>
              </a:rPr>
              <a:t>MusicX</a:t>
            </a:r>
            <a:r>
              <a:rPr lang="en-US" sz="2050" dirty="0">
                <a:solidFill>
                  <a:schemeClr val="tx2"/>
                </a:solidFill>
                <a:cs typeface="Calibri"/>
              </a:rPr>
              <a:t> and today is your first day in the field. You will meet with your first potential customers at </a:t>
            </a:r>
            <a:r>
              <a:rPr lang="en-US" sz="2050" dirty="0" err="1">
                <a:solidFill>
                  <a:schemeClr val="tx2"/>
                </a:solidFill>
                <a:cs typeface="Calibri"/>
              </a:rPr>
              <a:t>SpaceCups</a:t>
            </a:r>
            <a:r>
              <a:rPr lang="en-US" sz="2050" dirty="0">
                <a:solidFill>
                  <a:schemeClr val="tx2"/>
                </a:solidFill>
                <a:cs typeface="Calibri"/>
              </a:rPr>
              <a:t>, the local coffee shop where you can get a good cup of coffee and get a good internet connection.    You are waiting for your first client to arrive for your meeting.</a:t>
            </a:r>
          </a:p>
          <a:p>
            <a:pPr algn="ctr"/>
            <a:endParaRPr lang="en-US" dirty="0">
              <a:cs typeface="Calibri"/>
            </a:endParaRPr>
          </a:p>
        </p:txBody>
      </p:sp>
      <p:sp>
        <p:nvSpPr>
          <p:cNvPr id="4" name="TextBox 3">
            <a:extLst>
              <a:ext uri="{FF2B5EF4-FFF2-40B4-BE49-F238E27FC236}">
                <a16:creationId xmlns:a16="http://schemas.microsoft.com/office/drawing/2014/main" id="{F0BB2EAF-2868-4C9C-8BAC-79C1285B964D}"/>
              </a:ext>
            </a:extLst>
          </p:cNvPr>
          <p:cNvSpPr txBox="1"/>
          <p:nvPr/>
        </p:nvSpPr>
        <p:spPr>
          <a:xfrm>
            <a:off x="583721" y="4452257"/>
            <a:ext cx="2711450" cy="407804"/>
          </a:xfrm>
          <a:prstGeom prst="rect">
            <a:avLst/>
          </a:prstGeom>
          <a:noFill/>
        </p:spPr>
        <p:txBody>
          <a:bodyPr wrap="square" rtlCol="0">
            <a:spAutoFit/>
          </a:bodyPr>
          <a:lstStyle/>
          <a:p>
            <a:pPr defTabSz="457200">
              <a:defRPr/>
            </a:pPr>
            <a:r>
              <a:rPr lang="en-US" sz="2050" dirty="0">
                <a:solidFill>
                  <a:schemeClr val="tx2"/>
                </a:solidFill>
                <a:cs typeface="Calibri"/>
                <a:hlinkClick r:id="rId4" action="ppaction://hlinksldjump">
                  <a:extLst>
                    <a:ext uri="{A12FA001-AC4F-418D-AE19-62706E023703}">
                      <ahyp:hlinkClr xmlns:ahyp="http://schemas.microsoft.com/office/drawing/2018/hyperlinkcolor" val="tx"/>
                    </a:ext>
                  </a:extLst>
                </a:hlinkClick>
              </a:rPr>
              <a:t>Continue</a:t>
            </a:r>
            <a:endParaRPr lang="en-US" sz="2050" dirty="0">
              <a:solidFill>
                <a:schemeClr val="tx2"/>
              </a:solidFill>
              <a:cs typeface="Calibri"/>
            </a:endParaRPr>
          </a:p>
        </p:txBody>
      </p:sp>
    </p:spTree>
    <p:custDataLst>
      <p:tags r:id="rId1"/>
    </p:custDataLst>
    <p:extLst>
      <p:ext uri="{BB962C8B-B14F-4D97-AF65-F5344CB8AC3E}">
        <p14:creationId xmlns:p14="http://schemas.microsoft.com/office/powerpoint/2010/main" val="2021865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23599" y="1190681"/>
            <a:ext cx="10737523" cy="141833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You received your new laptop yesterday.  You have done the basic setup of your computer, but this is your first day with it in the field. As you sit waiting for your first meeting at </a:t>
            </a:r>
            <a:r>
              <a:rPr lang="en-US" sz="2050" dirty="0" err="1">
                <a:solidFill>
                  <a:srgbClr val="44546A"/>
                </a:solidFill>
                <a:latin typeface="Calibri" panose="020F0502020204030204"/>
              </a:rPr>
              <a:t>SpaceCups</a:t>
            </a:r>
            <a:r>
              <a:rPr lang="en-US" sz="2050" dirty="0">
                <a:solidFill>
                  <a:srgbClr val="44546A"/>
                </a:solidFill>
                <a:latin typeface="Calibri" panose="020F0502020204030204"/>
              </a:rPr>
              <a:t>, you realize that there are many passwords and websites you need to access during the meeting and you cannot possibly remember them all.  You need to save your password to your company login.</a:t>
            </a:r>
          </a:p>
        </p:txBody>
      </p:sp>
      <p:sp>
        <p:nvSpPr>
          <p:cNvPr id="12" name="Text Placeholder 1"/>
          <p:cNvSpPr txBox="1">
            <a:spLocks/>
          </p:cNvSpPr>
          <p:nvPr/>
        </p:nvSpPr>
        <p:spPr>
          <a:xfrm>
            <a:off x="2018995" y="2901672"/>
            <a:ext cx="7655091" cy="126897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Lev1_Dec1_Opt A– Save password in browser.</a:t>
            </a:r>
            <a:endParaRPr lang="en-US" sz="2050"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Lev1_Dec1_OptB – Save password in password manager.</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94132" y="291815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94132" y="3573516"/>
            <a:ext cx="42860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9EDE944A-C868-42E7-93B1-5FAD22C8D5E6}"/>
              </a:ext>
            </a:extLst>
          </p:cNvPr>
          <p:cNvSpPr txBox="1"/>
          <p:nvPr/>
        </p:nvSpPr>
        <p:spPr>
          <a:xfrm>
            <a:off x="1008308" y="51126"/>
            <a:ext cx="4326835" cy="646331"/>
          </a:xfrm>
          <a:prstGeom prst="rect">
            <a:avLst/>
          </a:prstGeom>
          <a:noFill/>
        </p:spPr>
        <p:txBody>
          <a:bodyPr wrap="square" rtlCol="0">
            <a:spAutoFit/>
          </a:bodyPr>
          <a:lstStyle/>
          <a:p>
            <a:pPr lvl="0">
              <a:defRPr/>
            </a:pPr>
            <a:r>
              <a:rPr lang="en-US" sz="3600" dirty="0">
                <a:solidFill>
                  <a:prstClr val="black"/>
                </a:solidFill>
                <a:latin typeface="Calibri Light" panose="020F0302020204030204"/>
              </a:rPr>
              <a:t>Level1_Decision1</a:t>
            </a:r>
          </a:p>
        </p:txBody>
      </p:sp>
      <p:sp>
        <p:nvSpPr>
          <p:cNvPr id="13" name="TextBox 12">
            <a:extLst>
              <a:ext uri="{FF2B5EF4-FFF2-40B4-BE49-F238E27FC236}">
                <a16:creationId xmlns:a16="http://schemas.microsoft.com/office/drawing/2014/main" id="{BC2BAA4F-1E5E-4A57-BD56-2F3572E2C9AB}"/>
              </a:ext>
            </a:extLst>
          </p:cNvPr>
          <p:cNvSpPr txBox="1"/>
          <p:nvPr/>
        </p:nvSpPr>
        <p:spPr>
          <a:xfrm>
            <a:off x="1036320" y="476450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Browsers store passwords in plain text. A password manager is much more secure.</a:t>
            </a:r>
          </a:p>
        </p:txBody>
      </p:sp>
      <p:sp>
        <p:nvSpPr>
          <p:cNvPr id="14" name="TextBox 13">
            <a:extLst>
              <a:ext uri="{FF2B5EF4-FFF2-40B4-BE49-F238E27FC236}">
                <a16:creationId xmlns:a16="http://schemas.microsoft.com/office/drawing/2014/main" id="{363697AB-7C51-49DD-A5C7-02EAA8B694CA}"/>
              </a:ext>
            </a:extLst>
          </p:cNvPr>
          <p:cNvSpPr txBox="1"/>
          <p:nvPr/>
        </p:nvSpPr>
        <p:spPr>
          <a:xfrm>
            <a:off x="1036320" y="5885641"/>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what to do while waiting for their client.</a:t>
            </a:r>
          </a:p>
        </p:txBody>
      </p:sp>
      <p:sp>
        <p:nvSpPr>
          <p:cNvPr id="17" name="Arrow: Pentagon 16">
            <a:extLst>
              <a:ext uri="{FF2B5EF4-FFF2-40B4-BE49-F238E27FC236}">
                <a16:creationId xmlns:a16="http://schemas.microsoft.com/office/drawing/2014/main" id="{522ACB11-7E4C-4426-9DD6-AA82D7CF60A9}"/>
              </a:ext>
            </a:extLst>
          </p:cNvPr>
          <p:cNvSpPr/>
          <p:nvPr/>
        </p:nvSpPr>
        <p:spPr>
          <a:xfrm>
            <a:off x="188651" y="360161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010715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120" y="1341456"/>
            <a:ext cx="9605920" cy="14808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You get a text message from your client.  “Running 15 minutes late. Sorry. Can’t wait to meet!”</a:t>
            </a:r>
          </a:p>
          <a:p>
            <a:pPr marL="0" indent="0">
              <a:spcBef>
                <a:spcPts val="0"/>
              </a:spcBef>
              <a:buNone/>
              <a:defRPr/>
            </a:pPr>
            <a:endParaRPr lang="en-US" sz="2050" dirty="0">
              <a:solidFill>
                <a:srgbClr val="44546A"/>
              </a:solidFill>
              <a:latin typeface="Calibri" panose="020F0502020204030204"/>
            </a:endParaRPr>
          </a:p>
          <a:p>
            <a:pPr marL="0" indent="0">
              <a:spcBef>
                <a:spcPts val="0"/>
              </a:spcBef>
              <a:buNone/>
              <a:defRPr/>
            </a:pPr>
            <a:r>
              <a:rPr lang="en-US" sz="2050" dirty="0">
                <a:solidFill>
                  <a:srgbClr val="44546A"/>
                </a:solidFill>
                <a:latin typeface="Calibri" panose="020F0502020204030204"/>
              </a:rPr>
              <a:t>Since you have a few minutes before you client arrives, you have a couple of options: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48070" y="3131875"/>
            <a:ext cx="8658971" cy="129757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Lev2_Dec1_OptA– </a:t>
            </a:r>
            <a:r>
              <a:rPr lang="en-US" sz="2050" dirty="0">
                <a:solidFill>
                  <a:schemeClr val="tx2"/>
                </a:solidFill>
                <a:cs typeface="Calibri"/>
                <a:hlinkClick r:id="rId4" action="ppaction://hlinksldjump"/>
              </a:rPr>
              <a:t>Play the newest version of your favorite game, </a:t>
            </a:r>
            <a:r>
              <a:rPr lang="en-US" sz="2050" dirty="0" err="1">
                <a:solidFill>
                  <a:schemeClr val="tx2"/>
                </a:solidFill>
                <a:cs typeface="Calibri"/>
                <a:hlinkClick r:id="rId4" action="ppaction://hlinksldjump"/>
              </a:rPr>
              <a:t>Crash’n’Burn</a:t>
            </a:r>
            <a:r>
              <a:rPr lang="en-US" sz="2050" dirty="0">
                <a:solidFill>
                  <a:schemeClr val="tx2"/>
                </a:solidFill>
                <a:cs typeface="Calibri"/>
                <a:hlinkClick r:id="rId4" action="ppaction://hlinksldjump"/>
              </a:rPr>
              <a:t>, on your phone</a:t>
            </a:r>
            <a:endParaRPr lang="en-US" sz="2050" dirty="0">
              <a:solidFill>
                <a:schemeClr val="tx2"/>
              </a:solidFill>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Lev2_Dec1_OptB – </a:t>
            </a:r>
            <a:r>
              <a:rPr lang="en-US" sz="2050" dirty="0">
                <a:solidFill>
                  <a:schemeClr val="tx2"/>
                </a:solidFill>
                <a:cs typeface="Calibri"/>
                <a:hlinkClick r:id="rId5" action="ppaction://hlinksldjump"/>
              </a:rPr>
              <a:t>Review your notes and focus on the meeting’s agenda</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17891" y="314351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417891" y="406265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0331FFA1-B46B-419B-8489-764023CCC2A8}"/>
              </a:ext>
            </a:extLst>
          </p:cNvPr>
          <p:cNvSpPr txBox="1"/>
          <p:nvPr/>
        </p:nvSpPr>
        <p:spPr>
          <a:xfrm>
            <a:off x="1036320" y="26504"/>
            <a:ext cx="8306463" cy="646331"/>
          </a:xfrm>
          <a:prstGeom prst="rect">
            <a:avLst/>
          </a:prstGeom>
          <a:noFill/>
        </p:spPr>
        <p:txBody>
          <a:bodyPr wrap="square" rtlCol="0">
            <a:spAutoFit/>
          </a:bodyPr>
          <a:lstStyle/>
          <a:p>
            <a:pPr lvl="0">
              <a:defRPr/>
            </a:pPr>
            <a:r>
              <a:rPr lang="en-US" sz="3600" dirty="0">
                <a:solidFill>
                  <a:prstClr val="black"/>
                </a:solidFill>
                <a:latin typeface="Calibri Light" panose="020F0302020204030204"/>
              </a:rPr>
              <a:t>Level2_Decision1</a:t>
            </a:r>
          </a:p>
        </p:txBody>
      </p:sp>
      <p:sp>
        <p:nvSpPr>
          <p:cNvPr id="13" name="TextBox 12">
            <a:extLst>
              <a:ext uri="{FF2B5EF4-FFF2-40B4-BE49-F238E27FC236}">
                <a16:creationId xmlns:a16="http://schemas.microsoft.com/office/drawing/2014/main" id="{09B09BBD-EAC6-4A8E-A60D-D910BB264859}"/>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save passwords in their browser.</a:t>
            </a:r>
          </a:p>
        </p:txBody>
      </p:sp>
      <p:sp>
        <p:nvSpPr>
          <p:cNvPr id="14" name="Arrow: Pentagon 13">
            <a:extLst>
              <a:ext uri="{FF2B5EF4-FFF2-40B4-BE49-F238E27FC236}">
                <a16:creationId xmlns:a16="http://schemas.microsoft.com/office/drawing/2014/main" id="{29843107-90BD-4A7E-A39D-ECEB620830ED}"/>
              </a:ext>
            </a:extLst>
          </p:cNvPr>
          <p:cNvSpPr/>
          <p:nvPr/>
        </p:nvSpPr>
        <p:spPr>
          <a:xfrm>
            <a:off x="188651" y="408201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B2802328-DC8E-4DF2-9025-B64D4B8D51E9}"/>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Wi-Fi network.</a:t>
            </a:r>
          </a:p>
        </p:txBody>
      </p:sp>
      <p:sp>
        <p:nvSpPr>
          <p:cNvPr id="17" name="TextBox 16">
            <a:extLst>
              <a:ext uri="{FF2B5EF4-FFF2-40B4-BE49-F238E27FC236}">
                <a16:creationId xmlns:a16="http://schemas.microsoft.com/office/drawing/2014/main" id="{5C027994-06C1-442C-B863-7B35B1BE6D08}"/>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It’s important to be mentally prepared for a client meeting and not get distracted in the last few minutes before the meeting.</a:t>
            </a:r>
          </a:p>
        </p:txBody>
      </p:sp>
    </p:spTree>
    <p:custDataLst>
      <p:tags r:id="rId1"/>
    </p:custDataLst>
    <p:extLst>
      <p:ext uri="{BB962C8B-B14F-4D97-AF65-F5344CB8AC3E}">
        <p14:creationId xmlns:p14="http://schemas.microsoft.com/office/powerpoint/2010/main" val="356041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6564" y="1344414"/>
            <a:ext cx="9570720" cy="176243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You get a text message from your client.  “Running 15 minutes late. Sorry. Can’t wait to meet!”</a:t>
            </a:r>
          </a:p>
          <a:p>
            <a:pPr marL="0" indent="0">
              <a:spcBef>
                <a:spcPts val="0"/>
              </a:spcBef>
              <a:buNone/>
              <a:defRPr/>
            </a:pPr>
            <a:endParaRPr lang="en-US" sz="2050" dirty="0">
              <a:solidFill>
                <a:srgbClr val="44546A"/>
              </a:solidFill>
              <a:latin typeface="Calibri" panose="020F0502020204030204"/>
            </a:endParaRPr>
          </a:p>
          <a:p>
            <a:pPr marL="0" indent="0">
              <a:spcBef>
                <a:spcPts val="0"/>
              </a:spcBef>
              <a:buNone/>
              <a:defRPr/>
            </a:pPr>
            <a:r>
              <a:rPr lang="en-US" sz="2050" dirty="0">
                <a:solidFill>
                  <a:srgbClr val="44546A"/>
                </a:solidFill>
                <a:latin typeface="Calibri" panose="020F0502020204030204"/>
              </a:rPr>
              <a:t>Since you have a few minutes before you client arrives, you have a couple of options: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52735" y="3044791"/>
            <a:ext cx="8654306" cy="14794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Lev2_Dec1_OptA– </a:t>
            </a:r>
            <a:r>
              <a:rPr lang="en-US" sz="2050" dirty="0">
                <a:solidFill>
                  <a:schemeClr val="tx2"/>
                </a:solidFill>
                <a:cs typeface="Calibri"/>
                <a:hlinkClick r:id="rId4" action="ppaction://hlinksldjump"/>
              </a:rPr>
              <a:t>Play the newest version of your favorite game, </a:t>
            </a:r>
            <a:r>
              <a:rPr lang="en-US" sz="2050" dirty="0" err="1">
                <a:solidFill>
                  <a:schemeClr val="tx2"/>
                </a:solidFill>
                <a:cs typeface="Calibri"/>
                <a:hlinkClick r:id="rId4" action="ppaction://hlinksldjump"/>
              </a:rPr>
              <a:t>Crash’n’Burn</a:t>
            </a:r>
            <a:r>
              <a:rPr lang="en-US" sz="2050" dirty="0">
                <a:solidFill>
                  <a:schemeClr val="tx2"/>
                </a:solidFill>
                <a:cs typeface="Calibri"/>
                <a:hlinkClick r:id="rId4" action="ppaction://hlinksldjump"/>
              </a:rPr>
              <a:t>, on your phone</a:t>
            </a:r>
            <a:endParaRPr lang="en-US" sz="2050" dirty="0">
              <a:solidFill>
                <a:schemeClr val="tx2"/>
              </a:solidFill>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Lev2_Dec2_OptB – </a:t>
            </a:r>
            <a:r>
              <a:rPr lang="en-US" sz="2050" dirty="0">
                <a:solidFill>
                  <a:schemeClr val="tx2"/>
                </a:solidFill>
                <a:cs typeface="Calibri"/>
                <a:hlinkClick r:id="rId5" action="ppaction://hlinksldjump"/>
              </a:rPr>
              <a:t>Review your notes and focus on the meeting’s agenda</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17893" y="3056438"/>
            <a:ext cx="902272"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416768" y="3971303"/>
            <a:ext cx="923053"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706437CC-0D87-43F4-A03A-332EA1C9AAFA}"/>
              </a:ext>
            </a:extLst>
          </p:cNvPr>
          <p:cNvSpPr txBox="1"/>
          <p:nvPr/>
        </p:nvSpPr>
        <p:spPr>
          <a:xfrm>
            <a:off x="1036320" y="21103"/>
            <a:ext cx="3564835"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Level2_Decision2</a:t>
            </a:r>
          </a:p>
          <a:p>
            <a:endParaRPr lang="en-US" dirty="0"/>
          </a:p>
        </p:txBody>
      </p:sp>
      <p:sp>
        <p:nvSpPr>
          <p:cNvPr id="10" name="TextBox 9">
            <a:extLst>
              <a:ext uri="{FF2B5EF4-FFF2-40B4-BE49-F238E27FC236}">
                <a16:creationId xmlns:a16="http://schemas.microsoft.com/office/drawing/2014/main" id="{001FE2C8-A5C8-4BDE-B92C-B0A11169A8FF}"/>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save passwords in a password manager.</a:t>
            </a:r>
          </a:p>
        </p:txBody>
      </p:sp>
      <p:sp>
        <p:nvSpPr>
          <p:cNvPr id="13" name="TextBox 12">
            <a:extLst>
              <a:ext uri="{FF2B5EF4-FFF2-40B4-BE49-F238E27FC236}">
                <a16:creationId xmlns:a16="http://schemas.microsoft.com/office/drawing/2014/main" id="{DBB51DED-A734-4C2D-B236-912183905903}"/>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Wi-Fi network.</a:t>
            </a:r>
          </a:p>
        </p:txBody>
      </p:sp>
      <p:sp>
        <p:nvSpPr>
          <p:cNvPr id="14" name="TextBox 13">
            <a:extLst>
              <a:ext uri="{FF2B5EF4-FFF2-40B4-BE49-F238E27FC236}">
                <a16:creationId xmlns:a16="http://schemas.microsoft.com/office/drawing/2014/main" id="{6438E3FF-842B-4C2F-8AC7-4A579F9E138F}"/>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It’s important to be mentally prepared for a client meeting and not get distracted in the last few minutes before the meeting.</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6" name="Arrow: Pentagon 15">
            <a:extLst>
              <a:ext uri="{FF2B5EF4-FFF2-40B4-BE49-F238E27FC236}">
                <a16:creationId xmlns:a16="http://schemas.microsoft.com/office/drawing/2014/main" id="{842B1496-B694-4952-8B82-E51C2FBCBA5C}"/>
              </a:ext>
            </a:extLst>
          </p:cNvPr>
          <p:cNvSpPr/>
          <p:nvPr/>
        </p:nvSpPr>
        <p:spPr>
          <a:xfrm>
            <a:off x="188651" y="399492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772364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0" y="1624770"/>
            <a:ext cx="9613109" cy="111149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 were distracted by a headache during your meeting, but it went well enough.  You begin writing up your report.</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993931" y="3351699"/>
            <a:ext cx="6350161" cy="53850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857B68E6-2C22-4CAF-A550-F7CF33E1B7C0}"/>
              </a:ext>
            </a:extLst>
          </p:cNvPr>
          <p:cNvSpPr txBox="1"/>
          <p:nvPr/>
        </p:nvSpPr>
        <p:spPr>
          <a:xfrm>
            <a:off x="1008308" y="0"/>
            <a:ext cx="4426227"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Level2_Story1</a:t>
            </a:r>
          </a:p>
          <a:p>
            <a:endParaRPr lang="en-US" dirty="0"/>
          </a:p>
        </p:txBody>
      </p:sp>
      <p:sp>
        <p:nvSpPr>
          <p:cNvPr id="10" name="TextBox 9">
            <a:extLst>
              <a:ext uri="{FF2B5EF4-FFF2-40B4-BE49-F238E27FC236}">
                <a16:creationId xmlns:a16="http://schemas.microsoft.com/office/drawing/2014/main" id="{75096935-CE33-4A1C-B89E-DE106287A151}"/>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play on their phone while waiting.</a:t>
            </a:r>
          </a:p>
        </p:txBody>
      </p:sp>
      <p:sp>
        <p:nvSpPr>
          <p:cNvPr id="13" name="TextBox 12">
            <a:extLst>
              <a:ext uri="{FF2B5EF4-FFF2-40B4-BE49-F238E27FC236}">
                <a16:creationId xmlns:a16="http://schemas.microsoft.com/office/drawing/2014/main" id="{3676978B-CC3F-4F21-AD41-E0CE7BFFFC95}"/>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a Wi-Fi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713995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0" y="1525264"/>
            <a:ext cx="9570719" cy="116450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Your meeting went great – you were on your game!  The client is excited about your proposal.  You begin writing up your report.</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6320" y="3205191"/>
            <a:ext cx="6350161" cy="50397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CABF3C07-3112-47AA-9270-68410A689AA8}"/>
              </a:ext>
            </a:extLst>
          </p:cNvPr>
          <p:cNvSpPr txBox="1"/>
          <p:nvPr/>
        </p:nvSpPr>
        <p:spPr>
          <a:xfrm>
            <a:off x="993931" y="0"/>
            <a:ext cx="5515604"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Level2_Story2</a:t>
            </a:r>
          </a:p>
          <a:p>
            <a:endParaRPr lang="en-US" dirty="0"/>
          </a:p>
        </p:txBody>
      </p:sp>
      <p:sp>
        <p:nvSpPr>
          <p:cNvPr id="10" name="TextBox 9">
            <a:extLst>
              <a:ext uri="{FF2B5EF4-FFF2-40B4-BE49-F238E27FC236}">
                <a16:creationId xmlns:a16="http://schemas.microsoft.com/office/drawing/2014/main" id="{A9464D1D-A65D-4ADA-8F4B-74CA1CF6F1E9}"/>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think through the meeting’s agenda.</a:t>
            </a:r>
          </a:p>
        </p:txBody>
      </p:sp>
      <p:sp>
        <p:nvSpPr>
          <p:cNvPr id="13" name="TextBox 12">
            <a:extLst>
              <a:ext uri="{FF2B5EF4-FFF2-40B4-BE49-F238E27FC236}">
                <a16:creationId xmlns:a16="http://schemas.microsoft.com/office/drawing/2014/main" id="{CF01D4F2-A4AB-4091-BC7D-61FAB6B40AEA}"/>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a Wi-Fi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86461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0" y="1417330"/>
            <a:ext cx="9613109"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 were distracted by a headache during your meeting, but it went well enough.  You begin writing up your report.</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9564" y="3335437"/>
            <a:ext cx="6350161" cy="48948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2D6D1EB2-BDE8-45D5-B2AB-322CC33FCD4E}"/>
              </a:ext>
            </a:extLst>
          </p:cNvPr>
          <p:cNvSpPr txBox="1"/>
          <p:nvPr/>
        </p:nvSpPr>
        <p:spPr>
          <a:xfrm>
            <a:off x="1034443" y="0"/>
            <a:ext cx="5595117" cy="646331"/>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Level2_Story3</a:t>
            </a:r>
          </a:p>
        </p:txBody>
      </p:sp>
      <p:sp>
        <p:nvSpPr>
          <p:cNvPr id="10" name="TextBox 9">
            <a:extLst>
              <a:ext uri="{FF2B5EF4-FFF2-40B4-BE49-F238E27FC236}">
                <a16:creationId xmlns:a16="http://schemas.microsoft.com/office/drawing/2014/main" id="{C097A369-8577-478D-9B31-B6D2DAB08389}"/>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play on their phone while waiting.</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4E1E0270-7C5D-4475-A406-AE10E87B7214}"/>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a Wi-Fi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454561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27578" y="1690746"/>
            <a:ext cx="9679462"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Your meeting went great – you were on your game!  The client is excited about your proposal.  You begin writing up your report.</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6320" y="3293771"/>
            <a:ext cx="6350161" cy="53015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2EE236EF-4220-4285-88CA-1EC98062F294}"/>
              </a:ext>
            </a:extLst>
          </p:cNvPr>
          <p:cNvSpPr txBox="1"/>
          <p:nvPr/>
        </p:nvSpPr>
        <p:spPr>
          <a:xfrm>
            <a:off x="1036320" y="0"/>
            <a:ext cx="5131291"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Level2_Story4</a:t>
            </a:r>
          </a:p>
          <a:p>
            <a:endParaRPr lang="en-US" dirty="0"/>
          </a:p>
        </p:txBody>
      </p:sp>
      <p:sp>
        <p:nvSpPr>
          <p:cNvPr id="10" name="TextBox 9">
            <a:extLst>
              <a:ext uri="{FF2B5EF4-FFF2-40B4-BE49-F238E27FC236}">
                <a16:creationId xmlns:a16="http://schemas.microsoft.com/office/drawing/2014/main" id="{2E27C360-51E9-4DE3-93A6-502A09D8679B}"/>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think through the meeting’s agenda.</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63F119F-B119-4F64-A8E8-B7C7D70858BF}"/>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a Wi-Fi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48461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19" y="1527908"/>
            <a:ext cx="10652097" cy="12950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have finished your report and are now ready to send it.  However, you realize that you don’t have an Internet connection.  You see a sign underneath the register that says “Free WIFI for all customers!”  You check your </a:t>
            </a:r>
            <a:r>
              <a:rPr lang="en-US" sz="2050" dirty="0" err="1">
                <a:solidFill>
                  <a:schemeClr val="tx2"/>
                </a:solidFill>
                <a:ea typeface="Calibri"/>
                <a:cs typeface="Calibri"/>
              </a:rPr>
              <a:t>WiFi</a:t>
            </a:r>
            <a:r>
              <a:rPr lang="en-US" sz="2050" dirty="0">
                <a:solidFill>
                  <a:schemeClr val="tx2"/>
                </a:solidFill>
                <a:ea typeface="Calibri"/>
                <a:cs typeface="Calibri"/>
              </a:rPr>
              <a:t> connection and see that you have a few options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833470" y="3250014"/>
            <a:ext cx="5152640" cy="12950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Lev3_Dec1_Opt A– FREE_WIFI_HERE</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Lev3_Dec1_Opt B – </a:t>
            </a:r>
            <a:r>
              <a:rPr lang="en-US" sz="2050" dirty="0" err="1">
                <a:solidFill>
                  <a:schemeClr val="tx2"/>
                </a:solidFill>
                <a:ea typeface="Calibri"/>
                <a:cs typeface="Calibri"/>
                <a:hlinkClick r:id="rId5" action="ppaction://hlinksldjump"/>
              </a:rPr>
              <a:t>SpaceCupsWiFi</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38382" y="32500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45333" y="389751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6C2E1C83-114B-4C44-A2B6-F241F1A59238}"/>
              </a:ext>
            </a:extLst>
          </p:cNvPr>
          <p:cNvSpPr txBox="1"/>
          <p:nvPr/>
        </p:nvSpPr>
        <p:spPr>
          <a:xfrm>
            <a:off x="1036320" y="-6021"/>
            <a:ext cx="4681706"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Level3_Decision1</a:t>
            </a:r>
          </a:p>
          <a:p>
            <a:endParaRPr lang="en-US" dirty="0"/>
          </a:p>
        </p:txBody>
      </p:sp>
      <p:sp>
        <p:nvSpPr>
          <p:cNvPr id="10" name="TextBox 9">
            <a:extLst>
              <a:ext uri="{FF2B5EF4-FFF2-40B4-BE49-F238E27FC236}">
                <a16:creationId xmlns:a16="http://schemas.microsoft.com/office/drawing/2014/main" id="{588BA450-BC41-4DB0-8135-549BB1E970F6}"/>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On this track, the student chose to save their passwords in their browser.</a:t>
            </a:r>
          </a:p>
        </p:txBody>
      </p:sp>
      <p:sp>
        <p:nvSpPr>
          <p:cNvPr id="13" name="TextBox 12">
            <a:extLst>
              <a:ext uri="{FF2B5EF4-FFF2-40B4-BE49-F238E27FC236}">
                <a16:creationId xmlns:a16="http://schemas.microsoft.com/office/drawing/2014/main" id="{632480E9-BBC7-4676-8C20-AD838B02ECBB}"/>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email to open.</a:t>
            </a:r>
          </a:p>
        </p:txBody>
      </p:sp>
      <p:sp>
        <p:nvSpPr>
          <p:cNvPr id="16" name="Arrow: Pentagon 15">
            <a:extLst>
              <a:ext uri="{FF2B5EF4-FFF2-40B4-BE49-F238E27FC236}">
                <a16:creationId xmlns:a16="http://schemas.microsoft.com/office/drawing/2014/main" id="{9CEB7D89-A09F-4ACC-A69B-8E429154E1C4}"/>
              </a:ext>
            </a:extLst>
          </p:cNvPr>
          <p:cNvSpPr/>
          <p:nvPr/>
        </p:nvSpPr>
        <p:spPr>
          <a:xfrm>
            <a:off x="188651" y="389695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TextBox 16">
            <a:extLst>
              <a:ext uri="{FF2B5EF4-FFF2-40B4-BE49-F238E27FC236}">
                <a16:creationId xmlns:a16="http://schemas.microsoft.com/office/drawing/2014/main" id="{BD6EB6E7-E620-4E3D-88A5-246B77D9E2B4}"/>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Hackers might advertise their Wi-Fi networks to try to get people to sign in, which could expose sensitive data to capture by the hacker. It’s better to use a legitimate business’s Wi-Fi network.</a:t>
            </a:r>
          </a:p>
        </p:txBody>
      </p:sp>
    </p:spTree>
    <p:custDataLst>
      <p:tags r:id="rId1"/>
    </p:custDataLst>
    <p:extLst>
      <p:ext uri="{BB962C8B-B14F-4D97-AF65-F5344CB8AC3E}">
        <p14:creationId xmlns:p14="http://schemas.microsoft.com/office/powerpoint/2010/main" val="4101430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40325"/>
            <a:ext cx="10599089"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have finished your report and are now ready to send it.  However, you realize that you don’t have an Internet connection.  You see a sign underneath the register that says “Free WIFI for all customers!”  You check your </a:t>
            </a:r>
            <a:r>
              <a:rPr lang="en-US" sz="2050" dirty="0" err="1">
                <a:solidFill>
                  <a:schemeClr val="tx2"/>
                </a:solidFill>
                <a:ea typeface="Calibri"/>
                <a:cs typeface="Calibri"/>
              </a:rPr>
              <a:t>WiFi</a:t>
            </a:r>
            <a:r>
              <a:rPr lang="en-US" sz="2050" dirty="0">
                <a:solidFill>
                  <a:schemeClr val="tx2"/>
                </a:solidFill>
                <a:ea typeface="Calibri"/>
                <a:cs typeface="Calibri"/>
              </a:rPr>
              <a:t> connection and see that you have a few options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806964" y="3250014"/>
            <a:ext cx="8967716" cy="158840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Lev3_Dec1_Opt A– FREE_WIFI_HERE</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Lev3_Dec1_Opt B – Ask to use the manager’s private </a:t>
            </a:r>
            <a:r>
              <a:rPr lang="en-US" sz="2050" dirty="0" err="1">
                <a:solidFill>
                  <a:schemeClr val="tx2"/>
                </a:solidFill>
                <a:ea typeface="Calibri"/>
                <a:cs typeface="Calibri"/>
                <a:hlinkClick r:id="rId5" action="ppaction://hlinksldjump"/>
              </a:rPr>
              <a:t>WiFi</a:t>
            </a:r>
            <a:r>
              <a:rPr lang="en-US" sz="2050" dirty="0">
                <a:solidFill>
                  <a:schemeClr val="tx2"/>
                </a:solidFill>
                <a:ea typeface="Calibri"/>
                <a:cs typeface="Calibri"/>
                <a:hlinkClick r:id="rId5" action="ppaction://hlinksldjump"/>
              </a:rPr>
              <a:t> as it’s not listed</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98624" y="32500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284247" y="387091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D273C04D-0C1B-42FE-BD61-D96D2D7F669A}"/>
              </a:ext>
            </a:extLst>
          </p:cNvPr>
          <p:cNvSpPr txBox="1"/>
          <p:nvPr/>
        </p:nvSpPr>
        <p:spPr>
          <a:xfrm>
            <a:off x="1036320" y="0"/>
            <a:ext cx="5152639"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Level3_Decision2</a:t>
            </a:r>
          </a:p>
          <a:p>
            <a:endParaRPr lang="en-US" dirty="0"/>
          </a:p>
        </p:txBody>
      </p:sp>
      <p:sp>
        <p:nvSpPr>
          <p:cNvPr id="10" name="TextBox 9">
            <a:extLst>
              <a:ext uri="{FF2B5EF4-FFF2-40B4-BE49-F238E27FC236}">
                <a16:creationId xmlns:a16="http://schemas.microsoft.com/office/drawing/2014/main" id="{96E75645-B13D-4CAA-B7D9-13C32C8D277F}"/>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a:t>
            </a:r>
            <a:r>
              <a:rPr lang="en-US" kern="0" dirty="0">
                <a:solidFill>
                  <a:prstClr val="black"/>
                </a:solidFill>
              </a:rPr>
              <a:t>On this track, the student chose to save their passwords in a password manager.</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72306E3-EEA4-4C06-B731-D72CF825FFAC}"/>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kern="0" dirty="0">
                <a:solidFill>
                  <a:prstClr val="black"/>
                </a:solidFill>
              </a:rPr>
              <a:t>choose an email to open.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49D651BB-81CE-4566-AF60-8E06F2BF2310}"/>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Hackers might advertise their Wi-Fi networks to try to get people to sign in, which could expose sensitive data to capture by the hacker. It’s better to use a legitimate business’s Wi-Fi network.</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6" name="Arrow: Pentagon 15">
            <a:extLst>
              <a:ext uri="{FF2B5EF4-FFF2-40B4-BE49-F238E27FC236}">
                <a16:creationId xmlns:a16="http://schemas.microsoft.com/office/drawing/2014/main" id="{8F58F199-8A63-4723-BB6D-BEAA42EE620A}"/>
              </a:ext>
            </a:extLst>
          </p:cNvPr>
          <p:cNvSpPr/>
          <p:nvPr/>
        </p:nvSpPr>
        <p:spPr>
          <a:xfrm>
            <a:off x="188651" y="388370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963576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8308" y="1368869"/>
            <a:ext cx="10382959"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land on the terms and conditions for </a:t>
            </a:r>
            <a:r>
              <a:rPr lang="en-US" sz="2050" dirty="0" err="1">
                <a:solidFill>
                  <a:schemeClr val="tx2"/>
                </a:solidFill>
                <a:ea typeface="Calibri"/>
                <a:cs typeface="Calibri"/>
              </a:rPr>
              <a:t>SpaceCups_WiFi</a:t>
            </a:r>
            <a:r>
              <a:rPr lang="en-US" sz="2050" dirty="0">
                <a:solidFill>
                  <a:schemeClr val="tx2"/>
                </a:solidFill>
                <a:ea typeface="Calibri"/>
                <a:cs typeface="Calibri"/>
              </a:rPr>
              <a:t> which is a good confirmation that you are on the right </a:t>
            </a:r>
            <a:r>
              <a:rPr lang="en-US" sz="2050" dirty="0" err="1">
                <a:solidFill>
                  <a:schemeClr val="tx2"/>
                </a:solidFill>
                <a:ea typeface="Calibri"/>
                <a:cs typeface="Calibri"/>
              </a:rPr>
              <a:t>WiFi</a:t>
            </a:r>
            <a:r>
              <a:rPr lang="en-US" sz="2050" dirty="0">
                <a:solidFill>
                  <a:schemeClr val="tx2"/>
                </a:solidFill>
                <a:ea typeface="Calibri"/>
                <a:cs typeface="Calibri"/>
              </a:rPr>
              <a:t> connection, but you are unsure if the connection complies with any current security standards (such as WPA2).</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6320" y="3256393"/>
            <a:ext cx="6350161" cy="50623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689021" y="57189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FF4EE9CE-23F3-484B-9775-0FACB080122B}"/>
              </a:ext>
            </a:extLst>
          </p:cNvPr>
          <p:cNvSpPr txBox="1"/>
          <p:nvPr/>
        </p:nvSpPr>
        <p:spPr>
          <a:xfrm>
            <a:off x="1008308" y="0"/>
            <a:ext cx="5579165"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Level3_Story1</a:t>
            </a:r>
          </a:p>
          <a:p>
            <a:endParaRPr lang="en-US" dirty="0"/>
          </a:p>
        </p:txBody>
      </p:sp>
      <p:sp>
        <p:nvSpPr>
          <p:cNvPr id="9" name="TextBox 8">
            <a:extLst>
              <a:ext uri="{FF2B5EF4-FFF2-40B4-BE49-F238E27FC236}">
                <a16:creationId xmlns:a16="http://schemas.microsoft.com/office/drawing/2014/main" id="{FAF23EA0-9F95-4391-B407-394AD51E5A4E}"/>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SpaceCups</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public Wi-Fi.</a:t>
            </a:r>
          </a:p>
        </p:txBody>
      </p:sp>
      <p:sp>
        <p:nvSpPr>
          <p:cNvPr id="10" name="TextBox 9">
            <a:extLst>
              <a:ext uri="{FF2B5EF4-FFF2-40B4-BE49-F238E27FC236}">
                <a16:creationId xmlns:a16="http://schemas.microsoft.com/office/drawing/2014/main" id="{4071E1D7-8EA6-4B53-95B9-CAE4DCE81759}"/>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t>
            </a:r>
            <a:r>
              <a:rPr lang="en-US" kern="0" dirty="0">
                <a:solidFill>
                  <a:prstClr val="black"/>
                </a:solidFill>
              </a:rPr>
              <a:t>an email to open.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608298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120" y="1365706"/>
            <a:ext cx="10690085" cy="17666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While you are connected to the internet, you decide to check your email.  When you open your email you see you have two emails:</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Are you in?.... From Emily </a:t>
            </a:r>
            <a:r>
              <a:rPr lang="en-US" sz="2050" dirty="0" err="1">
                <a:solidFill>
                  <a:schemeClr val="tx2"/>
                </a:solidFill>
                <a:cs typeface="Calibri"/>
              </a:rPr>
              <a:t>Napels</a:t>
            </a:r>
            <a:r>
              <a:rPr lang="en-US" sz="2050" dirty="0">
                <a:solidFill>
                  <a:schemeClr val="tx2"/>
                </a:solidFill>
                <a:cs typeface="Calibri"/>
              </a:rPr>
              <a:t> (your friend)</a:t>
            </a:r>
          </a:p>
          <a:p>
            <a:pPr marL="0" indent="0">
              <a:spcBef>
                <a:spcPts val="0"/>
              </a:spcBef>
              <a:buNone/>
              <a:defRPr/>
            </a:pPr>
            <a:r>
              <a:rPr lang="en-US" sz="2050" dirty="0">
                <a:solidFill>
                  <a:schemeClr val="tx2"/>
                </a:solidFill>
                <a:cs typeface="Calibri"/>
              </a:rPr>
              <a:t>Your account… from </a:t>
            </a:r>
            <a:r>
              <a:rPr lang="en-US" sz="2050" dirty="0" err="1">
                <a:solidFill>
                  <a:schemeClr val="tx2"/>
                </a:solidFill>
                <a:cs typeface="Calibri"/>
              </a:rPr>
              <a:t>SunKing</a:t>
            </a:r>
            <a:r>
              <a:rPr lang="en-US" sz="2050" dirty="0">
                <a:solidFill>
                  <a:schemeClr val="tx2"/>
                </a:solidFill>
                <a:cs typeface="Calibri"/>
              </a:rPr>
              <a:t> Bank of the North (your bank)</a:t>
            </a:r>
          </a:p>
        </p:txBody>
      </p:sp>
      <p:sp>
        <p:nvSpPr>
          <p:cNvPr id="12" name="Text Placeholder 1"/>
          <p:cNvSpPr txBox="1">
            <a:spLocks/>
          </p:cNvSpPr>
          <p:nvPr/>
        </p:nvSpPr>
        <p:spPr>
          <a:xfrm>
            <a:off x="1746777" y="3248962"/>
            <a:ext cx="6056103" cy="199798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Lev4_Dec1_OptA– Select Bank’s Email</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Lev4_Dec1_OptB– Select Friend’s Email </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55451" y="327593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255451" y="390073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022CDFFB-D614-475A-A55B-AD2FFE6E9164}"/>
              </a:ext>
            </a:extLst>
          </p:cNvPr>
          <p:cNvSpPr txBox="1"/>
          <p:nvPr/>
        </p:nvSpPr>
        <p:spPr>
          <a:xfrm>
            <a:off x="1001120" y="0"/>
            <a:ext cx="3807084"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Level4_Decision1 </a:t>
            </a:r>
          </a:p>
          <a:p>
            <a:endParaRPr lang="en-US" dirty="0"/>
          </a:p>
        </p:txBody>
      </p:sp>
      <p:sp>
        <p:nvSpPr>
          <p:cNvPr id="14" name="TextBox 13">
            <a:extLst>
              <a:ext uri="{FF2B5EF4-FFF2-40B4-BE49-F238E27FC236}">
                <a16:creationId xmlns:a16="http://schemas.microsoft.com/office/drawing/2014/main" id="{AFE7BE54-F8A7-481E-B458-2228EC7CFD20}"/>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“FREE WIFI” network.</a:t>
            </a:r>
          </a:p>
        </p:txBody>
      </p:sp>
      <p:sp>
        <p:nvSpPr>
          <p:cNvPr id="16" name="TextBox 15">
            <a:extLst>
              <a:ext uri="{FF2B5EF4-FFF2-40B4-BE49-F238E27FC236}">
                <a16:creationId xmlns:a16="http://schemas.microsoft.com/office/drawing/2014/main" id="{7528B8F9-D94C-4F20-BD41-6A0FB973D375}"/>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Student’s </a:t>
            </a:r>
            <a:r>
              <a:rPr lang="en-US" kern="0" dirty="0">
                <a:solidFill>
                  <a:prstClr val="black"/>
                </a:solidFill>
                <a:latin typeface="Calibri" panose="020F0502020204030204"/>
              </a:rPr>
              <a:t>computer will freeze.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6BD3A80F-781C-407E-8D2B-03389E197700}"/>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Either email could be fine. Unfortunately, the student’s laptop is already compromised by the hacker’s Wi-Fi trap.</a:t>
            </a:r>
          </a:p>
        </p:txBody>
      </p:sp>
      <p:sp>
        <p:nvSpPr>
          <p:cNvPr id="13" name="Arrow: Pentagon 12">
            <a:extLst>
              <a:ext uri="{FF2B5EF4-FFF2-40B4-BE49-F238E27FC236}">
                <a16:creationId xmlns:a16="http://schemas.microsoft.com/office/drawing/2014/main" id="{C4343343-92A5-4AC2-A0B4-99EDC84ADEAB}"/>
              </a:ext>
            </a:extLst>
          </p:cNvPr>
          <p:cNvSpPr/>
          <p:nvPr/>
        </p:nvSpPr>
        <p:spPr>
          <a:xfrm>
            <a:off x="188651" y="326297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Arrow: Pentagon 17">
            <a:extLst>
              <a:ext uri="{FF2B5EF4-FFF2-40B4-BE49-F238E27FC236}">
                <a16:creationId xmlns:a16="http://schemas.microsoft.com/office/drawing/2014/main" id="{8D7A4320-79B6-463D-AF64-439159684B11}"/>
              </a:ext>
            </a:extLst>
          </p:cNvPr>
          <p:cNvSpPr/>
          <p:nvPr/>
        </p:nvSpPr>
        <p:spPr>
          <a:xfrm>
            <a:off x="188651" y="390073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306012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25711"/>
            <a:ext cx="10783384" cy="166172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While you are connected to the internet, you decide to check your email.  When you open your email you see you have two emails:</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Are you in?.... From Emily </a:t>
            </a:r>
            <a:r>
              <a:rPr lang="en-US" sz="2050" dirty="0" err="1">
                <a:solidFill>
                  <a:schemeClr val="tx2"/>
                </a:solidFill>
                <a:cs typeface="Calibri"/>
              </a:rPr>
              <a:t>Napels</a:t>
            </a:r>
            <a:r>
              <a:rPr lang="en-US" sz="2050" dirty="0">
                <a:solidFill>
                  <a:schemeClr val="tx2"/>
                </a:solidFill>
                <a:cs typeface="Calibri"/>
              </a:rPr>
              <a:t> (your friend)</a:t>
            </a:r>
          </a:p>
          <a:p>
            <a:pPr marL="0" indent="0">
              <a:spcBef>
                <a:spcPts val="0"/>
              </a:spcBef>
              <a:buNone/>
              <a:defRPr/>
            </a:pPr>
            <a:r>
              <a:rPr lang="en-US" sz="2050" dirty="0">
                <a:solidFill>
                  <a:schemeClr val="tx2"/>
                </a:solidFill>
                <a:cs typeface="Calibri"/>
              </a:rPr>
              <a:t>Your account… from </a:t>
            </a:r>
            <a:r>
              <a:rPr lang="en-US" sz="2050" dirty="0" err="1">
                <a:solidFill>
                  <a:schemeClr val="tx2"/>
                </a:solidFill>
                <a:cs typeface="Calibri"/>
              </a:rPr>
              <a:t>SunKing</a:t>
            </a:r>
            <a:r>
              <a:rPr lang="en-US" sz="2050" dirty="0">
                <a:solidFill>
                  <a:schemeClr val="tx2"/>
                </a:solidFill>
                <a:cs typeface="Calibri"/>
              </a:rPr>
              <a:t> Bank of the North (your bank)</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2110392" y="3372431"/>
            <a:ext cx="4807793" cy="11541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Lev4_Dec2_OptA – Select Friend’s Email</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Lev4_Dec2_OptB – Select Bank’s Email </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524000" y="3420507"/>
            <a:ext cx="380089"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524001" y="4051806"/>
            <a:ext cx="388844"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813BF79F-498B-4BB5-A6A3-D116A6FC9CE8}"/>
              </a:ext>
            </a:extLst>
          </p:cNvPr>
          <p:cNvSpPr txBox="1"/>
          <p:nvPr/>
        </p:nvSpPr>
        <p:spPr>
          <a:xfrm>
            <a:off x="1036320" y="0"/>
            <a:ext cx="4562437" cy="646331"/>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Level4_Decision2</a:t>
            </a:r>
          </a:p>
        </p:txBody>
      </p:sp>
      <p:sp>
        <p:nvSpPr>
          <p:cNvPr id="10" name="TextBox 9">
            <a:extLst>
              <a:ext uri="{FF2B5EF4-FFF2-40B4-BE49-F238E27FC236}">
                <a16:creationId xmlns:a16="http://schemas.microsoft.com/office/drawing/2014/main" id="{2D882A36-D3D3-46D5-9B07-C137D02C1F4D}"/>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SpaceCups</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Wi-Fi.</a:t>
            </a:r>
          </a:p>
        </p:txBody>
      </p:sp>
      <p:sp>
        <p:nvSpPr>
          <p:cNvPr id="13" name="TextBox 12">
            <a:extLst>
              <a:ext uri="{FF2B5EF4-FFF2-40B4-BE49-F238E27FC236}">
                <a16:creationId xmlns:a16="http://schemas.microsoft.com/office/drawing/2014/main" id="{8347CC0C-5A71-49F8-AB52-544CDCF569F5}"/>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how to handle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th</a:t>
            </a:r>
            <a:r>
              <a:rPr lang="en-US" kern="0" dirty="0">
                <a:solidFill>
                  <a:prstClr val="black"/>
                </a:solidFill>
                <a:latin typeface="Calibri" panose="020F0502020204030204"/>
              </a:rPr>
              <a:t>e email.</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9F4692A1-67FE-4B01-B64B-7E669CBEDCB4}"/>
              </a:ext>
            </a:extLst>
          </p:cNvPr>
          <p:cNvSpPr txBox="1"/>
          <p:nvPr/>
        </p:nvSpPr>
        <p:spPr>
          <a:xfrm>
            <a:off x="1036320" y="4806219"/>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Either email here could be okay. Without further information, there’s no reason to suspect either one…yet.</a:t>
            </a:r>
          </a:p>
        </p:txBody>
      </p:sp>
      <p:sp>
        <p:nvSpPr>
          <p:cNvPr id="16" name="Arrow: Pentagon 15">
            <a:extLst>
              <a:ext uri="{FF2B5EF4-FFF2-40B4-BE49-F238E27FC236}">
                <a16:creationId xmlns:a16="http://schemas.microsoft.com/office/drawing/2014/main" id="{A04AC213-FB43-4CF9-994F-5FCA5FD2DFC4}"/>
              </a:ext>
            </a:extLst>
          </p:cNvPr>
          <p:cNvSpPr/>
          <p:nvPr/>
        </p:nvSpPr>
        <p:spPr>
          <a:xfrm>
            <a:off x="188651" y="344896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Arrow: Pentagon 16">
            <a:extLst>
              <a:ext uri="{FF2B5EF4-FFF2-40B4-BE49-F238E27FC236}">
                <a16:creationId xmlns:a16="http://schemas.microsoft.com/office/drawing/2014/main" id="{82E53884-C31F-4DC5-AAD8-C8AF54653103}"/>
              </a:ext>
            </a:extLst>
          </p:cNvPr>
          <p:cNvSpPr/>
          <p:nvPr/>
        </p:nvSpPr>
        <p:spPr>
          <a:xfrm>
            <a:off x="188651" y="404273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420737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71940" y="1400270"/>
            <a:ext cx="11024590"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While you are connected to the internet, you decide to check your email.  When you open your email you see you have two emails:</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Are you in?.... From Emily </a:t>
            </a:r>
            <a:r>
              <a:rPr lang="en-US" sz="2050" dirty="0" err="1">
                <a:solidFill>
                  <a:schemeClr val="tx2"/>
                </a:solidFill>
                <a:cs typeface="Calibri"/>
              </a:rPr>
              <a:t>Napels</a:t>
            </a:r>
            <a:r>
              <a:rPr lang="en-US" sz="2050" dirty="0">
                <a:solidFill>
                  <a:schemeClr val="tx2"/>
                </a:solidFill>
                <a:cs typeface="Calibri"/>
              </a:rPr>
              <a:t> (your friend)</a:t>
            </a:r>
          </a:p>
          <a:p>
            <a:pPr marL="0" indent="0">
              <a:spcBef>
                <a:spcPts val="0"/>
              </a:spcBef>
              <a:buNone/>
              <a:defRPr/>
            </a:pPr>
            <a:r>
              <a:rPr lang="en-US" sz="2050" dirty="0">
                <a:solidFill>
                  <a:schemeClr val="tx2"/>
                </a:solidFill>
                <a:cs typeface="Calibri"/>
              </a:rPr>
              <a:t>Your account… from </a:t>
            </a:r>
            <a:r>
              <a:rPr lang="en-US" sz="2050" dirty="0" err="1">
                <a:solidFill>
                  <a:schemeClr val="tx2"/>
                </a:solidFill>
                <a:cs typeface="Calibri"/>
              </a:rPr>
              <a:t>SunKing</a:t>
            </a:r>
            <a:r>
              <a:rPr lang="en-US" sz="2050" dirty="0">
                <a:solidFill>
                  <a:schemeClr val="tx2"/>
                </a:solidFill>
                <a:cs typeface="Calibri"/>
              </a:rPr>
              <a:t> Bank of the North (your bank)</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09713" y="3442729"/>
            <a:ext cx="6518669" cy="126179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Lev4_Dec3_OptA – Select Friend’s Email</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Lev4_Dec3_OptB – Select Bank’s Email </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569027" y="34427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590425" y="407510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8F7C40D0-C162-49EC-B237-5F0EC798EFA5}"/>
              </a:ext>
            </a:extLst>
          </p:cNvPr>
          <p:cNvSpPr txBox="1"/>
          <p:nvPr/>
        </p:nvSpPr>
        <p:spPr>
          <a:xfrm>
            <a:off x="1036320" y="0"/>
            <a:ext cx="3896138"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Level4_Decision3</a:t>
            </a:r>
          </a:p>
          <a:p>
            <a:endParaRPr lang="en-US" dirty="0"/>
          </a:p>
        </p:txBody>
      </p:sp>
      <p:sp>
        <p:nvSpPr>
          <p:cNvPr id="10" name="TextBox 9">
            <a:extLst>
              <a:ext uri="{FF2B5EF4-FFF2-40B4-BE49-F238E27FC236}">
                <a16:creationId xmlns:a16="http://schemas.microsoft.com/office/drawing/2014/main" id="{031D8496-288D-4275-8E4A-D3E72FC59A8F}"/>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ask the manager to borrow their private Wi-Fi.</a:t>
            </a:r>
          </a:p>
        </p:txBody>
      </p:sp>
      <p:sp>
        <p:nvSpPr>
          <p:cNvPr id="13" name="TextBox 12">
            <a:extLst>
              <a:ext uri="{FF2B5EF4-FFF2-40B4-BE49-F238E27FC236}">
                <a16:creationId xmlns:a16="http://schemas.microsoft.com/office/drawing/2014/main" id="{B28256DA-D8D8-434F-BA34-AB45C4213580}"/>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kern="0" dirty="0">
                <a:solidFill>
                  <a:prstClr val="black"/>
                </a:solidFill>
              </a:rPr>
              <a:t>choose how to handle the email.</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F7C7CE4C-E04F-4D89-997E-E3DDB73FD119}"/>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Either email here could be okay. Without further information, there’s no reason to suspect either one…yet.</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6" name="Arrow: Pentagon 15">
            <a:extLst>
              <a:ext uri="{FF2B5EF4-FFF2-40B4-BE49-F238E27FC236}">
                <a16:creationId xmlns:a16="http://schemas.microsoft.com/office/drawing/2014/main" id="{0BE75E77-CCF4-4A00-A7C1-CA3D7504F19C}"/>
              </a:ext>
            </a:extLst>
          </p:cNvPr>
          <p:cNvSpPr/>
          <p:nvPr/>
        </p:nvSpPr>
        <p:spPr>
          <a:xfrm>
            <a:off x="188651" y="344638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Arrow: Pentagon 16">
            <a:extLst>
              <a:ext uri="{FF2B5EF4-FFF2-40B4-BE49-F238E27FC236}">
                <a16:creationId xmlns:a16="http://schemas.microsoft.com/office/drawing/2014/main" id="{1D39BE18-AB59-48AE-AE38-5FAAEE0DA5E5}"/>
              </a:ext>
            </a:extLst>
          </p:cNvPr>
          <p:cNvSpPr/>
          <p:nvPr/>
        </p:nvSpPr>
        <p:spPr>
          <a:xfrm>
            <a:off x="188651" y="409574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546467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1" y="1447403"/>
            <a:ext cx="11018044" cy="135003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Suddenly your computer freezes! Nothing is working. </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6320" y="3251619"/>
            <a:ext cx="4543040" cy="46289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99BB836F-8449-4CF6-A542-FE3EBE6EB9CE}"/>
              </a:ext>
            </a:extLst>
          </p:cNvPr>
          <p:cNvSpPr txBox="1"/>
          <p:nvPr/>
        </p:nvSpPr>
        <p:spPr>
          <a:xfrm>
            <a:off x="1036320" y="-23232"/>
            <a:ext cx="4543040"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Level5_Story1</a:t>
            </a:r>
          </a:p>
          <a:p>
            <a:endParaRPr lang="en-US" dirty="0"/>
          </a:p>
        </p:txBody>
      </p:sp>
      <p:sp>
        <p:nvSpPr>
          <p:cNvPr id="9" name="TextBox 8">
            <a:extLst>
              <a:ext uri="{FF2B5EF4-FFF2-40B4-BE49-F238E27FC236}">
                <a16:creationId xmlns:a16="http://schemas.microsoft.com/office/drawing/2014/main" id="{B208B932-289D-447D-A88C-141DE36C344B}"/>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a:t>
            </a:r>
            <a:r>
              <a:rPr lang="en-US" kern="0" dirty="0">
                <a:solidFill>
                  <a:prstClr val="black"/>
                </a:solidFill>
                <a:latin typeface="Calibri" panose="020F0502020204030204"/>
              </a:rPr>
              <a:t>failed to protect their computer.</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D145A78-4980-4A90-AB76-5050D33FDF0A}"/>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return to the office to get the computer fixed.</a:t>
            </a:r>
          </a:p>
        </p:txBody>
      </p:sp>
    </p:spTree>
    <p:custDataLst>
      <p:tags r:id="rId1"/>
    </p:custDataLst>
    <p:extLst>
      <p:ext uri="{BB962C8B-B14F-4D97-AF65-F5344CB8AC3E}">
        <p14:creationId xmlns:p14="http://schemas.microsoft.com/office/powerpoint/2010/main" val="3089950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47048"/>
            <a:ext cx="10893962"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Email from Emily </a:t>
            </a:r>
            <a:r>
              <a:rPr lang="en-US" sz="2050" dirty="0" err="1">
                <a:solidFill>
                  <a:schemeClr val="tx2"/>
                </a:solidFill>
                <a:ea typeface="Calibri"/>
                <a:cs typeface="Calibri"/>
              </a:rPr>
              <a:t>Napels</a:t>
            </a:r>
            <a:r>
              <a:rPr lang="en-US" sz="2050" dirty="0">
                <a:solidFill>
                  <a:schemeClr val="tx2"/>
                </a:solidFill>
                <a:ea typeface="Calibri"/>
                <a:cs typeface="Calibri"/>
              </a:rPr>
              <a:t> opens in your browser.  The email reads “You’ve got to check this out.  Click here.”</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19105" y="2292390"/>
            <a:ext cx="6350161"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Lev5_Dec1_Opt A– Click the link</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Lev5_Dec1_Opt B– Delete email</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36931" y="25673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19920" y="320074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5F2BEE5B-9DC5-427A-9A18-3E5D87BBAE0C}"/>
              </a:ext>
            </a:extLst>
          </p:cNvPr>
          <p:cNvSpPr txBox="1"/>
          <p:nvPr/>
        </p:nvSpPr>
        <p:spPr>
          <a:xfrm>
            <a:off x="1093415" y="2790"/>
            <a:ext cx="3369871"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Level5_Decision1</a:t>
            </a:r>
          </a:p>
          <a:p>
            <a:endParaRPr lang="en-US" dirty="0"/>
          </a:p>
        </p:txBody>
      </p:sp>
      <p:sp>
        <p:nvSpPr>
          <p:cNvPr id="9" name="TextBox 8">
            <a:extLst>
              <a:ext uri="{FF2B5EF4-FFF2-40B4-BE49-F238E27FC236}">
                <a16:creationId xmlns:a16="http://schemas.microsoft.com/office/drawing/2014/main" id="{39FA7808-23A3-4C80-9F2E-4D4705C730A9}"/>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open their friend’s email.</a:t>
            </a:r>
          </a:p>
        </p:txBody>
      </p:sp>
      <p:sp>
        <p:nvSpPr>
          <p:cNvPr id="14" name="Arrow: Pentagon 13">
            <a:extLst>
              <a:ext uri="{FF2B5EF4-FFF2-40B4-BE49-F238E27FC236}">
                <a16:creationId xmlns:a16="http://schemas.microsoft.com/office/drawing/2014/main" id="{3837BFCF-286B-4504-8B41-A8F931FE614D}"/>
              </a:ext>
            </a:extLst>
          </p:cNvPr>
          <p:cNvSpPr/>
          <p:nvPr/>
        </p:nvSpPr>
        <p:spPr>
          <a:xfrm>
            <a:off x="188651" y="319459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1214E0F0-E112-4EE8-9FC9-E3A6F0E81B2D}"/>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a:t>
            </a:r>
            <a:r>
              <a:rPr lang="en-US" kern="0" dirty="0">
                <a:solidFill>
                  <a:prstClr val="black"/>
                </a:solidFill>
              </a:rPr>
              <a:t>Student’s computer will freeze.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will need to choose how best to submit a report.</a:t>
            </a:r>
          </a:p>
        </p:txBody>
      </p:sp>
      <p:sp>
        <p:nvSpPr>
          <p:cNvPr id="17" name="TextBox 16">
            <a:extLst>
              <a:ext uri="{FF2B5EF4-FFF2-40B4-BE49-F238E27FC236}">
                <a16:creationId xmlns:a16="http://schemas.microsoft.com/office/drawing/2014/main" id="{C60A04AD-B783-4D4F-91F2-DF2A21399840}"/>
              </a:ext>
            </a:extLst>
          </p:cNvPr>
          <p:cNvSpPr txBox="1"/>
          <p:nvPr/>
        </p:nvSpPr>
        <p:spPr>
          <a:xfrm>
            <a:off x="1036320"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This email looks suspicious and should be deleted.</a:t>
            </a:r>
          </a:p>
        </p:txBody>
      </p:sp>
    </p:spTree>
    <p:custDataLst>
      <p:tags r:id="rId1"/>
    </p:custDataLst>
    <p:extLst>
      <p:ext uri="{BB962C8B-B14F-4D97-AF65-F5344CB8AC3E}">
        <p14:creationId xmlns:p14="http://schemas.microsoft.com/office/powerpoint/2010/main" val="1765831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179444" y="1300232"/>
            <a:ext cx="10912623" cy="181385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Email from Bank loads.  Email reads:</a:t>
            </a:r>
          </a:p>
          <a:p>
            <a:pPr marL="0" indent="0">
              <a:spcBef>
                <a:spcPts val="0"/>
              </a:spcBef>
              <a:buNone/>
              <a:defRPr/>
            </a:pPr>
            <a:r>
              <a:rPr lang="en-US" sz="2050" dirty="0">
                <a:solidFill>
                  <a:schemeClr val="tx2"/>
                </a:solidFill>
                <a:ea typeface="Calibri"/>
                <a:cs typeface="Calibri"/>
              </a:rPr>
              <a:t>Your account has been identified as potentially having a security issue.  Please click the link below and login to your account to verify your identity.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Click here.</a:t>
            </a:r>
          </a:p>
        </p:txBody>
      </p:sp>
      <p:sp>
        <p:nvSpPr>
          <p:cNvPr id="12" name="Text Placeholder 1"/>
          <p:cNvSpPr txBox="1">
            <a:spLocks/>
          </p:cNvSpPr>
          <p:nvPr/>
        </p:nvSpPr>
        <p:spPr>
          <a:xfrm>
            <a:off x="1741047" y="2786723"/>
            <a:ext cx="10387326" cy="181385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Lev5_Dec2_Opt A– Click link and login</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Lev5_Dec2_Opt B– Open your bank’s webpage saved in your browser and use the password saved in your browser.</a:t>
            </a:r>
            <a:endParaRPr lang="en-US" sz="2050" dirty="0">
              <a:solidFill>
                <a:schemeClr val="tx2"/>
              </a:solidFill>
              <a:ea typeface="Calibri"/>
              <a:cs typeface="Calibri"/>
            </a:endParaRPr>
          </a:p>
        </p:txBody>
      </p:sp>
      <p:sp>
        <p:nvSpPr>
          <p:cNvPr id="15" name="Text Placeholder 3"/>
          <p:cNvSpPr txBox="1">
            <a:spLocks/>
          </p:cNvSpPr>
          <p:nvPr/>
        </p:nvSpPr>
        <p:spPr>
          <a:xfrm>
            <a:off x="1278162" y="310074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273945" y="37609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38BC7573-98B8-44AE-A810-672D2FC250C0}"/>
              </a:ext>
            </a:extLst>
          </p:cNvPr>
          <p:cNvSpPr txBox="1"/>
          <p:nvPr/>
        </p:nvSpPr>
        <p:spPr>
          <a:xfrm>
            <a:off x="1179444" y="0"/>
            <a:ext cx="3833568"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Level5_Decision2</a:t>
            </a:r>
          </a:p>
          <a:p>
            <a:endParaRPr lang="en-US" dirty="0"/>
          </a:p>
        </p:txBody>
      </p:sp>
      <p:sp>
        <p:nvSpPr>
          <p:cNvPr id="9" name="TextBox 8">
            <a:extLst>
              <a:ext uri="{FF2B5EF4-FFF2-40B4-BE49-F238E27FC236}">
                <a16:creationId xmlns:a16="http://schemas.microsoft.com/office/drawing/2014/main" id="{03C37C1C-342D-4045-B489-6582C6B9977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open the bank’s email.</a:t>
            </a:r>
          </a:p>
        </p:txBody>
      </p:sp>
      <p:sp>
        <p:nvSpPr>
          <p:cNvPr id="14" name="Arrow: Pentagon 13">
            <a:extLst>
              <a:ext uri="{FF2B5EF4-FFF2-40B4-BE49-F238E27FC236}">
                <a16:creationId xmlns:a16="http://schemas.microsoft.com/office/drawing/2014/main" id="{357879EE-F0A2-4048-8677-5DA73D062934}"/>
              </a:ext>
            </a:extLst>
          </p:cNvPr>
          <p:cNvSpPr/>
          <p:nvPr/>
        </p:nvSpPr>
        <p:spPr>
          <a:xfrm>
            <a:off x="188651" y="378336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TextBox 17">
            <a:extLst>
              <a:ext uri="{FF2B5EF4-FFF2-40B4-BE49-F238E27FC236}">
                <a16:creationId xmlns:a16="http://schemas.microsoft.com/office/drawing/2014/main" id="{3FF7B2F3-51C0-4F57-A842-0A5F72B4ABBD}"/>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get a call from the bank with an alert.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will need to </a:t>
            </a:r>
            <a:r>
              <a:rPr lang="en-US" kern="0" dirty="0">
                <a:solidFill>
                  <a:prstClr val="black"/>
                </a:solidFill>
              </a:rPr>
              <a:t>choose whether to encrypt a file before uploading.</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61261C9-31DA-4315-9631-4948A06235C1}"/>
              </a:ext>
            </a:extLst>
          </p:cNvPr>
          <p:cNvSpPr txBox="1"/>
          <p:nvPr/>
        </p:nvSpPr>
        <p:spPr>
          <a:xfrm>
            <a:off x="1036320"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srgbClr val="C00000"/>
                </a:solidFill>
                <a:latin typeface="Calibri" panose="020F0502020204030204"/>
              </a:rPr>
              <a:t>Never click a link in an email, even if it looks legitimate. It’s better to use a browser to go directly to the bank’s website and sign in there.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503711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85470" y="1421056"/>
            <a:ext cx="10893962"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Email from Emily </a:t>
            </a:r>
            <a:r>
              <a:rPr lang="en-US" sz="2050" dirty="0" err="1">
                <a:solidFill>
                  <a:schemeClr val="tx2"/>
                </a:solidFill>
                <a:ea typeface="Calibri"/>
                <a:cs typeface="Calibri"/>
              </a:rPr>
              <a:t>Napels</a:t>
            </a:r>
            <a:r>
              <a:rPr lang="en-US" sz="2050" dirty="0">
                <a:solidFill>
                  <a:schemeClr val="tx2"/>
                </a:solidFill>
                <a:ea typeface="Calibri"/>
                <a:cs typeface="Calibri"/>
              </a:rPr>
              <a:t> opens in your browser.  The email reads “You’ve got to check this out.  Click here.”</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11061" y="2491171"/>
            <a:ext cx="6350161" cy="168894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Lev5_Dec3_Opt A– Click the link</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Lev5_Dec3_Opt B– Delete email</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28887" y="276616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11876" y="339952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C5F34706-A7C0-43A1-B0CA-49B4B3633DD2}"/>
              </a:ext>
            </a:extLst>
          </p:cNvPr>
          <p:cNvSpPr txBox="1"/>
          <p:nvPr/>
        </p:nvSpPr>
        <p:spPr>
          <a:xfrm>
            <a:off x="1093415" y="2790"/>
            <a:ext cx="3369871"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Level5_Decision3</a:t>
            </a:r>
          </a:p>
          <a:p>
            <a:endParaRPr lang="en-US" dirty="0"/>
          </a:p>
        </p:txBody>
      </p:sp>
      <p:sp>
        <p:nvSpPr>
          <p:cNvPr id="9" name="TextBox 8">
            <a:extLst>
              <a:ext uri="{FF2B5EF4-FFF2-40B4-BE49-F238E27FC236}">
                <a16:creationId xmlns:a16="http://schemas.microsoft.com/office/drawing/2014/main" id="{EED33663-1489-4AA7-9E9D-A4A9727FF04A}"/>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open their friend’s email.</a:t>
            </a:r>
          </a:p>
        </p:txBody>
      </p:sp>
      <p:sp>
        <p:nvSpPr>
          <p:cNvPr id="14" name="Arrow: Pentagon 13">
            <a:extLst>
              <a:ext uri="{FF2B5EF4-FFF2-40B4-BE49-F238E27FC236}">
                <a16:creationId xmlns:a16="http://schemas.microsoft.com/office/drawing/2014/main" id="{8DCD6327-CD2A-4263-8915-21645120F649}"/>
              </a:ext>
            </a:extLst>
          </p:cNvPr>
          <p:cNvSpPr/>
          <p:nvPr/>
        </p:nvSpPr>
        <p:spPr>
          <a:xfrm>
            <a:off x="188651" y="343407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3D6F6404-081F-4BFF-A786-B0EA5FBC4F38}"/>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Student’s computer will freeze.</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will need to choose </a:t>
            </a:r>
            <a:r>
              <a:rPr lang="en-US" kern="0" dirty="0">
                <a:solidFill>
                  <a:prstClr val="black"/>
                </a:solidFill>
              </a:rPr>
              <a:t>how best to submit a report.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CBF590EE-BC10-4D80-9B5E-7E18DE62C424}"/>
              </a:ext>
            </a:extLst>
          </p:cNvPr>
          <p:cNvSpPr txBox="1"/>
          <p:nvPr/>
        </p:nvSpPr>
        <p:spPr>
          <a:xfrm>
            <a:off x="1036320"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This email looks suspicious and should be deleted.</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968479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05728"/>
            <a:ext cx="10912623"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Email from Bank loads.  Email reads:</a:t>
            </a:r>
          </a:p>
          <a:p>
            <a:pPr marL="0" indent="0">
              <a:spcBef>
                <a:spcPts val="0"/>
              </a:spcBef>
              <a:buNone/>
              <a:defRPr/>
            </a:pPr>
            <a:r>
              <a:rPr lang="en-US" sz="2050" dirty="0">
                <a:solidFill>
                  <a:schemeClr val="tx2"/>
                </a:solidFill>
                <a:ea typeface="Calibri"/>
                <a:cs typeface="Calibri"/>
              </a:rPr>
              <a:t>Your account has been identified as potentially having a security issue.  Please click the link below and login to your account to verify your identity.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Click here.</a:t>
            </a:r>
          </a:p>
        </p:txBody>
      </p:sp>
      <p:sp>
        <p:nvSpPr>
          <p:cNvPr id="12" name="Text Placeholder 1"/>
          <p:cNvSpPr txBox="1">
            <a:spLocks/>
          </p:cNvSpPr>
          <p:nvPr/>
        </p:nvSpPr>
        <p:spPr>
          <a:xfrm>
            <a:off x="1910690" y="2924364"/>
            <a:ext cx="10158372" cy="17271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Lev5_Dec4_Opt A– Click link and login</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Lev5_Dec4_Opt B– Open your bank’s webpage saved in your browser and use the password saved in your password manager.</a:t>
            </a:r>
            <a:endParaRPr lang="en-US" sz="2050" dirty="0">
              <a:solidFill>
                <a:schemeClr val="tx2"/>
              </a:solidFill>
              <a:ea typeface="Calibri"/>
              <a:cs typeface="Calibri"/>
            </a:endParaRPr>
          </a:p>
        </p:txBody>
      </p:sp>
      <p:sp>
        <p:nvSpPr>
          <p:cNvPr id="15" name="Text Placeholder 3"/>
          <p:cNvSpPr txBox="1">
            <a:spLocks/>
          </p:cNvSpPr>
          <p:nvPr/>
        </p:nvSpPr>
        <p:spPr>
          <a:xfrm>
            <a:off x="1289126" y="325554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284909" y="41552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53B74349-C785-4AA6-966A-0674ABEEEEDA}"/>
              </a:ext>
            </a:extLst>
          </p:cNvPr>
          <p:cNvSpPr txBox="1"/>
          <p:nvPr/>
        </p:nvSpPr>
        <p:spPr>
          <a:xfrm>
            <a:off x="1018131" y="33445"/>
            <a:ext cx="4628697"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Level5_Decision4</a:t>
            </a:r>
          </a:p>
          <a:p>
            <a:endParaRPr lang="en-US" dirty="0"/>
          </a:p>
        </p:txBody>
      </p:sp>
      <p:sp>
        <p:nvSpPr>
          <p:cNvPr id="16" name="TextBox 15">
            <a:extLst>
              <a:ext uri="{FF2B5EF4-FFF2-40B4-BE49-F238E27FC236}">
                <a16:creationId xmlns:a16="http://schemas.microsoft.com/office/drawing/2014/main" id="{ACA3A1E2-F13F-4760-9733-D929F931F453}"/>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open the bank’s email.</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Arrow: Pentagon 18">
            <a:extLst>
              <a:ext uri="{FF2B5EF4-FFF2-40B4-BE49-F238E27FC236}">
                <a16:creationId xmlns:a16="http://schemas.microsoft.com/office/drawing/2014/main" id="{A771E628-C757-43D6-98A3-EE2DCF817B7A}"/>
              </a:ext>
            </a:extLst>
          </p:cNvPr>
          <p:cNvSpPr/>
          <p:nvPr/>
        </p:nvSpPr>
        <p:spPr>
          <a:xfrm>
            <a:off x="188651" y="416200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21" name="TextBox 20">
            <a:extLst>
              <a:ext uri="{FF2B5EF4-FFF2-40B4-BE49-F238E27FC236}">
                <a16:creationId xmlns:a16="http://schemas.microsoft.com/office/drawing/2014/main" id="{133AC0B9-FC4D-41E0-978C-01B39AEA8A49}"/>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a:t>
            </a:r>
            <a:r>
              <a:rPr lang="en-US" kern="0" dirty="0">
                <a:solidFill>
                  <a:prstClr val="black"/>
                </a:solidFill>
              </a:rPr>
              <a:t>get a call from the bank with an alert.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will need to choose whether to encrypt a file before uploading.</a:t>
            </a:r>
          </a:p>
        </p:txBody>
      </p:sp>
      <p:sp>
        <p:nvSpPr>
          <p:cNvPr id="22" name="TextBox 21">
            <a:extLst>
              <a:ext uri="{FF2B5EF4-FFF2-40B4-BE49-F238E27FC236}">
                <a16:creationId xmlns:a16="http://schemas.microsoft.com/office/drawing/2014/main" id="{3D54189C-25BC-4CC1-8BA4-9EB32429B791}"/>
              </a:ext>
            </a:extLst>
          </p:cNvPr>
          <p:cNvSpPr txBox="1"/>
          <p:nvPr/>
        </p:nvSpPr>
        <p:spPr>
          <a:xfrm>
            <a:off x="1036320"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Never click a link in an email, even if it looks legitimate. It’s better to use a browser to go directly to the bank’s website and sign in there.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81616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1" y="1508381"/>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login to your account and everything looks OK.</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BBA837C1-82F8-400E-BA49-11D04920670C}"/>
              </a:ext>
            </a:extLst>
          </p:cNvPr>
          <p:cNvSpPr txBox="1"/>
          <p:nvPr/>
        </p:nvSpPr>
        <p:spPr>
          <a:xfrm>
            <a:off x="993931" y="0"/>
            <a:ext cx="3870194"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Level5_Story2:</a:t>
            </a:r>
          </a:p>
          <a:p>
            <a:endParaRPr lang="en-US" dirty="0"/>
          </a:p>
        </p:txBody>
      </p:sp>
      <p:sp>
        <p:nvSpPr>
          <p:cNvPr id="9" name="TextBox 8">
            <a:extLst>
              <a:ext uri="{FF2B5EF4-FFF2-40B4-BE49-F238E27FC236}">
                <a16:creationId xmlns:a16="http://schemas.microsoft.com/office/drawing/2014/main" id="{E60B26E2-158A-47D6-9FCC-715CA46361F5}"/>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click the link in the email to log in.</a:t>
            </a:r>
          </a:p>
        </p:txBody>
      </p:sp>
      <p:sp>
        <p:nvSpPr>
          <p:cNvPr id="10" name="TextBox 9">
            <a:extLst>
              <a:ext uri="{FF2B5EF4-FFF2-40B4-BE49-F238E27FC236}">
                <a16:creationId xmlns:a16="http://schemas.microsoft.com/office/drawing/2014/main" id="{79B2AA31-42D4-4F4D-BE5C-7198B828010C}"/>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a:t>
            </a:r>
            <a:r>
              <a:rPr lang="en-US" kern="0" dirty="0">
                <a:solidFill>
                  <a:prstClr val="black"/>
                </a:solidFill>
              </a:rPr>
              <a:t>get a call from the bank with an alert.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774104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2452" y="1715528"/>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login to your account and everything looks OK.  You realize that if someone stole your laptop they could get access to all your accounts – including your bank just by using your browser and your saved passwords.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A70AE1AF-7774-427E-99F1-FF2EA0B131FE}"/>
              </a:ext>
            </a:extLst>
          </p:cNvPr>
          <p:cNvSpPr txBox="1"/>
          <p:nvPr/>
        </p:nvSpPr>
        <p:spPr>
          <a:xfrm>
            <a:off x="1032452" y="-48407"/>
            <a:ext cx="3368821"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Level5_Story3:</a:t>
            </a:r>
          </a:p>
          <a:p>
            <a:endParaRPr lang="en-US" dirty="0"/>
          </a:p>
        </p:txBody>
      </p:sp>
      <p:sp>
        <p:nvSpPr>
          <p:cNvPr id="9" name="TextBox 8">
            <a:extLst>
              <a:ext uri="{FF2B5EF4-FFF2-40B4-BE49-F238E27FC236}">
                <a16:creationId xmlns:a16="http://schemas.microsoft.com/office/drawing/2014/main" id="{5B2CCAD9-37B6-4450-B0BE-4AEB98306CC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browser to go to the bank’s website.</a:t>
            </a:r>
          </a:p>
        </p:txBody>
      </p:sp>
      <p:sp>
        <p:nvSpPr>
          <p:cNvPr id="10" name="TextBox 9">
            <a:extLst>
              <a:ext uri="{FF2B5EF4-FFF2-40B4-BE49-F238E27FC236}">
                <a16:creationId xmlns:a16="http://schemas.microsoft.com/office/drawing/2014/main" id="{4DDEA658-C06C-4B55-9B82-3CE79D832E72}"/>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how best to submit a report.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16581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626761"/>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login to your account and everything looks OK.</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5F82481D-FF7F-4F61-AE22-4559293060B0}"/>
              </a:ext>
            </a:extLst>
          </p:cNvPr>
          <p:cNvSpPr txBox="1"/>
          <p:nvPr/>
        </p:nvSpPr>
        <p:spPr>
          <a:xfrm>
            <a:off x="1036320" y="0"/>
            <a:ext cx="3525637"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Level5_Story4:</a:t>
            </a:r>
          </a:p>
          <a:p>
            <a:endParaRPr lang="en-US" dirty="0"/>
          </a:p>
        </p:txBody>
      </p:sp>
      <p:sp>
        <p:nvSpPr>
          <p:cNvPr id="9" name="TextBox 8">
            <a:extLst>
              <a:ext uri="{FF2B5EF4-FFF2-40B4-BE49-F238E27FC236}">
                <a16:creationId xmlns:a16="http://schemas.microsoft.com/office/drawing/2014/main" id="{D5415936-48E7-4389-98B2-C7B019B59251}"/>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use the browser to go to the bank’s website.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1667A24-6FD2-4C2C-A5C6-CEA80EA60E33}"/>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rPr>
              <a:t>choose whether to encrypt a file before uploading.</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49362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40059" y="1446439"/>
            <a:ext cx="9566981"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Now that you have finished with your email, you need to submit your report.  You have a couple of options:</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939482" y="2715196"/>
            <a:ext cx="8410466"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Lev6_Dec1_Opt A– Upload the file over the store’s </a:t>
            </a:r>
            <a:r>
              <a:rPr lang="en-US" sz="2050" dirty="0" err="1">
                <a:solidFill>
                  <a:schemeClr val="tx2"/>
                </a:solidFill>
                <a:ea typeface="Calibri"/>
                <a:cs typeface="Calibri"/>
                <a:hlinkClick r:id="rId4" action="ppaction://hlinksldjump"/>
              </a:rPr>
              <a:t>WiFi</a:t>
            </a:r>
            <a:endParaRPr lang="en-US" sz="2050"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Lev6_Dec1_Opt B – Return to the office to upload the file</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31143" y="2713591"/>
            <a:ext cx="508340"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416766" y="3336912"/>
            <a:ext cx="425286"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3" name="TextBox 2">
            <a:extLst>
              <a:ext uri="{FF2B5EF4-FFF2-40B4-BE49-F238E27FC236}">
                <a16:creationId xmlns:a16="http://schemas.microsoft.com/office/drawing/2014/main" id="{00827FE2-8E16-4021-8E5F-67A1D5DADC21}"/>
              </a:ext>
            </a:extLst>
          </p:cNvPr>
          <p:cNvSpPr txBox="1"/>
          <p:nvPr/>
        </p:nvSpPr>
        <p:spPr>
          <a:xfrm>
            <a:off x="1032814" y="21425"/>
            <a:ext cx="5840426" cy="923330"/>
          </a:xfrm>
          <a:prstGeom prst="rect">
            <a:avLst/>
          </a:prstGeom>
          <a:noFill/>
        </p:spPr>
        <p:txBody>
          <a:bodyPr wrap="square" rtlCol="0">
            <a:spAutoFit/>
          </a:bodyPr>
          <a:lstStyle/>
          <a:p>
            <a:r>
              <a:rPr lang="en-US" sz="3600" dirty="0">
                <a:solidFill>
                  <a:prstClr val="black"/>
                </a:solidFill>
                <a:latin typeface="Calibri Light" panose="020F0302020204030204"/>
                <a:ea typeface="+mj-ea"/>
                <a:cs typeface="+mj-cs"/>
              </a:rPr>
              <a:t>Level6_Decision1</a:t>
            </a:r>
          </a:p>
          <a:p>
            <a:endParaRPr lang="en-US" dirty="0"/>
          </a:p>
        </p:txBody>
      </p:sp>
      <p:sp>
        <p:nvSpPr>
          <p:cNvPr id="10" name="TextBox 9">
            <a:extLst>
              <a:ext uri="{FF2B5EF4-FFF2-40B4-BE49-F238E27FC236}">
                <a16:creationId xmlns:a16="http://schemas.microsoft.com/office/drawing/2014/main" id="{5AAB6F2D-C4F3-44B8-8525-F70A8DA100CF}"/>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On this track, student chose to use the coffee shop’s public Wi-Fi.</a:t>
            </a:r>
          </a:p>
        </p:txBody>
      </p:sp>
      <p:sp>
        <p:nvSpPr>
          <p:cNvPr id="16" name="Arrow: Pentagon 15">
            <a:extLst>
              <a:ext uri="{FF2B5EF4-FFF2-40B4-BE49-F238E27FC236}">
                <a16:creationId xmlns:a16="http://schemas.microsoft.com/office/drawing/2014/main" id="{B067B252-C726-49F7-8B93-D364D0848670}"/>
              </a:ext>
            </a:extLst>
          </p:cNvPr>
          <p:cNvSpPr/>
          <p:nvPr/>
        </p:nvSpPr>
        <p:spPr>
          <a:xfrm>
            <a:off x="188651" y="331386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TextBox 16">
            <a:extLst>
              <a:ext uri="{FF2B5EF4-FFF2-40B4-BE49-F238E27FC236}">
                <a16:creationId xmlns:a16="http://schemas.microsoft.com/office/drawing/2014/main" id="{9FEE1981-868C-4500-A087-8355E42489E8}"/>
              </a:ext>
            </a:extLst>
          </p:cNvPr>
          <p:cNvSpPr txBox="1"/>
          <p:nvPr/>
        </p:nvSpPr>
        <p:spPr>
          <a:xfrm>
            <a:off x="1032814" y="5741586"/>
            <a:ext cx="9570720" cy="923330"/>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t>
            </a:r>
            <a:r>
              <a:rPr lang="en-US" kern="0" dirty="0">
                <a:solidFill>
                  <a:prstClr val="black"/>
                </a:solidFill>
              </a:rPr>
              <a:t>whether to encrypt the file before uploading.</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will need to </a:t>
            </a:r>
            <a:r>
              <a:rPr lang="en-US" kern="0" dirty="0">
                <a:solidFill>
                  <a:prstClr val="black"/>
                </a:solidFill>
                <a:latin typeface="Calibri" panose="020F0502020204030204"/>
              </a:rPr>
              <a:t>stop by the office to upload the file before heading home for the day.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E294DD70-BF51-442E-AE4F-0900F3E7F9CA}"/>
              </a:ext>
            </a:extLst>
          </p:cNvPr>
          <p:cNvSpPr txBox="1"/>
          <p:nvPr/>
        </p:nvSpPr>
        <p:spPr>
          <a:xfrm>
            <a:off x="1032814" y="4512507"/>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While it will take a little longer, it’s best to upload sensitive files over a secure network back at the office rather than use unsecure, public Wi-Fi.</a:t>
            </a:r>
          </a:p>
        </p:txBody>
      </p:sp>
    </p:spTree>
    <p:custDataLst>
      <p:tags r:id="rId1"/>
    </p:custDataLst>
    <p:extLst>
      <p:ext uri="{BB962C8B-B14F-4D97-AF65-F5344CB8AC3E}">
        <p14:creationId xmlns:p14="http://schemas.microsoft.com/office/powerpoint/2010/main" val="498953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120" y="1819046"/>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Feeling a little frazzled, you decide to return to the office to turn in your client report.  On the way back to the office, you get a call from your bank saying someone is trying to withdraw all the funds from your checking and savings accounts.</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5D6B22F0-C3F7-4C3D-8971-824EF3B0D986}"/>
              </a:ext>
            </a:extLst>
          </p:cNvPr>
          <p:cNvSpPr/>
          <p:nvPr/>
        </p:nvSpPr>
        <p:spPr>
          <a:xfrm>
            <a:off x="1036320" y="0"/>
            <a:ext cx="4301680"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Level6_Story1</a:t>
            </a:r>
          </a:p>
        </p:txBody>
      </p:sp>
      <p:sp>
        <p:nvSpPr>
          <p:cNvPr id="8" name="TextBox 7">
            <a:extLst>
              <a:ext uri="{FF2B5EF4-FFF2-40B4-BE49-F238E27FC236}">
                <a16:creationId xmlns:a16="http://schemas.microsoft.com/office/drawing/2014/main" id="{DEF7CE44-7A62-4FDE-8AB8-F401ECB8D78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click the link in the bank email to log in.</a:t>
            </a:r>
          </a:p>
        </p:txBody>
      </p:sp>
      <p:sp>
        <p:nvSpPr>
          <p:cNvPr id="9" name="TextBox 8">
            <a:extLst>
              <a:ext uri="{FF2B5EF4-FFF2-40B4-BE49-F238E27FC236}">
                <a16:creationId xmlns:a16="http://schemas.microsoft.com/office/drawing/2014/main" id="{933D56E6-0963-4D1E-94AD-EA62F6F1550F}"/>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a:t>
            </a:r>
            <a:r>
              <a:rPr lang="en-US" kern="0" dirty="0">
                <a:solidFill>
                  <a:prstClr val="black"/>
                </a:solidFill>
                <a:latin typeface="Calibri" panose="020F0502020204030204"/>
              </a:rPr>
              <a:t>have personal information stolen.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722453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508381"/>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stop by the office and check in with your manager.  You upload your report and leave the office late heading home exhausted.</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89A19B10-F36F-483D-BD2B-F0331839E784}"/>
              </a:ext>
            </a:extLst>
          </p:cNvPr>
          <p:cNvSpPr/>
          <p:nvPr/>
        </p:nvSpPr>
        <p:spPr>
          <a:xfrm>
            <a:off x="1036320" y="576"/>
            <a:ext cx="3671132"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Level6_Story2</a:t>
            </a:r>
          </a:p>
        </p:txBody>
      </p:sp>
      <p:sp>
        <p:nvSpPr>
          <p:cNvPr id="8" name="TextBox 7">
            <a:extLst>
              <a:ext uri="{FF2B5EF4-FFF2-40B4-BE49-F238E27FC236}">
                <a16:creationId xmlns:a16="http://schemas.microsoft.com/office/drawing/2014/main" id="{A5E5C6F4-ACC6-4955-9098-F8C73116946A}"/>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return to the office to upload the sensitive file.</a:t>
            </a:r>
          </a:p>
        </p:txBody>
      </p:sp>
      <p:sp>
        <p:nvSpPr>
          <p:cNvPr id="9" name="TextBox 8">
            <a:extLst>
              <a:ext uri="{FF2B5EF4-FFF2-40B4-BE49-F238E27FC236}">
                <a16:creationId xmlns:a16="http://schemas.microsoft.com/office/drawing/2014/main" id="{C6B6E87D-8C3C-4006-B984-96441BB2FEE3}"/>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completes the day’s work without causing any security problems.</a:t>
            </a:r>
          </a:p>
        </p:txBody>
      </p:sp>
    </p:spTree>
    <p:custDataLst>
      <p:tags r:id="rId1"/>
    </p:custDataLst>
    <p:extLst>
      <p:ext uri="{BB962C8B-B14F-4D97-AF65-F5344CB8AC3E}">
        <p14:creationId xmlns:p14="http://schemas.microsoft.com/office/powerpoint/2010/main" val="592730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19637"/>
            <a:ext cx="11101466"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successfully logged into the </a:t>
            </a:r>
            <a:r>
              <a:rPr lang="en-US" sz="2050" dirty="0" err="1">
                <a:solidFill>
                  <a:schemeClr val="tx2"/>
                </a:solidFill>
                <a:ea typeface="Calibri"/>
                <a:cs typeface="Calibri"/>
              </a:rPr>
              <a:t>MusicX</a:t>
            </a:r>
            <a:r>
              <a:rPr lang="en-US" sz="2050" dirty="0">
                <a:solidFill>
                  <a:schemeClr val="tx2"/>
                </a:solidFill>
                <a:ea typeface="Calibri"/>
                <a:cs typeface="Calibri"/>
              </a:rPr>
              <a:t> employee site to upload your report. </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860733" y="2643729"/>
            <a:ext cx="5870132" cy="11858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Level7_Dec1_Opt A–Upload the plaintext file</a:t>
            </a:r>
            <a:endParaRPr lang="en-US" sz="2050"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Level7_Dec1_Opt B – Encrypt the file and upload</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93856" y="2682113"/>
            <a:ext cx="447430"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79480" y="3212959"/>
            <a:ext cx="457736"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32D93314-CA06-45D4-8118-31CB7B722BD5}"/>
              </a:ext>
            </a:extLst>
          </p:cNvPr>
          <p:cNvSpPr/>
          <p:nvPr/>
        </p:nvSpPr>
        <p:spPr>
          <a:xfrm>
            <a:off x="1313218" y="67535"/>
            <a:ext cx="4554181"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Level7_Decision1</a:t>
            </a:r>
          </a:p>
        </p:txBody>
      </p:sp>
      <p:sp>
        <p:nvSpPr>
          <p:cNvPr id="9" name="TextBox 8">
            <a:extLst>
              <a:ext uri="{FF2B5EF4-FFF2-40B4-BE49-F238E27FC236}">
                <a16:creationId xmlns:a16="http://schemas.microsoft.com/office/drawing/2014/main" id="{15A12E2E-FD44-48F7-B85B-F671A71223AD}"/>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upload the sensitive file over the coffee shop’s public Wi-Fi.</a:t>
            </a:r>
          </a:p>
        </p:txBody>
      </p:sp>
      <p:sp>
        <p:nvSpPr>
          <p:cNvPr id="10" name="TextBox 9">
            <a:extLst>
              <a:ext uri="{FF2B5EF4-FFF2-40B4-BE49-F238E27FC236}">
                <a16:creationId xmlns:a16="http://schemas.microsoft.com/office/drawing/2014/main" id="{EDBF5172-A7DB-41F6-A9E2-42CA841EDB2D}"/>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Student’s client’s credit card number is stolen.</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Student </a:t>
            </a:r>
            <a:r>
              <a:rPr lang="en-US" kern="0" dirty="0">
                <a:solidFill>
                  <a:prstClr val="black"/>
                </a:solidFill>
                <a:latin typeface="Calibri" panose="020F0502020204030204"/>
              </a:rPr>
              <a:t>finishes work early.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0B14982A-C159-4869-B2A8-1CA0431911C5}"/>
              </a:ext>
            </a:extLst>
          </p:cNvPr>
          <p:cNvSpPr txBox="1"/>
          <p:nvPr/>
        </p:nvSpPr>
        <p:spPr>
          <a:xfrm>
            <a:off x="1036320"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When uploading sensitive information over a public network, extra precaution should be taken to encrypt the data first.</a:t>
            </a:r>
          </a:p>
        </p:txBody>
      </p:sp>
      <p:sp>
        <p:nvSpPr>
          <p:cNvPr id="14" name="Arrow: Pentagon 13">
            <a:extLst>
              <a:ext uri="{FF2B5EF4-FFF2-40B4-BE49-F238E27FC236}">
                <a16:creationId xmlns:a16="http://schemas.microsoft.com/office/drawing/2014/main" id="{D003FFB3-F9BF-4B49-A1B9-3A3CE4D38055}"/>
              </a:ext>
            </a:extLst>
          </p:cNvPr>
          <p:cNvSpPr/>
          <p:nvPr/>
        </p:nvSpPr>
        <p:spPr>
          <a:xfrm>
            <a:off x="188651" y="327031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0178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34341"/>
            <a:ext cx="11101466"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successfully logged into the </a:t>
            </a:r>
            <a:r>
              <a:rPr lang="en-US" sz="2050" dirty="0" err="1">
                <a:solidFill>
                  <a:schemeClr val="tx2"/>
                </a:solidFill>
                <a:ea typeface="Calibri"/>
                <a:cs typeface="Calibri"/>
              </a:rPr>
              <a:t>MusicX</a:t>
            </a:r>
            <a:r>
              <a:rPr lang="en-US" sz="2050" dirty="0">
                <a:solidFill>
                  <a:schemeClr val="tx2"/>
                </a:solidFill>
                <a:ea typeface="Calibri"/>
                <a:cs typeface="Calibri"/>
              </a:rPr>
              <a:t> employee site to upload your report. </a:t>
            </a:r>
            <a:endParaRPr lang="en-US" sz="2050" dirty="0">
              <a:solidFill>
                <a:schemeClr val="tx2"/>
              </a:solidFill>
              <a:cs typeface="Calibri"/>
            </a:endParaRPr>
          </a:p>
        </p:txBody>
      </p:sp>
      <p:sp>
        <p:nvSpPr>
          <p:cNvPr id="12" name="Text Placeholder 1"/>
          <p:cNvSpPr txBox="1">
            <a:spLocks/>
          </p:cNvSpPr>
          <p:nvPr/>
        </p:nvSpPr>
        <p:spPr>
          <a:xfrm>
            <a:off x="1846718" y="2677133"/>
            <a:ext cx="8065909" cy="145290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Level7_Dec2_Opt A–Upload the plaintext file</a:t>
            </a:r>
            <a:endParaRPr lang="en-US" sz="2050"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Level7_Dec2_Opt B – Encrypt the file</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38379" y="26755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24002" y="330904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A618C36A-E104-468D-B9D4-E669A57E7D14}"/>
              </a:ext>
            </a:extLst>
          </p:cNvPr>
          <p:cNvSpPr/>
          <p:nvPr/>
        </p:nvSpPr>
        <p:spPr>
          <a:xfrm>
            <a:off x="1197361" y="67535"/>
            <a:ext cx="4098156"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Level7_Decision2</a:t>
            </a:r>
          </a:p>
        </p:txBody>
      </p:sp>
      <p:sp>
        <p:nvSpPr>
          <p:cNvPr id="9" name="TextBox 8">
            <a:extLst>
              <a:ext uri="{FF2B5EF4-FFF2-40B4-BE49-F238E27FC236}">
                <a16:creationId xmlns:a16="http://schemas.microsoft.com/office/drawing/2014/main" id="{71D6C9E9-3C5B-46E0-8C56-1775F036A7D7}"/>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a:t>
            </a:r>
            <a:r>
              <a:rPr lang="en-US" kern="0" dirty="0">
                <a:solidFill>
                  <a:prstClr val="black"/>
                </a:solidFill>
              </a:rPr>
              <a:t>On this track, student chose to use the coffee shop manager’s private Wi-Fi.</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9258B292-899C-41CB-892B-69E8DB738CD4}"/>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a:t>
            </a:r>
            <a:r>
              <a:rPr lang="en-US" kern="0" dirty="0">
                <a:solidFill>
                  <a:prstClr val="black"/>
                </a:solidFill>
              </a:rPr>
              <a:t>Student’s client’s credit card number is stolen.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a:t>
            </a:r>
            <a:r>
              <a:rPr lang="en-US" kern="0" dirty="0">
                <a:solidFill>
                  <a:prstClr val="black"/>
                </a:solidFill>
              </a:rPr>
              <a:t>Student finishes work early.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0A30A152-3E1E-4CAA-9730-544CC805B5BF}"/>
              </a:ext>
            </a:extLst>
          </p:cNvPr>
          <p:cNvSpPr txBox="1"/>
          <p:nvPr/>
        </p:nvSpPr>
        <p:spPr>
          <a:xfrm>
            <a:off x="1036320" y="4620333"/>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Even though it’s a private network, it still might not be secure from all </a:t>
            </a:r>
            <a:r>
              <a:rPr lang="en-US" kern="0" dirty="0">
                <a:solidFill>
                  <a:srgbClr val="C00000"/>
                </a:solidFill>
              </a:rPr>
              <a:t>risk. Extra precaution should be taken to encrypt the data first.</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02321BC9-2A26-4F30-A00B-C73B90341817}"/>
              </a:ext>
            </a:extLst>
          </p:cNvPr>
          <p:cNvSpPr/>
          <p:nvPr/>
        </p:nvSpPr>
        <p:spPr>
          <a:xfrm>
            <a:off x="188651" y="331386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024589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14920"/>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All done!  You head home early after a successful 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next day at work, your boss wants to meet with you privately.  He tells you that the your client called and said that someone got their credit card number and started making charges.  They are upset and suspect you took it from the confidential form.</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036320" y="3429000"/>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26F7DD04-6AE2-42D9-B75F-BB1BFFB787E4}"/>
              </a:ext>
            </a:extLst>
          </p:cNvPr>
          <p:cNvSpPr/>
          <p:nvPr/>
        </p:nvSpPr>
        <p:spPr>
          <a:xfrm>
            <a:off x="1036320" y="67535"/>
            <a:ext cx="3988905"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Level7_Story1</a:t>
            </a:r>
          </a:p>
        </p:txBody>
      </p:sp>
      <p:sp>
        <p:nvSpPr>
          <p:cNvPr id="8" name="TextBox 7">
            <a:extLst>
              <a:ext uri="{FF2B5EF4-FFF2-40B4-BE49-F238E27FC236}">
                <a16:creationId xmlns:a16="http://schemas.microsoft.com/office/drawing/2014/main" id="{464F3019-7657-4021-BD93-635F19A9DA20}"/>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upload a plaintext file.</a:t>
            </a:r>
          </a:p>
        </p:txBody>
      </p:sp>
      <p:sp>
        <p:nvSpPr>
          <p:cNvPr id="9" name="TextBox 8">
            <a:extLst>
              <a:ext uri="{FF2B5EF4-FFF2-40B4-BE49-F238E27FC236}">
                <a16:creationId xmlns:a16="http://schemas.microsoft.com/office/drawing/2014/main" id="{8FB5A67C-ADF9-4AF5-9475-C14093F5B14F}"/>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Student’s client’s credit card number is stolen.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109855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1" y="1455605"/>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All done!  You head home early after a successful 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4CA23CC5-1639-4240-BCAA-E8A8B5EC247F}"/>
              </a:ext>
            </a:extLst>
          </p:cNvPr>
          <p:cNvSpPr/>
          <p:nvPr/>
        </p:nvSpPr>
        <p:spPr>
          <a:xfrm>
            <a:off x="993931"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Level7_Story2</a:t>
            </a:r>
          </a:p>
        </p:txBody>
      </p:sp>
      <p:sp>
        <p:nvSpPr>
          <p:cNvPr id="10" name="TextBox 9">
            <a:extLst>
              <a:ext uri="{FF2B5EF4-FFF2-40B4-BE49-F238E27FC236}">
                <a16:creationId xmlns:a16="http://schemas.microsoft.com/office/drawing/2014/main" id="{FB490240-CF8B-4ECB-89F9-FB6B9F78EB9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encrypt the file before uploading.</a:t>
            </a:r>
          </a:p>
        </p:txBody>
      </p:sp>
      <p:sp>
        <p:nvSpPr>
          <p:cNvPr id="13" name="TextBox 12">
            <a:extLst>
              <a:ext uri="{FF2B5EF4-FFF2-40B4-BE49-F238E27FC236}">
                <a16:creationId xmlns:a16="http://schemas.microsoft.com/office/drawing/2014/main" id="{7311D78B-99E7-4837-AD11-FDCF04F813D2}"/>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 completes the day’s work without causing any security problems.</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078998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05313"/>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All done!  You head home early after a successful 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next day at work, your boss wants to meet with you privately.  He tells you that the your client called and said that someone got their credit card number and started making charges.  They are upset and suspect you took it from the confidential form.</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313219" y="3953984"/>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CB9E8A73-F181-445B-99FC-AE3741C84684}"/>
              </a:ext>
            </a:extLst>
          </p:cNvPr>
          <p:cNvSpPr/>
          <p:nvPr/>
        </p:nvSpPr>
        <p:spPr>
          <a:xfrm>
            <a:off x="1036320" y="-37353"/>
            <a:ext cx="4543040"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Level7_Story3</a:t>
            </a:r>
          </a:p>
        </p:txBody>
      </p:sp>
      <p:sp>
        <p:nvSpPr>
          <p:cNvPr id="8" name="TextBox 7">
            <a:extLst>
              <a:ext uri="{FF2B5EF4-FFF2-40B4-BE49-F238E27FC236}">
                <a16:creationId xmlns:a16="http://schemas.microsoft.com/office/drawing/2014/main" id="{4DAD4D3A-83C1-4972-9AF6-3DEBBDC4A766}"/>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upload a plaintext file.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073F5E-2CA6-45A1-B214-0173C984C407}"/>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Student’s client’s credit card number is stolen.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40820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93931" y="1508381"/>
            <a:ext cx="11018044"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All done!  You head home early after a successful 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1197361" y="3251619"/>
            <a:ext cx="4543040" cy="323225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674644" y="45491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099" b="1" dirty="0">
              <a:solidFill>
                <a:schemeClr val="accent1">
                  <a:lumMod val="75000"/>
                </a:schemeClr>
              </a:solidFill>
              <a:latin typeface="+mj-lt"/>
              <a:cs typeface="Titillium WebRegular"/>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Rectangle 1">
            <a:extLst>
              <a:ext uri="{FF2B5EF4-FFF2-40B4-BE49-F238E27FC236}">
                <a16:creationId xmlns:a16="http://schemas.microsoft.com/office/drawing/2014/main" id="{CF7F8FB2-506B-4922-A3ED-CB94F9AEF783}"/>
              </a:ext>
            </a:extLst>
          </p:cNvPr>
          <p:cNvSpPr/>
          <p:nvPr/>
        </p:nvSpPr>
        <p:spPr>
          <a:xfrm>
            <a:off x="1007201" y="0"/>
            <a:ext cx="3665576"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Level7_Story4</a:t>
            </a:r>
          </a:p>
        </p:txBody>
      </p:sp>
      <p:sp>
        <p:nvSpPr>
          <p:cNvPr id="9" name="TextBox 8">
            <a:extLst>
              <a:ext uri="{FF2B5EF4-FFF2-40B4-BE49-F238E27FC236}">
                <a16:creationId xmlns:a16="http://schemas.microsoft.com/office/drawing/2014/main" id="{A909A622-1E8C-4871-A745-AAA34CCBFCBD}"/>
              </a:ext>
            </a:extLst>
          </p:cNvPr>
          <p:cNvSpPr txBox="1"/>
          <p:nvPr/>
        </p:nvSpPr>
        <p:spPr>
          <a:xfrm>
            <a:off x="1036320" y="892690"/>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encrypt the file before uploading.</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83CC63E-72E8-4895-86C1-A22170F79FC5}"/>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 completes the day’s work without causing any security problems.</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3581026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1031127" cy="389179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800" b="1" dirty="0">
                <a:solidFill>
                  <a:schemeClr val="tx1"/>
                </a:solidFill>
                <a:latin typeface="+mj-lt"/>
                <a:ea typeface="+mj-ea"/>
                <a:cs typeface="+mj-cs"/>
              </a:rPr>
              <a:t>Screen locks and Ransomware alert pops up.  Please pay $5,000 immediately or you will lose all your files!</a:t>
            </a:r>
          </a:p>
          <a:p>
            <a:pPr marL="0" indent="0">
              <a:spcBef>
                <a:spcPts val="0"/>
              </a:spcBef>
              <a:buNone/>
              <a:defRPr/>
            </a:pPr>
            <a:endParaRPr lang="en-US" sz="2800" b="1" dirty="0">
              <a:solidFill>
                <a:schemeClr val="tx1"/>
              </a:solidFill>
              <a:latin typeface="+mj-lt"/>
              <a:ea typeface="+mj-ea"/>
              <a:cs typeface="+mj-cs"/>
            </a:endParaRPr>
          </a:p>
          <a:p>
            <a:pPr marL="0" indent="0">
              <a:spcBef>
                <a:spcPts val="0"/>
              </a:spcBef>
              <a:buNone/>
              <a:defRPr/>
            </a:pPr>
            <a:r>
              <a:rPr lang="en-US" sz="2800" b="1" dirty="0">
                <a:solidFill>
                  <a:schemeClr val="tx1"/>
                </a:solidFill>
                <a:latin typeface="+mj-lt"/>
                <a:ea typeface="+mj-ea"/>
                <a:cs typeface="+mj-cs"/>
              </a:rPr>
              <a:t>Be careful logging on to networks that say “Free” or lack current security protocols.</a:t>
            </a:r>
          </a:p>
          <a:p>
            <a:pPr marL="0" indent="0">
              <a:spcBef>
                <a:spcPts val="0"/>
              </a:spcBef>
              <a:buNone/>
              <a:defRPr/>
            </a:pPr>
            <a:endParaRPr lang="en-US" sz="2800" b="1" dirty="0">
              <a:solidFill>
                <a:schemeClr val="tx1"/>
              </a:solidFill>
              <a:latin typeface="+mj-lt"/>
              <a:ea typeface="+mj-ea"/>
              <a:cs typeface="+mj-cs"/>
            </a:endParaRPr>
          </a:p>
          <a:p>
            <a:pPr marL="0" indent="0">
              <a:spcBef>
                <a:spcPts val="0"/>
              </a:spcBef>
              <a:buNone/>
              <a:defRPr/>
            </a:pPr>
            <a:r>
              <a:rPr lang="en-US" sz="2800" b="1" dirty="0">
                <a:solidFill>
                  <a:schemeClr val="tx1"/>
                </a:solidFill>
                <a:latin typeface="+mj-lt"/>
                <a:ea typeface="+mj-ea"/>
                <a:cs typeface="+mj-cs"/>
              </a:rPr>
              <a:t>Be aware that you can pick up viruses from unsecured networks as well as suspicious emails with links and attachments.</a:t>
            </a:r>
          </a:p>
        </p:txBody>
      </p:sp>
      <p:sp>
        <p:nvSpPr>
          <p:cNvPr id="2" name="Rectangle 1">
            <a:extLst>
              <a:ext uri="{FF2B5EF4-FFF2-40B4-BE49-F238E27FC236}">
                <a16:creationId xmlns:a16="http://schemas.microsoft.com/office/drawing/2014/main" id="{AA063583-0424-498E-8618-4F270BC5BEDD}"/>
              </a:ext>
            </a:extLst>
          </p:cNvPr>
          <p:cNvSpPr/>
          <p:nvPr/>
        </p:nvSpPr>
        <p:spPr>
          <a:xfrm>
            <a:off x="795113" y="94859"/>
            <a:ext cx="4045035" cy="600164"/>
          </a:xfrm>
          <a:prstGeom prst="rect">
            <a:avLst/>
          </a:prstGeom>
        </p:spPr>
        <p:txBody>
          <a:bodyPr wrap="square">
            <a:spAutoFit/>
          </a:bodyPr>
          <a:lstStyle/>
          <a:p>
            <a:pPr>
              <a:defRPr/>
            </a:pPr>
            <a:r>
              <a:rPr lang="en-US" sz="3300" dirty="0">
                <a:latin typeface="+mj-lt"/>
              </a:rPr>
              <a:t>Outcome 0</a:t>
            </a:r>
          </a:p>
        </p:txBody>
      </p:sp>
      <p:sp>
        <p:nvSpPr>
          <p:cNvPr id="6" name="Text Placeholder 1">
            <a:extLst>
              <a:ext uri="{FF2B5EF4-FFF2-40B4-BE49-F238E27FC236}">
                <a16:creationId xmlns:a16="http://schemas.microsoft.com/office/drawing/2014/main" id="{19634864-D770-4E55-B6E7-937C41A6FCB6}"/>
              </a:ext>
            </a:extLst>
          </p:cNvPr>
          <p:cNvSpPr txBox="1">
            <a:spLocks/>
          </p:cNvSpPr>
          <p:nvPr/>
        </p:nvSpPr>
        <p:spPr>
          <a:xfrm>
            <a:off x="893085" y="4922939"/>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7" name="Rectangle 6">
            <a:extLst>
              <a:ext uri="{FF2B5EF4-FFF2-40B4-BE49-F238E27FC236}">
                <a16:creationId xmlns:a16="http://schemas.microsoft.com/office/drawing/2014/main" id="{19966D2C-9571-40A4-981C-6215360436B7}"/>
              </a:ext>
            </a:extLst>
          </p:cNvPr>
          <p:cNvSpPr/>
          <p:nvPr/>
        </p:nvSpPr>
        <p:spPr>
          <a:xfrm>
            <a:off x="893085" y="580652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lumMod val="75000"/>
                  </a:schemeClr>
                </a:solidFill>
                <a:latin typeface="+mj-lt"/>
                <a:cs typeface="Titillium WebRegular"/>
                <a:hlinkClick r:id="rId5" action="ppaction://hlinksldjump">
                  <a:extLst>
                    <a:ext uri="{A12FA001-AC4F-418D-AE19-62706E023703}">
                      <ahyp:hlinkClr xmlns:ahyp="http://schemas.microsoft.com/office/drawing/2018/hyperlinkcolor" val="tx"/>
                    </a:ext>
                  </a:extLst>
                </a:hlinkClick>
              </a:rPr>
              <a:t>Start</a:t>
            </a:r>
            <a:r>
              <a:rPr lang="en-US" sz="2050" dirty="0">
                <a:solidFill>
                  <a:schemeClr val="accent1">
                    <a:lumMod val="75000"/>
                  </a:schemeClr>
                </a:solidFill>
                <a:latin typeface="+mj-lt"/>
                <a:cs typeface="Calibri Light"/>
                <a:hlinkClick r:id="rId5" action="ppaction://hlinksldjump">
                  <a:extLst>
                    <a:ext uri="{A12FA001-AC4F-418D-AE19-62706E023703}">
                      <ahyp:hlinkClr xmlns:ahyp="http://schemas.microsoft.com/office/drawing/2018/hyperlinkcolor" val="tx"/>
                    </a:ext>
                  </a:extLst>
                </a:hlinkClick>
              </a:rPr>
              <a:t> Again</a:t>
            </a:r>
            <a:endParaRPr lang="en-US" sz="2099" dirty="0">
              <a:solidFill>
                <a:schemeClr val="accent1">
                  <a:lumMod val="75000"/>
                </a:schemeClr>
              </a:solidFill>
              <a:latin typeface="+mj-lt"/>
              <a:cs typeface="Titillium WebRegular"/>
            </a:endParaRPr>
          </a:p>
        </p:txBody>
      </p:sp>
    </p:spTree>
    <p:custDataLst>
      <p:tags r:id="rId2"/>
    </p:custDataLst>
    <p:extLst>
      <p:ext uri="{BB962C8B-B14F-4D97-AF65-F5344CB8AC3E}">
        <p14:creationId xmlns:p14="http://schemas.microsoft.com/office/powerpoint/2010/main" val="3072946042"/>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1183527" cy="35260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800" b="1" dirty="0">
                <a:solidFill>
                  <a:schemeClr val="tx1"/>
                </a:solidFill>
                <a:latin typeface="+mj-lt"/>
                <a:ea typeface="+mj-ea"/>
                <a:cs typeface="+mj-cs"/>
              </a:rPr>
              <a:t>Bank/credit card information can be easily stolen when if you do not practice good information security when working online.  Transmitting unencrypted files across unsecure networks can leave your information readable by others.</a:t>
            </a:r>
          </a:p>
          <a:p>
            <a:pPr marL="0" indent="0">
              <a:spcBef>
                <a:spcPts val="0"/>
              </a:spcBef>
              <a:buNone/>
              <a:defRPr/>
            </a:pPr>
            <a:endParaRPr lang="en-US" sz="2800" b="1" dirty="0">
              <a:solidFill>
                <a:schemeClr val="tx1"/>
              </a:solidFill>
              <a:latin typeface="+mj-lt"/>
              <a:ea typeface="+mj-ea"/>
              <a:cs typeface="+mj-cs"/>
            </a:endParaRPr>
          </a:p>
          <a:p>
            <a:pPr marL="0" indent="0">
              <a:spcBef>
                <a:spcPts val="0"/>
              </a:spcBef>
              <a:buNone/>
              <a:defRPr/>
            </a:pPr>
            <a:r>
              <a:rPr lang="en-US" sz="2800" b="1" dirty="0">
                <a:solidFill>
                  <a:schemeClr val="tx1"/>
                </a:solidFill>
                <a:latin typeface="+mj-lt"/>
                <a:ea typeface="+mj-ea"/>
                <a:cs typeface="+mj-cs"/>
              </a:rPr>
              <a:t>For now you have some cleanup work to do.  You will need to contact your bank to resolve your lost bank information or you may need to provide information to your client regarding how you may have lost their credit card information.</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cs typeface="Calibri"/>
            </a:endParaRPr>
          </a:p>
        </p:txBody>
      </p:sp>
      <p:sp>
        <p:nvSpPr>
          <p:cNvPr id="2" name="Rectangle 1">
            <a:extLst>
              <a:ext uri="{FF2B5EF4-FFF2-40B4-BE49-F238E27FC236}">
                <a16:creationId xmlns:a16="http://schemas.microsoft.com/office/drawing/2014/main" id="{44C5A7DF-FB0B-41B4-B5BB-9F165616A863}"/>
              </a:ext>
            </a:extLst>
          </p:cNvPr>
          <p:cNvSpPr/>
          <p:nvPr/>
        </p:nvSpPr>
        <p:spPr>
          <a:xfrm>
            <a:off x="795113" y="95069"/>
            <a:ext cx="2066912" cy="600164"/>
          </a:xfrm>
          <a:prstGeom prst="rect">
            <a:avLst/>
          </a:prstGeom>
        </p:spPr>
        <p:txBody>
          <a:bodyPr wrap="none">
            <a:spAutoFit/>
          </a:bodyPr>
          <a:lstStyle/>
          <a:p>
            <a:pPr>
              <a:defRPr/>
            </a:pPr>
            <a:r>
              <a:rPr lang="en-US" sz="3300" dirty="0">
                <a:latin typeface="+mj-lt"/>
              </a:rPr>
              <a:t>Outcome 1</a:t>
            </a:r>
          </a:p>
        </p:txBody>
      </p:sp>
      <p:sp>
        <p:nvSpPr>
          <p:cNvPr id="6" name="Text Placeholder 1">
            <a:extLst>
              <a:ext uri="{FF2B5EF4-FFF2-40B4-BE49-F238E27FC236}">
                <a16:creationId xmlns:a16="http://schemas.microsoft.com/office/drawing/2014/main" id="{B291BC50-09A6-4334-BFF4-184C94B9655E}"/>
              </a:ext>
            </a:extLst>
          </p:cNvPr>
          <p:cNvSpPr txBox="1">
            <a:spLocks/>
          </p:cNvSpPr>
          <p:nvPr/>
        </p:nvSpPr>
        <p:spPr>
          <a:xfrm>
            <a:off x="893085" y="4922939"/>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7" name="Rectangle 6">
            <a:extLst>
              <a:ext uri="{FF2B5EF4-FFF2-40B4-BE49-F238E27FC236}">
                <a16:creationId xmlns:a16="http://schemas.microsoft.com/office/drawing/2014/main" id="{5F10AD6D-4209-4DD5-9373-21CD7666928D}"/>
              </a:ext>
            </a:extLst>
          </p:cNvPr>
          <p:cNvSpPr/>
          <p:nvPr/>
        </p:nvSpPr>
        <p:spPr>
          <a:xfrm>
            <a:off x="893085" y="580652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lumMod val="75000"/>
                  </a:schemeClr>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lumMod val="75000"/>
                  </a:schemeClr>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lumMod val="75000"/>
                </a:schemeClr>
              </a:solidFill>
              <a:latin typeface="+mj-lt"/>
              <a:cs typeface="Titillium WebRegular"/>
            </a:endParaRPr>
          </a:p>
        </p:txBody>
      </p:sp>
    </p:spTree>
    <p:custDataLst>
      <p:tags r:id="rId1"/>
    </p:custDataLst>
    <p:extLst>
      <p:ext uri="{BB962C8B-B14F-4D97-AF65-F5344CB8AC3E}">
        <p14:creationId xmlns:p14="http://schemas.microsoft.com/office/powerpoint/2010/main" val="610327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625555"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800" b="1" dirty="0">
                <a:solidFill>
                  <a:schemeClr val="tx1"/>
                </a:solidFill>
                <a:latin typeface="+mj-lt"/>
                <a:ea typeface="+mj-ea"/>
                <a:cs typeface="+mj-cs"/>
              </a:rPr>
              <a:t>You have successfully completed your first day without a security incident.  Good job!</a:t>
            </a:r>
          </a:p>
        </p:txBody>
      </p:sp>
      <p:sp>
        <p:nvSpPr>
          <p:cNvPr id="2" name="Rectangle 1">
            <a:extLst>
              <a:ext uri="{FF2B5EF4-FFF2-40B4-BE49-F238E27FC236}">
                <a16:creationId xmlns:a16="http://schemas.microsoft.com/office/drawing/2014/main" id="{250EA752-16DA-4535-85EA-741584CCB9E8}"/>
              </a:ext>
            </a:extLst>
          </p:cNvPr>
          <p:cNvSpPr/>
          <p:nvPr/>
        </p:nvSpPr>
        <p:spPr>
          <a:xfrm>
            <a:off x="795113" y="46433"/>
            <a:ext cx="2066912" cy="600164"/>
          </a:xfrm>
          <a:prstGeom prst="rect">
            <a:avLst/>
          </a:prstGeom>
        </p:spPr>
        <p:txBody>
          <a:bodyPr wrap="none">
            <a:spAutoFit/>
          </a:bodyPr>
          <a:lstStyle/>
          <a:p>
            <a:pPr>
              <a:defRPr/>
            </a:pPr>
            <a:r>
              <a:rPr lang="en-US" sz="3300" dirty="0">
                <a:latin typeface="+mj-lt"/>
              </a:rPr>
              <a:t>Outcome 2</a:t>
            </a:r>
          </a:p>
        </p:txBody>
      </p:sp>
      <p:sp>
        <p:nvSpPr>
          <p:cNvPr id="5" name="Text Placeholder 1">
            <a:extLst>
              <a:ext uri="{FF2B5EF4-FFF2-40B4-BE49-F238E27FC236}">
                <a16:creationId xmlns:a16="http://schemas.microsoft.com/office/drawing/2014/main" id="{A6A475BD-A40F-417C-86B5-8C3029D53234}"/>
              </a:ext>
            </a:extLst>
          </p:cNvPr>
          <p:cNvSpPr txBox="1">
            <a:spLocks/>
          </p:cNvSpPr>
          <p:nvPr/>
        </p:nvSpPr>
        <p:spPr>
          <a:xfrm>
            <a:off x="795113" y="2750577"/>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6" name="Rectangle 5">
            <a:extLst>
              <a:ext uri="{FF2B5EF4-FFF2-40B4-BE49-F238E27FC236}">
                <a16:creationId xmlns:a16="http://schemas.microsoft.com/office/drawing/2014/main" id="{09156E4C-7B7A-45D9-A802-B09FF61B5BBA}"/>
              </a:ext>
            </a:extLst>
          </p:cNvPr>
          <p:cNvSpPr/>
          <p:nvPr/>
        </p:nvSpPr>
        <p:spPr>
          <a:xfrm>
            <a:off x="795113" y="4084316"/>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lumMod val="75000"/>
                  </a:schemeClr>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lumMod val="75000"/>
                  </a:schemeClr>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lumMod val="75000"/>
                </a:schemeClr>
              </a:solidFill>
              <a:latin typeface="+mj-lt"/>
              <a:cs typeface="Titillium WebRegular"/>
            </a:endParaRPr>
          </a:p>
        </p:txBody>
      </p:sp>
    </p:spTree>
    <p:custDataLst>
      <p:tags r:id="rId1"/>
    </p:custDataLst>
    <p:extLst>
      <p:ext uri="{BB962C8B-B14F-4D97-AF65-F5344CB8AC3E}">
        <p14:creationId xmlns:p14="http://schemas.microsoft.com/office/powerpoint/2010/main" val="8033388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7C09BD-9201-4442-889D-F319FA8251B5}">
  <ds:schemaRefs>
    <ds:schemaRef ds:uri="http://schemas.microsoft.com/office/2006/metadata/properties"/>
    <ds:schemaRef ds:uri="http://schemas.microsoft.com/office/infopath/2007/PartnerControls"/>
    <ds:schemaRef ds:uri="eeab3f26-09e2-49ed-a80d-9bb89f29cea5"/>
  </ds:schemaRefs>
</ds:datastoreItem>
</file>

<file path=customXml/itemProps2.xml><?xml version="1.0" encoding="utf-8"?>
<ds:datastoreItem xmlns:ds="http://schemas.openxmlformats.org/officeDocument/2006/customXml" ds:itemID="{D32E2D8C-98A9-4B21-961B-A42E2B04C037}">
  <ds:schemaRefs>
    <ds:schemaRef ds:uri="http://schemas.microsoft.com/sharepoint/v3/contenttype/forms"/>
  </ds:schemaRefs>
</ds:datastoreItem>
</file>

<file path=customXml/itemProps3.xml><?xml version="1.0" encoding="utf-8"?>
<ds:datastoreItem xmlns:ds="http://schemas.openxmlformats.org/officeDocument/2006/customXml" ds:itemID="{7C809740-15F7-4B47-AEE7-25C525417811}"/>
</file>

<file path=docProps/app.xml><?xml version="1.0" encoding="utf-8"?>
<Properties xmlns="http://schemas.openxmlformats.org/officeDocument/2006/extended-properties" xmlns:vt="http://schemas.openxmlformats.org/officeDocument/2006/docPropsVTypes">
  <Template/>
  <TotalTime>5195</TotalTime>
  <Words>3371</Words>
  <Application>Microsoft Office PowerPoint</Application>
  <PresentationFormat>Widescreen</PresentationFormat>
  <Paragraphs>549</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Titillium Web</vt:lpstr>
      <vt:lpstr>Wingdings</vt:lpstr>
      <vt:lpstr>Office Theme</vt:lpstr>
      <vt:lpstr>Privacy and Security</vt:lpstr>
      <vt:lpstr>Privacy and Security</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Liberty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and Security</dc:title>
  <dc:creator>Brigman, Craig Charles (School of Business)</dc:creator>
  <cp:lastModifiedBy>Molnar, Zenya</cp:lastModifiedBy>
  <cp:revision>142</cp:revision>
  <dcterms:created xsi:type="dcterms:W3CDTF">2018-11-12T18:40:57Z</dcterms:created>
  <dcterms:modified xsi:type="dcterms:W3CDTF">2020-03-05T16:22:55Z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