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heme/themeOverride1.xml" ContentType="application/vnd.openxmlformats-officedocument.themeOverride+xml"/>
  <Override PartName="/ppt/tags/tag25.xml" ContentType="application/vnd.openxmlformats-officedocument.presentationml.tags+xml"/>
  <Override PartName="/ppt/notesSlides/notesSlide19.xml" ContentType="application/vnd.openxmlformats-officedocument.presentationml.notesSlide+xml"/>
  <Override PartName="/ppt/theme/themeOverride2.xml" ContentType="application/vnd.openxmlformats-officedocument.themeOverride+xml"/>
  <Override PartName="/ppt/tags/tag26.xml" ContentType="application/vnd.openxmlformats-officedocument.presentationml.tags+xml"/>
  <Override PartName="/ppt/notesSlides/notesSlide20.xml" ContentType="application/vnd.openxmlformats-officedocument.presentationml.notesSlide+xml"/>
  <Override PartName="/ppt/theme/themeOverride3.xml" ContentType="application/vnd.openxmlformats-officedocument.themeOverride+xml"/>
  <Override PartName="/ppt/tags/tag27.xml" ContentType="application/vnd.openxmlformats-officedocument.presentationml.tags+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6"/>
    <p:sldMasterId id="2147483679" r:id="rId7"/>
  </p:sldMasterIdLst>
  <p:notesMasterIdLst>
    <p:notesMasterId r:id="rId29"/>
  </p:notesMasterIdLst>
  <p:sldIdLst>
    <p:sldId id="258" r:id="rId8"/>
    <p:sldId id="260" r:id="rId9"/>
    <p:sldId id="270" r:id="rId10"/>
    <p:sldId id="295" r:id="rId11"/>
    <p:sldId id="375" r:id="rId12"/>
    <p:sldId id="376" r:id="rId13"/>
    <p:sldId id="377" r:id="rId14"/>
    <p:sldId id="378" r:id="rId15"/>
    <p:sldId id="379" r:id="rId16"/>
    <p:sldId id="380" r:id="rId17"/>
    <p:sldId id="381" r:id="rId18"/>
    <p:sldId id="383" r:id="rId19"/>
    <p:sldId id="382" r:id="rId20"/>
    <p:sldId id="384" r:id="rId21"/>
    <p:sldId id="385" r:id="rId22"/>
    <p:sldId id="386" r:id="rId23"/>
    <p:sldId id="387" r:id="rId24"/>
    <p:sldId id="388" r:id="rId25"/>
    <p:sldId id="389" r:id="rId26"/>
    <p:sldId id="390" r:id="rId27"/>
    <p:sldId id="39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ssica West" initials="JW" lastIdx="1" clrIdx="0">
    <p:extLst>
      <p:ext uri="{19B8F6BF-5375-455C-9EA6-DF929625EA0E}">
        <p15:presenceInfo xmlns:p15="http://schemas.microsoft.com/office/powerpoint/2012/main" userId="Jessica West" providerId="None"/>
      </p:ext>
    </p:extLst>
  </p:cmAuthor>
  <p:cmAuthor id="2" name="Jill West" initials="JW" lastIdx="4" clrIdx="1">
    <p:extLst>
      <p:ext uri="{19B8F6BF-5375-455C-9EA6-DF929625EA0E}">
        <p15:presenceInfo xmlns:p15="http://schemas.microsoft.com/office/powerpoint/2012/main" userId="Jill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81" autoAdjust="0"/>
    <p:restoredTop sz="81981" autoAdjust="0"/>
  </p:normalViewPr>
  <p:slideViewPr>
    <p:cSldViewPr snapToGrid="0">
      <p:cViewPr varScale="1">
        <p:scale>
          <a:sx n="40" d="100"/>
          <a:sy n="40" d="100"/>
        </p:scale>
        <p:origin x="52" y="6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ableStyles" Target="tableStyles.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commentAuthors" Target="commentAuthors.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0D9A3B8E-98AF-41B5-82E2-EEE724BEA45E}"/>
    <pc:docChg chg="custSel modSld">
      <pc:chgData name="MikeandJill West" userId="0caeac936585bbb7" providerId="LiveId" clId="{0D9A3B8E-98AF-41B5-82E2-EEE724BEA45E}" dt="2020-02-17T03:16:08.592" v="30" actId="1038"/>
      <pc:docMkLst>
        <pc:docMk/>
      </pc:docMkLst>
      <pc:sldChg chg="modSp addCm delCm">
        <pc:chgData name="MikeandJill West" userId="0caeac936585bbb7" providerId="LiveId" clId="{0D9A3B8E-98AF-41B5-82E2-EEE724BEA45E}" dt="2020-02-17T03:15:36.804" v="5" actId="1592"/>
        <pc:sldMkLst>
          <pc:docMk/>
          <pc:sldMk cId="987616076" sldId="258"/>
        </pc:sldMkLst>
        <pc:spChg chg="mod">
          <ac:chgData name="MikeandJill West" userId="0caeac936585bbb7" providerId="LiveId" clId="{0D9A3B8E-98AF-41B5-82E2-EEE724BEA45E}" dt="2020-02-17T02:48:57.363" v="0" actId="113"/>
          <ac:spMkLst>
            <pc:docMk/>
            <pc:sldMk cId="987616076" sldId="258"/>
            <ac:spMk id="26" creationId="{40184B40-508E-4CC0-A6B8-3111CAA042DC}"/>
          </ac:spMkLst>
        </pc:spChg>
      </pc:sldChg>
      <pc:sldChg chg="modSp">
        <pc:chgData name="MikeandJill West" userId="0caeac936585bbb7" providerId="LiveId" clId="{0D9A3B8E-98AF-41B5-82E2-EEE724BEA45E}" dt="2020-02-17T03:15:57.668" v="26" actId="1038"/>
        <pc:sldMkLst>
          <pc:docMk/>
          <pc:sldMk cId="617362008" sldId="376"/>
        </pc:sldMkLst>
        <pc:spChg chg="mod">
          <ac:chgData name="MikeandJill West" userId="0caeac936585bbb7" providerId="LiveId" clId="{0D9A3B8E-98AF-41B5-82E2-EEE724BEA45E}" dt="2020-02-17T03:15:57.668" v="26" actId="1038"/>
          <ac:spMkLst>
            <pc:docMk/>
            <pc:sldMk cId="617362008" sldId="376"/>
            <ac:spMk id="8" creationId="{59084517-AE3F-42B9-B673-1937206652FE}"/>
          </ac:spMkLst>
        </pc:spChg>
        <pc:spChg chg="mod">
          <ac:chgData name="MikeandJill West" userId="0caeac936585bbb7" providerId="LiveId" clId="{0D9A3B8E-98AF-41B5-82E2-EEE724BEA45E}" dt="2020-02-17T03:15:57.668" v="26" actId="1038"/>
          <ac:spMkLst>
            <pc:docMk/>
            <pc:sldMk cId="617362008" sldId="376"/>
            <ac:spMk id="12" creationId="{00000000-0000-0000-0000-000000000000}"/>
          </ac:spMkLst>
        </pc:spChg>
        <pc:spChg chg="mod">
          <ac:chgData name="MikeandJill West" userId="0caeac936585bbb7" providerId="LiveId" clId="{0D9A3B8E-98AF-41B5-82E2-EEE724BEA45E}" dt="2020-02-17T03:15:57.668" v="26" actId="1038"/>
          <ac:spMkLst>
            <pc:docMk/>
            <pc:sldMk cId="617362008" sldId="376"/>
            <ac:spMk id="15" creationId="{00000000-0000-0000-0000-000000000000}"/>
          </ac:spMkLst>
        </pc:spChg>
      </pc:sldChg>
      <pc:sldChg chg="modSp">
        <pc:chgData name="MikeandJill West" userId="0caeac936585bbb7" providerId="LiveId" clId="{0D9A3B8E-98AF-41B5-82E2-EEE724BEA45E}" dt="2020-02-17T03:16:08.592" v="30" actId="1038"/>
        <pc:sldMkLst>
          <pc:docMk/>
          <pc:sldMk cId="1098433024" sldId="377"/>
        </pc:sldMkLst>
        <pc:spChg chg="mod">
          <ac:chgData name="MikeandJill West" userId="0caeac936585bbb7" providerId="LiveId" clId="{0D9A3B8E-98AF-41B5-82E2-EEE724BEA45E}" dt="2020-02-17T03:16:08.592" v="30" actId="1038"/>
          <ac:spMkLst>
            <pc:docMk/>
            <pc:sldMk cId="1098433024" sldId="377"/>
            <ac:spMk id="15" creationId="{00000000-0000-0000-0000-000000000000}"/>
          </ac:spMkLst>
        </pc:spChg>
      </pc:sldChg>
      <pc:sldChg chg="setBg">
        <pc:chgData name="MikeandJill West" userId="0caeac936585bbb7" providerId="LiveId" clId="{0D9A3B8E-98AF-41B5-82E2-EEE724BEA45E}" dt="2020-02-17T03:15:19.250" v="1"/>
        <pc:sldMkLst>
          <pc:docMk/>
          <pc:sldMk cId="141551121" sldId="389"/>
        </pc:sldMkLst>
      </pc:sldChg>
      <pc:sldChg chg="setBg">
        <pc:chgData name="MikeandJill West" userId="0caeac936585bbb7" providerId="LiveId" clId="{0D9A3B8E-98AF-41B5-82E2-EEE724BEA45E}" dt="2020-02-17T03:15:22.425" v="2"/>
        <pc:sldMkLst>
          <pc:docMk/>
          <pc:sldMk cId="3816988108" sldId="390"/>
        </pc:sldMkLst>
      </pc:sldChg>
      <pc:sldChg chg="setBg">
        <pc:chgData name="MikeandJill West" userId="0caeac936585bbb7" providerId="LiveId" clId="{0D9A3B8E-98AF-41B5-82E2-EEE724BEA45E}" dt="2020-02-17T03:15:25.841" v="3"/>
        <pc:sldMkLst>
          <pc:docMk/>
          <pc:sldMk cId="2793273946" sldId="391"/>
        </pc:sldMkLst>
      </pc:sldChg>
    </pc:docChg>
  </pc:docChgLst>
  <pc:docChgLst>
    <pc:chgData name="Molnar, Zenya" userId="d17daa46-33bc-45d8-ab7d-8dd45e08dac2" providerId="ADAL" clId="{0F8294ED-D441-4CF7-A928-5E428FE1AB6E}"/>
    <pc:docChg chg="custSel modSld">
      <pc:chgData name="Molnar, Zenya" userId="d17daa46-33bc-45d8-ab7d-8dd45e08dac2" providerId="ADAL" clId="{0F8294ED-D441-4CF7-A928-5E428FE1AB6E}" dt="2020-03-05T19:32:08.550" v="0" actId="33524"/>
      <pc:docMkLst>
        <pc:docMk/>
      </pc:docMkLst>
      <pc:sldChg chg="modSp mod">
        <pc:chgData name="Molnar, Zenya" userId="d17daa46-33bc-45d8-ab7d-8dd45e08dac2" providerId="ADAL" clId="{0F8294ED-D441-4CF7-A928-5E428FE1AB6E}" dt="2020-03-05T19:32:08.550" v="0" actId="33524"/>
        <pc:sldMkLst>
          <pc:docMk/>
          <pc:sldMk cId="4136002634" sldId="295"/>
        </pc:sldMkLst>
        <pc:spChg chg="mod">
          <ac:chgData name="Molnar, Zenya" userId="d17daa46-33bc-45d8-ab7d-8dd45e08dac2" providerId="ADAL" clId="{0F8294ED-D441-4CF7-A928-5E428FE1AB6E}" dt="2020-03-05T19:32:08.550" v="0" actId="33524"/>
          <ac:spMkLst>
            <pc:docMk/>
            <pc:sldMk cId="4136002634" sldId="295"/>
            <ac:spMk id="16" creationId="{A0C6B975-02DE-451F-8247-024F6C2B69D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ED681-2264-4772-96D9-571C19ED82FB}" type="datetimeFigureOut">
              <a:rPr lang="en-US" smtClean="0"/>
              <a:t>3/5/2020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85576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547479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1104528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1547457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1724442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3978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159055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3517945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3973296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3154915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2507301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34173509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39880619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1787916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34718142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28740536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15816390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34273649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737648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1963120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2679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94728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79067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173476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3/5/2020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21110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3/5/2020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6251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3/5/2020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86248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28647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93596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4093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83702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103901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256226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3"/>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147453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4293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132475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0485343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0370561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3/5/2020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748943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3/5/2020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5467568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3/5/2020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6366303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989225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3/5/2020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426531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8596289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3/5/2020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0704438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6" name="Rectangle 5"/>
          <p:cNvSpPr/>
          <p:nvPr/>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3"/>
          </p:nvPr>
        </p:nvSpPr>
        <p:spPr>
          <a:xfrm>
            <a:off x="312" y="487606"/>
            <a:ext cx="611681" cy="365125"/>
          </a:xfrm>
        </p:spPr>
        <p:txBody>
          <a:bodyPr/>
          <a:lstStyle/>
          <a:p>
            <a:fld id="{2760AF0F-E753-4DD9-B8E5-577C039A067C}" type="slidenum">
              <a:rPr lang="en-JM" smtClean="0"/>
              <a:t>‹#›</a:t>
            </a:fld>
            <a:endParaRPr lang="en-JM" dirty="0"/>
          </a:p>
        </p:txBody>
      </p:sp>
      <p:sp>
        <p:nvSpPr>
          <p:cNvPr id="9" name="Rectangle 8"/>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Tree>
    <p:custDataLst>
      <p:tags r:id="rId1"/>
    </p:custDataLst>
    <p:extLst>
      <p:ext uri="{BB962C8B-B14F-4D97-AF65-F5344CB8AC3E}">
        <p14:creationId xmlns:p14="http://schemas.microsoft.com/office/powerpoint/2010/main" val="26645365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6697623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
        <p:nvSpPr>
          <p:cNvPr id="8" name="Rectangle 7"/>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Tree>
    <p:custDataLst>
      <p:tags r:id="rId1"/>
    </p:custDataLst>
    <p:extLst>
      <p:ext uri="{BB962C8B-B14F-4D97-AF65-F5344CB8AC3E}">
        <p14:creationId xmlns:p14="http://schemas.microsoft.com/office/powerpoint/2010/main" val="141410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3/5/2020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78108080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3/5/2020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283775677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9.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10.xml"/><Relationship Id="rId5" Type="http://schemas.openxmlformats.org/officeDocument/2006/relationships/slide" Target="slide6.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11.xml"/><Relationship Id="rId5" Type="http://schemas.openxmlformats.org/officeDocument/2006/relationships/slide" Target="slide10.xml"/><Relationship Id="rId4" Type="http://schemas.openxmlformats.org/officeDocument/2006/relationships/slide" Target="slide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12.xml"/><Relationship Id="rId5" Type="http://schemas.openxmlformats.org/officeDocument/2006/relationships/slide" Target="slide8.xml"/><Relationship Id="rId4" Type="http://schemas.openxmlformats.org/officeDocument/2006/relationships/slide" Target="slide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3.xml"/><Relationship Id="rId5" Type="http://schemas.openxmlformats.org/officeDocument/2006/relationships/slide" Target="slide10.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4.xml"/><Relationship Id="rId5" Type="http://schemas.openxmlformats.org/officeDocument/2006/relationships/slide" Target="slide10.xml"/><Relationship Id="rId4" Type="http://schemas.openxmlformats.org/officeDocument/2006/relationships/slide" Target="slide1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15.xml"/><Relationship Id="rId5" Type="http://schemas.openxmlformats.org/officeDocument/2006/relationships/slide" Target="slide19.xml"/><Relationship Id="rId4" Type="http://schemas.openxmlformats.org/officeDocument/2006/relationships/slide" Target="slide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16.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17.xml"/><Relationship Id="rId5" Type="http://schemas.openxmlformats.org/officeDocument/2006/relationships/slide" Target="slide19.xml"/><Relationship Id="rId4" Type="http://schemas.openxmlformats.org/officeDocument/2006/relationships/slide" Target="slide1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18.xml"/><Relationship Id="rId4" Type="http://schemas.openxmlformats.org/officeDocument/2006/relationships/slide" Target="slide1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9.xml"/><Relationship Id="rId5" Type="http://schemas.openxmlformats.org/officeDocument/2006/relationships/slide" Target="slide16.xml"/><Relationship Id="rId4" Type="http://schemas.openxmlformats.org/officeDocument/2006/relationships/slide" Target="slide1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20.xml"/><Relationship Id="rId5" Type="http://schemas.openxmlformats.org/officeDocument/2006/relationships/slide" Target="slide18.xml"/><Relationship Id="rId4" Type="http://schemas.openxmlformats.org/officeDocument/2006/relationships/slide" Target="slide1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21.xml"/><Relationship Id="rId4" Type="http://schemas.openxmlformats.org/officeDocument/2006/relationships/slide" Target="slide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22.xml"/><Relationship Id="rId5" Type="http://schemas.openxmlformats.org/officeDocument/2006/relationships/slide" Target="slide21.xml"/><Relationship Id="rId4" Type="http://schemas.openxmlformats.org/officeDocument/2006/relationships/slide" Target="slide1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23.xml"/><Relationship Id="rId4" Type="http://schemas.openxmlformats.org/officeDocument/2006/relationships/slide" Target="slide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tags" Target="../tags/tag24.xml"/><Relationship Id="rId5" Type="http://schemas.openxmlformats.org/officeDocument/2006/relationships/slide" Target="slide20.xml"/><Relationship Id="rId4" Type="http://schemas.openxmlformats.org/officeDocument/2006/relationships/slide" Target="slide19.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5.xml"/><Relationship Id="rId1" Type="http://schemas.openxmlformats.org/officeDocument/2006/relationships/themeOverride" Target="../theme/themeOverride1.xml"/><Relationship Id="rId5" Type="http://schemas.openxmlformats.org/officeDocument/2006/relationships/slide" Target="slide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6.xml"/><Relationship Id="rId1" Type="http://schemas.openxmlformats.org/officeDocument/2006/relationships/themeOverride" Target="../theme/themeOverride2.xml"/><Relationship Id="rId5" Type="http://schemas.openxmlformats.org/officeDocument/2006/relationships/slide" Target="slide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7.xml"/><Relationship Id="rId1" Type="http://schemas.openxmlformats.org/officeDocument/2006/relationships/themeOverride" Target="../theme/themeOverride3.xml"/><Relationship Id="rId5" Type="http://schemas.openxmlformats.org/officeDocument/2006/relationships/slide" Target="slide3.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09AED65-9E47-4DE4-9305-9E07499C2024}"/>
              </a:ext>
            </a:extLst>
          </p:cNvPr>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13" name="Rectangle 12">
            <a:extLst>
              <a:ext uri="{FF2B5EF4-FFF2-40B4-BE49-F238E27FC236}">
                <a16:creationId xmlns:a16="http://schemas.microsoft.com/office/drawing/2014/main" id="{78110F75-C8F8-4BE5-B10E-DEBA286A0AF0}"/>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10" name="Rectangle 9"/>
          <p:cNvSpPr/>
          <p:nvPr/>
        </p:nvSpPr>
        <p:spPr>
          <a:xfrm>
            <a:off x="2" y="2232162"/>
            <a:ext cx="534049" cy="2831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latin typeface="Titillium Web" panose="00000500000000000000" pitchFamily="2" charset="0"/>
              <a:cs typeface="Titillium WebRegular"/>
            </a:endParaRPr>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1426029" y="516318"/>
            <a:ext cx="9339943" cy="1143000"/>
          </a:xfrm>
        </p:spPr>
        <p:txBody>
          <a:bodyPr>
            <a:normAutofit fontScale="90000"/>
          </a:bodyPr>
          <a:lstStyle/>
          <a:p>
            <a:r>
              <a:rPr lang="en-US" sz="5400" dirty="0">
                <a:solidFill>
                  <a:schemeClr val="tx1"/>
                </a:solidFill>
              </a:rPr>
              <a:t>Determining Network Requirements</a:t>
            </a:r>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534051" y="2397967"/>
            <a:ext cx="11474447" cy="4348066"/>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rPr>
              <a:t>Module 10: </a:t>
            </a:r>
            <a:r>
              <a:rPr lang="en-US" sz="2400" dirty="0">
                <a:solidFill>
                  <a:schemeClr val="tx1"/>
                </a:solidFill>
                <a:latin typeface="+mj-lt"/>
                <a:cs typeface="Calibri Light"/>
              </a:rPr>
              <a:t>Networking</a:t>
            </a:r>
          </a:p>
          <a:p>
            <a:pPr marL="0" indent="0">
              <a:buNone/>
            </a:pPr>
            <a:r>
              <a:rPr lang="en-US" sz="2400" b="1" dirty="0">
                <a:solidFill>
                  <a:schemeClr val="tx1"/>
                </a:solidFill>
                <a:latin typeface="+mj-lt"/>
              </a:rPr>
              <a:t>Lesson objective 10.1:</a:t>
            </a:r>
            <a:r>
              <a:rPr lang="en-US" sz="2400" dirty="0">
                <a:solidFill>
                  <a:schemeClr val="tx1"/>
                </a:solidFill>
                <a:latin typeface="+mj-lt"/>
                <a:cs typeface="Calibri Light"/>
              </a:rPr>
              <a:t> Discuss key features of connected networks and explore how connections between networks are made.</a:t>
            </a:r>
          </a:p>
          <a:p>
            <a:pPr marL="0" indent="0">
              <a:buNone/>
            </a:pPr>
            <a:r>
              <a:rPr lang="en-US" sz="2400" b="1" i="1" dirty="0">
                <a:solidFill>
                  <a:schemeClr val="tx1"/>
                </a:solidFill>
                <a:latin typeface="+mj-lt"/>
                <a:cs typeface="Calibri Light"/>
              </a:rPr>
              <a:t>Learning objectives: </a:t>
            </a:r>
            <a:r>
              <a:rPr lang="en-US" sz="2400" dirty="0">
                <a:solidFill>
                  <a:schemeClr val="tx1"/>
                </a:solidFill>
                <a:latin typeface="+mj-lt"/>
                <a:cs typeface="Calibri Light"/>
              </a:rPr>
              <a:t>10.1.1 Explain how a network operates.</a:t>
            </a:r>
          </a:p>
          <a:p>
            <a:pPr marL="0" lvl="0" indent="0" defTabSz="914400">
              <a:spcBef>
                <a:spcPts val="0"/>
              </a:spcBef>
              <a:buNone/>
            </a:pPr>
            <a:r>
              <a:rPr lang="en-US" sz="2400" b="1" dirty="0">
                <a:solidFill>
                  <a:prstClr val="black"/>
                </a:solidFill>
                <a:latin typeface="Calibri Light" panose="020F0302020204030204"/>
              </a:rPr>
              <a:t>Lesson objective 10.2:</a:t>
            </a:r>
            <a:r>
              <a:rPr lang="en-US" sz="2400" dirty="0">
                <a:solidFill>
                  <a:prstClr val="black"/>
                </a:solidFill>
                <a:latin typeface="Calibri Light" panose="020F0302020204030204"/>
                <a:cs typeface="Calibri Light"/>
              </a:rPr>
              <a:t> Discuss issues of network safety and neutrality in a connected world.</a:t>
            </a:r>
          </a:p>
          <a:p>
            <a:pPr marL="0" lvl="0" indent="0" defTabSz="914400">
              <a:spcBef>
                <a:spcPts val="0"/>
              </a:spcBef>
              <a:buNone/>
            </a:pPr>
            <a:r>
              <a:rPr lang="en-US" sz="2400" b="1" i="1" dirty="0">
                <a:solidFill>
                  <a:prstClr val="black"/>
                </a:solidFill>
                <a:latin typeface="Calibri Light" panose="020F0302020204030204"/>
                <a:cs typeface="Calibri Light"/>
              </a:rPr>
              <a:t>Learning objectives:</a:t>
            </a:r>
            <a:endParaRPr lang="en-US" sz="2400" dirty="0">
              <a:solidFill>
                <a:prstClr val="black"/>
              </a:solidFill>
              <a:latin typeface="Calibri Light" panose="020F0302020204030204"/>
              <a:cs typeface="Calibri Light"/>
            </a:endParaRPr>
          </a:p>
          <a:p>
            <a:pPr marL="0" lvl="0" indent="0" defTabSz="914400">
              <a:spcBef>
                <a:spcPts val="0"/>
              </a:spcBef>
              <a:buNone/>
            </a:pPr>
            <a:r>
              <a:rPr lang="en-US" sz="2400" dirty="0">
                <a:solidFill>
                  <a:prstClr val="black"/>
                </a:solidFill>
                <a:latin typeface="Calibri Light" panose="020F0302020204030204"/>
                <a:cs typeface="Calibri Light"/>
              </a:rPr>
              <a:t>10.2.1 Identify risks and benefits associated with using a connected network.</a:t>
            </a:r>
          </a:p>
          <a:p>
            <a:pPr marL="0" lvl="0" indent="0" defTabSz="914400">
              <a:spcBef>
                <a:spcPts val="0"/>
              </a:spcBef>
              <a:buNone/>
            </a:pPr>
            <a:r>
              <a:rPr lang="en-US" sz="2400" dirty="0">
                <a:solidFill>
                  <a:prstClr val="black"/>
                </a:solidFill>
                <a:latin typeface="Calibri Light" panose="020F0302020204030204"/>
                <a:cs typeface="Calibri Light"/>
              </a:rPr>
              <a:t>10.2.2 Explain how unauthorized network use threatens communication technology.</a:t>
            </a:r>
          </a:p>
          <a:p>
            <a:pPr marL="0" lvl="0" indent="0" defTabSz="914400">
              <a:spcBef>
                <a:spcPts val="0"/>
              </a:spcBef>
              <a:buNone/>
            </a:pPr>
            <a:r>
              <a:rPr lang="en-US" sz="2400" dirty="0">
                <a:solidFill>
                  <a:prstClr val="black"/>
                </a:solidFill>
                <a:latin typeface="Calibri Light" panose="020F0302020204030204"/>
                <a:cs typeface="Calibri Light"/>
              </a:rPr>
              <a:t>10.2.3 Explain how to secure a network.</a:t>
            </a:r>
          </a:p>
          <a:p>
            <a:pPr marL="0" lvl="0" indent="0" defTabSz="914400">
              <a:spcBef>
                <a:spcPts val="0"/>
              </a:spcBef>
              <a:buNone/>
            </a:pPr>
            <a:r>
              <a:rPr lang="en-US" sz="2400" b="1" dirty="0">
                <a:solidFill>
                  <a:prstClr val="black"/>
                </a:solidFill>
                <a:latin typeface="Calibri Light" panose="020F0302020204030204"/>
              </a:rPr>
              <a:t>Lesson objective 10.3:</a:t>
            </a:r>
            <a:r>
              <a:rPr lang="en-US" sz="2400" dirty="0">
                <a:solidFill>
                  <a:prstClr val="black"/>
                </a:solidFill>
                <a:latin typeface="Calibri Light" panose="020F0302020204030204"/>
                <a:cs typeface="Calibri Light"/>
              </a:rPr>
              <a:t> Connect to different types of networks.</a:t>
            </a:r>
          </a:p>
          <a:p>
            <a:pPr marL="0" lvl="0" indent="0" defTabSz="914400">
              <a:spcBef>
                <a:spcPts val="0"/>
              </a:spcBef>
              <a:buNone/>
            </a:pPr>
            <a:r>
              <a:rPr lang="en-US" sz="2400" b="1" i="1" dirty="0">
                <a:solidFill>
                  <a:prstClr val="black"/>
                </a:solidFill>
                <a:latin typeface="Calibri Light" panose="020F0302020204030204"/>
                <a:cs typeface="Calibri Light"/>
              </a:rPr>
              <a:t>Learning objectives: </a:t>
            </a:r>
            <a:r>
              <a:rPr lang="en-US" sz="2400" dirty="0">
                <a:solidFill>
                  <a:prstClr val="black"/>
                </a:solidFill>
                <a:latin typeface="Calibri Light" panose="020F0302020204030204"/>
                <a:cs typeface="Calibri Light"/>
              </a:rPr>
              <a:t>10.3.2 Connect to network devices.</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36" y="317022"/>
            <a:ext cx="10412618" cy="681354"/>
          </a:xfrm>
        </p:spPr>
        <p:txBody>
          <a:bodyPr/>
          <a:lstStyle/>
          <a:p>
            <a:r>
              <a:rPr lang="en-US" sz="3650" dirty="0"/>
              <a:t>Determining Network Requirements</a:t>
            </a:r>
            <a:endParaRPr lang="en-JM" dirty="0"/>
          </a:p>
        </p:txBody>
      </p:sp>
      <p:sp>
        <p:nvSpPr>
          <p:cNvPr id="18" name="Text Placeholder 5">
            <a:extLst>
              <a:ext uri="{FF2B5EF4-FFF2-40B4-BE49-F238E27FC236}">
                <a16:creationId xmlns:a16="http://schemas.microsoft.com/office/drawing/2014/main" id="{1683B0E9-8F1F-408E-8617-52AF41BDA0B1}"/>
              </a:ext>
            </a:extLst>
          </p:cNvPr>
          <p:cNvSpPr txBox="1">
            <a:spLocks/>
          </p:cNvSpPr>
          <p:nvPr/>
        </p:nvSpPr>
        <p:spPr>
          <a:xfrm>
            <a:off x="790836" y="1376046"/>
            <a:ext cx="10988209" cy="4819431"/>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The best uses for various network packages </a:t>
            </a:r>
          </a:p>
          <a:p>
            <a:pPr>
              <a:buNone/>
            </a:pPr>
            <a:r>
              <a:rPr lang="en-US" dirty="0">
                <a:solidFill>
                  <a:schemeClr val="tx2"/>
                </a:solidFill>
              </a:rPr>
              <a:t>•	How to securely set up a network </a:t>
            </a:r>
          </a:p>
          <a:p>
            <a:pPr>
              <a:buNone/>
            </a:pPr>
            <a:r>
              <a:rPr lang="en-US" dirty="0">
                <a:solidFill>
                  <a:schemeClr val="tx2"/>
                </a:solidFill>
              </a:rPr>
              <a:t>•	How to securely connect to a network</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make decisions on how best to configure a network. At each step, think carefully about what configurations will best serve the customer’s needs.</a:t>
            </a:r>
          </a:p>
          <a:p>
            <a:pPr>
              <a:buFont typeface="Wingdings" panose="05000000000000000000" pitchFamily="2" charset="2"/>
              <a:buChar char="ü"/>
            </a:pPr>
            <a:r>
              <a:rPr lang="en-US" dirty="0">
                <a:solidFill>
                  <a:schemeClr val="tx2"/>
                </a:solidFill>
              </a:rPr>
              <a:t>Consider what hardware will provide needed performance without costing more than necessary.</a:t>
            </a:r>
          </a:p>
          <a:p>
            <a:pPr>
              <a:buFont typeface="Wingdings" panose="05000000000000000000" pitchFamily="2" charset="2"/>
              <a:buChar char="ü"/>
            </a:pPr>
            <a:r>
              <a:rPr lang="en-US" dirty="0">
                <a:solidFill>
                  <a:schemeClr val="tx2"/>
                </a:solidFill>
              </a:rPr>
              <a:t>Think about how to section off parts of the network to protect private data.</a:t>
            </a:r>
          </a:p>
          <a:p>
            <a:pPr>
              <a:buFont typeface="Wingdings" panose="05000000000000000000" pitchFamily="2" charset="2"/>
              <a:buChar char="ü"/>
            </a:pPr>
            <a:r>
              <a:rPr lang="en-US" dirty="0">
                <a:solidFill>
                  <a:schemeClr val="tx2"/>
                </a:solidFill>
              </a:rPr>
              <a:t>Find ways to connect parts of the network that need to communicate with each other.</a:t>
            </a:r>
          </a:p>
          <a:p>
            <a:pPr>
              <a:buFont typeface="Wingdings" panose="05000000000000000000" pitchFamily="2" charset="2"/>
              <a:buChar char="ü"/>
            </a:pPr>
            <a:r>
              <a:rPr lang="en-US" dirty="0">
                <a:solidFill>
                  <a:schemeClr val="tx2"/>
                </a:solidFill>
              </a:rPr>
              <a:t>Keep in mind the importance of good security habits.</a:t>
            </a:r>
            <a:endParaRPr lang="en-JM" dirty="0">
              <a:solidFill>
                <a:schemeClr val="tx2"/>
              </a:solidFill>
            </a:endParaRPr>
          </a:p>
        </p:txBody>
      </p:sp>
    </p:spTree>
    <p:custDataLst>
      <p:tags r:id="rId1"/>
    </p:custDataLst>
    <p:extLst>
      <p:ext uri="{BB962C8B-B14F-4D97-AF65-F5344CB8AC3E}">
        <p14:creationId xmlns:p14="http://schemas.microsoft.com/office/powerpoint/2010/main" val="141370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US" sz="3300" dirty="0"/>
              <a:t>Introduction</a:t>
            </a:r>
            <a:endParaRPr lang="en-JM" sz="3300" dirty="0"/>
          </a:p>
        </p:txBody>
      </p:sp>
      <p:sp>
        <p:nvSpPr>
          <p:cNvPr id="2" name="TextBox 1">
            <a:extLst>
              <a:ext uri="{FF2B5EF4-FFF2-40B4-BE49-F238E27FC236}">
                <a16:creationId xmlns:a16="http://schemas.microsoft.com/office/drawing/2014/main" id="{8E61185D-0285-4C9D-8544-02C370D1F1FF}"/>
              </a:ext>
            </a:extLst>
          </p:cNvPr>
          <p:cNvSpPr txBox="1"/>
          <p:nvPr/>
        </p:nvSpPr>
        <p:spPr>
          <a:xfrm>
            <a:off x="891823" y="1350394"/>
            <a:ext cx="10689783" cy="1327492"/>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50" dirty="0">
                <a:solidFill>
                  <a:srgbClr val="44546A"/>
                </a:solidFill>
                <a:latin typeface="Calibri" panose="020F0502020204030204"/>
              </a:rPr>
              <a:t>Welcome to Day 1 at </a:t>
            </a:r>
            <a:r>
              <a:rPr lang="en-US" sz="2050" dirty="0" err="1">
                <a:solidFill>
                  <a:srgbClr val="44546A"/>
                </a:solidFill>
                <a:latin typeface="Calibri" panose="020F0502020204030204"/>
              </a:rPr>
              <a:t>Chilli</a:t>
            </a:r>
            <a:r>
              <a:rPr lang="en-US" sz="2050" dirty="0">
                <a:solidFill>
                  <a:srgbClr val="44546A"/>
                </a:solidFill>
                <a:latin typeface="Calibri" panose="020F0502020204030204"/>
              </a:rPr>
              <a:t> Networks! Your supervisor is helping you make your first calls on new customers this week. Your job is to help your customers find the right type of network and help them use it. Don't worry! Your supervisor, Becky, is there to help you! </a:t>
            </a:r>
          </a:p>
          <a:p>
            <a:pPr algn="ctr"/>
            <a:endParaRPr lang="en-US" dirty="0">
              <a:cs typeface="Calibri"/>
            </a:endParaRPr>
          </a:p>
        </p:txBody>
      </p:sp>
      <p:sp>
        <p:nvSpPr>
          <p:cNvPr id="5" name="Text Placeholder 1"/>
          <p:cNvSpPr txBox="1">
            <a:spLocks/>
          </p:cNvSpPr>
          <p:nvPr/>
        </p:nvSpPr>
        <p:spPr>
          <a:xfrm>
            <a:off x="891824" y="4075677"/>
            <a:ext cx="2975223" cy="55230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Tree>
    <p:custDataLst>
      <p:tags r:id="rId1"/>
    </p:custDataLst>
    <p:extLst>
      <p:ext uri="{BB962C8B-B14F-4D97-AF65-F5344CB8AC3E}">
        <p14:creationId xmlns:p14="http://schemas.microsoft.com/office/powerpoint/2010/main" val="361845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19" y="819133"/>
            <a:ext cx="11155681"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arrive to your first client - </a:t>
            </a:r>
            <a:r>
              <a:rPr lang="en-US" sz="2050" dirty="0" err="1">
                <a:solidFill>
                  <a:srgbClr val="44546A"/>
                </a:solidFill>
                <a:latin typeface="Calibri" panose="020F0502020204030204"/>
              </a:rPr>
              <a:t>Jaba's</a:t>
            </a:r>
            <a:r>
              <a:rPr lang="en-US" sz="2050" dirty="0">
                <a:solidFill>
                  <a:srgbClr val="44546A"/>
                </a:solidFill>
                <a:latin typeface="Calibri" panose="020F0502020204030204"/>
              </a:rPr>
              <a:t> Smoothie Hut. </a:t>
            </a:r>
            <a:r>
              <a:rPr lang="en-US" sz="2050" dirty="0" err="1">
                <a:solidFill>
                  <a:srgbClr val="44546A"/>
                </a:solidFill>
                <a:latin typeface="Calibri" panose="020F0502020204030204"/>
              </a:rPr>
              <a:t>Jaba's</a:t>
            </a:r>
            <a:r>
              <a:rPr lang="en-US" sz="2050" dirty="0">
                <a:solidFill>
                  <a:srgbClr val="44546A"/>
                </a:solidFill>
                <a:latin typeface="Calibri" panose="020F0502020204030204"/>
              </a:rPr>
              <a:t> owner, Kim, has asked for you to install a </a:t>
            </a:r>
            <a:r>
              <a:rPr lang="en-US" sz="2050" dirty="0" err="1">
                <a:solidFill>
                  <a:srgbClr val="44546A"/>
                </a:solidFill>
                <a:latin typeface="Calibri" panose="020F0502020204030204"/>
              </a:rPr>
              <a:t>WiFi</a:t>
            </a:r>
            <a:r>
              <a:rPr lang="en-US" sz="2050" dirty="0">
                <a:solidFill>
                  <a:srgbClr val="44546A"/>
                </a:solidFill>
                <a:latin typeface="Calibri" panose="020F0502020204030204"/>
              </a:rPr>
              <a:t> network for his customers. Kim has told you that the store needs the following:</a:t>
            </a:r>
          </a:p>
          <a:p>
            <a:r>
              <a:rPr lang="en-US" sz="2050" dirty="0">
                <a:solidFill>
                  <a:srgbClr val="44546A"/>
                </a:solidFill>
                <a:latin typeface="Calibri" panose="020F0502020204030204"/>
              </a:rPr>
              <a:t>Dedicated internet service with enough bandwidth to meet customer demand and run the store</a:t>
            </a:r>
          </a:p>
          <a:p>
            <a:r>
              <a:rPr lang="en-US" sz="2050" dirty="0">
                <a:solidFill>
                  <a:srgbClr val="44546A"/>
                </a:solidFill>
                <a:latin typeface="Calibri" panose="020F0502020204030204"/>
              </a:rPr>
              <a:t>Be cost effective (Kim does not want the most expensive or the cheapest)</a:t>
            </a:r>
          </a:p>
          <a:p>
            <a:r>
              <a:rPr lang="en-US" sz="2050" dirty="0">
                <a:solidFill>
                  <a:srgbClr val="44546A"/>
                </a:solidFill>
                <a:latin typeface="Calibri" panose="020F0502020204030204"/>
              </a:rPr>
              <a:t>Customers will use </a:t>
            </a:r>
            <a:r>
              <a:rPr lang="en-US" sz="2050" dirty="0" err="1">
                <a:solidFill>
                  <a:srgbClr val="44546A"/>
                </a:solidFill>
                <a:latin typeface="Calibri" panose="020F0502020204030204"/>
              </a:rPr>
              <a:t>WiFi</a:t>
            </a:r>
            <a:r>
              <a:rPr lang="en-US" sz="2050" dirty="0">
                <a:solidFill>
                  <a:srgbClr val="44546A"/>
                </a:solidFill>
                <a:latin typeface="Calibri" panose="020F0502020204030204"/>
              </a:rPr>
              <a:t> and the business will have 5 wired connections?</a:t>
            </a:r>
          </a:p>
          <a:p>
            <a:pPr marL="0" indent="0">
              <a:buNone/>
            </a:pPr>
            <a:r>
              <a:rPr lang="en-US" sz="2050" dirty="0">
                <a:solidFill>
                  <a:srgbClr val="44546A"/>
                </a:solidFill>
                <a:latin typeface="Calibri" panose="020F0502020204030204"/>
              </a:rPr>
              <a:t>Select the correct package for the </a:t>
            </a:r>
            <a:r>
              <a:rPr lang="en-US" sz="2050" dirty="0" err="1">
                <a:solidFill>
                  <a:srgbClr val="44546A"/>
                </a:solidFill>
                <a:latin typeface="Calibri" panose="020F0502020204030204"/>
              </a:rPr>
              <a:t>Jaba's</a:t>
            </a:r>
            <a:r>
              <a:rPr lang="en-US" sz="2050" dirty="0">
                <a:solidFill>
                  <a:srgbClr val="44546A"/>
                </a:solidFill>
                <a:latin typeface="Calibri" panose="020F0502020204030204"/>
              </a:rPr>
              <a:t> Smoothie Hut:</a:t>
            </a:r>
          </a:p>
        </p:txBody>
      </p:sp>
      <p:sp>
        <p:nvSpPr>
          <p:cNvPr id="12" name="Text Placeholder 1"/>
          <p:cNvSpPr txBox="1">
            <a:spLocks/>
          </p:cNvSpPr>
          <p:nvPr/>
        </p:nvSpPr>
        <p:spPr>
          <a:xfrm>
            <a:off x="1772816" y="3236599"/>
            <a:ext cx="10310327" cy="16294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solidFill>
                  <a:schemeClr val="tx2"/>
                </a:solidFill>
                <a:ea typeface="Calibri"/>
                <a:cs typeface="Calibri"/>
                <a:hlinkClick r:id="rId4" action="ppaction://hlinksldjump"/>
              </a:rPr>
              <a:t>20 Mbps service with 1 modem/Router, a 16 port switch, and 1 wireless access point</a:t>
            </a:r>
            <a:r>
              <a:rPr lang="en-US" sz="2000" dirty="0">
                <a:solidFill>
                  <a:schemeClr val="tx2"/>
                </a:solidFill>
                <a:ea typeface="Calibri"/>
                <a:cs typeface="Calibri"/>
              </a:rPr>
              <a:t> [Lev1_Dec1_OptA]</a:t>
            </a:r>
          </a:p>
          <a:p>
            <a:pPr marL="0" indent="0">
              <a:spcBef>
                <a:spcPts val="0"/>
              </a:spcBef>
              <a:buNone/>
              <a:defRPr/>
            </a:pPr>
            <a:endParaRPr lang="en-US" sz="2000" dirty="0">
              <a:solidFill>
                <a:srgbClr val="44546A"/>
              </a:solidFill>
              <a:latin typeface="Calibri" panose="020F0502020204030204"/>
            </a:endParaRPr>
          </a:p>
          <a:p>
            <a:pPr marL="0" indent="0">
              <a:spcBef>
                <a:spcPts val="0"/>
              </a:spcBef>
              <a:buNone/>
              <a:defRPr/>
            </a:pPr>
            <a:r>
              <a:rPr lang="en-US" sz="2000" dirty="0">
                <a:solidFill>
                  <a:schemeClr val="tx2"/>
                </a:solidFill>
                <a:ea typeface="Calibri"/>
                <a:cs typeface="Calibri"/>
                <a:hlinkClick r:id="rId5" action="ppaction://hlinksldjump"/>
              </a:rPr>
              <a:t>100 Mbps service with 1 Modem/Router, a 24 port switch, 3 wireless access points (1 for office, 1 for retail, and 1 for outside)</a:t>
            </a:r>
            <a:r>
              <a:rPr lang="en-US" sz="2000" dirty="0">
                <a:solidFill>
                  <a:schemeClr val="tx2"/>
                </a:solidFill>
                <a:ea typeface="Calibri"/>
                <a:cs typeface="Calibri"/>
              </a:rPr>
              <a:t> [Lev1_Dec1_OptB]</a:t>
            </a: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28107" y="331659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28107" y="415600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FF55976F-C31B-49D3-8BA2-39DDE3EC80C3}"/>
              </a:ext>
            </a:extLst>
          </p:cNvPr>
          <p:cNvSpPr/>
          <p:nvPr/>
        </p:nvSpPr>
        <p:spPr>
          <a:xfrm>
            <a:off x="795113"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Level1_Decision1</a:t>
            </a:r>
          </a:p>
        </p:txBody>
      </p:sp>
      <p:sp>
        <p:nvSpPr>
          <p:cNvPr id="14" name="TextBox 13">
            <a:extLst>
              <a:ext uri="{FF2B5EF4-FFF2-40B4-BE49-F238E27FC236}">
                <a16:creationId xmlns:a16="http://schemas.microsoft.com/office/drawing/2014/main" id="{A3E8A328-EDE2-4D2F-B848-454E240980A1}"/>
              </a:ext>
            </a:extLst>
          </p:cNvPr>
          <p:cNvSpPr txBox="1"/>
          <p:nvPr/>
        </p:nvSpPr>
        <p:spPr>
          <a:xfrm>
            <a:off x="1036320" y="626784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security device.</a:t>
            </a:r>
          </a:p>
        </p:txBody>
      </p:sp>
      <p:sp>
        <p:nvSpPr>
          <p:cNvPr id="16" name="TextBox 15">
            <a:extLst>
              <a:ext uri="{FF2B5EF4-FFF2-40B4-BE49-F238E27FC236}">
                <a16:creationId xmlns:a16="http://schemas.microsoft.com/office/drawing/2014/main" id="{A0C6B975-02DE-451F-8247-024F6C2B69DF}"/>
              </a:ext>
            </a:extLst>
          </p:cNvPr>
          <p:cNvSpPr txBox="1"/>
          <p:nvPr/>
        </p:nvSpPr>
        <p:spPr>
          <a:xfrm>
            <a:off x="1046542" y="5109119"/>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The smaller device here is a more cost-effective match for this situation while still meeting the scenario’s requirements.</a:t>
            </a:r>
          </a:p>
        </p:txBody>
      </p:sp>
      <p:sp>
        <p:nvSpPr>
          <p:cNvPr id="17" name="Arrow: Pentagon 16">
            <a:extLst>
              <a:ext uri="{FF2B5EF4-FFF2-40B4-BE49-F238E27FC236}">
                <a16:creationId xmlns:a16="http://schemas.microsoft.com/office/drawing/2014/main" id="{3A499E4B-F686-4441-8DED-9F2A30CBAF72}"/>
              </a:ext>
            </a:extLst>
          </p:cNvPr>
          <p:cNvSpPr/>
          <p:nvPr/>
        </p:nvSpPr>
        <p:spPr>
          <a:xfrm>
            <a:off x="257180" y="3323090"/>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03899"/>
            <a:ext cx="11111628" cy="155494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Kim likes what you have offered and agrees. After consulting with your supervisor, you get the equipment from the truck and begin working. Kim approaches you as you are installing the modem and is a little concerned about customers being on the same network. Kim is afraid that customers will be able to "read" the  information from credit cards and sales registers.</a:t>
            </a:r>
          </a:p>
          <a:p>
            <a:pPr marL="0" indent="0">
              <a:buNone/>
            </a:pPr>
            <a:endParaRPr lang="en-US" sz="2000" dirty="0">
              <a:solidFill>
                <a:schemeClr val="tx2"/>
              </a:solidFill>
            </a:endParaRPr>
          </a:p>
        </p:txBody>
      </p:sp>
      <p:sp>
        <p:nvSpPr>
          <p:cNvPr id="12" name="Text Placeholder 1"/>
          <p:cNvSpPr txBox="1">
            <a:spLocks/>
          </p:cNvSpPr>
          <p:nvPr/>
        </p:nvSpPr>
        <p:spPr>
          <a:xfrm>
            <a:off x="1735495" y="3067315"/>
            <a:ext cx="10456506" cy="161819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Offer Kim a hardware firewall and section off the network to prevent  customer from being able to read network traffic</a:t>
            </a:r>
            <a:r>
              <a:rPr lang="en-US" sz="2050" dirty="0">
                <a:solidFill>
                  <a:schemeClr val="tx2"/>
                </a:solidFill>
                <a:ea typeface="Calibri"/>
                <a:cs typeface="Calibri"/>
              </a:rPr>
              <a:t> [Lev2_Dec1_OptA]</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Offer Kim a VPN setup that will secure all network traffic</a:t>
            </a:r>
            <a:r>
              <a:rPr lang="en-US" sz="2050" dirty="0">
                <a:solidFill>
                  <a:schemeClr val="tx2"/>
                </a:solidFill>
                <a:ea typeface="Calibri"/>
                <a:cs typeface="Calibri"/>
              </a:rPr>
              <a:t> [Lev2_Dec1_OptB]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21715" y="3067315"/>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0149" y="399915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42557B04-6228-4E57-AA2F-ED91B5577972}"/>
              </a:ext>
            </a:extLst>
          </p:cNvPr>
          <p:cNvSpPr/>
          <p:nvPr/>
        </p:nvSpPr>
        <p:spPr>
          <a:xfrm>
            <a:off x="795114"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Level2_Decision1</a:t>
            </a:r>
          </a:p>
        </p:txBody>
      </p:sp>
      <p:sp>
        <p:nvSpPr>
          <p:cNvPr id="9" name="TextBox 8">
            <a:extLst>
              <a:ext uri="{FF2B5EF4-FFF2-40B4-BE49-F238E27FC236}">
                <a16:creationId xmlns:a16="http://schemas.microsoft.com/office/drawing/2014/main" id="{8230ED58-48E0-47F7-8739-60F010ADDA69}"/>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the smaller security device.</a:t>
            </a:r>
          </a:p>
        </p:txBody>
      </p:sp>
      <p:sp>
        <p:nvSpPr>
          <p:cNvPr id="13" name="TextBox 12">
            <a:extLst>
              <a:ext uri="{FF2B5EF4-FFF2-40B4-BE49-F238E27FC236}">
                <a16:creationId xmlns:a16="http://schemas.microsoft.com/office/drawing/2014/main" id="{108A5F02-F056-450C-8537-87CEBD2C7BC7}"/>
              </a:ext>
            </a:extLst>
          </p:cNvPr>
          <p:cNvSpPr txBox="1"/>
          <p:nvPr/>
        </p:nvSpPr>
        <p:spPr>
          <a:xfrm>
            <a:off x="1046542"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A firewall will segment portions of the network so the sales systems will be kept secure.</a:t>
            </a:r>
          </a:p>
        </p:txBody>
      </p:sp>
      <p:sp>
        <p:nvSpPr>
          <p:cNvPr id="14" name="Arrow: Pentagon 13">
            <a:extLst>
              <a:ext uri="{FF2B5EF4-FFF2-40B4-BE49-F238E27FC236}">
                <a16:creationId xmlns:a16="http://schemas.microsoft.com/office/drawing/2014/main" id="{5F5E0567-0760-4D78-95EA-5B9523246750}"/>
              </a:ext>
            </a:extLst>
          </p:cNvPr>
          <p:cNvSpPr/>
          <p:nvPr/>
        </p:nvSpPr>
        <p:spPr>
          <a:xfrm>
            <a:off x="173610" y="307793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6" name="TextBox 15">
            <a:extLst>
              <a:ext uri="{FF2B5EF4-FFF2-40B4-BE49-F238E27FC236}">
                <a16:creationId xmlns:a16="http://schemas.microsoft.com/office/drawing/2014/main" id="{5B8FCEE6-98FE-4B0F-AB4E-72151182FB50}"/>
              </a:ext>
            </a:extLst>
          </p:cNvPr>
          <p:cNvSpPr txBox="1"/>
          <p:nvPr/>
        </p:nvSpPr>
        <p:spPr>
          <a:xfrm>
            <a:off x="1036320" y="600116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 networking strategy.</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a VPN installation type.</a:t>
            </a:r>
          </a:p>
        </p:txBody>
      </p:sp>
    </p:spTree>
    <p:custDataLst>
      <p:tags r:id="rId1"/>
    </p:custDataLst>
    <p:extLst>
      <p:ext uri="{BB962C8B-B14F-4D97-AF65-F5344CB8AC3E}">
        <p14:creationId xmlns:p14="http://schemas.microsoft.com/office/powerpoint/2010/main" val="243139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12615"/>
            <a:ext cx="11155680" cy="125330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Kim agrees. You get the equipment from the truck and begin working. Kim approaches you as you are installing the modem and is a little concerned about customers being on the same network. Kim is afraid that customers will be able to "read" the information from credit cards and sales registers.</a:t>
            </a:r>
          </a:p>
        </p:txBody>
      </p:sp>
      <p:sp>
        <p:nvSpPr>
          <p:cNvPr id="12" name="Text Placeholder 1"/>
          <p:cNvSpPr txBox="1">
            <a:spLocks/>
          </p:cNvSpPr>
          <p:nvPr/>
        </p:nvSpPr>
        <p:spPr>
          <a:xfrm>
            <a:off x="1399594" y="2846961"/>
            <a:ext cx="10484498" cy="173853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4" action="ppaction://hlinksldjump"/>
              </a:rPr>
              <a:t>Offer Kim a VPN setup that will secure all network traffic</a:t>
            </a:r>
            <a:r>
              <a:rPr lang="en-US" sz="2050" dirty="0">
                <a:solidFill>
                  <a:schemeClr val="tx2"/>
                </a:solidFill>
                <a:ea typeface="Calibri"/>
                <a:cs typeface="Calibri"/>
              </a:rPr>
              <a:t> [Lev2_Dec2_OptA]</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r>
              <a:rPr lang="en-US" sz="2050" dirty="0">
                <a:solidFill>
                  <a:schemeClr val="tx2"/>
                </a:solidFill>
                <a:ea typeface="Calibri"/>
                <a:cs typeface="Calibri"/>
                <a:hlinkClick r:id="rId5" action="ppaction://hlinksldjump"/>
              </a:rPr>
              <a:t>Offer Kim another switch so that the wireless access points are on one switch and his wired connections are on another</a:t>
            </a:r>
            <a:r>
              <a:rPr lang="en-US" sz="2050" dirty="0">
                <a:solidFill>
                  <a:schemeClr val="tx2"/>
                </a:solidFill>
                <a:ea typeface="Calibri"/>
                <a:cs typeface="Calibri"/>
              </a:rPr>
              <a:t> [Lev2_Dec2_OptB]</a:t>
            </a:r>
          </a:p>
          <a:p>
            <a:pPr marL="0" indent="0">
              <a:spcBef>
                <a:spcPts val="0"/>
              </a:spcBef>
              <a:buNone/>
              <a:defRPr/>
            </a:pPr>
            <a:endParaRPr lang="en-US" sz="2050" dirty="0">
              <a:solidFill>
                <a:schemeClr val="tx2"/>
              </a:solidFill>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999429" y="2846961"/>
            <a:ext cx="579253" cy="505821"/>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999429" y="348162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FACC88CF-C5BC-4EA5-808F-CA4F88515D07}"/>
              </a:ext>
            </a:extLst>
          </p:cNvPr>
          <p:cNvSpPr/>
          <p:nvPr/>
        </p:nvSpPr>
        <p:spPr>
          <a:xfrm>
            <a:off x="795113"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Level2_Decision2</a:t>
            </a:r>
          </a:p>
        </p:txBody>
      </p:sp>
      <p:sp>
        <p:nvSpPr>
          <p:cNvPr id="10" name="TextBox 9">
            <a:extLst>
              <a:ext uri="{FF2B5EF4-FFF2-40B4-BE49-F238E27FC236}">
                <a16:creationId xmlns:a16="http://schemas.microsoft.com/office/drawing/2014/main" id="{E008EBB6-CACF-414B-830F-1FAE2455F577}"/>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the larger security device.</a:t>
            </a:r>
          </a:p>
        </p:txBody>
      </p:sp>
      <p:sp>
        <p:nvSpPr>
          <p:cNvPr id="14" name="TextBox 13">
            <a:extLst>
              <a:ext uri="{FF2B5EF4-FFF2-40B4-BE49-F238E27FC236}">
                <a16:creationId xmlns:a16="http://schemas.microsoft.com/office/drawing/2014/main" id="{F84643A8-7028-42AA-9274-8BC52C5BBA7D}"/>
              </a:ext>
            </a:extLst>
          </p:cNvPr>
          <p:cNvSpPr txBox="1"/>
          <p:nvPr/>
        </p:nvSpPr>
        <p:spPr>
          <a:xfrm>
            <a:off x="1046542"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Neither option here will provide sufficient segmentation of the network.</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8C2B7F82-6608-4FDC-852C-04FB96DF6B3D}"/>
              </a:ext>
            </a:extLst>
          </p:cNvPr>
          <p:cNvSpPr txBox="1"/>
          <p:nvPr/>
        </p:nvSpPr>
        <p:spPr>
          <a:xfrm>
            <a:off x="1036320" y="5975624"/>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Student will need to </a:t>
            </a:r>
            <a:r>
              <a:rPr lang="en-US" kern="0" dirty="0">
                <a:solidFill>
                  <a:prstClr val="black"/>
                </a:solidFill>
              </a:rPr>
              <a:t>choose a VPN installation type.</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a:t>
            </a:r>
            <a:r>
              <a:rPr lang="en-US" kern="0" dirty="0">
                <a:solidFill>
                  <a:prstClr val="black"/>
                </a:solidFill>
              </a:rPr>
              <a:t>choose a networking strategy.</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617362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18536"/>
            <a:ext cx="11155680" cy="106034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supervisor Becky asks you about Kim's other stores. When you ask Kim about the other stores, Kim tells you that all the stores need to connect together so that they can share resources.</a:t>
            </a:r>
          </a:p>
        </p:txBody>
      </p:sp>
      <p:sp>
        <p:nvSpPr>
          <p:cNvPr id="12" name="Text Placeholder 1"/>
          <p:cNvSpPr txBox="1">
            <a:spLocks/>
          </p:cNvSpPr>
          <p:nvPr/>
        </p:nvSpPr>
        <p:spPr>
          <a:xfrm>
            <a:off x="1726163" y="2614277"/>
            <a:ext cx="10465837" cy="18602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You tell Kim about a cloud based Intranet service. This service will allow all the stores to share data, resources, and software.</a:t>
            </a:r>
            <a:r>
              <a:rPr lang="en-US" sz="2050" dirty="0">
                <a:solidFill>
                  <a:schemeClr val="tx2"/>
                </a:solidFill>
                <a:ea typeface="Calibri"/>
                <a:cs typeface="Calibri"/>
              </a:rPr>
              <a:t> [Lev3_Dec1_OptA]</a:t>
            </a:r>
          </a:p>
          <a:p>
            <a:pPr marL="0" indent="0">
              <a:spcBef>
                <a:spcPts val="0"/>
              </a:spcBef>
              <a:buNone/>
              <a:defRPr/>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You tell Kim that the best way to send information is through a private connection and to make sure to use a VPN when sending files.</a:t>
            </a:r>
            <a:r>
              <a:rPr lang="en-US" sz="2050" dirty="0">
                <a:solidFill>
                  <a:schemeClr val="tx2"/>
                </a:solidFill>
                <a:ea typeface="Calibri"/>
                <a:cs typeface="Calibri"/>
              </a:rPr>
              <a:t> [Lev3_Dec1_OptB]</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03053" y="265500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7338" y="362945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3" name="Rectangle 2">
            <a:extLst>
              <a:ext uri="{FF2B5EF4-FFF2-40B4-BE49-F238E27FC236}">
                <a16:creationId xmlns:a16="http://schemas.microsoft.com/office/drawing/2014/main" id="{9991BCF9-2210-4D96-A1EA-9D3F4156E16A}"/>
              </a:ext>
            </a:extLst>
          </p:cNvPr>
          <p:cNvSpPr/>
          <p:nvPr/>
        </p:nvSpPr>
        <p:spPr>
          <a:xfrm>
            <a:off x="795113" y="-4594"/>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Level3_Decision1</a:t>
            </a:r>
          </a:p>
        </p:txBody>
      </p:sp>
      <p:sp>
        <p:nvSpPr>
          <p:cNvPr id="16" name="TextBox 15">
            <a:extLst>
              <a:ext uri="{FF2B5EF4-FFF2-40B4-BE49-F238E27FC236}">
                <a16:creationId xmlns:a16="http://schemas.microsoft.com/office/drawing/2014/main" id="{C1876E60-3491-4190-A92F-DC7E3C10F012}"/>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install a hardware firewall.</a:t>
            </a:r>
          </a:p>
        </p:txBody>
      </p:sp>
      <p:sp>
        <p:nvSpPr>
          <p:cNvPr id="17" name="TextBox 16">
            <a:extLst>
              <a:ext uri="{FF2B5EF4-FFF2-40B4-BE49-F238E27FC236}">
                <a16:creationId xmlns:a16="http://schemas.microsoft.com/office/drawing/2014/main" id="{73E7D201-FD4E-4E6D-A0F7-35E401FBB39B}"/>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Option A: Student will need to choose how to secure the wireless network.</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a VPN installation type.</a:t>
            </a:r>
          </a:p>
        </p:txBody>
      </p:sp>
      <p:sp>
        <p:nvSpPr>
          <p:cNvPr id="18" name="TextBox 17">
            <a:extLst>
              <a:ext uri="{FF2B5EF4-FFF2-40B4-BE49-F238E27FC236}">
                <a16:creationId xmlns:a16="http://schemas.microsoft.com/office/drawing/2014/main" id="{3365510F-C3AB-4DAF-9A29-EB065602D402}"/>
              </a:ext>
            </a:extLst>
          </p:cNvPr>
          <p:cNvSpPr txBox="1"/>
          <p:nvPr/>
        </p:nvSpPr>
        <p:spPr>
          <a:xfrm>
            <a:off x="1046542"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Sharing will be better facilitated by the Intranet service.</a:t>
            </a:r>
          </a:p>
        </p:txBody>
      </p:sp>
      <p:sp>
        <p:nvSpPr>
          <p:cNvPr id="19" name="Arrow: Pentagon 18">
            <a:extLst>
              <a:ext uri="{FF2B5EF4-FFF2-40B4-BE49-F238E27FC236}">
                <a16:creationId xmlns:a16="http://schemas.microsoft.com/office/drawing/2014/main" id="{DCE3E8CA-1751-44F0-8132-3D2F3EEA9F3C}"/>
              </a:ext>
            </a:extLst>
          </p:cNvPr>
          <p:cNvSpPr/>
          <p:nvPr/>
        </p:nvSpPr>
        <p:spPr>
          <a:xfrm>
            <a:off x="198873" y="271970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098433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46542" y="1429413"/>
            <a:ext cx="11145458" cy="97353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supervisor Becky asks you about Kim's other stores. When you ask Kim about the other stores, Kim tells you that all the stores need to connect together so that they can share resources.</a:t>
            </a:r>
          </a:p>
        </p:txBody>
      </p:sp>
      <p:sp>
        <p:nvSpPr>
          <p:cNvPr id="12" name="Text Placeholder 1"/>
          <p:cNvSpPr txBox="1">
            <a:spLocks/>
          </p:cNvSpPr>
          <p:nvPr/>
        </p:nvSpPr>
        <p:spPr>
          <a:xfrm>
            <a:off x="1716834" y="2548661"/>
            <a:ext cx="10475166" cy="199470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You tell Kim about a cloud based Intranet service. This service will allow all the stores to share data, resources, and software.</a:t>
            </a:r>
            <a:r>
              <a:rPr lang="en-US" sz="2050" dirty="0">
                <a:solidFill>
                  <a:schemeClr val="tx2"/>
                </a:solidFill>
                <a:ea typeface="Calibri"/>
                <a:cs typeface="Calibri"/>
              </a:rPr>
              <a:t> [Lev3_Dec2_OptA]</a:t>
            </a:r>
          </a:p>
          <a:p>
            <a:pPr marL="0" indent="0">
              <a:spcBef>
                <a:spcPts val="0"/>
              </a:spcBef>
              <a:buNone/>
              <a:defRPr/>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You tell Kim that the best way to send information is through a private connection and to make sure to use a VPN when sending files.</a:t>
            </a:r>
            <a:r>
              <a:rPr lang="en-US" sz="2050" dirty="0">
                <a:solidFill>
                  <a:schemeClr val="tx2"/>
                </a:solidFill>
                <a:ea typeface="Calibri"/>
                <a:cs typeface="Calibri"/>
              </a:rPr>
              <a:t> [Lev3_Dec2_OptB]</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265673" y="254866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65673" y="354601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3" name="Rectangle 2">
            <a:extLst>
              <a:ext uri="{FF2B5EF4-FFF2-40B4-BE49-F238E27FC236}">
                <a16:creationId xmlns:a16="http://schemas.microsoft.com/office/drawing/2014/main" id="{A4876F4D-F770-4BDC-8DEA-F739706FEE9B}"/>
              </a:ext>
            </a:extLst>
          </p:cNvPr>
          <p:cNvSpPr/>
          <p:nvPr/>
        </p:nvSpPr>
        <p:spPr>
          <a:xfrm>
            <a:off x="795113"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Level3_Decision2</a:t>
            </a:r>
          </a:p>
        </p:txBody>
      </p:sp>
      <p:sp>
        <p:nvSpPr>
          <p:cNvPr id="9" name="TextBox 8">
            <a:extLst>
              <a:ext uri="{FF2B5EF4-FFF2-40B4-BE49-F238E27FC236}">
                <a16:creationId xmlns:a16="http://schemas.microsoft.com/office/drawing/2014/main" id="{37C9C0D0-1623-44B3-A5B7-02C26066B23A}"/>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install a switch.</a:t>
            </a:r>
          </a:p>
        </p:txBody>
      </p:sp>
      <p:sp>
        <p:nvSpPr>
          <p:cNvPr id="10" name="TextBox 9">
            <a:extLst>
              <a:ext uri="{FF2B5EF4-FFF2-40B4-BE49-F238E27FC236}">
                <a16:creationId xmlns:a16="http://schemas.microsoft.com/office/drawing/2014/main" id="{65F14BD6-F8F2-45BA-8DA0-9786142BFA2A}"/>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Student will need to </a:t>
            </a:r>
            <a:r>
              <a:rPr lang="en-US" kern="0" dirty="0">
                <a:solidFill>
                  <a:prstClr val="black"/>
                </a:solidFill>
              </a:rPr>
              <a:t>choose how to secure the wireless network.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a VPN installation type.</a:t>
            </a:r>
          </a:p>
        </p:txBody>
      </p:sp>
      <p:sp>
        <p:nvSpPr>
          <p:cNvPr id="13" name="TextBox 12">
            <a:extLst>
              <a:ext uri="{FF2B5EF4-FFF2-40B4-BE49-F238E27FC236}">
                <a16:creationId xmlns:a16="http://schemas.microsoft.com/office/drawing/2014/main" id="{CD2F0273-6125-4565-A467-7B901594E9E2}"/>
              </a:ext>
            </a:extLst>
          </p:cNvPr>
          <p:cNvSpPr txBox="1"/>
          <p:nvPr/>
        </p:nvSpPr>
        <p:spPr>
          <a:xfrm>
            <a:off x="1046542"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Sharing will be better facilitated by the Intranet service.</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5C5BDB6D-A0C6-4AE5-AF23-3699EFE1EBDF}"/>
              </a:ext>
            </a:extLst>
          </p:cNvPr>
          <p:cNvSpPr/>
          <p:nvPr/>
        </p:nvSpPr>
        <p:spPr>
          <a:xfrm>
            <a:off x="198873" y="254866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188443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79073"/>
            <a:ext cx="10538098" cy="122845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Kim is concerned about security for his customers. Kim wants his customers to be able to access the internet easily.</a:t>
            </a:r>
          </a:p>
          <a:p>
            <a:pPr marL="0" indent="0">
              <a:buNone/>
            </a:pPr>
            <a:r>
              <a:rPr lang="en-US" sz="2050" dirty="0">
                <a:solidFill>
                  <a:srgbClr val="44546A"/>
                </a:solidFill>
                <a:latin typeface="Calibri" panose="020F0502020204030204"/>
              </a:rPr>
              <a:t>You offer to do the following:</a:t>
            </a:r>
          </a:p>
        </p:txBody>
      </p:sp>
      <p:sp>
        <p:nvSpPr>
          <p:cNvPr id="12" name="Text Placeholder 1"/>
          <p:cNvSpPr txBox="1">
            <a:spLocks/>
          </p:cNvSpPr>
          <p:nvPr/>
        </p:nvSpPr>
        <p:spPr>
          <a:xfrm>
            <a:off x="1653903" y="2693631"/>
            <a:ext cx="10538097" cy="198126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Change the name of the wireless network to </a:t>
            </a:r>
            <a:r>
              <a:rPr lang="en-US" sz="2000" dirty="0" err="1">
                <a:solidFill>
                  <a:schemeClr val="tx2"/>
                </a:solidFill>
                <a:ea typeface="Calibri"/>
                <a:cs typeface="Calibri"/>
                <a:hlinkClick r:id="rId4" action="ppaction://hlinksldjump"/>
              </a:rPr>
              <a:t>Jabas</a:t>
            </a:r>
            <a:r>
              <a:rPr lang="en-US" sz="2000" dirty="0">
                <a:solidFill>
                  <a:schemeClr val="tx2"/>
                </a:solidFill>
                <a:ea typeface="Calibri"/>
                <a:cs typeface="Calibri"/>
                <a:hlinkClick r:id="rId4" action="ppaction://hlinksldjump"/>
              </a:rPr>
              <a:t> and set the modem password to a complex password</a:t>
            </a:r>
            <a:r>
              <a:rPr lang="en-US" sz="2000" dirty="0">
                <a:solidFill>
                  <a:schemeClr val="tx2"/>
                </a:solidFill>
                <a:ea typeface="Calibri"/>
                <a:cs typeface="Calibri"/>
              </a:rPr>
              <a:t> [Lev4_Dec1_OptA]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Change the name of the wireless network to </a:t>
            </a:r>
            <a:r>
              <a:rPr lang="en-US" sz="2000" dirty="0" err="1">
                <a:solidFill>
                  <a:schemeClr val="tx2"/>
                </a:solidFill>
                <a:ea typeface="Calibri"/>
                <a:cs typeface="Calibri"/>
                <a:hlinkClick r:id="rId5" action="ppaction://hlinksldjump"/>
              </a:rPr>
              <a:t>Jabas</a:t>
            </a:r>
            <a:r>
              <a:rPr lang="en-US" sz="2000" dirty="0">
                <a:solidFill>
                  <a:schemeClr val="tx2"/>
                </a:solidFill>
                <a:ea typeface="Calibri"/>
                <a:cs typeface="Calibri"/>
                <a:hlinkClick r:id="rId5" action="ppaction://hlinksldjump"/>
              </a:rPr>
              <a:t> and set the modem password to ADMIN1234.</a:t>
            </a:r>
            <a:r>
              <a:rPr lang="en-US" sz="2000" dirty="0">
                <a:solidFill>
                  <a:schemeClr val="tx2"/>
                </a:solidFill>
                <a:ea typeface="Calibri"/>
                <a:cs typeface="Calibri"/>
              </a:rPr>
              <a:t> [Lev4_Dec1_OptB]</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07338" y="269363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7338" y="380294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AutoShape 2" descr="Image result for cafe with people on wif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cafe with people on wif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Image result for cafe with people on wif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54D4D2B6-B48F-488D-AF4E-0FBFAD9A86B0}"/>
              </a:ext>
            </a:extLst>
          </p:cNvPr>
          <p:cNvSpPr/>
          <p:nvPr/>
        </p:nvSpPr>
        <p:spPr>
          <a:xfrm>
            <a:off x="917575" y="7937"/>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Level4_Decision1</a:t>
            </a:r>
          </a:p>
        </p:txBody>
      </p:sp>
      <p:sp>
        <p:nvSpPr>
          <p:cNvPr id="16" name="TextBox 15">
            <a:extLst>
              <a:ext uri="{FF2B5EF4-FFF2-40B4-BE49-F238E27FC236}">
                <a16:creationId xmlns:a16="http://schemas.microsoft.com/office/drawing/2014/main" id="{B9DDEA73-B315-4304-9217-FF2AF3665416}"/>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the cloud-based intranet.</a:t>
            </a:r>
          </a:p>
        </p:txBody>
      </p:sp>
      <p:sp>
        <p:nvSpPr>
          <p:cNvPr id="17" name="TextBox 16">
            <a:extLst>
              <a:ext uri="{FF2B5EF4-FFF2-40B4-BE49-F238E27FC236}">
                <a16:creationId xmlns:a16="http://schemas.microsoft.com/office/drawing/2014/main" id="{D4E60953-361B-43C5-A7E7-38AE0C2A6F25}"/>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Student will need to choose a security threat response.</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The network doesn’t work.</a:t>
            </a:r>
          </a:p>
        </p:txBody>
      </p:sp>
      <p:sp>
        <p:nvSpPr>
          <p:cNvPr id="18" name="TextBox 17">
            <a:extLst>
              <a:ext uri="{FF2B5EF4-FFF2-40B4-BE49-F238E27FC236}">
                <a16:creationId xmlns:a16="http://schemas.microsoft.com/office/drawing/2014/main" id="{31637EA8-8D1D-4706-AE42-7117623C56EF}"/>
              </a:ext>
            </a:extLst>
          </p:cNvPr>
          <p:cNvSpPr txBox="1"/>
          <p:nvPr/>
        </p:nvSpPr>
        <p:spPr>
          <a:xfrm>
            <a:off x="1046542"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A complex password is more secure.</a:t>
            </a:r>
          </a:p>
        </p:txBody>
      </p:sp>
      <p:sp>
        <p:nvSpPr>
          <p:cNvPr id="19" name="Arrow: Pentagon 18">
            <a:extLst>
              <a:ext uri="{FF2B5EF4-FFF2-40B4-BE49-F238E27FC236}">
                <a16:creationId xmlns:a16="http://schemas.microsoft.com/office/drawing/2014/main" id="{38A07EA2-132B-4C73-B5C5-D576136CBB92}"/>
              </a:ext>
            </a:extLst>
          </p:cNvPr>
          <p:cNvSpPr/>
          <p:nvPr/>
        </p:nvSpPr>
        <p:spPr>
          <a:xfrm>
            <a:off x="198873" y="269363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950180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39566"/>
            <a:ext cx="9981779" cy="92333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have finished the installation and setup of </a:t>
            </a:r>
            <a:r>
              <a:rPr lang="en-US" sz="2050" dirty="0" err="1">
                <a:solidFill>
                  <a:srgbClr val="44546A"/>
                </a:solidFill>
                <a:latin typeface="Calibri" panose="020F0502020204030204"/>
              </a:rPr>
              <a:t>Jaba's</a:t>
            </a:r>
            <a:r>
              <a:rPr lang="en-US" sz="2050" dirty="0">
                <a:solidFill>
                  <a:srgbClr val="44546A"/>
                </a:solidFill>
                <a:latin typeface="Calibri" panose="020F0502020204030204"/>
              </a:rPr>
              <a:t> Smoothie Hut.  Kim asks for the VPN to be setup.</a:t>
            </a:r>
          </a:p>
        </p:txBody>
      </p:sp>
      <p:sp>
        <p:nvSpPr>
          <p:cNvPr id="12" name="Text Placeholder 1"/>
          <p:cNvSpPr txBox="1">
            <a:spLocks/>
          </p:cNvSpPr>
          <p:nvPr/>
        </p:nvSpPr>
        <p:spPr>
          <a:xfrm>
            <a:off x="1604865" y="2465263"/>
            <a:ext cx="10460887" cy="192747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Install the VPN client on his laptop and give Kim the network password.</a:t>
            </a:r>
            <a:r>
              <a:rPr lang="en-US" sz="2000" dirty="0">
                <a:solidFill>
                  <a:schemeClr val="tx2"/>
                </a:solidFill>
                <a:ea typeface="Calibri"/>
                <a:cs typeface="Calibri"/>
              </a:rPr>
              <a:t> [Lev4_Dec2_OptA]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4" action="ppaction://hlinksldjump"/>
              </a:rPr>
              <a:t>Configure the store's network and server for VPN and download and install the VPN client on Kim's laptop</a:t>
            </a:r>
            <a:r>
              <a:rPr lang="en-US" sz="2000" dirty="0">
                <a:solidFill>
                  <a:schemeClr val="tx2"/>
                </a:solidFill>
                <a:ea typeface="Calibri"/>
                <a:cs typeface="Calibri"/>
              </a:rPr>
              <a:t> [Lev4_Dec2_OptB]</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188278" y="246526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173901" y="3202443"/>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4CE0FE3C-5D1F-4779-8CD6-21B0E27F2687}"/>
              </a:ext>
            </a:extLst>
          </p:cNvPr>
          <p:cNvSpPr/>
          <p:nvPr/>
        </p:nvSpPr>
        <p:spPr>
          <a:xfrm>
            <a:off x="795113"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Level4_Decision2</a:t>
            </a:r>
          </a:p>
        </p:txBody>
      </p:sp>
      <p:sp>
        <p:nvSpPr>
          <p:cNvPr id="9" name="TextBox 8">
            <a:extLst>
              <a:ext uri="{FF2B5EF4-FFF2-40B4-BE49-F238E27FC236}">
                <a16:creationId xmlns:a16="http://schemas.microsoft.com/office/drawing/2014/main" id="{3BD8995D-5368-4F86-95FE-0154A4EBB0E7}"/>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set up a VPN.</a:t>
            </a:r>
          </a:p>
        </p:txBody>
      </p:sp>
      <p:sp>
        <p:nvSpPr>
          <p:cNvPr id="13" name="TextBox 12">
            <a:extLst>
              <a:ext uri="{FF2B5EF4-FFF2-40B4-BE49-F238E27FC236}">
                <a16:creationId xmlns:a16="http://schemas.microsoft.com/office/drawing/2014/main" id="{52754BFF-D866-47E0-B379-F2FF25468315}"/>
              </a:ext>
            </a:extLst>
          </p:cNvPr>
          <p:cNvSpPr txBox="1"/>
          <p:nvPr/>
        </p:nvSpPr>
        <p:spPr>
          <a:xfrm>
            <a:off x="1046542" y="4935205"/>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The VPN isn’t going to do what’s needed here. Neither option will work.</a:t>
            </a:r>
          </a:p>
        </p:txBody>
      </p:sp>
      <p:sp>
        <p:nvSpPr>
          <p:cNvPr id="16" name="TextBox 15">
            <a:extLst>
              <a:ext uri="{FF2B5EF4-FFF2-40B4-BE49-F238E27FC236}">
                <a16:creationId xmlns:a16="http://schemas.microsoft.com/office/drawing/2014/main" id="{7A3663BE-3D71-4491-8DF5-120C7F20BE52}"/>
              </a:ext>
            </a:extLst>
          </p:cNvPr>
          <p:cNvSpPr txBox="1"/>
          <p:nvPr/>
        </p:nvSpPr>
        <p:spPr>
          <a:xfrm>
            <a:off x="1036320" y="6137214"/>
            <a:ext cx="9570720"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0">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Next step for both options: </a:t>
            </a:r>
            <a:r>
              <a:rPr lang="en-US" kern="0" dirty="0">
                <a:solidFill>
                  <a:prstClr val="black"/>
                </a:solidFill>
              </a:rPr>
              <a:t>The network doesn’t 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4281014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41358"/>
            <a:ext cx="10004881" cy="121614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Kim is concerned about security for his customers. Kim wants his customers to be able to access the internet easily.</a:t>
            </a:r>
          </a:p>
          <a:p>
            <a:pPr marL="0" indent="0">
              <a:buNone/>
            </a:pPr>
            <a:r>
              <a:rPr lang="en-US" sz="2050" dirty="0">
                <a:solidFill>
                  <a:srgbClr val="44546A"/>
                </a:solidFill>
                <a:latin typeface="Calibri" panose="020F0502020204030204"/>
              </a:rPr>
              <a:t>You offer to do the following:</a:t>
            </a:r>
          </a:p>
        </p:txBody>
      </p:sp>
      <p:sp>
        <p:nvSpPr>
          <p:cNvPr id="12" name="Text Placeholder 1"/>
          <p:cNvSpPr txBox="1">
            <a:spLocks/>
          </p:cNvSpPr>
          <p:nvPr/>
        </p:nvSpPr>
        <p:spPr>
          <a:xfrm>
            <a:off x="1679510" y="2649801"/>
            <a:ext cx="10403634" cy="196781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Change the name of the wireless network to </a:t>
            </a:r>
            <a:r>
              <a:rPr lang="en-US" sz="2000" dirty="0" err="1">
                <a:solidFill>
                  <a:schemeClr val="tx2"/>
                </a:solidFill>
                <a:ea typeface="Calibri"/>
                <a:cs typeface="Calibri"/>
                <a:hlinkClick r:id="rId4" action="ppaction://hlinksldjump"/>
              </a:rPr>
              <a:t>Jabas</a:t>
            </a:r>
            <a:r>
              <a:rPr lang="en-US" sz="2000" dirty="0">
                <a:solidFill>
                  <a:schemeClr val="tx2"/>
                </a:solidFill>
                <a:ea typeface="Calibri"/>
                <a:cs typeface="Calibri"/>
                <a:hlinkClick r:id="rId4" action="ppaction://hlinksldjump"/>
              </a:rPr>
              <a:t> and set the modem password to a complex password</a:t>
            </a:r>
            <a:r>
              <a:rPr lang="en-US" sz="2000" dirty="0">
                <a:solidFill>
                  <a:schemeClr val="tx2"/>
                </a:solidFill>
                <a:ea typeface="Calibri"/>
                <a:cs typeface="Calibri"/>
              </a:rPr>
              <a:t> [Lev4_Dec3_OptA]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Change the name of the wireless network to </a:t>
            </a:r>
            <a:r>
              <a:rPr lang="en-US" sz="2000" dirty="0" err="1">
                <a:solidFill>
                  <a:schemeClr val="tx2"/>
                </a:solidFill>
                <a:ea typeface="Calibri"/>
                <a:cs typeface="Calibri"/>
                <a:hlinkClick r:id="rId5" action="ppaction://hlinksldjump"/>
              </a:rPr>
              <a:t>Jabas</a:t>
            </a:r>
            <a:r>
              <a:rPr lang="en-US" sz="2000" dirty="0">
                <a:solidFill>
                  <a:schemeClr val="tx2"/>
                </a:solidFill>
                <a:ea typeface="Calibri"/>
                <a:cs typeface="Calibri"/>
                <a:hlinkClick r:id="rId5" action="ppaction://hlinksldjump"/>
              </a:rPr>
              <a:t> and set the modem password to ADMIN1234.</a:t>
            </a:r>
            <a:r>
              <a:rPr lang="en-US" sz="2000" dirty="0">
                <a:solidFill>
                  <a:schemeClr val="tx2"/>
                </a:solidFill>
                <a:ea typeface="Calibri"/>
                <a:cs typeface="Calibri"/>
              </a:rPr>
              <a:t> [Lev4_Dec3_OptB]</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265673" y="2649801"/>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65673" y="379945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3" name="Rectangle 2">
            <a:extLst>
              <a:ext uri="{FF2B5EF4-FFF2-40B4-BE49-F238E27FC236}">
                <a16:creationId xmlns:a16="http://schemas.microsoft.com/office/drawing/2014/main" id="{8D96BF6F-B1A3-4E53-BD3C-167062C2C0FC}"/>
              </a:ext>
            </a:extLst>
          </p:cNvPr>
          <p:cNvSpPr/>
          <p:nvPr/>
        </p:nvSpPr>
        <p:spPr>
          <a:xfrm>
            <a:off x="795114" y="0"/>
            <a:ext cx="5011232"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Level4_Decision3</a:t>
            </a:r>
          </a:p>
        </p:txBody>
      </p:sp>
      <p:sp>
        <p:nvSpPr>
          <p:cNvPr id="9" name="TextBox 8">
            <a:extLst>
              <a:ext uri="{FF2B5EF4-FFF2-40B4-BE49-F238E27FC236}">
                <a16:creationId xmlns:a16="http://schemas.microsoft.com/office/drawing/2014/main" id="{AC0DF1DB-06EA-4EAD-AD03-5191737D6C70}"/>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the cloud-based intranet.</a:t>
            </a:r>
          </a:p>
        </p:txBody>
      </p:sp>
      <p:sp>
        <p:nvSpPr>
          <p:cNvPr id="10" name="TextBox 9">
            <a:extLst>
              <a:ext uri="{FF2B5EF4-FFF2-40B4-BE49-F238E27FC236}">
                <a16:creationId xmlns:a16="http://schemas.microsoft.com/office/drawing/2014/main" id="{848DEA74-67C4-411F-B06E-1794D67DE6C9}"/>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Student will need to choose a security threat response.</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a:t>
            </a:r>
            <a:r>
              <a:rPr lang="en-US" kern="0" dirty="0">
                <a:solidFill>
                  <a:prstClr val="black"/>
                </a:solidFill>
              </a:rPr>
              <a:t>The network doesn’t 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DD35D030-29F9-4C02-8A01-F86BAAD252FF}"/>
              </a:ext>
            </a:extLst>
          </p:cNvPr>
          <p:cNvSpPr txBox="1"/>
          <p:nvPr/>
        </p:nvSpPr>
        <p:spPr>
          <a:xfrm>
            <a:off x="1046542"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A complex password is more secure.</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79BD9621-98D8-4046-A3A4-A1769CB6F134}"/>
              </a:ext>
            </a:extLst>
          </p:cNvPr>
          <p:cNvSpPr/>
          <p:nvPr/>
        </p:nvSpPr>
        <p:spPr>
          <a:xfrm>
            <a:off x="198873" y="270953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300392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82455"/>
            <a:ext cx="10031367" cy="110212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tell Kim everything is complete and ready to go!  You gather your equipment and prepare to leave.</a:t>
            </a:r>
          </a:p>
        </p:txBody>
      </p:sp>
      <p:sp>
        <p:nvSpPr>
          <p:cNvPr id="12" name="Text Placeholder 1"/>
          <p:cNvSpPr txBox="1">
            <a:spLocks/>
          </p:cNvSpPr>
          <p:nvPr/>
        </p:nvSpPr>
        <p:spPr>
          <a:xfrm>
            <a:off x="1036320" y="3585820"/>
            <a:ext cx="3731002" cy="94730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Rectangle 1">
            <a:extLst>
              <a:ext uri="{FF2B5EF4-FFF2-40B4-BE49-F238E27FC236}">
                <a16:creationId xmlns:a16="http://schemas.microsoft.com/office/drawing/2014/main" id="{5D9C112F-B391-4BB7-A564-B71EC534D7AD}"/>
              </a:ext>
            </a:extLst>
          </p:cNvPr>
          <p:cNvSpPr/>
          <p:nvPr/>
        </p:nvSpPr>
        <p:spPr>
          <a:xfrm>
            <a:off x="795113" y="0"/>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Level4_Story1</a:t>
            </a:r>
          </a:p>
        </p:txBody>
      </p:sp>
      <p:sp>
        <p:nvSpPr>
          <p:cNvPr id="8" name="TextBox 7">
            <a:extLst>
              <a:ext uri="{FF2B5EF4-FFF2-40B4-BE49-F238E27FC236}">
                <a16:creationId xmlns:a16="http://schemas.microsoft.com/office/drawing/2014/main" id="{D1ECDDC9-E6CC-4029-80FA-9F03EDD7D382}"/>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set up a VPN.</a:t>
            </a:r>
          </a:p>
        </p:txBody>
      </p:sp>
      <p:sp>
        <p:nvSpPr>
          <p:cNvPr id="9" name="TextBox 8">
            <a:extLst>
              <a:ext uri="{FF2B5EF4-FFF2-40B4-BE49-F238E27FC236}">
                <a16:creationId xmlns:a16="http://schemas.microsoft.com/office/drawing/2014/main" id="{65CC103A-7FC2-4497-BC21-7958941C67DA}"/>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The network doesn’t 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4060738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1855" y="1328760"/>
            <a:ext cx="11190145" cy="14608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have been working hard helping Kim and </a:t>
            </a:r>
            <a:r>
              <a:rPr lang="en-US" sz="2050" dirty="0" err="1">
                <a:solidFill>
                  <a:srgbClr val="44546A"/>
                </a:solidFill>
                <a:latin typeface="Calibri" panose="020F0502020204030204"/>
              </a:rPr>
              <a:t>Jaba's</a:t>
            </a:r>
            <a:r>
              <a:rPr lang="en-US" sz="2050" dirty="0">
                <a:solidFill>
                  <a:srgbClr val="44546A"/>
                </a:solidFill>
                <a:latin typeface="Calibri" panose="020F0502020204030204"/>
              </a:rPr>
              <a:t> setup the network.  As you are setting up Kim's wireless network, Kim tells you that his customers are so happy to be surfing the internet.  You have not finished setting up the wireless access points so you are confused. You pull out your computer and see another wireless connection:   </a:t>
            </a:r>
            <a:r>
              <a:rPr lang="en-US" sz="2050" dirty="0" err="1">
                <a:solidFill>
                  <a:srgbClr val="44546A"/>
                </a:solidFill>
                <a:latin typeface="Calibri" panose="020F0502020204030204"/>
              </a:rPr>
              <a:t>FreeJabas</a:t>
            </a:r>
            <a:endParaRPr lang="en-US" sz="2050" dirty="0">
              <a:solidFill>
                <a:srgbClr val="44546A"/>
              </a:solidFill>
              <a:latin typeface="Calibri" panose="020F0502020204030204"/>
            </a:endParaRPr>
          </a:p>
        </p:txBody>
      </p:sp>
      <p:sp>
        <p:nvSpPr>
          <p:cNvPr id="12" name="Text Placeholder 1"/>
          <p:cNvSpPr txBox="1">
            <a:spLocks/>
          </p:cNvSpPr>
          <p:nvPr/>
        </p:nvSpPr>
        <p:spPr>
          <a:xfrm>
            <a:off x="1772817" y="3024997"/>
            <a:ext cx="10419184" cy="200815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Connect to the wireless network to:  </a:t>
            </a:r>
            <a:r>
              <a:rPr lang="en-US" sz="2000" dirty="0" err="1">
                <a:solidFill>
                  <a:schemeClr val="tx2"/>
                </a:solidFill>
                <a:ea typeface="Calibri"/>
                <a:cs typeface="Calibri"/>
                <a:hlinkClick r:id="rId4" action="ppaction://hlinksldjump"/>
              </a:rPr>
              <a:t>FreeJabas</a:t>
            </a:r>
            <a:r>
              <a:rPr lang="en-US" sz="2000" dirty="0">
                <a:solidFill>
                  <a:schemeClr val="tx2"/>
                </a:solidFill>
                <a:ea typeface="Calibri"/>
                <a:cs typeface="Calibri"/>
              </a:rPr>
              <a:t> [Lev5_Dec1_OptA]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Tell Kim to warn his customers against signing in to "fake" networks as they may have viruses or steal customers information.</a:t>
            </a:r>
            <a:r>
              <a:rPr lang="en-US" sz="2000" dirty="0">
                <a:solidFill>
                  <a:schemeClr val="tx2"/>
                </a:solidFill>
                <a:ea typeface="Calibri"/>
                <a:cs typeface="Calibri"/>
              </a:rPr>
              <a:t> [Lev5_Dec1_OptB]</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00149" y="302499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0149" y="382789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3" name="Rectangle 2">
            <a:extLst>
              <a:ext uri="{FF2B5EF4-FFF2-40B4-BE49-F238E27FC236}">
                <a16:creationId xmlns:a16="http://schemas.microsoft.com/office/drawing/2014/main" id="{BF043D0D-7A4D-4A65-891A-CE92ED8AAD5E}"/>
              </a:ext>
            </a:extLst>
          </p:cNvPr>
          <p:cNvSpPr/>
          <p:nvPr/>
        </p:nvSpPr>
        <p:spPr>
          <a:xfrm>
            <a:off x="1001855" y="85929"/>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Level5_Decision1</a:t>
            </a:r>
          </a:p>
        </p:txBody>
      </p:sp>
      <p:sp>
        <p:nvSpPr>
          <p:cNvPr id="13" name="TextBox 12">
            <a:extLst>
              <a:ext uri="{FF2B5EF4-FFF2-40B4-BE49-F238E27FC236}">
                <a16:creationId xmlns:a16="http://schemas.microsoft.com/office/drawing/2014/main" id="{29CB6937-B31E-44AD-96AB-AD6866CBCD98}"/>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complex password.</a:t>
            </a:r>
          </a:p>
        </p:txBody>
      </p:sp>
      <p:sp>
        <p:nvSpPr>
          <p:cNvPr id="14" name="TextBox 13">
            <a:extLst>
              <a:ext uri="{FF2B5EF4-FFF2-40B4-BE49-F238E27FC236}">
                <a16:creationId xmlns:a16="http://schemas.microsoft.com/office/drawing/2014/main" id="{7D8148E0-14FB-4BBF-A6F4-EA20EED74115}"/>
              </a:ext>
            </a:extLst>
          </p:cNvPr>
          <p:cNvSpPr txBox="1"/>
          <p:nvPr/>
        </p:nvSpPr>
        <p:spPr>
          <a:xfrm>
            <a:off x="1036320" y="619521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 VPN configuration.</a:t>
            </a:r>
          </a:p>
        </p:txBody>
      </p:sp>
      <p:sp>
        <p:nvSpPr>
          <p:cNvPr id="16" name="TextBox 15">
            <a:extLst>
              <a:ext uri="{FF2B5EF4-FFF2-40B4-BE49-F238E27FC236}">
                <a16:creationId xmlns:a16="http://schemas.microsoft.com/office/drawing/2014/main" id="{FBF5C799-F0C2-4D2F-937E-3B18C478B6A3}"/>
              </a:ext>
            </a:extLst>
          </p:cNvPr>
          <p:cNvSpPr txBox="1"/>
          <p:nvPr/>
        </p:nvSpPr>
        <p:spPr>
          <a:xfrm>
            <a:off x="1046542" y="5036489"/>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If the official network is not yet complete, the “working” network is an imposter and is not safe.</a:t>
            </a:r>
          </a:p>
        </p:txBody>
      </p:sp>
      <p:sp>
        <p:nvSpPr>
          <p:cNvPr id="17" name="Arrow: Pentagon 16">
            <a:extLst>
              <a:ext uri="{FF2B5EF4-FFF2-40B4-BE49-F238E27FC236}">
                <a16:creationId xmlns:a16="http://schemas.microsoft.com/office/drawing/2014/main" id="{5819F638-F3B1-407C-9A16-88A9398B15C4}"/>
              </a:ext>
            </a:extLst>
          </p:cNvPr>
          <p:cNvSpPr/>
          <p:nvPr/>
        </p:nvSpPr>
        <p:spPr>
          <a:xfrm>
            <a:off x="198873" y="382789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239628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30796"/>
            <a:ext cx="11119327" cy="152437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have been working hard helping Kim and </a:t>
            </a:r>
            <a:r>
              <a:rPr lang="en-US" sz="2050" dirty="0" err="1">
                <a:solidFill>
                  <a:srgbClr val="44546A"/>
                </a:solidFill>
                <a:latin typeface="Calibri" panose="020F0502020204030204"/>
              </a:rPr>
              <a:t>Jaba's</a:t>
            </a:r>
            <a:r>
              <a:rPr lang="en-US" sz="2050" dirty="0">
                <a:solidFill>
                  <a:srgbClr val="44546A"/>
                </a:solidFill>
                <a:latin typeface="Calibri" panose="020F0502020204030204"/>
              </a:rPr>
              <a:t> setup the network.  As you are setting up Kim's wireless network, Kim tells you that his customers are so happy to be surfing the internet.  You have not finished setting up the wireless access points so you are confused. You pull out your computer and see another wireless connection:   </a:t>
            </a:r>
            <a:r>
              <a:rPr lang="en-US" sz="2050" dirty="0" err="1">
                <a:solidFill>
                  <a:srgbClr val="44546A"/>
                </a:solidFill>
                <a:latin typeface="Calibri" panose="020F0502020204030204"/>
              </a:rPr>
              <a:t>FreeJabas</a:t>
            </a:r>
            <a:endParaRPr lang="en-US" sz="2050" dirty="0">
              <a:solidFill>
                <a:srgbClr val="44546A"/>
              </a:solidFill>
              <a:latin typeface="Calibri" panose="020F0502020204030204"/>
            </a:endParaRPr>
          </a:p>
        </p:txBody>
      </p:sp>
      <p:sp>
        <p:nvSpPr>
          <p:cNvPr id="12" name="Text Placeholder 1"/>
          <p:cNvSpPr txBox="1">
            <a:spLocks/>
          </p:cNvSpPr>
          <p:nvPr/>
        </p:nvSpPr>
        <p:spPr>
          <a:xfrm>
            <a:off x="1707503" y="2977514"/>
            <a:ext cx="10448144" cy="159480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hlinkClick r:id="rId4" action="ppaction://hlinksldjump"/>
              </a:rPr>
              <a:t>Connect to the wireless network to:  </a:t>
            </a:r>
            <a:r>
              <a:rPr lang="en-US" sz="2050" dirty="0" err="1">
                <a:solidFill>
                  <a:srgbClr val="44546A"/>
                </a:solidFill>
                <a:latin typeface="Calibri" panose="020F0502020204030204"/>
                <a:hlinkClick r:id="rId4" action="ppaction://hlinksldjump"/>
              </a:rPr>
              <a:t>FreeJabas</a:t>
            </a:r>
            <a:r>
              <a:rPr lang="en-US" sz="2050" dirty="0">
                <a:solidFill>
                  <a:srgbClr val="44546A"/>
                </a:solidFill>
                <a:latin typeface="Calibri" panose="020F0502020204030204"/>
              </a:rPr>
              <a:t> [Lev5_Dec2_OptA]</a:t>
            </a:r>
          </a:p>
          <a:p>
            <a:pPr marL="0" indent="0">
              <a:buNone/>
            </a:pPr>
            <a:endParaRPr lang="en-US" sz="2050" dirty="0">
              <a:solidFill>
                <a:srgbClr val="44546A"/>
              </a:solidFill>
              <a:latin typeface="Calibri" panose="020F0502020204030204"/>
            </a:endParaRPr>
          </a:p>
          <a:p>
            <a:pPr marL="0" indent="0">
              <a:buNone/>
            </a:pPr>
            <a:r>
              <a:rPr lang="en-US" sz="2050" dirty="0">
                <a:solidFill>
                  <a:srgbClr val="44546A"/>
                </a:solidFill>
                <a:latin typeface="Calibri" panose="020F0502020204030204"/>
                <a:hlinkClick r:id="rId5" action="ppaction://hlinksldjump"/>
              </a:rPr>
              <a:t>Tell Kim to warn his customers against signing in to "fake" networks as they may have viruses or steal customers information. </a:t>
            </a:r>
            <a:r>
              <a:rPr lang="en-US" sz="2050" dirty="0">
                <a:solidFill>
                  <a:srgbClr val="44546A"/>
                </a:solidFill>
                <a:latin typeface="Calibri" panose="020F0502020204030204"/>
              </a:rPr>
              <a:t>[Lev5_Dec2_OptB]</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22707" y="297751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22707" y="372616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3" name="Rectangle 2">
            <a:extLst>
              <a:ext uri="{FF2B5EF4-FFF2-40B4-BE49-F238E27FC236}">
                <a16:creationId xmlns:a16="http://schemas.microsoft.com/office/drawing/2014/main" id="{875E22B8-1CD8-42CA-9CC4-31C521789DC8}"/>
              </a:ext>
            </a:extLst>
          </p:cNvPr>
          <p:cNvSpPr/>
          <p:nvPr/>
        </p:nvSpPr>
        <p:spPr>
          <a:xfrm>
            <a:off x="795114"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Level5_Decision2</a:t>
            </a:r>
          </a:p>
        </p:txBody>
      </p:sp>
      <p:sp>
        <p:nvSpPr>
          <p:cNvPr id="9" name="TextBox 8">
            <a:extLst>
              <a:ext uri="{FF2B5EF4-FFF2-40B4-BE49-F238E27FC236}">
                <a16:creationId xmlns:a16="http://schemas.microsoft.com/office/drawing/2014/main" id="{F3BB7989-332F-47F5-A312-54BAB616609A}"/>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a complex password.</a:t>
            </a:r>
          </a:p>
        </p:txBody>
      </p:sp>
      <p:sp>
        <p:nvSpPr>
          <p:cNvPr id="10" name="TextBox 9">
            <a:extLst>
              <a:ext uri="{FF2B5EF4-FFF2-40B4-BE49-F238E27FC236}">
                <a16:creationId xmlns:a16="http://schemas.microsoft.com/office/drawing/2014/main" id="{B716F07F-8352-45F0-AEFA-EE966211742D}"/>
              </a:ext>
            </a:extLst>
          </p:cNvPr>
          <p:cNvSpPr txBox="1"/>
          <p:nvPr/>
        </p:nvSpPr>
        <p:spPr>
          <a:xfrm>
            <a:off x="1036320" y="6195211"/>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Next step for both options: Student will need to choose a VPN configuration.</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8F243FBE-2362-425C-BDC4-FA712CDFA2CE}"/>
              </a:ext>
            </a:extLst>
          </p:cNvPr>
          <p:cNvSpPr txBox="1"/>
          <p:nvPr/>
        </p:nvSpPr>
        <p:spPr>
          <a:xfrm>
            <a:off x="1046542" y="5036483"/>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If the official network is not yet complete, the “working” network is an imposter and is not safe.</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4" name="Arrow: Pentagon 13">
            <a:extLst>
              <a:ext uri="{FF2B5EF4-FFF2-40B4-BE49-F238E27FC236}">
                <a16:creationId xmlns:a16="http://schemas.microsoft.com/office/drawing/2014/main" id="{B3BC7747-7666-48FF-B186-3128DDFF1CAF}"/>
              </a:ext>
            </a:extLst>
          </p:cNvPr>
          <p:cNvSpPr/>
          <p:nvPr/>
        </p:nvSpPr>
        <p:spPr>
          <a:xfrm>
            <a:off x="198873" y="374912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508315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46500"/>
            <a:ext cx="9570720" cy="8368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Your antivirus tells you that your computer has just downloaded a virus.  You tell Kim that the network is dangerous and to warn customers not to use it.</a:t>
            </a:r>
          </a:p>
        </p:txBody>
      </p:sp>
      <p:sp>
        <p:nvSpPr>
          <p:cNvPr id="12" name="Text Placeholder 1"/>
          <p:cNvSpPr txBox="1">
            <a:spLocks/>
          </p:cNvSpPr>
          <p:nvPr/>
        </p:nvSpPr>
        <p:spPr>
          <a:xfrm>
            <a:off x="1036320" y="3550702"/>
            <a:ext cx="3367109" cy="8368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Rectangle 1">
            <a:extLst>
              <a:ext uri="{FF2B5EF4-FFF2-40B4-BE49-F238E27FC236}">
                <a16:creationId xmlns:a16="http://schemas.microsoft.com/office/drawing/2014/main" id="{68333483-D9FA-4503-8EFA-8B1D41E5B72D}"/>
              </a:ext>
            </a:extLst>
          </p:cNvPr>
          <p:cNvSpPr/>
          <p:nvPr/>
        </p:nvSpPr>
        <p:spPr>
          <a:xfrm>
            <a:off x="795113" y="0"/>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Level5_Story1</a:t>
            </a:r>
          </a:p>
        </p:txBody>
      </p:sp>
      <p:sp>
        <p:nvSpPr>
          <p:cNvPr id="9" name="TextBox 8">
            <a:extLst>
              <a:ext uri="{FF2B5EF4-FFF2-40B4-BE49-F238E27FC236}">
                <a16:creationId xmlns:a16="http://schemas.microsoft.com/office/drawing/2014/main" id="{985A0D83-A783-464B-B8A7-9A4BD6791F33}"/>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connect to the imposter network.</a:t>
            </a:r>
          </a:p>
        </p:txBody>
      </p:sp>
      <p:sp>
        <p:nvSpPr>
          <p:cNvPr id="10" name="TextBox 9">
            <a:extLst>
              <a:ext uri="{FF2B5EF4-FFF2-40B4-BE49-F238E27FC236}">
                <a16:creationId xmlns:a16="http://schemas.microsoft.com/office/drawing/2014/main" id="{3FB664EF-1106-44EC-8345-F551BC841111}"/>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choose a VPN configuration.</a:t>
            </a:r>
          </a:p>
        </p:txBody>
      </p:sp>
    </p:spTree>
    <p:custDataLst>
      <p:tags r:id="rId1"/>
    </p:custDataLst>
    <p:extLst>
      <p:ext uri="{BB962C8B-B14F-4D97-AF65-F5344CB8AC3E}">
        <p14:creationId xmlns:p14="http://schemas.microsoft.com/office/powerpoint/2010/main" val="3934141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676058"/>
            <a:ext cx="11155680" cy="11240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have finished the installation and setup of </a:t>
            </a:r>
            <a:r>
              <a:rPr lang="en-US" sz="2050" dirty="0" err="1">
                <a:solidFill>
                  <a:srgbClr val="44546A"/>
                </a:solidFill>
                <a:latin typeface="Calibri" panose="020F0502020204030204"/>
              </a:rPr>
              <a:t>Jaba's</a:t>
            </a:r>
            <a:r>
              <a:rPr lang="en-US" sz="2050" dirty="0">
                <a:solidFill>
                  <a:srgbClr val="44546A"/>
                </a:solidFill>
                <a:latin typeface="Calibri" panose="020F0502020204030204"/>
              </a:rPr>
              <a:t> Smoothie Hut.  Kim is satisfied, but tells you that he needs to be able to connect to his stores but is concerned about security.  He often works remotely and needs to connect from different places.  After telling Kim about a VPN he asks you to set it up.</a:t>
            </a:r>
          </a:p>
        </p:txBody>
      </p:sp>
      <p:sp>
        <p:nvSpPr>
          <p:cNvPr id="12" name="Text Placeholder 1"/>
          <p:cNvSpPr txBox="1">
            <a:spLocks/>
          </p:cNvSpPr>
          <p:nvPr/>
        </p:nvSpPr>
        <p:spPr>
          <a:xfrm>
            <a:off x="1744825" y="2915183"/>
            <a:ext cx="10447176" cy="163724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Install the VPN client on his laptop and give Kim the network password.</a:t>
            </a:r>
            <a:r>
              <a:rPr lang="en-US" sz="2000" dirty="0">
                <a:solidFill>
                  <a:schemeClr val="tx2"/>
                </a:solidFill>
                <a:ea typeface="Calibri"/>
                <a:cs typeface="Calibri"/>
              </a:rPr>
              <a:t> [Lev6_Dec1_OptA]</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5" action="ppaction://hlinksldjump"/>
              </a:rPr>
              <a:t>Configure the store's network and server for VPN and download and install the VPN client on Kim's laptop</a:t>
            </a:r>
            <a:r>
              <a:rPr lang="en-US" sz="2000" dirty="0">
                <a:solidFill>
                  <a:schemeClr val="tx2"/>
                </a:solidFill>
                <a:ea typeface="Calibri"/>
                <a:cs typeface="Calibri"/>
              </a:rPr>
              <a:t> [Lev6_Dec1_OptB]</a:t>
            </a: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21715" y="285919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0149" y="367624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5E5D0B30-51FC-4306-9949-7D724F0D1A78}"/>
              </a:ext>
            </a:extLst>
          </p:cNvPr>
          <p:cNvSpPr/>
          <p:nvPr/>
        </p:nvSpPr>
        <p:spPr>
          <a:xfrm>
            <a:off x="795114" y="271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Level6_Decision1</a:t>
            </a:r>
          </a:p>
        </p:txBody>
      </p:sp>
      <p:sp>
        <p:nvSpPr>
          <p:cNvPr id="10" name="TextBox 9">
            <a:extLst>
              <a:ext uri="{FF2B5EF4-FFF2-40B4-BE49-F238E27FC236}">
                <a16:creationId xmlns:a16="http://schemas.microsoft.com/office/drawing/2014/main" id="{33810AFF-9499-406F-AEBB-4C819936E88C}"/>
              </a:ext>
            </a:extLst>
          </p:cNvPr>
          <p:cNvSpPr txBox="1"/>
          <p:nvPr/>
        </p:nvSpPr>
        <p:spPr>
          <a:xfrm>
            <a:off x="1046542" y="879727"/>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a:t>
            </a:r>
            <a:r>
              <a:rPr lang="en-US" kern="0" dirty="0">
                <a:solidFill>
                  <a:prstClr val="black"/>
                </a:solidFill>
                <a:latin typeface="Calibri" panose="020F0502020204030204"/>
              </a:rPr>
              <a:t>On this track, student chose to use a hardware firewall to section off part of the network.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D17526D1-897C-444B-8A09-495E7F565BFE}"/>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Not everything works as expected.</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Kim is happy with the work.</a:t>
            </a:r>
          </a:p>
        </p:txBody>
      </p:sp>
      <p:sp>
        <p:nvSpPr>
          <p:cNvPr id="14" name="TextBox 13">
            <a:extLst>
              <a:ext uri="{FF2B5EF4-FFF2-40B4-BE49-F238E27FC236}">
                <a16:creationId xmlns:a16="http://schemas.microsoft.com/office/drawing/2014/main" id="{4342DF45-BF30-48FE-BED5-D7ECD6D73855}"/>
              </a:ext>
            </a:extLst>
          </p:cNvPr>
          <p:cNvSpPr txBox="1"/>
          <p:nvPr/>
        </p:nvSpPr>
        <p:spPr>
          <a:xfrm>
            <a:off x="1046542" y="4803222"/>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The VPN needs a server on the store’s network.</a:t>
            </a:r>
          </a:p>
        </p:txBody>
      </p:sp>
      <p:sp>
        <p:nvSpPr>
          <p:cNvPr id="16" name="Arrow: Pentagon 15">
            <a:extLst>
              <a:ext uri="{FF2B5EF4-FFF2-40B4-BE49-F238E27FC236}">
                <a16:creationId xmlns:a16="http://schemas.microsoft.com/office/drawing/2014/main" id="{D13FF87E-5C46-43A3-81DE-C52D096FA9C2}"/>
              </a:ext>
            </a:extLst>
          </p:cNvPr>
          <p:cNvSpPr/>
          <p:nvPr/>
        </p:nvSpPr>
        <p:spPr>
          <a:xfrm>
            <a:off x="198873" y="3676242"/>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5324910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19" y="1292560"/>
            <a:ext cx="10545288" cy="116139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Your antivirus tells you that your computer has just downloaded a virus.  You tell Kim that the network is dangerous and to warn customers not to use it.</a:t>
            </a:r>
          </a:p>
        </p:txBody>
      </p:sp>
      <p:sp>
        <p:nvSpPr>
          <p:cNvPr id="12" name="Text Placeholder 1"/>
          <p:cNvSpPr txBox="1">
            <a:spLocks/>
          </p:cNvSpPr>
          <p:nvPr/>
        </p:nvSpPr>
        <p:spPr>
          <a:xfrm>
            <a:off x="1036319" y="3576490"/>
            <a:ext cx="3619035" cy="81823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4" name="Rectangle 3">
            <a:extLst>
              <a:ext uri="{FF2B5EF4-FFF2-40B4-BE49-F238E27FC236}">
                <a16:creationId xmlns:a16="http://schemas.microsoft.com/office/drawing/2014/main" id="{87D679AF-233F-48BE-9394-836D8C977C5D}"/>
              </a:ext>
            </a:extLst>
          </p:cNvPr>
          <p:cNvSpPr/>
          <p:nvPr/>
        </p:nvSpPr>
        <p:spPr>
          <a:xfrm>
            <a:off x="795114" y="0"/>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Level5_Story2</a:t>
            </a:r>
          </a:p>
        </p:txBody>
      </p:sp>
      <p:sp>
        <p:nvSpPr>
          <p:cNvPr id="9" name="TextBox 8">
            <a:extLst>
              <a:ext uri="{FF2B5EF4-FFF2-40B4-BE49-F238E27FC236}">
                <a16:creationId xmlns:a16="http://schemas.microsoft.com/office/drawing/2014/main" id="{7DC25BB2-6F44-412D-909F-AC2D7DB30FB2}"/>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connect to the imposter network.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53BC5906-8202-40C9-8290-2AC602B38766}"/>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Student will need to choose a VPN configuration.</a:t>
            </a:r>
          </a:p>
        </p:txBody>
      </p:sp>
    </p:spTree>
    <p:custDataLst>
      <p:tags r:id="rId1"/>
    </p:custDataLst>
    <p:extLst>
      <p:ext uri="{BB962C8B-B14F-4D97-AF65-F5344CB8AC3E}">
        <p14:creationId xmlns:p14="http://schemas.microsoft.com/office/powerpoint/2010/main" val="1026670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44366"/>
            <a:ext cx="11120686" cy="121397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have finished the installation and setup of </a:t>
            </a:r>
            <a:r>
              <a:rPr lang="en-US" sz="2050" dirty="0" err="1">
                <a:solidFill>
                  <a:srgbClr val="44546A"/>
                </a:solidFill>
                <a:latin typeface="Calibri" panose="020F0502020204030204"/>
              </a:rPr>
              <a:t>Jaba's</a:t>
            </a:r>
            <a:r>
              <a:rPr lang="en-US" sz="2050" dirty="0">
                <a:solidFill>
                  <a:srgbClr val="44546A"/>
                </a:solidFill>
                <a:latin typeface="Calibri" panose="020F0502020204030204"/>
              </a:rPr>
              <a:t> Smoothie Hut.  Kim is satisfied, but tells you that he needs to be able to connect to his stores but is concerned about security.  He often works remotely and needs to connect from different places.  After telling Kim about a VPN he asks you to set it up.</a:t>
            </a:r>
          </a:p>
        </p:txBody>
      </p:sp>
      <p:sp>
        <p:nvSpPr>
          <p:cNvPr id="12" name="Text Placeholder 1"/>
          <p:cNvSpPr txBox="1">
            <a:spLocks/>
          </p:cNvSpPr>
          <p:nvPr/>
        </p:nvSpPr>
        <p:spPr>
          <a:xfrm>
            <a:off x="1772817" y="2655583"/>
            <a:ext cx="10419184" cy="169003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Install the VPN client on his laptop and give Kim the network password.</a:t>
            </a:r>
            <a:r>
              <a:rPr lang="en-US" sz="2050" dirty="0">
                <a:solidFill>
                  <a:schemeClr val="tx2"/>
                </a:solidFill>
                <a:ea typeface="Calibri"/>
                <a:cs typeface="Calibri"/>
              </a:rPr>
              <a:t> [Lev6_Dec2_OptA]</a:t>
            </a:r>
          </a:p>
          <a:p>
            <a:pPr marL="0" indent="0">
              <a:buNone/>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Configure the store's network and server for VPN and download and install the VPN client on Kim's laptop</a:t>
            </a:r>
            <a:r>
              <a:rPr lang="en-US" sz="2050" dirty="0">
                <a:solidFill>
                  <a:schemeClr val="tx2"/>
                </a:solidFill>
                <a:ea typeface="Calibri"/>
                <a:cs typeface="Calibri"/>
              </a:rPr>
              <a:t>. [Lev6_Dec2_OptB]</a:t>
            </a: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07338" y="263141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7338" y="367076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3" name="Rectangle 2">
            <a:extLst>
              <a:ext uri="{FF2B5EF4-FFF2-40B4-BE49-F238E27FC236}">
                <a16:creationId xmlns:a16="http://schemas.microsoft.com/office/drawing/2014/main" id="{DA50E984-5E17-4CC7-88E6-D6637F01AA98}"/>
              </a:ext>
            </a:extLst>
          </p:cNvPr>
          <p:cNvSpPr/>
          <p:nvPr/>
        </p:nvSpPr>
        <p:spPr>
          <a:xfrm>
            <a:off x="795113" y="148042"/>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Level6_Decision2</a:t>
            </a:r>
          </a:p>
        </p:txBody>
      </p:sp>
      <p:sp>
        <p:nvSpPr>
          <p:cNvPr id="10" name="TextBox 9">
            <a:extLst>
              <a:ext uri="{FF2B5EF4-FFF2-40B4-BE49-F238E27FC236}">
                <a16:creationId xmlns:a16="http://schemas.microsoft.com/office/drawing/2014/main" id="{6F58D1DA-306A-4408-BF94-DA1AA325F50E}"/>
              </a:ext>
            </a:extLst>
          </p:cNvPr>
          <p:cNvSpPr txBox="1"/>
          <p:nvPr/>
        </p:nvSpPr>
        <p:spPr>
          <a:xfrm>
            <a:off x="1046542"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On </a:t>
            </a:r>
            <a:r>
              <a:rPr kumimoji="0" lang="en-US" sz="1800" b="0" i="0" u="none" strike="noStrike" kern="0" cap="none" spc="0" normalizeH="0" baseline="0" noProof="0" dirty="0" err="1">
                <a:ln>
                  <a:noFill/>
                </a:ln>
                <a:solidFill>
                  <a:prstClr val="black"/>
                </a:solidFill>
                <a:effectLst/>
                <a:uLnTx/>
                <a:uFillTx/>
                <a:latin typeface="Calibri" panose="020F0502020204030204"/>
                <a:ea typeface="+mn-ea"/>
                <a:cs typeface="+mn-cs"/>
              </a:rPr>
              <a:t>thi</a:t>
            </a:r>
            <a:r>
              <a:rPr lang="en-US" kern="0" dirty="0">
                <a:solidFill>
                  <a:prstClr val="black"/>
                </a:solidFill>
                <a:latin typeface="Calibri" panose="020F0502020204030204"/>
              </a:rPr>
              <a:t>s track, student chose to use a switch to section off part of the network.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B315CE40-F7F6-4ACF-AA61-AE0656FB2AEF}"/>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a:t>
            </a:r>
            <a:r>
              <a:rPr lang="en-US" kern="0" dirty="0">
                <a:solidFill>
                  <a:prstClr val="black"/>
                </a:solidFill>
              </a:rPr>
              <a:t>The network doesn’t work.</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a:t>
            </a:r>
            <a:r>
              <a:rPr lang="en-US" kern="0" dirty="0">
                <a:solidFill>
                  <a:prstClr val="black"/>
                </a:solidFill>
              </a:rPr>
              <a:t>Not everything works as expected.</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170490D2-0F6B-474C-98FA-3D553BA497F6}"/>
              </a:ext>
            </a:extLst>
          </p:cNvPr>
          <p:cNvSpPr txBox="1"/>
          <p:nvPr/>
        </p:nvSpPr>
        <p:spPr>
          <a:xfrm>
            <a:off x="1046542"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The VPN needs a server on the store’s network.</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6" name="Arrow: Pentagon 15">
            <a:extLst>
              <a:ext uri="{FF2B5EF4-FFF2-40B4-BE49-F238E27FC236}">
                <a16:creationId xmlns:a16="http://schemas.microsoft.com/office/drawing/2014/main" id="{1B0D3394-9706-40A4-ABC2-68D7D3B6A1B1}"/>
              </a:ext>
            </a:extLst>
          </p:cNvPr>
          <p:cNvSpPr/>
          <p:nvPr/>
        </p:nvSpPr>
        <p:spPr>
          <a:xfrm>
            <a:off x="198873" y="367899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069777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1396887" cy="30491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3300" dirty="0">
                <a:solidFill>
                  <a:schemeClr val="tx1"/>
                </a:solidFill>
                <a:latin typeface="+mj-lt"/>
              </a:rPr>
              <a:t>Outcome 0</a:t>
            </a:r>
          </a:p>
          <a:p>
            <a:pPr marL="0" indent="0">
              <a:spcBef>
                <a:spcPts val="0"/>
              </a:spcBef>
              <a:buNone/>
              <a:defRPr/>
            </a:pPr>
            <a:endParaRPr lang="en-US" sz="3300" dirty="0">
              <a:solidFill>
                <a:schemeClr val="tx1"/>
              </a:solidFill>
              <a:latin typeface="+mj-lt"/>
            </a:endParaRPr>
          </a:p>
          <a:p>
            <a:pPr marL="0" indent="0">
              <a:spcBef>
                <a:spcPts val="0"/>
              </a:spcBef>
              <a:buNone/>
              <a:defRPr/>
            </a:pPr>
            <a:r>
              <a:rPr lang="en-US" sz="2800" b="1" dirty="0">
                <a:solidFill>
                  <a:schemeClr val="tx1"/>
                </a:solidFill>
                <a:latin typeface="+mj-lt"/>
                <a:ea typeface="+mj-ea"/>
                <a:cs typeface="+mj-cs"/>
              </a:rPr>
              <a:t>Kim comes running. Nothing is working correctly.  Angry, Kim asks to speak with your manager. Becky calls you on your phone.  She tells you that you do not understand many of the principles and terms of networking and you will need to return to the office while she sends another networking technician to clean up your job.</a:t>
            </a:r>
          </a:p>
        </p:txBody>
      </p:sp>
      <p:sp>
        <p:nvSpPr>
          <p:cNvPr id="12" name="Text Placeholder 1"/>
          <p:cNvSpPr txBox="1">
            <a:spLocks/>
          </p:cNvSpPr>
          <p:nvPr/>
        </p:nvSpPr>
        <p:spPr>
          <a:xfrm>
            <a:off x="782561" y="5392196"/>
            <a:ext cx="3640943"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5" name="Text Placeholder 1">
            <a:extLst>
              <a:ext uri="{FF2B5EF4-FFF2-40B4-BE49-F238E27FC236}">
                <a16:creationId xmlns:a16="http://schemas.microsoft.com/office/drawing/2014/main" id="{88EDFC17-2112-41D8-8C2F-76D4FAA53C08}"/>
              </a:ext>
            </a:extLst>
          </p:cNvPr>
          <p:cNvSpPr txBox="1">
            <a:spLocks/>
          </p:cNvSpPr>
          <p:nvPr/>
        </p:nvSpPr>
        <p:spPr>
          <a:xfrm>
            <a:off x="795113" y="4606812"/>
            <a:ext cx="7256782"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2"/>
    </p:custDataLst>
    <p:extLst>
      <p:ext uri="{BB962C8B-B14F-4D97-AF65-F5344CB8AC3E}">
        <p14:creationId xmlns:p14="http://schemas.microsoft.com/office/powerpoint/2010/main" val="141551121"/>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1396887" cy="304916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3300" dirty="0">
                <a:solidFill>
                  <a:schemeClr val="tx1"/>
                </a:solidFill>
                <a:latin typeface="+mj-lt"/>
              </a:rPr>
              <a:t>Outcome 1</a:t>
            </a:r>
          </a:p>
          <a:p>
            <a:pPr marL="0" indent="0">
              <a:spcBef>
                <a:spcPts val="0"/>
              </a:spcBef>
              <a:buNone/>
              <a:defRPr/>
            </a:pPr>
            <a:endParaRPr lang="en-US" sz="3300" dirty="0">
              <a:solidFill>
                <a:schemeClr val="tx1"/>
              </a:solidFill>
              <a:latin typeface="+mj-lt"/>
            </a:endParaRPr>
          </a:p>
          <a:p>
            <a:pPr marL="0" indent="0">
              <a:spcBef>
                <a:spcPts val="0"/>
              </a:spcBef>
              <a:buNone/>
              <a:defRPr/>
            </a:pPr>
            <a:r>
              <a:rPr lang="en-US" sz="2800" b="1" dirty="0">
                <a:solidFill>
                  <a:schemeClr val="tx1"/>
                </a:solidFill>
                <a:latin typeface="+mj-lt"/>
                <a:ea typeface="+mj-ea"/>
                <a:cs typeface="+mj-cs"/>
              </a:rPr>
              <a:t>Kim and </a:t>
            </a:r>
            <a:r>
              <a:rPr lang="en-US" sz="2800" b="1" dirty="0" err="1">
                <a:solidFill>
                  <a:schemeClr val="tx1"/>
                </a:solidFill>
                <a:latin typeface="+mj-lt"/>
                <a:ea typeface="+mj-ea"/>
                <a:cs typeface="+mj-cs"/>
              </a:rPr>
              <a:t>Jaba's</a:t>
            </a:r>
            <a:r>
              <a:rPr lang="en-US" sz="2800" b="1" dirty="0">
                <a:solidFill>
                  <a:schemeClr val="tx1"/>
                </a:solidFill>
                <a:latin typeface="+mj-lt"/>
                <a:ea typeface="+mj-ea"/>
                <a:cs typeface="+mj-cs"/>
              </a:rPr>
              <a:t> Smoothie Hut are connected.  Kim thinks that you may have sold him things he doesn't need.</a:t>
            </a:r>
          </a:p>
          <a:p>
            <a:pPr marL="0" indent="0">
              <a:spcBef>
                <a:spcPts val="0"/>
              </a:spcBef>
              <a:buNone/>
              <a:defRPr/>
            </a:pPr>
            <a:endParaRPr lang="en-US" sz="2800" b="1" dirty="0">
              <a:solidFill>
                <a:schemeClr val="tx1"/>
              </a:solidFill>
              <a:latin typeface="+mj-lt"/>
              <a:ea typeface="+mj-ea"/>
              <a:cs typeface="+mj-cs"/>
            </a:endParaRPr>
          </a:p>
          <a:p>
            <a:pPr marL="0" indent="0">
              <a:spcBef>
                <a:spcPts val="0"/>
              </a:spcBef>
              <a:buNone/>
              <a:defRPr/>
            </a:pPr>
            <a:r>
              <a:rPr lang="en-US" sz="2800" b="1" dirty="0">
                <a:solidFill>
                  <a:schemeClr val="tx1"/>
                </a:solidFill>
                <a:latin typeface="+mj-lt"/>
                <a:ea typeface="+mj-ea"/>
                <a:cs typeface="+mj-cs"/>
              </a:rPr>
              <a:t>When your supervisor sees the final report, Becky asks you to explain why you oversold Kim.  By overselling Kim, Becky thinks that you need extra training to better understand networking concepts.</a:t>
            </a:r>
          </a:p>
        </p:txBody>
      </p:sp>
      <p:sp>
        <p:nvSpPr>
          <p:cNvPr id="12" name="Text Placeholder 1"/>
          <p:cNvSpPr txBox="1">
            <a:spLocks/>
          </p:cNvSpPr>
          <p:nvPr/>
        </p:nvSpPr>
        <p:spPr>
          <a:xfrm>
            <a:off x="795113" y="5654655"/>
            <a:ext cx="2577253"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5" name="Text Placeholder 1">
            <a:extLst>
              <a:ext uri="{FF2B5EF4-FFF2-40B4-BE49-F238E27FC236}">
                <a16:creationId xmlns:a16="http://schemas.microsoft.com/office/drawing/2014/main" id="{F2DC8C47-4C27-4B4B-9E14-6481B58DEAC0}"/>
              </a:ext>
            </a:extLst>
          </p:cNvPr>
          <p:cNvSpPr txBox="1">
            <a:spLocks/>
          </p:cNvSpPr>
          <p:nvPr/>
        </p:nvSpPr>
        <p:spPr>
          <a:xfrm>
            <a:off x="795113" y="4948107"/>
            <a:ext cx="7256782"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2"/>
    </p:custDataLst>
    <p:extLst>
      <p:ext uri="{BB962C8B-B14F-4D97-AF65-F5344CB8AC3E}">
        <p14:creationId xmlns:p14="http://schemas.microsoft.com/office/powerpoint/2010/main" val="381698810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0625555"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3300" dirty="0">
                <a:solidFill>
                  <a:schemeClr val="tx1"/>
                </a:solidFill>
                <a:latin typeface="+mj-lt"/>
              </a:rPr>
              <a:t>Outcome 2</a:t>
            </a:r>
          </a:p>
          <a:p>
            <a:pPr marL="0" indent="0">
              <a:spcBef>
                <a:spcPts val="0"/>
              </a:spcBef>
              <a:buNone/>
              <a:defRPr/>
            </a:pPr>
            <a:endParaRPr lang="en-US" sz="3300" dirty="0">
              <a:solidFill>
                <a:schemeClr val="tx1"/>
              </a:solidFill>
              <a:latin typeface="+mj-lt"/>
            </a:endParaRPr>
          </a:p>
          <a:p>
            <a:pPr marL="0" indent="0">
              <a:spcBef>
                <a:spcPts val="0"/>
              </a:spcBef>
              <a:buNone/>
              <a:defRPr/>
            </a:pPr>
            <a:r>
              <a:rPr lang="en-US" sz="2800" b="1" dirty="0">
                <a:solidFill>
                  <a:schemeClr val="tx1"/>
                </a:solidFill>
                <a:latin typeface="+mj-lt"/>
                <a:ea typeface="+mj-ea"/>
                <a:cs typeface="+mj-cs"/>
              </a:rPr>
              <a:t>Kim and </a:t>
            </a:r>
            <a:r>
              <a:rPr lang="en-US" sz="2800" b="1" dirty="0" err="1">
                <a:solidFill>
                  <a:schemeClr val="tx1"/>
                </a:solidFill>
                <a:latin typeface="+mj-lt"/>
                <a:ea typeface="+mj-ea"/>
                <a:cs typeface="+mj-cs"/>
              </a:rPr>
              <a:t>Jaba’s</a:t>
            </a:r>
            <a:r>
              <a:rPr lang="en-US" sz="2800" b="1" dirty="0">
                <a:solidFill>
                  <a:schemeClr val="tx1"/>
                </a:solidFill>
                <a:latin typeface="+mj-lt"/>
                <a:ea typeface="+mj-ea"/>
                <a:cs typeface="+mj-cs"/>
              </a:rPr>
              <a:t> Smoothie Hut are happy.  Customers are secure and Kim can work without putting information at risk.</a:t>
            </a:r>
          </a:p>
          <a:p>
            <a:pPr marL="0" indent="0">
              <a:spcBef>
                <a:spcPts val="0"/>
              </a:spcBef>
              <a:buNone/>
              <a:defRPr/>
            </a:pPr>
            <a:endParaRPr lang="en-US" sz="2800" b="1" dirty="0">
              <a:solidFill>
                <a:schemeClr val="tx1"/>
              </a:solidFill>
              <a:latin typeface="+mj-lt"/>
              <a:ea typeface="+mj-ea"/>
              <a:cs typeface="+mj-cs"/>
            </a:endParaRPr>
          </a:p>
          <a:p>
            <a:pPr marL="0" indent="0">
              <a:spcBef>
                <a:spcPts val="0"/>
              </a:spcBef>
              <a:buNone/>
              <a:defRPr/>
            </a:pPr>
            <a:r>
              <a:rPr lang="en-US" sz="2800" b="1" dirty="0">
                <a:solidFill>
                  <a:schemeClr val="tx1"/>
                </a:solidFill>
                <a:latin typeface="+mj-lt"/>
                <a:ea typeface="+mj-ea"/>
                <a:cs typeface="+mj-cs"/>
              </a:rPr>
              <a:t>Becky tells you that you did a great job and are now ready to work on more complicated issues.</a:t>
            </a:r>
          </a:p>
        </p:txBody>
      </p:sp>
      <p:sp>
        <p:nvSpPr>
          <p:cNvPr id="4" name="Text Placeholder 1">
            <a:extLst>
              <a:ext uri="{FF2B5EF4-FFF2-40B4-BE49-F238E27FC236}">
                <a16:creationId xmlns:a16="http://schemas.microsoft.com/office/drawing/2014/main" id="{B7FC0C54-7FE1-4ACD-914A-131325A50053}"/>
              </a:ext>
            </a:extLst>
          </p:cNvPr>
          <p:cNvSpPr txBox="1">
            <a:spLocks/>
          </p:cNvSpPr>
          <p:nvPr/>
        </p:nvSpPr>
        <p:spPr>
          <a:xfrm>
            <a:off x="795113" y="5654655"/>
            <a:ext cx="2577253"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5" name="Text Placeholder 1">
            <a:extLst>
              <a:ext uri="{FF2B5EF4-FFF2-40B4-BE49-F238E27FC236}">
                <a16:creationId xmlns:a16="http://schemas.microsoft.com/office/drawing/2014/main" id="{37BAB2B8-4CDF-419D-9CE2-A05E33C53DDB}"/>
              </a:ext>
            </a:extLst>
          </p:cNvPr>
          <p:cNvSpPr txBox="1">
            <a:spLocks/>
          </p:cNvSpPr>
          <p:nvPr/>
        </p:nvSpPr>
        <p:spPr>
          <a:xfrm>
            <a:off x="795113" y="4948107"/>
            <a:ext cx="7256782"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2"/>
    </p:custDataLst>
    <p:extLst>
      <p:ext uri="{BB962C8B-B14F-4D97-AF65-F5344CB8AC3E}">
        <p14:creationId xmlns:p14="http://schemas.microsoft.com/office/powerpoint/2010/main" val="2793273946"/>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60"/>
  <p:tag name="ARTICULATE_USED_LAYOUT"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ontrol xmlns="http://schemas.microsoft.com/VisualStudio/2011/storyboarding/control">
  <Id Name="1fd42469-89aa-4a08-b532-3332bc5f5ec1" Revision="1" Stencil="System.MyShapes" StencilVersion="1.0"/>
</Control>
</file>

<file path=customXml/item2.xml><?xml version="1.0" encoding="utf-8"?>
<Control xmlns="http://schemas.microsoft.com/VisualStudio/2011/storyboarding/control">
  <Id Name="1fd42469-89aa-4a08-b532-3332bc5f5ec1" Revision="1" Stencil="System.MyShapes" StencilVersion="1.0"/>
</Control>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Props1.xml><?xml version="1.0" encoding="utf-8"?>
<ds:datastoreItem xmlns:ds="http://schemas.openxmlformats.org/officeDocument/2006/customXml" ds:itemID="{3C5AA1C0-2736-4C35-9D36-1790D98FE524}">
  <ds:schemaRefs>
    <ds:schemaRef ds:uri="http://schemas.microsoft.com/VisualStudio/2011/storyboarding/control"/>
  </ds:schemaRefs>
</ds:datastoreItem>
</file>

<file path=customXml/itemProps2.xml><?xml version="1.0" encoding="utf-8"?>
<ds:datastoreItem xmlns:ds="http://schemas.openxmlformats.org/officeDocument/2006/customXml" ds:itemID="{7F546FF6-DD59-47E7-8627-1821B46FD2F1}">
  <ds:schemaRefs>
    <ds:schemaRef ds:uri="http://schemas.microsoft.com/VisualStudio/2011/storyboarding/control"/>
  </ds:schemaRefs>
</ds:datastoreItem>
</file>

<file path=customXml/itemProps3.xml><?xml version="1.0" encoding="utf-8"?>
<ds:datastoreItem xmlns:ds="http://schemas.openxmlformats.org/officeDocument/2006/customXml" ds:itemID="{AD92EAD0-DA55-4F7D-BD93-5513A29DFF63}">
  <ds:schemaRefs>
    <ds:schemaRef ds:uri="http://schemas.microsoft.com/sharepoint/v3/contenttype/forms"/>
  </ds:schemaRefs>
</ds:datastoreItem>
</file>

<file path=customXml/itemProps4.xml><?xml version="1.0" encoding="utf-8"?>
<ds:datastoreItem xmlns:ds="http://schemas.openxmlformats.org/officeDocument/2006/customXml" ds:itemID="{1BA6A7EB-78B1-4A0A-93D4-872EEB7DB983}"/>
</file>

<file path=customXml/itemProps5.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 ds:uri="eeab3f26-09e2-49ed-a80d-9bb89f29cea5"/>
  </ds:schemaRefs>
</ds:datastoreItem>
</file>

<file path=docProps/app.xml><?xml version="1.0" encoding="utf-8"?>
<Properties xmlns="http://schemas.openxmlformats.org/officeDocument/2006/extended-properties" xmlns:vt="http://schemas.openxmlformats.org/officeDocument/2006/docPropsVTypes">
  <Template>Office Theme</Template>
  <TotalTime>5397</TotalTime>
  <Words>2559</Words>
  <Application>Microsoft Office PowerPoint</Application>
  <PresentationFormat>Widescreen</PresentationFormat>
  <Paragraphs>268</Paragraphs>
  <Slides>21</Slides>
  <Notes>21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Calibri Light</vt:lpstr>
      <vt:lpstr>Titillium Web</vt:lpstr>
      <vt:lpstr>Wingdings</vt:lpstr>
      <vt:lpstr>Office Theme</vt:lpstr>
      <vt:lpstr>1_Office Theme</vt:lpstr>
      <vt:lpstr>Determining Network Requirements</vt:lpstr>
      <vt:lpstr>Determining Network Requirements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Hoisington, Corinne</dc:creator>
  <cp:lastModifiedBy>Molnar, Zenya</cp:lastModifiedBy>
  <cp:revision>1861</cp:revision>
  <dcterms:created xsi:type="dcterms:W3CDTF">2018-06-14T17:50:20Z</dcterms:created>
  <dcterms:modified xsi:type="dcterms:W3CDTF">2020-03-05T19:32:19Z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ContentTypeId">
    <vt:lpwstr>0x010100CC237A0CA6CD2A4D8CE02E9AA9870115</vt:lpwstr>
  </property>
</Properties>
</file>