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Lst>
  <p:notesMasterIdLst>
    <p:notesMasterId r:id="rId32"/>
  </p:notesMasterIdLst>
  <p:sldIdLst>
    <p:sldId id="258" r:id="rId6"/>
    <p:sldId id="412" r:id="rId7"/>
    <p:sldId id="295" r:id="rId8"/>
    <p:sldId id="407" r:id="rId9"/>
    <p:sldId id="411" r:id="rId10"/>
    <p:sldId id="413" r:id="rId11"/>
    <p:sldId id="415" r:id="rId12"/>
    <p:sldId id="417" r:id="rId13"/>
    <p:sldId id="416" r:id="rId14"/>
    <p:sldId id="414" r:id="rId15"/>
    <p:sldId id="418" r:id="rId16"/>
    <p:sldId id="419" r:id="rId17"/>
    <p:sldId id="424" r:id="rId18"/>
    <p:sldId id="426" r:id="rId19"/>
    <p:sldId id="420" r:id="rId20"/>
    <p:sldId id="421" r:id="rId21"/>
    <p:sldId id="425" r:id="rId22"/>
    <p:sldId id="422" r:id="rId23"/>
    <p:sldId id="423" r:id="rId24"/>
    <p:sldId id="428" r:id="rId25"/>
    <p:sldId id="427" r:id="rId26"/>
    <p:sldId id="430" r:id="rId27"/>
    <p:sldId id="429" r:id="rId28"/>
    <p:sldId id="408" r:id="rId29"/>
    <p:sldId id="410" r:id="rId30"/>
    <p:sldId id="4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ll West" initials="JW" lastIdx="3" clrIdx="0">
    <p:extLst>
      <p:ext uri="{19B8F6BF-5375-455C-9EA6-DF929625EA0E}">
        <p15:presenceInfo xmlns:p15="http://schemas.microsoft.com/office/powerpoint/2012/main" userId="Jill West" providerId="None"/>
      </p:ext>
    </p:extLst>
  </p:cmAuthor>
  <p:cmAuthor id="2" name="Jennifer Campbell" initials="JC" lastIdx="7" clrIdx="1">
    <p:extLst>
      <p:ext uri="{19B8F6BF-5375-455C-9EA6-DF929625EA0E}">
        <p15:presenceInfo xmlns:p15="http://schemas.microsoft.com/office/powerpoint/2012/main" userId="9252b8fd17e1143e" providerId="Windows Live"/>
      </p:ext>
    </p:extLst>
  </p:cmAuthor>
  <p:cmAuthor id="3" name="Molnar, Zenya" initials="MZ" lastIdx="6" clrIdx="2">
    <p:extLst>
      <p:ext uri="{19B8F6BF-5375-455C-9EA6-DF929625EA0E}">
        <p15:presenceInfo xmlns:p15="http://schemas.microsoft.com/office/powerpoint/2012/main" userId="S::zenya.molnar@cengage.com::d17daa46-33bc-45d8-ab7d-8dd45e08dac2" providerId="AD"/>
      </p:ext>
    </p:extLst>
  </p:cmAuthor>
  <p:cmAuthor id="4" name="Staci Eckenroth" initials="SE" lastIdx="1" clrIdx="3">
    <p:extLst>
      <p:ext uri="{19B8F6BF-5375-455C-9EA6-DF929625EA0E}">
        <p15:presenceInfo xmlns:p15="http://schemas.microsoft.com/office/powerpoint/2012/main" userId="Staci Eckenro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AA8D1F-8CE2-4081-A0B6-AB7E30C7617B}" v="1" dt="2020-04-07T17:17:36.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15" autoAdjust="0"/>
    <p:restoredTop sz="93593" autoAdjust="0"/>
  </p:normalViewPr>
  <p:slideViewPr>
    <p:cSldViewPr snapToGrid="0">
      <p:cViewPr varScale="1">
        <p:scale>
          <a:sx n="67" d="100"/>
          <a:sy n="67" d="100"/>
        </p:scale>
        <p:origin x="464" y="5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lnar, Zenya" userId="d17daa46-33bc-45d8-ab7d-8dd45e08dac2" providerId="ADAL" clId="{43AA8D1F-8CE2-4081-A0B6-AB7E30C7617B}"/>
    <pc:docChg chg="modSld">
      <pc:chgData name="Molnar, Zenya" userId="d17daa46-33bc-45d8-ab7d-8dd45e08dac2" providerId="ADAL" clId="{43AA8D1F-8CE2-4081-A0B6-AB7E30C7617B}" dt="2020-04-07T17:17:42.537" v="18" actId="1076"/>
      <pc:docMkLst>
        <pc:docMk/>
      </pc:docMkLst>
      <pc:sldChg chg="modSp mod">
        <pc:chgData name="Molnar, Zenya" userId="d17daa46-33bc-45d8-ab7d-8dd45e08dac2" providerId="ADAL" clId="{43AA8D1F-8CE2-4081-A0B6-AB7E30C7617B}" dt="2020-04-07T17:17:42.537" v="18" actId="1076"/>
        <pc:sldMkLst>
          <pc:docMk/>
          <pc:sldMk cId="4136002634" sldId="295"/>
        </pc:sldMkLst>
        <pc:spChg chg="mod">
          <ac:chgData name="Molnar, Zenya" userId="d17daa46-33bc-45d8-ab7d-8dd45e08dac2" providerId="ADAL" clId="{43AA8D1F-8CE2-4081-A0B6-AB7E30C7617B}" dt="2020-04-07T17:17:42.537" v="18" actId="1076"/>
          <ac:spMkLst>
            <pc:docMk/>
            <pc:sldMk cId="4136002634" sldId="295"/>
            <ac:spMk id="11" creationId="{00000000-0000-0000-0000-000000000000}"/>
          </ac:spMkLst>
        </pc:spChg>
      </pc:sldChg>
      <pc:sldChg chg="modSp mod">
        <pc:chgData name="Molnar, Zenya" userId="d17daa46-33bc-45d8-ab7d-8dd45e08dac2" providerId="ADAL" clId="{43AA8D1F-8CE2-4081-A0B6-AB7E30C7617B}" dt="2020-04-03T19:47:24.668" v="16" actId="20577"/>
        <pc:sldMkLst>
          <pc:docMk/>
          <pc:sldMk cId="3267038171" sldId="414"/>
        </pc:sldMkLst>
        <pc:spChg chg="mod">
          <ac:chgData name="Molnar, Zenya" userId="d17daa46-33bc-45d8-ab7d-8dd45e08dac2" providerId="ADAL" clId="{43AA8D1F-8CE2-4081-A0B6-AB7E30C7617B}" dt="2020-04-03T19:47:24.668" v="16" actId="20577"/>
          <ac:spMkLst>
            <pc:docMk/>
            <pc:sldMk cId="3267038171" sldId="414"/>
            <ac:spMk id="12" creationId="{ADCF7F82-FF62-45DE-9FC8-B4B316E099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0D4A7-5E7A-4EF8-8C3E-D1B8787C7FFB}" type="datetimeFigureOut">
              <a:rPr lang="en-US" smtClean="0"/>
              <a:t>4/7/2020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CE3938-DD3A-4863-81AB-A7C0309FA74D}" type="slidenum">
              <a:rPr lang="en-US" smtClean="0"/>
              <a:t>‹#›</a:t>
            </a:fld>
            <a:endParaRPr lang="en-US" dirty="0"/>
          </a:p>
        </p:txBody>
      </p:sp>
    </p:spTree>
    <p:extLst>
      <p:ext uri="{BB962C8B-B14F-4D97-AF65-F5344CB8AC3E}">
        <p14:creationId xmlns:p14="http://schemas.microsoft.com/office/powerpoint/2010/main" val="219935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2</a:t>
            </a:fld>
            <a:endParaRPr lang="en-US" dirty="0"/>
          </a:p>
        </p:txBody>
      </p:sp>
    </p:spTree>
    <p:extLst>
      <p:ext uri="{BB962C8B-B14F-4D97-AF65-F5344CB8AC3E}">
        <p14:creationId xmlns:p14="http://schemas.microsoft.com/office/powerpoint/2010/main" val="3147456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AA3592-D5F1-C049-A75C-8C2FAAE2A5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452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4</a:t>
            </a:fld>
            <a:endParaRPr lang="en-US" dirty="0"/>
          </a:p>
        </p:txBody>
      </p:sp>
    </p:spTree>
    <p:extLst>
      <p:ext uri="{BB962C8B-B14F-4D97-AF65-F5344CB8AC3E}">
        <p14:creationId xmlns:p14="http://schemas.microsoft.com/office/powerpoint/2010/main" val="3764319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5</a:t>
            </a:fld>
            <a:endParaRPr lang="en-US" dirty="0"/>
          </a:p>
        </p:txBody>
      </p:sp>
    </p:spTree>
    <p:extLst>
      <p:ext uri="{BB962C8B-B14F-4D97-AF65-F5344CB8AC3E}">
        <p14:creationId xmlns:p14="http://schemas.microsoft.com/office/powerpoint/2010/main" val="3013528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6</a:t>
            </a:fld>
            <a:endParaRPr lang="en-US" dirty="0"/>
          </a:p>
        </p:txBody>
      </p:sp>
    </p:spTree>
    <p:extLst>
      <p:ext uri="{BB962C8B-B14F-4D97-AF65-F5344CB8AC3E}">
        <p14:creationId xmlns:p14="http://schemas.microsoft.com/office/powerpoint/2010/main" val="514396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7</a:t>
            </a:fld>
            <a:endParaRPr lang="en-US" dirty="0"/>
          </a:p>
        </p:txBody>
      </p:sp>
    </p:spTree>
    <p:extLst>
      <p:ext uri="{BB962C8B-B14F-4D97-AF65-F5344CB8AC3E}">
        <p14:creationId xmlns:p14="http://schemas.microsoft.com/office/powerpoint/2010/main" val="3468340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8</a:t>
            </a:fld>
            <a:endParaRPr lang="en-US" dirty="0"/>
          </a:p>
        </p:txBody>
      </p:sp>
    </p:spTree>
    <p:extLst>
      <p:ext uri="{BB962C8B-B14F-4D97-AF65-F5344CB8AC3E}">
        <p14:creationId xmlns:p14="http://schemas.microsoft.com/office/powerpoint/2010/main" val="1111344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9</a:t>
            </a:fld>
            <a:endParaRPr lang="en-US" dirty="0"/>
          </a:p>
        </p:txBody>
      </p:sp>
    </p:spTree>
    <p:extLst>
      <p:ext uri="{BB962C8B-B14F-4D97-AF65-F5344CB8AC3E}">
        <p14:creationId xmlns:p14="http://schemas.microsoft.com/office/powerpoint/2010/main" val="239392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10</a:t>
            </a:fld>
            <a:endParaRPr lang="en-US" dirty="0"/>
          </a:p>
        </p:txBody>
      </p:sp>
    </p:spTree>
    <p:extLst>
      <p:ext uri="{BB962C8B-B14F-4D97-AF65-F5344CB8AC3E}">
        <p14:creationId xmlns:p14="http://schemas.microsoft.com/office/powerpoint/2010/main" val="804038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11</a:t>
            </a:fld>
            <a:endParaRPr lang="en-US" dirty="0"/>
          </a:p>
        </p:txBody>
      </p:sp>
    </p:spTree>
    <p:extLst>
      <p:ext uri="{BB962C8B-B14F-4D97-AF65-F5344CB8AC3E}">
        <p14:creationId xmlns:p14="http://schemas.microsoft.com/office/powerpoint/2010/main" val="1703021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12</a:t>
            </a:fld>
            <a:endParaRPr lang="en-US" dirty="0"/>
          </a:p>
        </p:txBody>
      </p:sp>
    </p:spTree>
    <p:extLst>
      <p:ext uri="{BB962C8B-B14F-4D97-AF65-F5344CB8AC3E}">
        <p14:creationId xmlns:p14="http://schemas.microsoft.com/office/powerpoint/2010/main" val="3698932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13</a:t>
            </a:fld>
            <a:endParaRPr lang="en-US" dirty="0"/>
          </a:p>
        </p:txBody>
      </p:sp>
    </p:spTree>
    <p:extLst>
      <p:ext uri="{BB962C8B-B14F-4D97-AF65-F5344CB8AC3E}">
        <p14:creationId xmlns:p14="http://schemas.microsoft.com/office/powerpoint/2010/main" val="2574917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14</a:t>
            </a:fld>
            <a:endParaRPr lang="en-US" dirty="0"/>
          </a:p>
        </p:txBody>
      </p:sp>
    </p:spTree>
    <p:extLst>
      <p:ext uri="{BB962C8B-B14F-4D97-AF65-F5344CB8AC3E}">
        <p14:creationId xmlns:p14="http://schemas.microsoft.com/office/powerpoint/2010/main" val="2358468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15</a:t>
            </a:fld>
            <a:endParaRPr lang="en-US" dirty="0"/>
          </a:p>
        </p:txBody>
      </p:sp>
    </p:spTree>
    <p:extLst>
      <p:ext uri="{BB962C8B-B14F-4D97-AF65-F5344CB8AC3E}">
        <p14:creationId xmlns:p14="http://schemas.microsoft.com/office/powerpoint/2010/main" val="2453553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16</a:t>
            </a:fld>
            <a:endParaRPr lang="en-US" dirty="0"/>
          </a:p>
        </p:txBody>
      </p:sp>
    </p:spTree>
    <p:extLst>
      <p:ext uri="{BB962C8B-B14F-4D97-AF65-F5344CB8AC3E}">
        <p14:creationId xmlns:p14="http://schemas.microsoft.com/office/powerpoint/2010/main" val="2419270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17</a:t>
            </a:fld>
            <a:endParaRPr lang="en-US" dirty="0"/>
          </a:p>
        </p:txBody>
      </p:sp>
    </p:spTree>
    <p:extLst>
      <p:ext uri="{BB962C8B-B14F-4D97-AF65-F5344CB8AC3E}">
        <p14:creationId xmlns:p14="http://schemas.microsoft.com/office/powerpoint/2010/main" val="1515300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18</a:t>
            </a:fld>
            <a:endParaRPr lang="en-US" dirty="0"/>
          </a:p>
        </p:txBody>
      </p:sp>
    </p:spTree>
    <p:extLst>
      <p:ext uri="{BB962C8B-B14F-4D97-AF65-F5344CB8AC3E}">
        <p14:creationId xmlns:p14="http://schemas.microsoft.com/office/powerpoint/2010/main" val="3850334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19</a:t>
            </a:fld>
            <a:endParaRPr lang="en-US" dirty="0"/>
          </a:p>
        </p:txBody>
      </p:sp>
    </p:spTree>
    <p:extLst>
      <p:ext uri="{BB962C8B-B14F-4D97-AF65-F5344CB8AC3E}">
        <p14:creationId xmlns:p14="http://schemas.microsoft.com/office/powerpoint/2010/main" val="2811131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20</a:t>
            </a:fld>
            <a:endParaRPr lang="en-US" dirty="0"/>
          </a:p>
        </p:txBody>
      </p:sp>
    </p:spTree>
    <p:extLst>
      <p:ext uri="{BB962C8B-B14F-4D97-AF65-F5344CB8AC3E}">
        <p14:creationId xmlns:p14="http://schemas.microsoft.com/office/powerpoint/2010/main" val="2833028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21</a:t>
            </a:fld>
            <a:endParaRPr lang="en-US" dirty="0"/>
          </a:p>
        </p:txBody>
      </p:sp>
    </p:spTree>
    <p:extLst>
      <p:ext uri="{BB962C8B-B14F-4D97-AF65-F5344CB8AC3E}">
        <p14:creationId xmlns:p14="http://schemas.microsoft.com/office/powerpoint/2010/main" val="1549779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22</a:t>
            </a:fld>
            <a:endParaRPr lang="en-US" dirty="0"/>
          </a:p>
        </p:txBody>
      </p:sp>
    </p:spTree>
    <p:extLst>
      <p:ext uri="{BB962C8B-B14F-4D97-AF65-F5344CB8AC3E}">
        <p14:creationId xmlns:p14="http://schemas.microsoft.com/office/powerpoint/2010/main" val="33378321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23</a:t>
            </a:fld>
            <a:endParaRPr lang="en-US" dirty="0"/>
          </a:p>
        </p:txBody>
      </p:sp>
    </p:spTree>
    <p:extLst>
      <p:ext uri="{BB962C8B-B14F-4D97-AF65-F5344CB8AC3E}">
        <p14:creationId xmlns:p14="http://schemas.microsoft.com/office/powerpoint/2010/main" val="2066511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24</a:t>
            </a:fld>
            <a:endParaRPr lang="en-US" dirty="0"/>
          </a:p>
        </p:txBody>
      </p:sp>
    </p:spTree>
    <p:extLst>
      <p:ext uri="{BB962C8B-B14F-4D97-AF65-F5344CB8AC3E}">
        <p14:creationId xmlns:p14="http://schemas.microsoft.com/office/powerpoint/2010/main" val="4065164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25</a:t>
            </a:fld>
            <a:endParaRPr lang="en-US" dirty="0"/>
          </a:p>
        </p:txBody>
      </p:sp>
    </p:spTree>
    <p:extLst>
      <p:ext uri="{BB962C8B-B14F-4D97-AF65-F5344CB8AC3E}">
        <p14:creationId xmlns:p14="http://schemas.microsoft.com/office/powerpoint/2010/main" val="1129550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26</a:t>
            </a:fld>
            <a:endParaRPr lang="en-US" dirty="0"/>
          </a:p>
        </p:txBody>
      </p:sp>
    </p:spTree>
    <p:extLst>
      <p:ext uri="{BB962C8B-B14F-4D97-AF65-F5344CB8AC3E}">
        <p14:creationId xmlns:p14="http://schemas.microsoft.com/office/powerpoint/2010/main" val="4112640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B8DA-0067-4214-8A76-C8E85458A7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C85892-68C3-4CBB-ACE7-69D270906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BA571E-CF7C-4B8F-9787-7AFD5574B22A}"/>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5" name="Footer Placeholder 4">
            <a:extLst>
              <a:ext uri="{FF2B5EF4-FFF2-40B4-BE49-F238E27FC236}">
                <a16:creationId xmlns:a16="http://schemas.microsoft.com/office/drawing/2014/main" id="{67DDA9B6-D43C-438E-BAAF-C83DD83A57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B6BE8D-A929-44D4-875E-CA462CD56BF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444395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7762-6575-4E6F-94EB-5877C04A9D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F5704-3C06-4A5C-B16E-AA7332BC57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D194A3-9815-4F78-BFC5-C083B9F8E590}"/>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5" name="Footer Placeholder 4">
            <a:extLst>
              <a:ext uri="{FF2B5EF4-FFF2-40B4-BE49-F238E27FC236}">
                <a16:creationId xmlns:a16="http://schemas.microsoft.com/office/drawing/2014/main" id="{000D5DDF-4AB3-46C7-A537-1E22C22BCD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D086FB-9CED-4484-A751-A4DF609790C6}"/>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82135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7DEC-2DE4-4675-8617-650B031EA7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3E3DCD-E993-46D4-9CAE-E8B6162252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7E64943-F8C9-4A59-891D-B045C08BB0B0}"/>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5" name="Footer Placeholder 4">
            <a:extLst>
              <a:ext uri="{FF2B5EF4-FFF2-40B4-BE49-F238E27FC236}">
                <a16:creationId xmlns:a16="http://schemas.microsoft.com/office/drawing/2014/main" id="{CED39CEA-6078-4613-A599-75816B0BD6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C3FE69F-B267-46DD-8DC9-ED9311B203D1}"/>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96314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C3C1-E78A-4501-A725-5C6B038D0F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D8749-1933-4561-B696-D8971677274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F61EB1-EACA-4AE3-902B-87B3F8F04E0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3A58CC-0024-49C4-AEA7-44924DFA4B15}"/>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6" name="Footer Placeholder 5">
            <a:extLst>
              <a:ext uri="{FF2B5EF4-FFF2-40B4-BE49-F238E27FC236}">
                <a16:creationId xmlns:a16="http://schemas.microsoft.com/office/drawing/2014/main" id="{7D8A98F4-3A65-4E61-81BD-7750345EAF4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5413B7B-F059-4E7F-9B0C-2BDC0B024128}"/>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418846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ADD9C-E0CE-40D4-88D2-F451A6CA2D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B8A3BD-8898-44CE-8F6C-B7314C6D1D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94D919-6B6B-47E5-B36A-873F6865D4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6A7586-F4B7-450C-81E1-FAA3E46B26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3EC58CE-BC7D-4C20-A075-0728E81A264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05AADA-15CE-4C70-A1A9-CBB18307E8E8}"/>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8" name="Footer Placeholder 7">
            <a:extLst>
              <a:ext uri="{FF2B5EF4-FFF2-40B4-BE49-F238E27FC236}">
                <a16:creationId xmlns:a16="http://schemas.microsoft.com/office/drawing/2014/main" id="{E6AEFFC6-47B9-4F2D-A8B6-DBE9C7E592C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866B6B4-1CF3-4A98-95F2-D1C72A1D435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724565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9DD9-3A0B-4E8D-A1A1-4CEEADEC12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55650D-1492-4E38-9BD8-F54D598A021C}"/>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4" name="Footer Placeholder 3">
            <a:extLst>
              <a:ext uri="{FF2B5EF4-FFF2-40B4-BE49-F238E27FC236}">
                <a16:creationId xmlns:a16="http://schemas.microsoft.com/office/drawing/2014/main" id="{DC4216C7-35AF-4547-A128-33548351B1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8910308-078F-4EC2-B0E4-08034D12FDCA}"/>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99582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FF7612-B810-40A0-B69C-BB9478BA3EFF}"/>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3" name="Footer Placeholder 2">
            <a:extLst>
              <a:ext uri="{FF2B5EF4-FFF2-40B4-BE49-F238E27FC236}">
                <a16:creationId xmlns:a16="http://schemas.microsoft.com/office/drawing/2014/main" id="{0C19D18E-B9A4-4484-B444-F49F2B07EE1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4DD3A5D-A55E-4DB2-BBB8-4997700A65FB}"/>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179495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9400-6E6D-4710-A674-1A26054B1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F013B8-8995-41F1-8CA0-7CBD6776C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9E9D55-3CBD-41F6-B4AF-ADE9A66DA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B43C7E3-4C12-4668-B214-AA95BF8EED5E}"/>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6" name="Footer Placeholder 5">
            <a:extLst>
              <a:ext uri="{FF2B5EF4-FFF2-40B4-BE49-F238E27FC236}">
                <a16:creationId xmlns:a16="http://schemas.microsoft.com/office/drawing/2014/main" id="{372DC0BF-084D-438A-A6BF-2D87C2E07C1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3B04C70-C4A3-4A6E-BA7D-9A24B573BFF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85886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829F-BC17-4462-8FEB-C026A4486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628BBC-129A-4A64-B808-748780B79D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330E7A6-0BC0-419D-83C4-8E736B60A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DA9284-23CF-45C8-AAC8-81F3927A220D}"/>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6" name="Footer Placeholder 5">
            <a:extLst>
              <a:ext uri="{FF2B5EF4-FFF2-40B4-BE49-F238E27FC236}">
                <a16:creationId xmlns:a16="http://schemas.microsoft.com/office/drawing/2014/main" id="{EC251A9B-48D3-4D0E-9A3B-41A27C99A30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C20A9A-35BF-45E3-BAF4-BDD0AD3959AE}"/>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608327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F2D4-C767-4BCC-8274-5DF97AFC67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692D6-3175-473F-BF97-FC43859AC0E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CA825-EDF4-46D6-B982-B44C0FDBD36C}"/>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5" name="Footer Placeholder 4">
            <a:extLst>
              <a:ext uri="{FF2B5EF4-FFF2-40B4-BE49-F238E27FC236}">
                <a16:creationId xmlns:a16="http://schemas.microsoft.com/office/drawing/2014/main" id="{462C027B-0833-4741-8E25-8C12DC454A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310D7A-6D20-444F-8634-78808129DCF3}"/>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17159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1763D5-4921-4BE9-923B-C4FC18356E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4FAB31-265A-4C74-912E-6D31BC85EE4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0E0C6-D65C-4FF7-8A1B-41A66A0606C6}"/>
              </a:ext>
            </a:extLst>
          </p:cNvPr>
          <p:cNvSpPr>
            <a:spLocks noGrp="1"/>
          </p:cNvSpPr>
          <p:nvPr>
            <p:ph type="dt" sz="half" idx="10"/>
          </p:nvPr>
        </p:nvSpPr>
        <p:spPr/>
        <p:txBody>
          <a:bodyPr/>
          <a:lstStyle/>
          <a:p>
            <a:fld id="{5AC2980B-8F39-4A20-804C-37BF331A0958}" type="datetimeFigureOut">
              <a:rPr lang="en-US" smtClean="0"/>
              <a:t>4/7/2020</a:t>
            </a:fld>
            <a:endParaRPr lang="en-US" dirty="0"/>
          </a:p>
        </p:txBody>
      </p:sp>
      <p:sp>
        <p:nvSpPr>
          <p:cNvPr id="5" name="Footer Placeholder 4">
            <a:extLst>
              <a:ext uri="{FF2B5EF4-FFF2-40B4-BE49-F238E27FC236}">
                <a16:creationId xmlns:a16="http://schemas.microsoft.com/office/drawing/2014/main" id="{AC5F3AF1-7DFB-41FD-8877-5A8B60E87CF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0435E4A-1829-4C94-B818-136FE3E96059}"/>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514082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3936646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865675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959471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797961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235958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507384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338844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57786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134461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2675175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106441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0601224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352518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30369629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2701631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41713496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Top">
    <p:spTree>
      <p:nvGrpSpPr>
        <p:cNvPr id="1" name=""/>
        <p:cNvGrpSpPr/>
        <p:nvPr/>
      </p:nvGrpSpPr>
      <p:grpSpPr>
        <a:xfrm>
          <a:off x="0" y="0"/>
          <a:ext cx="0" cy="0"/>
          <a:chOff x="0" y="0"/>
          <a:chExt cx="0" cy="0"/>
        </a:xfrm>
      </p:grpSpPr>
      <p:sp>
        <p:nvSpPr>
          <p:cNvPr id="5"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6" name="Text Placeholder 4"/>
          <p:cNvSpPr>
            <a:spLocks noGrp="1"/>
          </p:cNvSpPr>
          <p:nvPr>
            <p:ph type="body" sz="quarter" idx="10" hasCustomPrompt="1"/>
          </p:nvPr>
        </p:nvSpPr>
        <p:spPr>
          <a:xfrm>
            <a:off x="792483" y="447919"/>
            <a:ext cx="10411884" cy="349251"/>
          </a:xfrm>
        </p:spPr>
        <p:txBody>
          <a:bodyPr lIns="134149" anchor="ctr">
            <a:noAutofit/>
          </a:bodyPr>
          <a:lstStyle>
            <a:lvl1pPr marL="0" indent="0">
              <a:buFontTx/>
              <a:buNone/>
              <a:defRPr sz="2099" kern="100" spc="0" baseline="0">
                <a:solidFill>
                  <a:schemeClr val="accent1">
                    <a:lumMod val="75000"/>
                  </a:schemeClr>
                </a:solidFill>
                <a:latin typeface="+mj-lt"/>
              </a:defRPr>
            </a:lvl1pPr>
            <a:lvl2pPr marL="609463" indent="0">
              <a:buFontTx/>
              <a:buNone/>
              <a:defRPr/>
            </a:lvl2pPr>
            <a:lvl3pPr marL="1218925" indent="0">
              <a:buFontTx/>
              <a:buNone/>
              <a:defRPr/>
            </a:lvl3pPr>
            <a:lvl4pPr marL="1828388" indent="0">
              <a:buFontTx/>
              <a:buNone/>
              <a:defRPr/>
            </a:lvl4pPr>
            <a:lvl5pPr marL="2437851" indent="0">
              <a:buFontTx/>
              <a:buNone/>
              <a:defRPr/>
            </a:lvl5pPr>
          </a:lstStyle>
          <a:p>
            <a:pPr lvl="0"/>
            <a:r>
              <a:rPr lang="en-JM" dirty="0"/>
              <a:t>Click to add text</a:t>
            </a:r>
          </a:p>
        </p:txBody>
      </p:sp>
    </p:spTree>
    <p:custDataLst>
      <p:tags r:id="rId1"/>
    </p:custDataLst>
    <p:extLst>
      <p:ext uri="{BB962C8B-B14F-4D97-AF65-F5344CB8AC3E}">
        <p14:creationId xmlns:p14="http://schemas.microsoft.com/office/powerpoint/2010/main" val="2717567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5DA4A-63ED-4520-8FB8-2F27800C20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66DC2A-6507-4DEC-8403-DC16A25A0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7EEE8-E68E-4D97-BC39-CF5F9FF433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C2980B-8F39-4A20-804C-37BF331A0958}" type="datetimeFigureOut">
              <a:rPr lang="en-US" smtClean="0"/>
              <a:t>4/7/2020</a:t>
            </a:fld>
            <a:endParaRPr lang="en-US" dirty="0"/>
          </a:p>
        </p:txBody>
      </p:sp>
      <p:sp>
        <p:nvSpPr>
          <p:cNvPr id="5" name="Footer Placeholder 4">
            <a:extLst>
              <a:ext uri="{FF2B5EF4-FFF2-40B4-BE49-F238E27FC236}">
                <a16:creationId xmlns:a16="http://schemas.microsoft.com/office/drawing/2014/main" id="{1AB59C45-A2C2-4C51-BD9F-A37DF95B0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3D96C03-4524-4484-80D1-7E49E51C2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CE250-622A-4A81-8ABB-8F0DCB3D860B}" type="slidenum">
              <a:rPr lang="en-US" smtClean="0"/>
              <a:t>‹#›</a:t>
            </a:fld>
            <a:endParaRPr lang="en-US" dirty="0"/>
          </a:p>
        </p:txBody>
      </p:sp>
    </p:spTree>
    <p:extLst>
      <p:ext uri="{BB962C8B-B14F-4D97-AF65-F5344CB8AC3E}">
        <p14:creationId xmlns:p14="http://schemas.microsoft.com/office/powerpoint/2010/main" val="951127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4/7/2020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dirty="0"/>
          </a:p>
        </p:txBody>
      </p:sp>
    </p:spTree>
    <p:extLst>
      <p:ext uri="{BB962C8B-B14F-4D97-AF65-F5344CB8AC3E}">
        <p14:creationId xmlns:p14="http://schemas.microsoft.com/office/powerpoint/2010/main" val="142289428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svg"/><Relationship Id="rId2" Type="http://schemas.openxmlformats.org/officeDocument/2006/relationships/slideLayout" Target="../slideLayouts/slideLayout25.xml"/><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tags" Target="../tags/tag8.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slide" Target="slide8.xml"/></Relationships>
</file>

<file path=ppt/slides/_rels/slide7.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slide" Target="slide14.xml"/></Relationships>
</file>

<file path=ppt/slides/_rels/slide1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19.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20.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p:cNvSpPr txBox="1">
            <a:spLocks/>
          </p:cNvSpPr>
          <p:nvPr/>
        </p:nvSpPr>
        <p:spPr>
          <a:xfrm>
            <a:off x="1571987" y="2097243"/>
            <a:ext cx="3160713" cy="460375"/>
          </a:xfrm>
          <a:prstGeom prst="rect">
            <a:avLst/>
          </a:prstGeom>
        </p:spPr>
        <p:txBody>
          <a:bodyPr vert="horz" lIns="121954" tIns="60977" rIns="121954" bIns="60977" rtlCol="0">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Font typeface="Arial"/>
              <a:buNone/>
            </a:pPr>
            <a:r>
              <a:rPr lang="en-US" sz="2099" dirty="0">
                <a:solidFill>
                  <a:schemeClr val="bg1"/>
                </a:solidFill>
                <a:latin typeface="+mj-lt"/>
                <a:cs typeface="Titillium WebSemiBold"/>
              </a:rPr>
              <a:t>Hardware Concepts</a:t>
            </a:r>
          </a:p>
        </p:txBody>
      </p:sp>
      <p:sp>
        <p:nvSpPr>
          <p:cNvPr id="10" name="Rectangle 9"/>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8" name="Rectangle 7">
            <a:extLst>
              <a:ext uri="{FF2B5EF4-FFF2-40B4-BE49-F238E27FC236}">
                <a16:creationId xmlns:a16="http://schemas.microsoft.com/office/drawing/2014/main" id="{21676021-D745-4ED1-B363-7F2F1B112008}"/>
              </a:ext>
            </a:extLst>
          </p:cNvPr>
          <p:cNvSpPr/>
          <p:nvPr/>
        </p:nvSpPr>
        <p:spPr>
          <a:xfrm>
            <a:off x="104343" y="956492"/>
            <a:ext cx="6096000" cy="646331"/>
          </a:xfrm>
          <a:prstGeom prst="rect">
            <a:avLst/>
          </a:prstGeom>
        </p:spPr>
        <p:txBody>
          <a:bodyPr>
            <a:spAutoFit/>
          </a:bodyPr>
          <a:lstStyle/>
          <a:p>
            <a:r>
              <a:rPr lang="en-US" dirty="0">
                <a:solidFill>
                  <a:schemeClr val="bg1"/>
                </a:solidFill>
                <a:ea typeface="Calibri"/>
                <a:cs typeface="Calibri"/>
              </a:rPr>
              <a:t>Click the audio icon to narrate the contents of any screen.</a:t>
            </a:r>
            <a:endParaRPr lang="en-JM" dirty="0">
              <a:solidFill>
                <a:schemeClr val="bg1"/>
              </a:solidFill>
              <a:ea typeface="Calibri"/>
              <a:cs typeface="Calibri"/>
            </a:endParaRPr>
          </a:p>
          <a:p>
            <a:endParaRPr lang="en-US" dirty="0">
              <a:solidFill>
                <a:schemeClr val="tx2"/>
              </a:solidFill>
              <a:cs typeface="Calibri"/>
            </a:endParaRPr>
          </a:p>
        </p:txBody>
      </p:sp>
      <p:pic>
        <p:nvPicPr>
          <p:cNvPr id="14" name="Graphic 13" descr="Line Arrow: Counterclockwise curve">
            <a:extLst>
              <a:ext uri="{FF2B5EF4-FFF2-40B4-BE49-F238E27FC236}">
                <a16:creationId xmlns:a16="http://schemas.microsoft.com/office/drawing/2014/main" id="{9F167046-C41B-485D-89B4-7CEEBA04A2F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940850" flipH="1" flipV="1">
            <a:off x="19856" y="1390556"/>
            <a:ext cx="661798" cy="661798"/>
          </a:xfrm>
          <a:prstGeom prst="rect">
            <a:avLst/>
          </a:prstGeom>
        </p:spPr>
      </p:pic>
      <p:sp>
        <p:nvSpPr>
          <p:cNvPr id="16" name="Text Placeholder 1">
            <a:extLst>
              <a:ext uri="{FF2B5EF4-FFF2-40B4-BE49-F238E27FC236}">
                <a16:creationId xmlns:a16="http://schemas.microsoft.com/office/drawing/2014/main" id="{56D014FF-8A21-4898-9927-6B8A070A90FD}"/>
              </a:ext>
            </a:extLst>
          </p:cNvPr>
          <p:cNvSpPr txBox="1">
            <a:spLocks/>
          </p:cNvSpPr>
          <p:nvPr/>
        </p:nvSpPr>
        <p:spPr>
          <a:xfrm>
            <a:off x="9989902" y="4666578"/>
            <a:ext cx="2159068" cy="930685"/>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1800" dirty="0">
                <a:solidFill>
                  <a:schemeClr val="bg1"/>
                </a:solidFill>
                <a:ea typeface="Calibri"/>
                <a:cs typeface="Calibri"/>
              </a:rPr>
              <a:t>The navigation button advances to the next screen. Click now to start the course.</a:t>
            </a:r>
            <a:endParaRPr lang="en-JM" sz="1800" dirty="0">
              <a:solidFill>
                <a:schemeClr val="bg1"/>
              </a:solidFill>
              <a:ea typeface="Calibri"/>
              <a:cs typeface="Calibri"/>
            </a:endParaRPr>
          </a:p>
        </p:txBody>
      </p:sp>
      <p:pic>
        <p:nvPicPr>
          <p:cNvPr id="19" name="Graphic 18" descr="Back">
            <a:extLst>
              <a:ext uri="{FF2B5EF4-FFF2-40B4-BE49-F238E27FC236}">
                <a16:creationId xmlns:a16="http://schemas.microsoft.com/office/drawing/2014/main" id="{F06CCC2F-D75B-4C7A-B005-2007EE34F25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326010" y="5938230"/>
            <a:ext cx="822960" cy="822960"/>
          </a:xfrm>
          <a:prstGeom prst="rect">
            <a:avLst/>
          </a:prstGeom>
        </p:spPr>
      </p:pic>
      <p:sp>
        <p:nvSpPr>
          <p:cNvPr id="6" name="Rectangle 5"/>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3" name="Rectangle 2">
            <a:extLst>
              <a:ext uri="{FF2B5EF4-FFF2-40B4-BE49-F238E27FC236}">
                <a16:creationId xmlns:a16="http://schemas.microsoft.com/office/drawing/2014/main" id="{F4346A4B-66B9-4C40-8C85-A63FEC479A07}"/>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817570" y="2280135"/>
            <a:ext cx="11171230" cy="4391254"/>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cs typeface="Titillium WebSemiBold"/>
              </a:rPr>
              <a:t>Module 14</a:t>
            </a:r>
            <a:r>
              <a:rPr lang="en-US" sz="2400" dirty="0">
                <a:solidFill>
                  <a:schemeClr val="tx1"/>
                </a:solidFill>
                <a:latin typeface="+mj-lt"/>
                <a:cs typeface="Titillium WebSemiBold"/>
              </a:rPr>
              <a:t>: Digital Ethics</a:t>
            </a:r>
          </a:p>
          <a:p>
            <a:pPr marL="0" indent="0">
              <a:buNone/>
            </a:pPr>
            <a:r>
              <a:rPr lang="en-US" sz="2400" b="1" dirty="0">
                <a:solidFill>
                  <a:schemeClr val="tx1"/>
                </a:solidFill>
                <a:latin typeface="+mj-lt"/>
                <a:cs typeface="Calibri Light"/>
              </a:rPr>
              <a:t>Lesson objective 14.1: </a:t>
            </a:r>
            <a:r>
              <a:rPr lang="en-US" sz="2400" dirty="0">
                <a:solidFill>
                  <a:schemeClr val="tx1"/>
                </a:solidFill>
                <a:latin typeface="+mj-lt"/>
                <a:cs typeface="Calibri Light"/>
              </a:rPr>
              <a:t>Describe legal and ethical responsibilities of a digital citizen.</a:t>
            </a:r>
          </a:p>
          <a:p>
            <a:pPr marL="0" indent="0">
              <a:buNone/>
            </a:pPr>
            <a:r>
              <a:rPr lang="en-US" sz="2400" b="1" i="1" dirty="0">
                <a:solidFill>
                  <a:schemeClr val="tx1"/>
                </a:solidFill>
                <a:latin typeface="+mj-lt"/>
                <a:cs typeface="Calibri Light"/>
              </a:rPr>
              <a:t>Learning objectives:</a:t>
            </a:r>
          </a:p>
          <a:p>
            <a:pPr marL="0" indent="0">
              <a:buNone/>
            </a:pPr>
            <a:r>
              <a:rPr lang="en-US" sz="2400" dirty="0">
                <a:solidFill>
                  <a:schemeClr val="tx1"/>
                </a:solidFill>
                <a:latin typeface="+mj-lt"/>
                <a:cs typeface="Calibri Light"/>
              </a:rPr>
              <a:t>14.1.2 List the characteristics of digital citizenship.</a:t>
            </a:r>
          </a:p>
          <a:p>
            <a:pPr marL="0" indent="0">
              <a:buNone/>
            </a:pPr>
            <a:r>
              <a:rPr lang="en-US" sz="2400" dirty="0">
                <a:solidFill>
                  <a:schemeClr val="tx1"/>
                </a:solidFill>
                <a:latin typeface="+mj-lt"/>
                <a:cs typeface="Calibri Light"/>
              </a:rPr>
              <a:t>14.1.5 Describe how to create online content without infringing on copyright protections.</a:t>
            </a:r>
          </a:p>
          <a:p>
            <a:pPr marL="0" indent="0">
              <a:buNone/>
            </a:pPr>
            <a:r>
              <a:rPr lang="en-US" sz="2400" b="1" dirty="0">
                <a:solidFill>
                  <a:schemeClr val="tx1"/>
                </a:solidFill>
                <a:latin typeface="+mj-lt"/>
                <a:cs typeface="Calibri Light"/>
              </a:rPr>
              <a:t>Lesson objective 14.2</a:t>
            </a:r>
            <a:r>
              <a:rPr lang="en-US" sz="2400" dirty="0">
                <a:solidFill>
                  <a:schemeClr val="tx1"/>
                </a:solidFill>
                <a:cs typeface="Calibri Light"/>
              </a:rPr>
              <a:t>: </a:t>
            </a:r>
            <a:r>
              <a:rPr lang="en-US" sz="2400" dirty="0">
                <a:solidFill>
                  <a:schemeClr val="tx1"/>
                </a:solidFill>
                <a:latin typeface="+mj-lt"/>
                <a:cs typeface="Calibri Light"/>
              </a:rPr>
              <a:t>Explain how to be a responsible digital citizen.</a:t>
            </a:r>
          </a:p>
          <a:p>
            <a:pPr marL="0" indent="0">
              <a:buNone/>
            </a:pPr>
            <a:r>
              <a:rPr lang="en-US" sz="2400" b="1" i="1" dirty="0">
                <a:solidFill>
                  <a:schemeClr val="tx1"/>
                </a:solidFill>
                <a:latin typeface="+mj-lt"/>
                <a:cs typeface="Calibri Light"/>
              </a:rPr>
              <a:t>Learning objectives</a:t>
            </a:r>
            <a:r>
              <a:rPr lang="en-US" sz="2400" i="1" dirty="0">
                <a:solidFill>
                  <a:schemeClr val="tx1"/>
                </a:solidFill>
                <a:cs typeface="Calibri Light"/>
              </a:rPr>
              <a:t>:</a:t>
            </a:r>
          </a:p>
          <a:p>
            <a:pPr marL="0" indent="0">
              <a:buNone/>
            </a:pPr>
            <a:r>
              <a:rPr lang="en-US" sz="2400" dirty="0">
                <a:solidFill>
                  <a:schemeClr val="tx1"/>
                </a:solidFill>
                <a:latin typeface="+mj-lt"/>
                <a:cs typeface="Calibri Light"/>
              </a:rPr>
              <a:t>14.2.1 Identify best practices for avoiding risk related to digital technology</a:t>
            </a:r>
          </a:p>
          <a:p>
            <a:pPr marL="0" indent="0">
              <a:buNone/>
            </a:pPr>
            <a:r>
              <a:rPr lang="en-US" sz="2400" dirty="0">
                <a:solidFill>
                  <a:schemeClr val="tx1"/>
                </a:solidFill>
                <a:latin typeface="+mj-lt"/>
                <a:cs typeface="Calibri Light"/>
              </a:rPr>
              <a:t>14.2.4 Recognize how to cultivate a polite online presence.</a:t>
            </a:r>
          </a:p>
          <a:p>
            <a:pPr marL="0" indent="0">
              <a:buNone/>
            </a:pPr>
            <a:r>
              <a:rPr lang="en-US" sz="2400" dirty="0">
                <a:solidFill>
                  <a:schemeClr val="tx1"/>
                </a:solidFill>
                <a:latin typeface="+mj-lt"/>
                <a:cs typeface="Calibri Light"/>
              </a:rPr>
              <a:t>14.2.6 Discuss best practices for responsible tech disposal.</a:t>
            </a: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681351" y="570353"/>
            <a:ext cx="8246626" cy="1143000"/>
          </a:xfrm>
        </p:spPr>
        <p:txBody>
          <a:bodyPr>
            <a:normAutofit fontScale="90000"/>
          </a:bodyPr>
          <a:lstStyle/>
          <a:p>
            <a:pPr algn="ctr"/>
            <a:r>
              <a:rPr lang="en-US" sz="5400" dirty="0">
                <a:solidFill>
                  <a:schemeClr val="tx1"/>
                </a:solidFill>
                <a:cs typeface="Calibri Light"/>
              </a:rPr>
              <a:t>Manage Job Responsibilities Professionally</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3F6B-5FE2-4281-B46B-5EC62CB6D9BA}"/>
              </a:ext>
            </a:extLst>
          </p:cNvPr>
          <p:cNvSpPr>
            <a:spLocks noGrp="1"/>
          </p:cNvSpPr>
          <p:nvPr>
            <p:ph type="title" idx="4294967295"/>
          </p:nvPr>
        </p:nvSpPr>
        <p:spPr>
          <a:xfrm>
            <a:off x="838200" y="394623"/>
            <a:ext cx="10515600" cy="657430"/>
          </a:xfrm>
        </p:spPr>
        <p:txBody>
          <a:bodyPr>
            <a:normAutofit/>
          </a:bodyPr>
          <a:lstStyle/>
          <a:p>
            <a:r>
              <a:rPr lang="en-US" sz="3600" dirty="0"/>
              <a:t>Manage Job Responsibilities Professionally</a:t>
            </a:r>
          </a:p>
        </p:txBody>
      </p:sp>
      <p:sp>
        <p:nvSpPr>
          <p:cNvPr id="3" name="Text Placeholder 5">
            <a:extLst>
              <a:ext uri="{FF2B5EF4-FFF2-40B4-BE49-F238E27FC236}">
                <a16:creationId xmlns:a16="http://schemas.microsoft.com/office/drawing/2014/main" id="{46871617-65EA-4B19-B5EB-A1956DA0C6A1}"/>
              </a:ext>
            </a:extLst>
          </p:cNvPr>
          <p:cNvSpPr txBox="1">
            <a:spLocks/>
          </p:cNvSpPr>
          <p:nvPr/>
        </p:nvSpPr>
        <p:spPr>
          <a:xfrm>
            <a:off x="790835" y="1147666"/>
            <a:ext cx="10988209" cy="5262416"/>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respect copyright and privacy restrictions</a:t>
            </a:r>
          </a:p>
          <a:p>
            <a:pPr>
              <a:buNone/>
            </a:pPr>
            <a:r>
              <a:rPr lang="en-US" dirty="0">
                <a:solidFill>
                  <a:schemeClr val="tx2"/>
                </a:solidFill>
              </a:rPr>
              <a:t>•	How to present a positive digital footprint</a:t>
            </a:r>
          </a:p>
          <a:p>
            <a:pPr>
              <a:buNone/>
            </a:pPr>
            <a:r>
              <a:rPr lang="en-US" dirty="0">
                <a:solidFill>
                  <a:schemeClr val="tx2"/>
                </a:solidFill>
              </a:rPr>
              <a:t>•	How to properly dispose of old technology</a:t>
            </a:r>
          </a:p>
          <a:p>
            <a:pPr>
              <a:buNone/>
            </a:pPr>
            <a:endParaRPr lang="en-US" dirty="0">
              <a:solidFill>
                <a:schemeClr val="tx2"/>
              </a:solidFill>
              <a:highlight>
                <a:srgbClr val="FFFF00"/>
              </a:highlight>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make ethical decisions on the job. At each step, think carefully about which option shows a sense of personal responsibility and accountability to others.</a:t>
            </a:r>
          </a:p>
          <a:p>
            <a:pPr>
              <a:buFont typeface="Wingdings" panose="05000000000000000000" pitchFamily="2" charset="2"/>
              <a:buChar char="ü"/>
            </a:pPr>
            <a:r>
              <a:rPr lang="en-US" dirty="0">
                <a:solidFill>
                  <a:schemeClr val="tx2"/>
                </a:solidFill>
              </a:rPr>
              <a:t>Consider what laws, rules, or guidelines might apply in each situation.</a:t>
            </a:r>
          </a:p>
          <a:p>
            <a:pPr>
              <a:buFont typeface="Wingdings" panose="05000000000000000000" pitchFamily="2" charset="2"/>
              <a:buChar char="ü"/>
            </a:pPr>
            <a:r>
              <a:rPr lang="en-US" dirty="0">
                <a:solidFill>
                  <a:schemeClr val="tx2"/>
                </a:solidFill>
              </a:rPr>
              <a:t>Think about how your actions might affect other people, even if they’re not aware of your decisions.</a:t>
            </a:r>
          </a:p>
          <a:p>
            <a:pPr>
              <a:buFont typeface="Wingdings" panose="05000000000000000000" pitchFamily="2" charset="2"/>
              <a:buChar char="ü"/>
            </a:pPr>
            <a:r>
              <a:rPr lang="en-US" dirty="0">
                <a:solidFill>
                  <a:schemeClr val="tx2"/>
                </a:solidFill>
              </a:rPr>
              <a:t>Imagine how you would feel if someone treated you the way you’re treating another person.</a:t>
            </a:r>
          </a:p>
        </p:txBody>
      </p:sp>
    </p:spTree>
    <p:extLst>
      <p:ext uri="{BB962C8B-B14F-4D97-AF65-F5344CB8AC3E}">
        <p14:creationId xmlns:p14="http://schemas.microsoft.com/office/powerpoint/2010/main" val="3511541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490313" y="916900"/>
            <a:ext cx="11396887" cy="5302100"/>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work for an insurance agency where you interact with customers and assist with marketing efforts. After working there for six months, your boss, Lamar, has started to talk about a possible promotion. He would like you to attend a training to prepare you for your new responsibilities and for you to start some of the tasks to see if it's a good fit. At work this morning, Lamar tells you he'd like to send you to a conference in Cancun, Mexico in which your flight and hotel expenses would be covered! </a:t>
            </a:r>
          </a:p>
          <a:p>
            <a:r>
              <a:rPr lang="en-US" dirty="0"/>
              <a:t>As you barely contain your excitement, Lamar explains that some employees take a few vacation days after the conference at their own expense. Lamar says that employees must be in good standing with the company and have vacation days available. Even though you don't have enough vacation days now, he says he'll make an exception for you if things go well as you take on some of your new responsibilities. You have a few weeks to see how things go before you both decide if it will work.</a:t>
            </a:r>
          </a:p>
          <a:p>
            <a:endParaRPr lang="en-US" dirty="0"/>
          </a:p>
        </p:txBody>
      </p:sp>
      <p:sp>
        <p:nvSpPr>
          <p:cNvPr id="12" name="Text Placeholder 1"/>
          <p:cNvSpPr txBox="1">
            <a:spLocks/>
          </p:cNvSpPr>
          <p:nvPr/>
        </p:nvSpPr>
        <p:spPr>
          <a:xfrm>
            <a:off x="838200" y="6130101"/>
            <a:ext cx="3035710" cy="64032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hlinkClick r:id="rId4" action="ppaction://hlinksldjump"/>
              </a:rPr>
              <a:t>Continue</a:t>
            </a:r>
            <a:endParaRPr kumimoji="0" lang="en-US" sz="2050" b="1"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AD7318"/>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99" b="0" i="0" u="none" strike="noStrike" kern="1200" cap="none" spc="0" normalizeH="0" baseline="0" noProof="0" dirty="0">
              <a:ln>
                <a:noFill/>
              </a:ln>
              <a:solidFill>
                <a:srgbClr val="A5A5A5">
                  <a:lumMod val="75000"/>
                </a:srgbClr>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99" b="0" i="0" u="none" strike="noStrike" kern="1200" cap="none" spc="0" normalizeH="0" baseline="0" noProof="0" dirty="0">
              <a:ln>
                <a:noFill/>
              </a:ln>
              <a:solidFill>
                <a:srgbClr val="A5A5A5">
                  <a:lumMod val="75000"/>
                </a:srgbClr>
              </a:solidFill>
              <a:effectLst/>
              <a:uLnTx/>
              <a:uFillTx/>
              <a:latin typeface="Calibri" panose="020F0502020204030204"/>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838200" y="0"/>
            <a:ext cx="10515600" cy="640080"/>
          </a:xfrm>
        </p:spPr>
        <p:txBody>
          <a:bodyPr>
            <a:normAutofit/>
          </a:bodyPr>
          <a:lstStyle/>
          <a:p>
            <a:r>
              <a:rPr lang="en-US" sz="3600" dirty="0"/>
              <a:t>Introduction</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838200" y="701567"/>
            <a:ext cx="11353800" cy="2812780"/>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Lamar says that one of your new responsibilities is to write some of the articles that are included in each month’s newsletter to customers. He assigns you two topics to write about this month, including one on taking out a home insurance policy. </a:t>
            </a:r>
          </a:p>
          <a:p>
            <a:r>
              <a:rPr lang="en-US" dirty="0"/>
              <a:t>You begin your research by searching online for good tips for how to choose a home insurance policy. In your search results, you find a well written article that includes a list of tips for understanding home insurance options. You think this list will be especially useful for your company’s clients. What’s the best way to include the information in your article?</a:t>
            </a:r>
          </a:p>
        </p:txBody>
      </p:sp>
      <p:sp>
        <p:nvSpPr>
          <p:cNvPr id="7" name="TextBox 6">
            <a:extLst>
              <a:ext uri="{FF2B5EF4-FFF2-40B4-BE49-F238E27FC236}">
                <a16:creationId xmlns:a16="http://schemas.microsoft.com/office/drawing/2014/main" id="{40638D1B-4303-428C-B168-BC6714B92E66}"/>
              </a:ext>
            </a:extLst>
          </p:cNvPr>
          <p:cNvSpPr txBox="1"/>
          <p:nvPr/>
        </p:nvSpPr>
        <p:spPr>
          <a:xfrm>
            <a:off x="1476137" y="3428942"/>
            <a:ext cx="10715863" cy="151538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Use a few of the tips as starter ideas and write your own list.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[Level1_Decision1_OptionA]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Type the list into your article and change a few words here and there so it’s not an exact copy.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[Level1_Decision1_OptionB]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56850" y="341014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60128" y="406153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Level1_Decision</a:t>
            </a:r>
            <a:r>
              <a:rPr lang="en-US" sz="3600" baseline="0" dirty="0"/>
              <a:t>1</a:t>
            </a:r>
            <a:endParaRPr lang="en-US" sz="3600" dirty="0"/>
          </a:p>
        </p:txBody>
      </p:sp>
      <p:sp>
        <p:nvSpPr>
          <p:cNvPr id="12" name="Arrow: Pentagon 11">
            <a:extLst>
              <a:ext uri="{FF2B5EF4-FFF2-40B4-BE49-F238E27FC236}">
                <a16:creationId xmlns:a16="http://schemas.microsoft.com/office/drawing/2014/main" id="{132A8832-F498-4AEC-9176-B428324E630E}"/>
              </a:ext>
            </a:extLst>
          </p:cNvPr>
          <p:cNvSpPr/>
          <p:nvPr/>
        </p:nvSpPr>
        <p:spPr>
          <a:xfrm>
            <a:off x="88641" y="344869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69BD8344-FD8D-4DF7-AE51-6EA7233257EA}"/>
              </a:ext>
            </a:extLst>
          </p:cNvPr>
          <p:cNvSpPr txBox="1"/>
          <p:nvPr/>
        </p:nvSpPr>
        <p:spPr>
          <a:xfrm>
            <a:off x="795113" y="5299710"/>
            <a:ext cx="10412616"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solidFill>
                  <a:srgbClr val="C00000"/>
                </a:solidFill>
              </a:rPr>
              <a:t>Explanation:</a:t>
            </a:r>
          </a:p>
          <a:p>
            <a:r>
              <a:rPr lang="en-US" dirty="0">
                <a:solidFill>
                  <a:srgbClr val="C00000"/>
                </a:solidFill>
              </a:rPr>
              <a:t>Changing a few words is not enough to avoid plagiarism. The article should consist of the author’s own ideas.</a:t>
            </a:r>
          </a:p>
        </p:txBody>
      </p:sp>
      <p:sp>
        <p:nvSpPr>
          <p:cNvPr id="14" name="TextBox 13">
            <a:extLst>
              <a:ext uri="{FF2B5EF4-FFF2-40B4-BE49-F238E27FC236}">
                <a16:creationId xmlns:a16="http://schemas.microsoft.com/office/drawing/2014/main" id="{65A8AD32-D2FD-479D-896B-3B90AC6A742B}"/>
              </a:ext>
            </a:extLst>
          </p:cNvPr>
          <p:cNvSpPr txBox="1"/>
          <p:nvPr/>
        </p:nvSpPr>
        <p:spPr>
          <a:xfrm>
            <a:off x="795113" y="6092216"/>
            <a:ext cx="10433329"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a device for a personal message</a:t>
            </a:r>
            <a:r>
              <a:rPr lang="en-US" dirty="0"/>
              <a:t>.</a:t>
            </a:r>
          </a:p>
          <a:p>
            <a:pPr lvl="0">
              <a:defRPr/>
            </a:pPr>
            <a:r>
              <a:rPr lang="en-US" kern="0" dirty="0">
                <a:solidFill>
                  <a:prstClr val="black"/>
                </a:solidFill>
              </a:rPr>
              <a:t>If Option B: Lamar discovers plagiarism in article.</a:t>
            </a:r>
          </a:p>
        </p:txBody>
      </p:sp>
    </p:spTree>
    <p:extLst>
      <p:ext uri="{BB962C8B-B14F-4D97-AF65-F5344CB8AC3E}">
        <p14:creationId xmlns:p14="http://schemas.microsoft.com/office/powerpoint/2010/main" val="898138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306288"/>
            <a:ext cx="11396889" cy="2024744"/>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After you finish your first draft of the article, you email it to Lamar for feedback. As it turns out, however, the article that gave the great tips was recently published on a website Lamar visits often, and he recognized the list of tips. He calls you into his office to find out how that list ended up in your article. As you explain what happened, he says this is clearly plagiarism and has no place in his company’s newsletter.</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2142758" cy="6249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Level1_Story1</a:t>
            </a:r>
          </a:p>
        </p:txBody>
      </p:sp>
      <p:sp>
        <p:nvSpPr>
          <p:cNvPr id="8" name="TextBox 7">
            <a:extLst>
              <a:ext uri="{FF2B5EF4-FFF2-40B4-BE49-F238E27FC236}">
                <a16:creationId xmlns:a16="http://schemas.microsoft.com/office/drawing/2014/main" id="{DAA19ACF-73FE-4CE1-8973-AC5B9EFD07E9}"/>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Job performance is under intense scrutiny</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947047FD-C045-45BD-B928-B76F8F0D6B0E}"/>
              </a:ext>
            </a:extLst>
          </p:cNvPr>
          <p:cNvSpPr txBox="1"/>
          <p:nvPr/>
        </p:nvSpPr>
        <p:spPr>
          <a:xfrm>
            <a:off x="795111" y="746481"/>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copy ideas from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existin</a:t>
            </a:r>
            <a:r>
              <a:rPr lang="en-US" dirty="0">
                <a:solidFill>
                  <a:prstClr val="black"/>
                </a:solidFill>
                <a:latin typeface="Calibri" panose="020F0502020204030204"/>
              </a:rPr>
              <a:t>g article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236368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40295"/>
            <a:ext cx="11396889" cy="2368016"/>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As you’re drafting the article, your mind starts to wander as you think about how much fun it will be to go to Cancun. Suddenly you realize you’ll need to find someone to watch your dog and water your houseplants because your roommate will also be out of town that week. Maybe your neighbor, Sheila, can help. You’ll need to know soon so you have time to find someone else if needed. You also can’t wait to tell your best friend about this exciting development!</a:t>
            </a:r>
          </a:p>
          <a:p>
            <a:r>
              <a:rPr lang="en-US" dirty="0"/>
              <a:t>What’s the best way to contact your neighbor and your best friend?</a:t>
            </a:r>
          </a:p>
        </p:txBody>
      </p:sp>
      <p:sp>
        <p:nvSpPr>
          <p:cNvPr id="7" name="TextBox 6">
            <a:extLst>
              <a:ext uri="{FF2B5EF4-FFF2-40B4-BE49-F238E27FC236}">
                <a16:creationId xmlns:a16="http://schemas.microsoft.com/office/drawing/2014/main" id="{40638D1B-4303-428C-B168-BC6714B92E66}"/>
              </a:ext>
            </a:extLst>
          </p:cNvPr>
          <p:cNvSpPr txBox="1"/>
          <p:nvPr/>
        </p:nvSpPr>
        <p:spPr>
          <a:xfrm>
            <a:off x="1457473" y="3548965"/>
            <a:ext cx="10734526" cy="187533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Use your personal phone during your next break to send personal texts.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Use your work computer to sign into your personal email and send a couple of quick messages.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38186" y="354883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41464" y="448014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Level2_Decision</a:t>
            </a:r>
            <a:r>
              <a:rPr lang="en-US" sz="3600" baseline="0" dirty="0"/>
              <a:t>1</a:t>
            </a:r>
            <a:endParaRPr lang="en-US" sz="3600" dirty="0"/>
          </a:p>
        </p:txBody>
      </p:sp>
      <p:sp>
        <p:nvSpPr>
          <p:cNvPr id="12" name="TextBox 11">
            <a:extLst>
              <a:ext uri="{FF2B5EF4-FFF2-40B4-BE49-F238E27FC236}">
                <a16:creationId xmlns:a16="http://schemas.microsoft.com/office/drawing/2014/main" id="{D399A045-8A7D-4151-B5A0-74A362B8AB2D}"/>
              </a:ext>
            </a:extLst>
          </p:cNvPr>
          <p:cNvSpPr txBox="1"/>
          <p:nvPr/>
        </p:nvSpPr>
        <p:spPr>
          <a:xfrm>
            <a:off x="795113" y="5578803"/>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Most companies don’t allow work computers to be used for personal messaging.</a:t>
            </a:r>
          </a:p>
        </p:txBody>
      </p:sp>
      <p:sp>
        <p:nvSpPr>
          <p:cNvPr id="13" name="Arrow: Pentagon 12">
            <a:extLst>
              <a:ext uri="{FF2B5EF4-FFF2-40B4-BE49-F238E27FC236}">
                <a16:creationId xmlns:a16="http://schemas.microsoft.com/office/drawing/2014/main" id="{339AB92A-DD08-4B9F-A2E4-BB28EE790785}"/>
              </a:ext>
            </a:extLst>
          </p:cNvPr>
          <p:cNvSpPr/>
          <p:nvPr/>
        </p:nvSpPr>
        <p:spPr>
          <a:xfrm>
            <a:off x="91214" y="359444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C0CD3727-57A4-4918-A67E-44F3E8648CEA}"/>
              </a:ext>
            </a:extLst>
          </p:cNvPr>
          <p:cNvSpPr txBox="1"/>
          <p:nvPr/>
        </p:nvSpPr>
        <p:spPr>
          <a:xfrm>
            <a:off x="795113" y="6379714"/>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how to respond to a complaint</a:t>
            </a:r>
            <a:r>
              <a:rPr lang="en-US" dirty="0"/>
              <a:t>.</a:t>
            </a:r>
          </a:p>
        </p:txBody>
      </p:sp>
      <p:sp>
        <p:nvSpPr>
          <p:cNvPr id="15" name="TextBox 14">
            <a:extLst>
              <a:ext uri="{FF2B5EF4-FFF2-40B4-BE49-F238E27FC236}">
                <a16:creationId xmlns:a16="http://schemas.microsoft.com/office/drawing/2014/main" id="{C5BF2004-D590-4979-92A6-BC6A939E136F}"/>
              </a:ext>
            </a:extLst>
          </p:cNvPr>
          <p:cNvSpPr txBox="1"/>
          <p:nvPr/>
        </p:nvSpPr>
        <p:spPr>
          <a:xfrm>
            <a:off x="795111" y="66250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original ideas in new article.</a:t>
            </a:r>
          </a:p>
        </p:txBody>
      </p:sp>
    </p:spTree>
    <p:extLst>
      <p:ext uri="{BB962C8B-B14F-4D97-AF65-F5344CB8AC3E}">
        <p14:creationId xmlns:p14="http://schemas.microsoft.com/office/powerpoint/2010/main" val="104993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24542"/>
            <a:ext cx="11396889" cy="2494577"/>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sent your messages during your break and heard back almost immediately from your neighbor, Sheila. She says she can help, no problem. </a:t>
            </a:r>
          </a:p>
          <a:p>
            <a:r>
              <a:rPr lang="en-US" dirty="0"/>
              <a:t>When you return from your break, you find an email from a coworker complaining about a customer who kept asking for more information, delaying making a decision about an insurance policy. The coworker called the customer “stupid” and implied that other customers from that same part of town were all difficult to work with. How should you respond to the email?</a:t>
            </a:r>
          </a:p>
        </p:txBody>
      </p:sp>
      <p:sp>
        <p:nvSpPr>
          <p:cNvPr id="7" name="TextBox 6">
            <a:extLst>
              <a:ext uri="{FF2B5EF4-FFF2-40B4-BE49-F238E27FC236}">
                <a16:creationId xmlns:a16="http://schemas.microsoft.com/office/drawing/2014/main" id="{40638D1B-4303-428C-B168-BC6714B92E66}"/>
              </a:ext>
            </a:extLst>
          </p:cNvPr>
          <p:cNvSpPr txBox="1"/>
          <p:nvPr/>
        </p:nvSpPr>
        <p:spPr>
          <a:xfrm>
            <a:off x="1485467" y="3241050"/>
            <a:ext cx="10706533" cy="172735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Show empathy for the coworker’s frustration, then emphasize that customers are smart to make sure they understand their options before making a decision.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Share a story of problems you’ve experienced with similar customers, then remind the coworker to act professionally anyway.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66180" y="324091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69458" y="404782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Level3_Decision</a:t>
            </a:r>
            <a:r>
              <a:rPr lang="en-US" sz="3600" baseline="0" dirty="0"/>
              <a:t>1</a:t>
            </a:r>
            <a:endParaRPr lang="en-US" sz="3600" dirty="0"/>
          </a:p>
        </p:txBody>
      </p:sp>
      <p:sp>
        <p:nvSpPr>
          <p:cNvPr id="12" name="TextBox 11">
            <a:extLst>
              <a:ext uri="{FF2B5EF4-FFF2-40B4-BE49-F238E27FC236}">
                <a16:creationId xmlns:a16="http://schemas.microsoft.com/office/drawing/2014/main" id="{F16DC0A5-CA98-4332-AC27-FBB5917ABA74}"/>
              </a:ext>
            </a:extLst>
          </p:cNvPr>
          <p:cNvSpPr txBox="1"/>
          <p:nvPr/>
        </p:nvSpPr>
        <p:spPr>
          <a:xfrm>
            <a:off x="795110" y="4884626"/>
            <a:ext cx="10412617"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Any digital communication could possibly be seen by other people, even if it’s a private conversation. It’s important to discuss customers respectfully, including defending their right to have as much information as they feel they need, especially when communicating in a way that might be seen or heard by other people.</a:t>
            </a:r>
          </a:p>
        </p:txBody>
      </p:sp>
      <p:sp>
        <p:nvSpPr>
          <p:cNvPr id="13" name="Arrow: Pentagon 12">
            <a:extLst>
              <a:ext uri="{FF2B5EF4-FFF2-40B4-BE49-F238E27FC236}">
                <a16:creationId xmlns:a16="http://schemas.microsoft.com/office/drawing/2014/main" id="{F965FCF6-009E-47DC-B5FD-F605C492CC6A}"/>
              </a:ext>
            </a:extLst>
          </p:cNvPr>
          <p:cNvSpPr/>
          <p:nvPr/>
        </p:nvSpPr>
        <p:spPr>
          <a:xfrm>
            <a:off x="91214" y="328653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4D5D3639-0625-41D3-9EAD-950FCBE10955}"/>
              </a:ext>
            </a:extLst>
          </p:cNvPr>
          <p:cNvSpPr txBox="1"/>
          <p:nvPr/>
        </p:nvSpPr>
        <p:spPr>
          <a:xfrm>
            <a:off x="795113" y="6165105"/>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t>
            </a:r>
            <a:r>
              <a:rPr lang="en-US" kern="0" dirty="0">
                <a:solidFill>
                  <a:prstClr val="black"/>
                </a:solidFill>
                <a:latin typeface="Calibri" panose="020F0502020204030204"/>
              </a:rPr>
              <a:t>what to post on social media</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Lamar finds out about the email conversation.</a:t>
            </a:r>
          </a:p>
        </p:txBody>
      </p:sp>
      <p:sp>
        <p:nvSpPr>
          <p:cNvPr id="15" name="TextBox 14">
            <a:extLst>
              <a:ext uri="{FF2B5EF4-FFF2-40B4-BE49-F238E27FC236}">
                <a16:creationId xmlns:a16="http://schemas.microsoft.com/office/drawing/2014/main" id="{4198CDB1-754E-4B63-BD98-B295DE0BCABA}"/>
              </a:ext>
            </a:extLst>
          </p:cNvPr>
          <p:cNvSpPr txBox="1"/>
          <p:nvPr/>
        </p:nvSpPr>
        <p:spPr>
          <a:xfrm>
            <a:off x="795111" y="66250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personal phone for personal messages.</a:t>
            </a:r>
          </a:p>
        </p:txBody>
      </p:sp>
    </p:spTree>
    <p:extLst>
      <p:ext uri="{BB962C8B-B14F-4D97-AF65-F5344CB8AC3E}">
        <p14:creationId xmlns:p14="http://schemas.microsoft.com/office/powerpoint/2010/main" val="2807044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919866"/>
            <a:ext cx="11396889" cy="2496330"/>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sz="1900" dirty="0"/>
              <a:t>You sent your messages from your work computer and heard back from your neighbor, Sheila, almost immediately asking for more details. As you continue emailing with your neighbor, you suddenly realize your boss is standing behind your chair. He reminds you that your company’s AUP prohibits using work computers for personal emails. You apologize and say you’ll finish the conversation on your phone during your break.</a:t>
            </a:r>
          </a:p>
          <a:p>
            <a:r>
              <a:rPr lang="en-US" sz="1900" dirty="0"/>
              <a:t>When you return from your break, you find an email from a coworker complaining about a customer who kept asking for more information instead of making a decision about an insurance policy. The coworker called the customer “stupid” and implied other customers from that same part of town were all difficult to work with. How should you respond to the email?</a:t>
            </a:r>
          </a:p>
        </p:txBody>
      </p:sp>
      <p:sp>
        <p:nvSpPr>
          <p:cNvPr id="7" name="TextBox 6">
            <a:extLst>
              <a:ext uri="{FF2B5EF4-FFF2-40B4-BE49-F238E27FC236}">
                <a16:creationId xmlns:a16="http://schemas.microsoft.com/office/drawing/2014/main" id="{40638D1B-4303-428C-B168-BC6714B92E66}"/>
              </a:ext>
            </a:extLst>
          </p:cNvPr>
          <p:cNvSpPr txBox="1"/>
          <p:nvPr/>
        </p:nvSpPr>
        <p:spPr>
          <a:xfrm>
            <a:off x="1457474" y="3339077"/>
            <a:ext cx="10734526" cy="1638350"/>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Show empathy for the coworker’s frustration, then emphasize that customers are smart to make sure they understand their options before making a decision.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Share a story of problems you’ve experienced with similar customers, then remind the coworker to act professionally anyway.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38187" y="332027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41465" y="412718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Level3_Decision2</a:t>
            </a:r>
          </a:p>
        </p:txBody>
      </p:sp>
      <p:sp>
        <p:nvSpPr>
          <p:cNvPr id="13" name="TextBox 12">
            <a:extLst>
              <a:ext uri="{FF2B5EF4-FFF2-40B4-BE49-F238E27FC236}">
                <a16:creationId xmlns:a16="http://schemas.microsoft.com/office/drawing/2014/main" id="{3554D73A-E081-452E-8EDA-31463F87E5A3}"/>
              </a:ext>
            </a:extLst>
          </p:cNvPr>
          <p:cNvSpPr txBox="1"/>
          <p:nvPr/>
        </p:nvSpPr>
        <p:spPr>
          <a:xfrm>
            <a:off x="795113" y="4925660"/>
            <a:ext cx="10412617"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Any digital communication could possibly be seen by other people, even if it’s a private conversation. It’s important to discuss customers respectfully, including defending their right to have as much information as they feel they need, especially when communicating in a way that might be seen or heard by other people.</a:t>
            </a:r>
          </a:p>
        </p:txBody>
      </p:sp>
      <p:sp>
        <p:nvSpPr>
          <p:cNvPr id="14" name="Arrow: Pentagon 13">
            <a:extLst>
              <a:ext uri="{FF2B5EF4-FFF2-40B4-BE49-F238E27FC236}">
                <a16:creationId xmlns:a16="http://schemas.microsoft.com/office/drawing/2014/main" id="{43BF14C1-4146-49F2-8C78-0BF57B76CAF9}"/>
              </a:ext>
            </a:extLst>
          </p:cNvPr>
          <p:cNvSpPr/>
          <p:nvPr/>
        </p:nvSpPr>
        <p:spPr>
          <a:xfrm>
            <a:off x="91214" y="336117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BCF47850-BF44-4DBC-8288-3B369C0C6987}"/>
              </a:ext>
            </a:extLst>
          </p:cNvPr>
          <p:cNvSpPr txBox="1"/>
          <p:nvPr/>
        </p:nvSpPr>
        <p:spPr>
          <a:xfrm>
            <a:off x="795113" y="6165105"/>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what to post on social media</a:t>
            </a:r>
            <a:r>
              <a:rPr lang="en-US" dirty="0"/>
              <a:t>.</a:t>
            </a:r>
          </a:p>
          <a:p>
            <a:pPr lvl="0">
              <a:defRPr/>
            </a:pPr>
            <a:r>
              <a:rPr lang="en-US" kern="0" dirty="0">
                <a:solidFill>
                  <a:prstClr val="black"/>
                </a:solidFill>
              </a:rPr>
              <a:t>If Option B: Lamar finds out about the email conversation.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B03797CD-6A04-4218-A2E0-075AE1CD9BD8}"/>
              </a:ext>
            </a:extLst>
          </p:cNvPr>
          <p:cNvSpPr txBox="1"/>
          <p:nvPr/>
        </p:nvSpPr>
        <p:spPr>
          <a:xfrm>
            <a:off x="795111" y="597188"/>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company computer for personal messages.</a:t>
            </a:r>
          </a:p>
        </p:txBody>
      </p:sp>
    </p:spTree>
    <p:extLst>
      <p:ext uri="{BB962C8B-B14F-4D97-AF65-F5344CB8AC3E}">
        <p14:creationId xmlns:p14="http://schemas.microsoft.com/office/powerpoint/2010/main" val="1185236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59633"/>
            <a:ext cx="11396889" cy="1539551"/>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next day, Lamar calls you into his office again. As it turns out, the customer your coworker was complaining about yesterday is friends with the office receptionist. The receptionist saw the emails talking about the customer and forwarded them to her friend. The customer called Lamar that morning to file a formal complaint against you and your coworker.</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2170750" cy="58407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Level3_Story1</a:t>
            </a:r>
          </a:p>
        </p:txBody>
      </p:sp>
      <p:sp>
        <p:nvSpPr>
          <p:cNvPr id="7" name="TextBox 6">
            <a:extLst>
              <a:ext uri="{FF2B5EF4-FFF2-40B4-BE49-F238E27FC236}">
                <a16:creationId xmlns:a16="http://schemas.microsoft.com/office/drawing/2014/main" id="{96D40FA1-C1D1-4D1D-9D58-014D5CA0338A}"/>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Job performance is under intense scrutiny</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10C5538A-7C3E-4D44-9130-659F15C91F65}"/>
              </a:ext>
            </a:extLst>
          </p:cNvPr>
          <p:cNvSpPr txBox="1"/>
          <p:nvPr/>
        </p:nvSpPr>
        <p:spPr>
          <a:xfrm>
            <a:off x="795111" y="72781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make disparaging remarks about a group of people.</a:t>
            </a:r>
          </a:p>
        </p:txBody>
      </p:sp>
    </p:spTree>
    <p:extLst>
      <p:ext uri="{BB962C8B-B14F-4D97-AF65-F5344CB8AC3E}">
        <p14:creationId xmlns:p14="http://schemas.microsoft.com/office/powerpoint/2010/main" val="313771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999799"/>
            <a:ext cx="11396889" cy="2743792"/>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sz="2000" dirty="0"/>
              <a:t>You feel you handled the email from your coworker well. After all, customers have the right to be informed. </a:t>
            </a:r>
          </a:p>
          <a:p>
            <a:r>
              <a:rPr lang="en-US" sz="2000" dirty="0"/>
              <a:t>On your way home that night, you stop by the grocery store for some bread and milk. </a:t>
            </a:r>
          </a:p>
          <a:p>
            <a:r>
              <a:rPr lang="en-US" sz="2000" dirty="0"/>
              <a:t>While you’re standing in the checkout line, you realize that the customer about whom your coworker was complaining is checking out just in front of you. He starts arguing with the cashier about the price of a particular item and requires that another store employee check the price advertised on the shelf. You’re tired and really annoyed that this customer is taking so long to check out when you just want to finish this errand and go home. You decide to distract yourself with a social media app on your phone. How can you handle your stress productively?</a:t>
            </a:r>
          </a:p>
        </p:txBody>
      </p:sp>
      <p:sp>
        <p:nvSpPr>
          <p:cNvPr id="7" name="TextBox 6">
            <a:extLst>
              <a:ext uri="{FF2B5EF4-FFF2-40B4-BE49-F238E27FC236}">
                <a16:creationId xmlns:a16="http://schemas.microsoft.com/office/drawing/2014/main" id="{40638D1B-4303-428C-B168-BC6714B92E66}"/>
              </a:ext>
            </a:extLst>
          </p:cNvPr>
          <p:cNvSpPr txBox="1"/>
          <p:nvPr/>
        </p:nvSpPr>
        <p:spPr>
          <a:xfrm>
            <a:off x="1476137" y="3584674"/>
            <a:ext cx="10715863" cy="158065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Post a cautiously excited comment about how good things are happening for you at work</a:t>
            </a: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hlinkClick r:id="rId4" action="ppaction://hlinksldjump"/>
              </a:rPr>
              <a:t>Post a frustrated comment about how certain kinds of people make life difficult for everyon</a:t>
            </a:r>
            <a:r>
              <a:rPr lang="en-US" dirty="0">
                <a:solidFill>
                  <a:srgbClr val="44546A"/>
                </a:solidFill>
                <a:latin typeface="Calibri" panose="020F0502020204030204"/>
                <a:hlinkClick r:id="rId4" action="ppaction://hlinksldjump"/>
              </a:rPr>
              <a:t>e else</a:t>
            </a:r>
            <a:r>
              <a:rPr kumimoji="0" lang="en-US" sz="2050" b="0" i="0" u="none" strike="noStrike" kern="1200" cap="none" spc="0" normalizeH="0" baseline="0" noProof="0" dirty="0">
                <a:ln>
                  <a:noFill/>
                </a:ln>
                <a:solidFill>
                  <a:srgbClr val="44546A"/>
                </a:solidFill>
                <a:effectLst/>
                <a:uLnTx/>
                <a:uFillTx/>
                <a:latin typeface="Calibri" panose="020F0502020204030204"/>
                <a:hlinkClick r:id="rId4"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56850" y="358453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60128" y="451585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Level4_Decision1</a:t>
            </a:r>
          </a:p>
        </p:txBody>
      </p:sp>
      <p:sp>
        <p:nvSpPr>
          <p:cNvPr id="12" name="TextBox 11">
            <a:extLst>
              <a:ext uri="{FF2B5EF4-FFF2-40B4-BE49-F238E27FC236}">
                <a16:creationId xmlns:a16="http://schemas.microsoft.com/office/drawing/2014/main" id="{ADCF7F82-FF62-45DE-9FC8-B4B316E0992C}"/>
              </a:ext>
            </a:extLst>
          </p:cNvPr>
          <p:cNvSpPr txBox="1"/>
          <p:nvPr/>
        </p:nvSpPr>
        <p:spPr>
          <a:xfrm>
            <a:off x="795113" y="5177578"/>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Posts on social media reflect a person’s ability to be professional. Posting unprofessional comments about a group </a:t>
            </a:r>
            <a:r>
              <a:rPr lang="en-US">
                <a:solidFill>
                  <a:srgbClr val="C00000"/>
                </a:solidFill>
              </a:rPr>
              <a:t>of people </a:t>
            </a:r>
            <a:r>
              <a:rPr lang="en-US" dirty="0">
                <a:solidFill>
                  <a:srgbClr val="C00000"/>
                </a:solidFill>
              </a:rPr>
              <a:t>is never a good idea.</a:t>
            </a:r>
          </a:p>
        </p:txBody>
      </p:sp>
      <p:sp>
        <p:nvSpPr>
          <p:cNvPr id="13" name="Arrow: Pentagon 12">
            <a:extLst>
              <a:ext uri="{FF2B5EF4-FFF2-40B4-BE49-F238E27FC236}">
                <a16:creationId xmlns:a16="http://schemas.microsoft.com/office/drawing/2014/main" id="{C71B0846-1A2D-4BD1-8DC3-F882FC41F593}"/>
              </a:ext>
            </a:extLst>
          </p:cNvPr>
          <p:cNvSpPr/>
          <p:nvPr/>
        </p:nvSpPr>
        <p:spPr>
          <a:xfrm>
            <a:off x="91214" y="363176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0D8A8F49-5C11-44FE-A2CA-A7417C73E43B}"/>
              </a:ext>
            </a:extLst>
          </p:cNvPr>
          <p:cNvSpPr txBox="1"/>
          <p:nvPr/>
        </p:nvSpPr>
        <p:spPr>
          <a:xfrm>
            <a:off x="795113" y="6165105"/>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whether to access private client information</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Lamar finds out about the social media post.</a:t>
            </a:r>
          </a:p>
        </p:txBody>
      </p:sp>
      <p:sp>
        <p:nvSpPr>
          <p:cNvPr id="15" name="TextBox 14">
            <a:extLst>
              <a:ext uri="{FF2B5EF4-FFF2-40B4-BE49-F238E27FC236}">
                <a16:creationId xmlns:a16="http://schemas.microsoft.com/office/drawing/2014/main" id="{BD0C4D83-3A28-4CF2-A56E-8DEF9247773F}"/>
              </a:ext>
            </a:extLst>
          </p:cNvPr>
          <p:cNvSpPr txBox="1"/>
          <p:nvPr/>
        </p:nvSpPr>
        <p:spPr>
          <a:xfrm>
            <a:off x="795111" y="63451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defend the customer when a coworker complained.</a:t>
            </a:r>
          </a:p>
        </p:txBody>
      </p:sp>
    </p:spTree>
    <p:extLst>
      <p:ext uri="{BB962C8B-B14F-4D97-AF65-F5344CB8AC3E}">
        <p14:creationId xmlns:p14="http://schemas.microsoft.com/office/powerpoint/2010/main" val="3267038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03649"/>
            <a:ext cx="11396889" cy="2621902"/>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Your coworker responds to your post, and you both go back and forth about the customer. Even though you didn’t name him, you and your coworker gave a lot of details about the situation through the comments. </a:t>
            </a:r>
          </a:p>
          <a:p>
            <a:r>
              <a:rPr lang="en-US" dirty="0"/>
              <a:t>The next day, Lamar calls you into his office again. As it turns out, you both have a few mutual friends on social media, one of whom is Lamar’s next-door neighbor. The neighbor mentioned your post to Lamar as they chatted in their driveways yesterday evening. Lamar was embarrassed to find out that one of his up and coming employees would post derogatory comments about a group of people on social media.</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940405"/>
            <a:ext cx="2142758" cy="58494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Level4_Story1</a:t>
            </a:r>
          </a:p>
        </p:txBody>
      </p:sp>
      <p:sp>
        <p:nvSpPr>
          <p:cNvPr id="7" name="TextBox 6">
            <a:extLst>
              <a:ext uri="{FF2B5EF4-FFF2-40B4-BE49-F238E27FC236}">
                <a16:creationId xmlns:a16="http://schemas.microsoft.com/office/drawing/2014/main" id="{0AB6A2E7-E780-4655-BE56-056D553796AD}"/>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Job performance is under intense scrutiny</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65F908CF-5286-4EEF-A48E-BB48C3E58E34}"/>
              </a:ext>
            </a:extLst>
          </p:cNvPr>
          <p:cNvSpPr txBox="1"/>
          <p:nvPr/>
        </p:nvSpPr>
        <p:spPr>
          <a:xfrm>
            <a:off x="795111" y="7091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post complaints about the customer on social media.</a:t>
            </a:r>
          </a:p>
        </p:txBody>
      </p:sp>
    </p:spTree>
    <p:extLst>
      <p:ext uri="{BB962C8B-B14F-4D97-AF65-F5344CB8AC3E}">
        <p14:creationId xmlns:p14="http://schemas.microsoft.com/office/powerpoint/2010/main" val="1879620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083778"/>
            <a:ext cx="11396889" cy="2783492"/>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As you pull into your driveway, you notice a neighbor’s dog is digging up your garden again. This is the third time this year! The dog belongs to Chris, a neighbor across the street. Yet again, you knock on Chris’s door to complain, but he doesn’t answer. You would try to call or email, but you don’t have his contact information, although you confess to yourself that you’ve not yet tried very hard to find it.</a:t>
            </a:r>
          </a:p>
          <a:p>
            <a:r>
              <a:rPr lang="en-US" dirty="0"/>
              <a:t>The next morning at the office, as you’re working with a list of clients, you discover that your neighbor, Chris, is also a client of your agency. You suddenly realize that you have access to a great deal of information about Chris and could find all of his contact information with a simple peek into the client database. How should you handle this situation?</a:t>
            </a:r>
          </a:p>
        </p:txBody>
      </p:sp>
      <p:sp>
        <p:nvSpPr>
          <p:cNvPr id="7" name="TextBox 6">
            <a:extLst>
              <a:ext uri="{FF2B5EF4-FFF2-40B4-BE49-F238E27FC236}">
                <a16:creationId xmlns:a16="http://schemas.microsoft.com/office/drawing/2014/main" id="{40638D1B-4303-428C-B168-BC6714B92E66}"/>
              </a:ext>
            </a:extLst>
          </p:cNvPr>
          <p:cNvSpPr txBox="1"/>
          <p:nvPr/>
        </p:nvSpPr>
        <p:spPr>
          <a:xfrm>
            <a:off x="1485464" y="3959149"/>
            <a:ext cx="10706535" cy="1182231"/>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Check with other neighbors to try to get Chris’s contact information</a:t>
            </a: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Look up the contact information in your company’s client database.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66177" y="395901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69455" y="457308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Level5_Decision1</a:t>
            </a:r>
          </a:p>
        </p:txBody>
      </p:sp>
      <p:sp>
        <p:nvSpPr>
          <p:cNvPr id="12" name="TextBox 11">
            <a:extLst>
              <a:ext uri="{FF2B5EF4-FFF2-40B4-BE49-F238E27FC236}">
                <a16:creationId xmlns:a16="http://schemas.microsoft.com/office/drawing/2014/main" id="{2698D932-0213-43B4-8646-1ADE579A481D}"/>
              </a:ext>
            </a:extLst>
          </p:cNvPr>
          <p:cNvSpPr txBox="1"/>
          <p:nvPr/>
        </p:nvSpPr>
        <p:spPr>
          <a:xfrm>
            <a:off x="795113" y="5298880"/>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It’s unethical to use private client information for personal purposes. It’s better to go through legitimate channels to handle personal problems.</a:t>
            </a:r>
          </a:p>
        </p:txBody>
      </p:sp>
      <p:sp>
        <p:nvSpPr>
          <p:cNvPr id="13" name="Arrow: Pentagon 12">
            <a:extLst>
              <a:ext uri="{FF2B5EF4-FFF2-40B4-BE49-F238E27FC236}">
                <a16:creationId xmlns:a16="http://schemas.microsoft.com/office/drawing/2014/main" id="{BE7D552C-69A9-47D5-AA8D-98BD31CD64F7}"/>
              </a:ext>
            </a:extLst>
          </p:cNvPr>
          <p:cNvSpPr/>
          <p:nvPr/>
        </p:nvSpPr>
        <p:spPr>
          <a:xfrm>
            <a:off x="91214" y="400499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C2B33605-006F-493D-8820-10BF383A4430}"/>
              </a:ext>
            </a:extLst>
          </p:cNvPr>
          <p:cNvSpPr txBox="1"/>
          <p:nvPr/>
        </p:nvSpPr>
        <p:spPr>
          <a:xfrm>
            <a:off x="795113" y="6379710"/>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whether to keep driving during a video call.</a:t>
            </a:r>
          </a:p>
        </p:txBody>
      </p:sp>
      <p:sp>
        <p:nvSpPr>
          <p:cNvPr id="15" name="TextBox 14">
            <a:extLst>
              <a:ext uri="{FF2B5EF4-FFF2-40B4-BE49-F238E27FC236}">
                <a16:creationId xmlns:a16="http://schemas.microsoft.com/office/drawing/2014/main" id="{073C3B66-DA6A-4A1A-973D-45F06ABF0460}"/>
              </a:ext>
            </a:extLst>
          </p:cNvPr>
          <p:cNvSpPr txBox="1"/>
          <p:nvPr/>
        </p:nvSpPr>
        <p:spPr>
          <a:xfrm>
            <a:off x="795111" y="643843"/>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post an optimistic comment on social media.</a:t>
            </a:r>
          </a:p>
        </p:txBody>
      </p:sp>
    </p:spTree>
    <p:extLst>
      <p:ext uri="{BB962C8B-B14F-4D97-AF65-F5344CB8AC3E}">
        <p14:creationId xmlns:p14="http://schemas.microsoft.com/office/powerpoint/2010/main" val="1789373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90925"/>
            <a:ext cx="11396889" cy="1610900"/>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decide to hold off and email the neighborhood association during your break. As it turns out, Chris’s dog has caused problems for several other neighbors. With your information added to the list, the association is now ready to pursue a formal complaint process. The association’s president thanks you for sharing the information and for handling the situation in a reasonable manner.</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008216"/>
            <a:ext cx="2021460" cy="52808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Level5_Story1</a:t>
            </a:r>
          </a:p>
        </p:txBody>
      </p:sp>
      <p:sp>
        <p:nvSpPr>
          <p:cNvPr id="7" name="TextBox 6">
            <a:extLst>
              <a:ext uri="{FF2B5EF4-FFF2-40B4-BE49-F238E27FC236}">
                <a16:creationId xmlns:a16="http://schemas.microsoft.com/office/drawing/2014/main" id="{43A125EE-78FF-4567-B550-BBEA671140E7}"/>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Student will need to choose whether to keep driving during a video call</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AE9D439-A6F3-4D31-889A-0E9C7F2A44E7}"/>
              </a:ext>
            </a:extLst>
          </p:cNvPr>
          <p:cNvSpPr txBox="1"/>
          <p:nvPr/>
        </p:nvSpPr>
        <p:spPr>
          <a:xfrm>
            <a:off x="795111" y="746481"/>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check with neighbors to find Chris’s contact information.</a:t>
            </a:r>
          </a:p>
        </p:txBody>
      </p:sp>
    </p:spTree>
    <p:extLst>
      <p:ext uri="{BB962C8B-B14F-4D97-AF65-F5344CB8AC3E}">
        <p14:creationId xmlns:p14="http://schemas.microsoft.com/office/powerpoint/2010/main" val="2480491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342125"/>
            <a:ext cx="11396889" cy="2086875"/>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decide that Chris’s contact information is probably available publicly, so it’s not a big deal to look up his information in your client database. You then call him from your office phone during your lunch break, and he answers, thinking it’s his insurance agent. Once he realizes it’s you calling to complain about his dog, he yells at you and calls you a few insulting names before hanging up on you. Now you’re concerned your agency will lose a client due to your indiscretion. You also realize that using the company’s contact information and resources to address a personal matter could get you into hot water.</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549388"/>
            <a:ext cx="2180080" cy="50831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Level5_Story2</a:t>
            </a:r>
          </a:p>
        </p:txBody>
      </p:sp>
      <p:sp>
        <p:nvSpPr>
          <p:cNvPr id="8" name="TextBox 7">
            <a:extLst>
              <a:ext uri="{FF2B5EF4-FFF2-40B4-BE49-F238E27FC236}">
                <a16:creationId xmlns:a16="http://schemas.microsoft.com/office/drawing/2014/main" id="{C2581F89-496E-4303-9269-D1DD9969DE70}"/>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Student will need to choose whether to keep driving during a video call</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D9EEC0A4-F9C4-42F1-A896-D046601C42E1}"/>
              </a:ext>
            </a:extLst>
          </p:cNvPr>
          <p:cNvSpPr txBox="1"/>
          <p:nvPr/>
        </p:nvSpPr>
        <p:spPr>
          <a:xfrm>
            <a:off x="795111" y="746481"/>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get Chris’s contact information from the client database.</a:t>
            </a:r>
          </a:p>
        </p:txBody>
      </p:sp>
    </p:spTree>
    <p:extLst>
      <p:ext uri="{BB962C8B-B14F-4D97-AF65-F5344CB8AC3E}">
        <p14:creationId xmlns:p14="http://schemas.microsoft.com/office/powerpoint/2010/main" val="3439805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040083"/>
            <a:ext cx="11396889" cy="2346928"/>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A week later, you’re starting to feel more comfortable with your new job responsibilities. However, time management is proving to be challenging. This afternoon, you have a video call scheduled just after an off-site appointment with a client, and then a meeting with Lamar immediately after the call. Unfortunately, your appointment runs a little long, and you’re still driving back to the office when it’s time to start the video call. Before you left the office, you installed the video conferencing app on your phone in case you needed to call in before you got back. What’s the best way to manage your time during the call?</a:t>
            </a:r>
          </a:p>
        </p:txBody>
      </p:sp>
      <p:sp>
        <p:nvSpPr>
          <p:cNvPr id="7" name="TextBox 6">
            <a:extLst>
              <a:ext uri="{FF2B5EF4-FFF2-40B4-BE49-F238E27FC236}">
                <a16:creationId xmlns:a16="http://schemas.microsoft.com/office/drawing/2014/main" id="{40638D1B-4303-428C-B168-BC6714B92E66}"/>
              </a:ext>
            </a:extLst>
          </p:cNvPr>
          <p:cNvSpPr txBox="1"/>
          <p:nvPr/>
        </p:nvSpPr>
        <p:spPr>
          <a:xfrm>
            <a:off x="1504130" y="3343738"/>
            <a:ext cx="10687869" cy="187533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Pull over in a safe area and then call in, even though that will make you late to your meeting with Lamar</a:t>
            </a: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Keep driving while you hold the phone in one hand so you can get back to the office before your meeting with Lamar.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84843" y="334360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88121" y="427491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Level6_Decision1</a:t>
            </a:r>
          </a:p>
        </p:txBody>
      </p:sp>
      <p:sp>
        <p:nvSpPr>
          <p:cNvPr id="12" name="TextBox 11">
            <a:extLst>
              <a:ext uri="{FF2B5EF4-FFF2-40B4-BE49-F238E27FC236}">
                <a16:creationId xmlns:a16="http://schemas.microsoft.com/office/drawing/2014/main" id="{E1BD98D4-9BD6-420D-B1D6-A7C8B27C4D4C}"/>
              </a:ext>
            </a:extLst>
          </p:cNvPr>
          <p:cNvSpPr txBox="1"/>
          <p:nvPr/>
        </p:nvSpPr>
        <p:spPr>
          <a:xfrm>
            <a:off x="795113" y="5130928"/>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It’s dangerous to participate in an important video call while driving. Most states have distracted driving laws prohibiting the use of a phone while driving if the phone must be held by the driver.</a:t>
            </a:r>
          </a:p>
        </p:txBody>
      </p:sp>
      <p:sp>
        <p:nvSpPr>
          <p:cNvPr id="13" name="Arrow: Pentagon 12">
            <a:extLst>
              <a:ext uri="{FF2B5EF4-FFF2-40B4-BE49-F238E27FC236}">
                <a16:creationId xmlns:a16="http://schemas.microsoft.com/office/drawing/2014/main" id="{390B507F-14DB-438A-AC9C-8726431ECF51}"/>
              </a:ext>
            </a:extLst>
          </p:cNvPr>
          <p:cNvSpPr/>
          <p:nvPr/>
        </p:nvSpPr>
        <p:spPr>
          <a:xfrm>
            <a:off x="91214" y="338917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934C1294-8C64-4530-A520-7314C86D8853}"/>
              </a:ext>
            </a:extLst>
          </p:cNvPr>
          <p:cNvSpPr txBox="1"/>
          <p:nvPr/>
        </p:nvSpPr>
        <p:spPr>
          <a:xfrm>
            <a:off x="795113" y="6127781"/>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how to dispose of an </a:t>
            </a:r>
            <a:r>
              <a:rPr kumimoji="0" lang="en-US" sz="1800" b="0" i="0" u="none" strike="noStrike" kern="0" cap="none" spc="0" normalizeH="0" baseline="0" noProof="0" dirty="0" err="1">
                <a:ln>
                  <a:noFill/>
                </a:ln>
                <a:solidFill>
                  <a:prstClr val="black"/>
                </a:solidFill>
                <a:effectLst/>
                <a:uLnTx/>
                <a:uFillTx/>
                <a:latin typeface="Calibri" panose="020F0502020204030204"/>
                <a:ea typeface="+mn-ea"/>
                <a:cs typeface="+mn-cs"/>
              </a:rPr>
              <a:t>ol</a:t>
            </a:r>
            <a:r>
              <a:rPr lang="en-US" kern="0" dirty="0">
                <a:solidFill>
                  <a:prstClr val="black"/>
                </a:solidFill>
                <a:latin typeface="Calibri" panose="020F0502020204030204"/>
              </a:rPr>
              <a:t>d phone</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Distracted driving results in a fender bender.</a:t>
            </a:r>
          </a:p>
        </p:txBody>
      </p:sp>
      <p:sp>
        <p:nvSpPr>
          <p:cNvPr id="15" name="TextBox 14">
            <a:extLst>
              <a:ext uri="{FF2B5EF4-FFF2-40B4-BE49-F238E27FC236}">
                <a16:creationId xmlns:a16="http://schemas.microsoft.com/office/drawing/2014/main" id="{B9B52F26-11DA-4216-BAC7-7214B96ED607}"/>
              </a:ext>
            </a:extLst>
          </p:cNvPr>
          <p:cNvSpPr txBox="1"/>
          <p:nvPr/>
        </p:nvSpPr>
        <p:spPr>
          <a:xfrm>
            <a:off x="795111" y="643843"/>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a:t>
            </a:r>
            <a:r>
              <a:rPr lang="en-US" dirty="0">
                <a:solidFill>
                  <a:prstClr val="black"/>
                </a:solidFill>
              </a:rPr>
              <a:t>Student chose to check with neighbors to find Chris’s contact information.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2661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2" y="1042249"/>
            <a:ext cx="11396888" cy="2492535"/>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A week later, you’ve not heard anything more about Chris, and you’re trying to be more careful about your decisions. However, time management is proving to be challenging. This afternoon, you have a video call scheduled just after an off-site appointment with a client, and then a meeting with Lamar immediately after the call. Unfortunately, your appointment runs a little long, and you’re still driving back to the office when it’s time to start the video call. Before you left the office, you installed the video conferencing app on your phone in case you needed to call in before you got back. What’s the best way to manage your time during the call?</a:t>
            </a:r>
          </a:p>
        </p:txBody>
      </p:sp>
      <p:sp>
        <p:nvSpPr>
          <p:cNvPr id="7" name="TextBox 6">
            <a:extLst>
              <a:ext uri="{FF2B5EF4-FFF2-40B4-BE49-F238E27FC236}">
                <a16:creationId xmlns:a16="http://schemas.microsoft.com/office/drawing/2014/main" id="{40638D1B-4303-428C-B168-BC6714B92E66}"/>
              </a:ext>
            </a:extLst>
          </p:cNvPr>
          <p:cNvSpPr txBox="1"/>
          <p:nvPr/>
        </p:nvSpPr>
        <p:spPr>
          <a:xfrm>
            <a:off x="1476137" y="3290663"/>
            <a:ext cx="10715863" cy="187533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Pull over in a safe area and then call in, even though that will make you late to your meeting with Lamar</a:t>
            </a: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Keep driving while you hold the phone in one hand so you can get back to the office before your meeting with Lamar.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56850" y="329052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60128" y="422184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Level6_Decision2</a:t>
            </a:r>
          </a:p>
        </p:txBody>
      </p:sp>
      <p:sp>
        <p:nvSpPr>
          <p:cNvPr id="13" name="TextBox 12">
            <a:extLst>
              <a:ext uri="{FF2B5EF4-FFF2-40B4-BE49-F238E27FC236}">
                <a16:creationId xmlns:a16="http://schemas.microsoft.com/office/drawing/2014/main" id="{D4739EB2-0B2D-4F74-9789-F610D17CEB64}"/>
              </a:ext>
            </a:extLst>
          </p:cNvPr>
          <p:cNvSpPr txBox="1"/>
          <p:nvPr/>
        </p:nvSpPr>
        <p:spPr>
          <a:xfrm>
            <a:off x="795113" y="5130932"/>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It’s dangerous to participate in an important video call while driving. Most states have distracted driving laws prohibiting the use of a phone while driving if the phone must be held by the driver.</a:t>
            </a:r>
          </a:p>
        </p:txBody>
      </p:sp>
      <p:sp>
        <p:nvSpPr>
          <p:cNvPr id="14" name="Arrow: Pentagon 13">
            <a:extLst>
              <a:ext uri="{FF2B5EF4-FFF2-40B4-BE49-F238E27FC236}">
                <a16:creationId xmlns:a16="http://schemas.microsoft.com/office/drawing/2014/main" id="{D7C9B9CB-C860-497E-9FEC-DABCA8693C66}"/>
              </a:ext>
            </a:extLst>
          </p:cNvPr>
          <p:cNvSpPr/>
          <p:nvPr/>
        </p:nvSpPr>
        <p:spPr>
          <a:xfrm>
            <a:off x="91214" y="334252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739B9CED-3E1F-49E3-9504-61AF3EE35946}"/>
              </a:ext>
            </a:extLst>
          </p:cNvPr>
          <p:cNvSpPr txBox="1"/>
          <p:nvPr/>
        </p:nvSpPr>
        <p:spPr>
          <a:xfrm>
            <a:off x="795113" y="6146443"/>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how to dispose of an old phone</a:t>
            </a:r>
            <a:r>
              <a:rPr lang="en-US" dirty="0"/>
              <a:t>.</a:t>
            </a:r>
          </a:p>
          <a:p>
            <a:pPr lvl="0">
              <a:defRPr/>
            </a:pPr>
            <a:r>
              <a:rPr lang="en-US" kern="0" dirty="0">
                <a:solidFill>
                  <a:prstClr val="black"/>
                </a:solidFill>
              </a:rPr>
              <a:t>If Option B: Distracted driving results in a fender bender.</a:t>
            </a:r>
          </a:p>
        </p:txBody>
      </p:sp>
      <p:sp>
        <p:nvSpPr>
          <p:cNvPr id="16" name="TextBox 15">
            <a:extLst>
              <a:ext uri="{FF2B5EF4-FFF2-40B4-BE49-F238E27FC236}">
                <a16:creationId xmlns:a16="http://schemas.microsoft.com/office/drawing/2014/main" id="{CE2B2E91-766F-42E6-A8F6-FB8E1455C8FA}"/>
              </a:ext>
            </a:extLst>
          </p:cNvPr>
          <p:cNvSpPr txBox="1"/>
          <p:nvPr/>
        </p:nvSpPr>
        <p:spPr>
          <a:xfrm>
            <a:off x="795111" y="66250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a:t>
            </a:r>
            <a:r>
              <a:rPr lang="en-US" dirty="0">
                <a:solidFill>
                  <a:prstClr val="black"/>
                </a:solidFill>
              </a:rPr>
              <a:t>Student chose to get Chris’s contact information from the client database.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7035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342125"/>
            <a:ext cx="11396889" cy="1858275"/>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video call with the client starts well. Five minutes into the call, though, the car in front of you stops suddenly, and you don’t see it in time to keep from hitting them!</a:t>
            </a:r>
          </a:p>
          <a:p>
            <a:r>
              <a:rPr lang="en-US" dirty="0"/>
              <a:t>It’s just a fender bender, but dealing with this incident costs you the afternoon of missing work. You also got a ticket for distracted driving, and it was incredibly embarrassing to have this happen on a call with a client. You’re sure you’ll hear about it from Lamar in the morning.</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1918823" cy="54305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Level6_Story1</a:t>
            </a:r>
          </a:p>
        </p:txBody>
      </p:sp>
      <p:sp>
        <p:nvSpPr>
          <p:cNvPr id="8" name="TextBox 7">
            <a:extLst>
              <a:ext uri="{FF2B5EF4-FFF2-40B4-BE49-F238E27FC236}">
                <a16:creationId xmlns:a16="http://schemas.microsoft.com/office/drawing/2014/main" id="{4724BEFC-D484-472F-AC85-4805C899AA44}"/>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Student will need to choose how to dispose of an old phone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DCCA9C1E-F180-4E6D-8E22-85F29C177AE2}"/>
              </a:ext>
            </a:extLst>
          </p:cNvPr>
          <p:cNvSpPr txBox="1"/>
          <p:nvPr/>
        </p:nvSpPr>
        <p:spPr>
          <a:xfrm>
            <a:off x="795111" y="75581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keep driving while on the video call.</a:t>
            </a:r>
          </a:p>
        </p:txBody>
      </p:sp>
    </p:spTree>
    <p:extLst>
      <p:ext uri="{BB962C8B-B14F-4D97-AF65-F5344CB8AC3E}">
        <p14:creationId xmlns:p14="http://schemas.microsoft.com/office/powerpoint/2010/main" val="208121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047095"/>
            <a:ext cx="11396889" cy="3030812"/>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video call with the client went well. Although you’re a few minutes late to your meeting with Lamar, he tells you he’s already heard from both clients you worked with this afternoon and received glowing reviews.</a:t>
            </a:r>
          </a:p>
          <a:p>
            <a:r>
              <a:rPr lang="en-US" dirty="0"/>
              <a:t>Thinking back on the call, you remember that you had problems with the video conferencing app during the video call because your smartphone is fairly old and doesn’t have a good camera. Knowing you’ll need to use your phone for more work duties with your new position, you stop by your phone provider’s store that evening to upgrade your phone—you were due for an upgrade anyway. The staff is able to provide you with a new phone before you leave the store. That evening, you enjoy poking through your new device and setting it up just the way you like it. What do you do with the old phone?</a:t>
            </a:r>
          </a:p>
        </p:txBody>
      </p:sp>
      <p:sp>
        <p:nvSpPr>
          <p:cNvPr id="7" name="TextBox 6">
            <a:extLst>
              <a:ext uri="{FF2B5EF4-FFF2-40B4-BE49-F238E27FC236}">
                <a16:creationId xmlns:a16="http://schemas.microsoft.com/office/drawing/2014/main" id="{40638D1B-4303-428C-B168-BC6714B92E66}"/>
              </a:ext>
            </a:extLst>
          </p:cNvPr>
          <p:cNvSpPr txBox="1"/>
          <p:nvPr/>
        </p:nvSpPr>
        <p:spPr>
          <a:xfrm>
            <a:off x="1466806" y="4196354"/>
            <a:ext cx="10725193" cy="105678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Look online for a local electronics recycling drop site</a:t>
            </a: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Toss it in the trash.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47519" y="419621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50797" y="481029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Level7_Decision1</a:t>
            </a:r>
          </a:p>
        </p:txBody>
      </p:sp>
      <p:sp>
        <p:nvSpPr>
          <p:cNvPr id="12" name="TextBox 11">
            <a:extLst>
              <a:ext uri="{FF2B5EF4-FFF2-40B4-BE49-F238E27FC236}">
                <a16:creationId xmlns:a16="http://schemas.microsoft.com/office/drawing/2014/main" id="{E073D829-CC7C-4DBE-A7E9-09FCF2ED5AAD}"/>
              </a:ext>
            </a:extLst>
          </p:cNvPr>
          <p:cNvSpPr txBox="1"/>
          <p:nvPr/>
        </p:nvSpPr>
        <p:spPr>
          <a:xfrm>
            <a:off x="795113" y="554148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Old electronics should be reused or recycled when possible.</a:t>
            </a:r>
          </a:p>
        </p:txBody>
      </p:sp>
      <p:sp>
        <p:nvSpPr>
          <p:cNvPr id="13" name="Arrow: Pentagon 12">
            <a:extLst>
              <a:ext uri="{FF2B5EF4-FFF2-40B4-BE49-F238E27FC236}">
                <a16:creationId xmlns:a16="http://schemas.microsoft.com/office/drawing/2014/main" id="{2DA17825-5126-4BB8-AC97-53920E319DD0}"/>
              </a:ext>
            </a:extLst>
          </p:cNvPr>
          <p:cNvSpPr/>
          <p:nvPr/>
        </p:nvSpPr>
        <p:spPr>
          <a:xfrm>
            <a:off x="91214" y="422893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AB59AC5F-2A43-41BA-BA60-51BC51CDDC9E}"/>
              </a:ext>
            </a:extLst>
          </p:cNvPr>
          <p:cNvSpPr txBox="1"/>
          <p:nvPr/>
        </p:nvSpPr>
        <p:spPr>
          <a:xfrm>
            <a:off x="795113" y="63610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Lamar offers the promotion right away.</a:t>
            </a:r>
          </a:p>
        </p:txBody>
      </p:sp>
      <p:sp>
        <p:nvSpPr>
          <p:cNvPr id="15" name="TextBox 14">
            <a:extLst>
              <a:ext uri="{FF2B5EF4-FFF2-40B4-BE49-F238E27FC236}">
                <a16:creationId xmlns:a16="http://schemas.microsoft.com/office/drawing/2014/main" id="{7BA3BA7D-C965-4303-AF08-072136387F98}"/>
              </a:ext>
            </a:extLst>
          </p:cNvPr>
          <p:cNvSpPr txBox="1"/>
          <p:nvPr/>
        </p:nvSpPr>
        <p:spPr>
          <a:xfrm>
            <a:off x="795111" y="65317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pull over during the video call.</a:t>
            </a:r>
          </a:p>
        </p:txBody>
      </p:sp>
    </p:spTree>
    <p:extLst>
      <p:ext uri="{BB962C8B-B14F-4D97-AF65-F5344CB8AC3E}">
        <p14:creationId xmlns:p14="http://schemas.microsoft.com/office/powerpoint/2010/main" val="647790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2" y="1111770"/>
            <a:ext cx="11396888" cy="2443193"/>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Thinking back on the call that evening on your way home, you remember that you had problems with the video conferencing app during the video call because your smartphone is fairly old and doesn’t have a good camera. Knowing you’ll need to use your phone for more work duties with your new position, you stop by your phone provider’s store that evening to upgrade your phone—you were due for an upgrade anyway. The staff is able to provide you with a new phone before you leave the store. That evening, you enjoy poking through your new device and setting it up just the way you like it. What do you do with the old phone?</a:t>
            </a:r>
          </a:p>
        </p:txBody>
      </p:sp>
      <p:sp>
        <p:nvSpPr>
          <p:cNvPr id="7" name="TextBox 6">
            <a:extLst>
              <a:ext uri="{FF2B5EF4-FFF2-40B4-BE49-F238E27FC236}">
                <a16:creationId xmlns:a16="http://schemas.microsoft.com/office/drawing/2014/main" id="{40638D1B-4303-428C-B168-BC6714B92E66}"/>
              </a:ext>
            </a:extLst>
          </p:cNvPr>
          <p:cNvSpPr txBox="1"/>
          <p:nvPr/>
        </p:nvSpPr>
        <p:spPr>
          <a:xfrm>
            <a:off x="1504126" y="3761960"/>
            <a:ext cx="10687874" cy="133354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Look online for a local electronics recycling drop site</a:t>
            </a: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Toss it in the trash.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184839" y="376182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188117" y="43758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Level7_Decision2</a:t>
            </a:r>
          </a:p>
        </p:txBody>
      </p:sp>
      <p:sp>
        <p:nvSpPr>
          <p:cNvPr id="13" name="TextBox 12">
            <a:extLst>
              <a:ext uri="{FF2B5EF4-FFF2-40B4-BE49-F238E27FC236}">
                <a16:creationId xmlns:a16="http://schemas.microsoft.com/office/drawing/2014/main" id="{443A2C10-F22C-448A-A26B-F9864DCA7102}"/>
              </a:ext>
            </a:extLst>
          </p:cNvPr>
          <p:cNvSpPr txBox="1"/>
          <p:nvPr/>
        </p:nvSpPr>
        <p:spPr>
          <a:xfrm>
            <a:off x="795113" y="544817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Old electronics should be reused or recycled when possible.</a:t>
            </a:r>
          </a:p>
        </p:txBody>
      </p:sp>
      <p:sp>
        <p:nvSpPr>
          <p:cNvPr id="14" name="Arrow: Pentagon 13">
            <a:extLst>
              <a:ext uri="{FF2B5EF4-FFF2-40B4-BE49-F238E27FC236}">
                <a16:creationId xmlns:a16="http://schemas.microsoft.com/office/drawing/2014/main" id="{4B978F24-C576-46D2-BAC6-565713D52773}"/>
              </a:ext>
            </a:extLst>
          </p:cNvPr>
          <p:cNvSpPr/>
          <p:nvPr/>
        </p:nvSpPr>
        <p:spPr>
          <a:xfrm>
            <a:off x="91214" y="379971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4CC0C058-709B-45A0-9764-EAA5C3B82B32}"/>
              </a:ext>
            </a:extLst>
          </p:cNvPr>
          <p:cNvSpPr txBox="1"/>
          <p:nvPr/>
        </p:nvSpPr>
        <p:spPr>
          <a:xfrm>
            <a:off x="795113" y="6333058"/>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Lamar requires additional training before qualifying student for the promotion. </a:t>
            </a:r>
          </a:p>
        </p:txBody>
      </p:sp>
      <p:sp>
        <p:nvSpPr>
          <p:cNvPr id="16" name="TextBox 15">
            <a:extLst>
              <a:ext uri="{FF2B5EF4-FFF2-40B4-BE49-F238E27FC236}">
                <a16:creationId xmlns:a16="http://schemas.microsoft.com/office/drawing/2014/main" id="{086B540B-1D2E-4148-BCAC-2849EA966683}"/>
              </a:ext>
            </a:extLst>
          </p:cNvPr>
          <p:cNvSpPr txBox="1"/>
          <p:nvPr/>
        </p:nvSpPr>
        <p:spPr>
          <a:xfrm>
            <a:off x="795111" y="671836"/>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t>
            </a:r>
            <a:r>
              <a:rPr lang="en-US" dirty="0">
                <a:solidFill>
                  <a:prstClr val="black"/>
                </a:solidFill>
              </a:rPr>
              <a:t>to keep driving while on the video call.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7050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22309"/>
            <a:ext cx="11396889" cy="2659226"/>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copy all of your contacts, photos, and other information from your phone, then reset it to the factory settings. The next morning, as you drop off your old phone at a nearby charity, the receptionist explains how donated smartphones are refurbished or recycled, depending on their condition. </a:t>
            </a:r>
          </a:p>
          <a:p>
            <a:r>
              <a:rPr lang="en-US" dirty="0"/>
              <a:t>Refurbished phones give challenged populations access to community resources and a way to call for emergency services if needed. Her charity specifically helps victims of domestic violence, elderly citizens, and other people seeking assistance in the area. </a:t>
            </a:r>
          </a:p>
          <a:p>
            <a:r>
              <a:rPr lang="en-US" dirty="0"/>
              <a:t>As you arrive at work, you’re pleased with your efforts in finding a new life for your old phone. </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4411268"/>
            <a:ext cx="3458789" cy="54484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67262"/>
          </a:xfrm>
        </p:spPr>
        <p:txBody>
          <a:bodyPr>
            <a:normAutofit/>
          </a:bodyPr>
          <a:lstStyle/>
          <a:p>
            <a:r>
              <a:rPr lang="en-US" sz="3600" dirty="0"/>
              <a:t>Level7_Story1</a:t>
            </a:r>
          </a:p>
        </p:txBody>
      </p:sp>
      <p:sp>
        <p:nvSpPr>
          <p:cNvPr id="8" name="TextBox 7">
            <a:extLst>
              <a:ext uri="{FF2B5EF4-FFF2-40B4-BE49-F238E27FC236}">
                <a16:creationId xmlns:a16="http://schemas.microsoft.com/office/drawing/2014/main" id="{17D1D8E3-B3D9-4AE0-A5C8-683113F256DA}"/>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Lamar offers the promotion right away</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47BF509-3F17-4A34-9538-CD68104FCE02}"/>
              </a:ext>
            </a:extLst>
          </p:cNvPr>
          <p:cNvSpPr txBox="1"/>
          <p:nvPr/>
        </p:nvSpPr>
        <p:spPr>
          <a:xfrm>
            <a:off x="795111" y="7091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donate the old phone.</a:t>
            </a:r>
          </a:p>
        </p:txBody>
      </p:sp>
    </p:spTree>
    <p:extLst>
      <p:ext uri="{BB962C8B-B14F-4D97-AF65-F5344CB8AC3E}">
        <p14:creationId xmlns:p14="http://schemas.microsoft.com/office/powerpoint/2010/main" val="1425403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40970"/>
            <a:ext cx="11396889" cy="2565919"/>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next morning, your roommate finds your old smartphone in the trash and lectures you about the negative impact this will have on the environment. She tells you that electronics in landfills pollute water supplies. These devices could be recycled or even refurbished and reused to provide inexpensive cell phones for people in need. </a:t>
            </a:r>
          </a:p>
          <a:p>
            <a:r>
              <a:rPr lang="en-US" dirty="0"/>
              <a:t>While you agree in principle, you feel defensive and end up in an argument that makes you late for work. No one seems to notice, though, and you realize you were being unreasonable with your roommate. You resolve to apologize later that evening and look for a way to recycle the phone.</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4019550"/>
            <a:ext cx="3326709" cy="63175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Level7_Story2</a:t>
            </a:r>
          </a:p>
        </p:txBody>
      </p:sp>
      <p:sp>
        <p:nvSpPr>
          <p:cNvPr id="8" name="TextBox 7">
            <a:extLst>
              <a:ext uri="{FF2B5EF4-FFF2-40B4-BE49-F238E27FC236}">
                <a16:creationId xmlns:a16="http://schemas.microsoft.com/office/drawing/2014/main" id="{C0B215EA-41B1-4CD0-9C34-0888759F8537}"/>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Lamar offers the promotion right away</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26E5BA5-8342-4B99-A8FC-636A5DFFA888}"/>
              </a:ext>
            </a:extLst>
          </p:cNvPr>
          <p:cNvSpPr txBox="1"/>
          <p:nvPr/>
        </p:nvSpPr>
        <p:spPr>
          <a:xfrm>
            <a:off x="795111" y="72781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throw the old phone in the trash.</a:t>
            </a:r>
          </a:p>
        </p:txBody>
      </p:sp>
    </p:spTree>
    <p:extLst>
      <p:ext uri="{BB962C8B-B14F-4D97-AF65-F5344CB8AC3E}">
        <p14:creationId xmlns:p14="http://schemas.microsoft.com/office/powerpoint/2010/main" val="1922497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32297"/>
            <a:ext cx="11396889" cy="2935850"/>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copy all of your contacts, photos, and other information from your phone, then reset it to the factory settings. The next morning, as you drop off your old phone at a nearby charity, the receptionist explains how donated smartphones are refurbished or recycled, depending on their condition. </a:t>
            </a:r>
          </a:p>
          <a:p>
            <a:r>
              <a:rPr lang="en-US" dirty="0"/>
              <a:t>Refurbished phones give challenged populations access to community resources and a way to call for emergency services if needed. Her charity specifically helps victims of domestic violence, elderly citizens, and other people seeking assistance in the area. </a:t>
            </a:r>
          </a:p>
          <a:p>
            <a:r>
              <a:rPr lang="en-US" dirty="0"/>
              <a:t>As you arrive at work, you’re pleased with your efforts in finding a new life for your old phone. But then Lamar calls you into his office to discuss the fender bender during your video call.</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4591049"/>
            <a:ext cx="3458789" cy="45078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Level7_Story3</a:t>
            </a:r>
          </a:p>
        </p:txBody>
      </p:sp>
      <p:sp>
        <p:nvSpPr>
          <p:cNvPr id="7" name="TextBox 6">
            <a:extLst>
              <a:ext uri="{FF2B5EF4-FFF2-40B4-BE49-F238E27FC236}">
                <a16:creationId xmlns:a16="http://schemas.microsoft.com/office/drawing/2014/main" id="{D10F5C64-8173-443C-BA91-B070064F16CE}"/>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Lamar requires additional training before qualifying student for the promotion</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A2AA530-23C9-4762-A8BA-1F540885F347}"/>
              </a:ext>
            </a:extLst>
          </p:cNvPr>
          <p:cNvSpPr txBox="1"/>
          <p:nvPr/>
        </p:nvSpPr>
        <p:spPr>
          <a:xfrm>
            <a:off x="795111" y="7091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a:t>
            </a:r>
            <a:r>
              <a:rPr lang="en-US" dirty="0">
                <a:solidFill>
                  <a:prstClr val="black"/>
                </a:solidFill>
              </a:rPr>
              <a:t>Student chose to donate the old phone.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0837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31641"/>
            <a:ext cx="11396889" cy="2227816"/>
          </a:xfrm>
          <a:prstGeom prst="rect">
            <a:avLst/>
          </a:prstGeom>
        </p:spPr>
        <p:txBody>
          <a:bodyPr lIns="121891" tIns="60945" rIns="121891" bIns="60945" anchor="t">
            <a:noAutofit/>
          </a:bodyPr>
          <a:lstStyle>
            <a:defPPr>
              <a:defRPr lang="en-US"/>
            </a:defPPr>
            <a:lvl1pPr lvl="0" indent="0" defTabSz="457200">
              <a:spcBef>
                <a:spcPts val="0"/>
              </a:spcBef>
              <a:spcAft>
                <a:spcPts val="600"/>
              </a:spcAft>
              <a:buFont typeface="Arial"/>
              <a:buNone/>
              <a:defRPr sz="2050">
                <a:solidFill>
                  <a:srgbClr val="44546A"/>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next morning, your roommate finds your old smartphone in the trash and lectures you about the negative impact this will have on the environment. She tells you that electronics in landfills pollute water supplies. These devices could be recycled or even refurbished and reused to provide inexpensive cell phones for people in need. </a:t>
            </a:r>
          </a:p>
          <a:p>
            <a:r>
              <a:rPr lang="en-US" dirty="0"/>
              <a:t>While you agree in principle, you feel defensive and end up in an argument that makes you late for work. When you arrive, Lamar calls you into his office to discuss the fender bender during your video call.</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882598"/>
            <a:ext cx="3197117" cy="59609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Level7_Story4</a:t>
            </a:r>
          </a:p>
        </p:txBody>
      </p:sp>
      <p:sp>
        <p:nvSpPr>
          <p:cNvPr id="7" name="TextBox 6">
            <a:extLst>
              <a:ext uri="{FF2B5EF4-FFF2-40B4-BE49-F238E27FC236}">
                <a16:creationId xmlns:a16="http://schemas.microsoft.com/office/drawing/2014/main" id="{8805599F-1132-4F03-980F-7E787F24C0B2}"/>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Lamar requires additional training before qualifying student for the promotion</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4052F3B-24F5-4C31-B6D5-8EAB7742643E}"/>
              </a:ext>
            </a:extLst>
          </p:cNvPr>
          <p:cNvSpPr txBox="1"/>
          <p:nvPr/>
        </p:nvSpPr>
        <p:spPr>
          <a:xfrm>
            <a:off x="795111" y="7091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a:t>
            </a:r>
            <a:r>
              <a:rPr lang="en-US" dirty="0">
                <a:solidFill>
                  <a:prstClr val="black"/>
                </a:solidFill>
              </a:rPr>
              <a:t>Student chose to throw the old phone in the trash.</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3089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59D1C-5937-4C24-9BB7-1726603173CB}"/>
              </a:ext>
            </a:extLst>
          </p:cNvPr>
          <p:cNvSpPr txBox="1">
            <a:spLocks/>
          </p:cNvSpPr>
          <p:nvPr/>
        </p:nvSpPr>
        <p:spPr>
          <a:xfrm>
            <a:off x="838200" y="87047"/>
            <a:ext cx="10515600" cy="825910"/>
          </a:xfrm>
          <a:prstGeom prst="rect">
            <a:avLst/>
          </a:prstGeom>
        </p:spPr>
        <p:txBody>
          <a:bodyPr vert="horz" lIns="121954" tIns="60977" rIns="121954" bIns="60977" rtlCol="0" anchor="ctr">
            <a:normAutofit fontScale="975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1</a:t>
            </a:r>
          </a:p>
        </p:txBody>
      </p:sp>
      <p:sp>
        <p:nvSpPr>
          <p:cNvPr id="3" name="Title 1">
            <a:extLst>
              <a:ext uri="{FF2B5EF4-FFF2-40B4-BE49-F238E27FC236}">
                <a16:creationId xmlns:a16="http://schemas.microsoft.com/office/drawing/2014/main" id="{FD52055D-3EC8-4129-BB19-C393F14761A7}"/>
              </a:ext>
            </a:extLst>
          </p:cNvPr>
          <p:cNvSpPr txBox="1">
            <a:spLocks/>
          </p:cNvSpPr>
          <p:nvPr/>
        </p:nvSpPr>
        <p:spPr>
          <a:xfrm>
            <a:off x="795113" y="1189829"/>
            <a:ext cx="10799124" cy="28406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Lamar is highly impressed with your performance with your new job responsibilities. He’s also heard some good things about you from other people in the company and even in the community over the past few days. Lamar says he’s ready to give you the promotion right away in addition to giving you credit for two vacation days to use for some personal time after your conference in Cancun, Mexico. Nice work!</a:t>
            </a:r>
          </a:p>
        </p:txBody>
      </p:sp>
      <p:sp>
        <p:nvSpPr>
          <p:cNvPr id="4" name="Text Placeholder 1">
            <a:extLst>
              <a:ext uri="{FF2B5EF4-FFF2-40B4-BE49-F238E27FC236}">
                <a16:creationId xmlns:a16="http://schemas.microsoft.com/office/drawing/2014/main" id="{46FF2412-E0EE-48D7-B842-13A35C5F8229}"/>
              </a:ext>
            </a:extLst>
          </p:cNvPr>
          <p:cNvSpPr txBox="1">
            <a:spLocks/>
          </p:cNvSpPr>
          <p:nvPr/>
        </p:nvSpPr>
        <p:spPr>
          <a:xfrm>
            <a:off x="795113" y="3922337"/>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5" name="Rectangle 4">
            <a:extLst>
              <a:ext uri="{FF2B5EF4-FFF2-40B4-BE49-F238E27FC236}">
                <a16:creationId xmlns:a16="http://schemas.microsoft.com/office/drawing/2014/main" id="{E041C561-8D65-4D8F-8183-684485C75470}"/>
              </a:ext>
            </a:extLst>
          </p:cNvPr>
          <p:cNvSpPr/>
          <p:nvPr/>
        </p:nvSpPr>
        <p:spPr>
          <a:xfrm>
            <a:off x="998352" y="5052890"/>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3903202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CFA8D-9B69-44B8-A3AD-F302114BD656}"/>
              </a:ext>
            </a:extLst>
          </p:cNvPr>
          <p:cNvSpPr txBox="1">
            <a:spLocks/>
          </p:cNvSpPr>
          <p:nvPr/>
        </p:nvSpPr>
        <p:spPr>
          <a:xfrm>
            <a:off x="838200" y="87047"/>
            <a:ext cx="10515600" cy="825910"/>
          </a:xfrm>
          <a:prstGeom prst="rect">
            <a:avLst/>
          </a:prstGeom>
        </p:spPr>
        <p:txBody>
          <a:bodyPr vert="horz" lIns="121954" tIns="60977" rIns="121954" bIns="60977" rtlCol="0" anchor="ctr">
            <a:normAutofit fontScale="975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2</a:t>
            </a:r>
          </a:p>
        </p:txBody>
      </p:sp>
      <p:sp>
        <p:nvSpPr>
          <p:cNvPr id="5" name="Title 1">
            <a:extLst>
              <a:ext uri="{FF2B5EF4-FFF2-40B4-BE49-F238E27FC236}">
                <a16:creationId xmlns:a16="http://schemas.microsoft.com/office/drawing/2014/main" id="{AD4C8D4C-30B7-4E53-81AA-C112652A75F2}"/>
              </a:ext>
            </a:extLst>
          </p:cNvPr>
          <p:cNvSpPr txBox="1">
            <a:spLocks/>
          </p:cNvSpPr>
          <p:nvPr/>
        </p:nvSpPr>
        <p:spPr>
          <a:xfrm>
            <a:off x="795113" y="1189829"/>
            <a:ext cx="10799124" cy="28406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Lamar is concerned about your performance with your new job responsibilities. And frankly, he’s heard some concerning feedback from other people on how you handle yourself both professionally and personally when facing ethical decisions. He says you need more training than he expected before you’ll be ready for the promotion. He’s also decided you’re not ready for extra benefits such as a flexible travel schedule for conferences.</a:t>
            </a:r>
            <a:endParaRPr lang="en-US" sz="2800" dirty="0">
              <a:cs typeface="Calibri Light"/>
            </a:endParaRPr>
          </a:p>
        </p:txBody>
      </p:sp>
      <p:sp>
        <p:nvSpPr>
          <p:cNvPr id="6" name="Text Placeholder 1">
            <a:extLst>
              <a:ext uri="{FF2B5EF4-FFF2-40B4-BE49-F238E27FC236}">
                <a16:creationId xmlns:a16="http://schemas.microsoft.com/office/drawing/2014/main" id="{FF739967-EBBD-48C6-8EA4-D45F871D043B}"/>
              </a:ext>
            </a:extLst>
          </p:cNvPr>
          <p:cNvSpPr txBox="1">
            <a:spLocks/>
          </p:cNvSpPr>
          <p:nvPr/>
        </p:nvSpPr>
        <p:spPr>
          <a:xfrm>
            <a:off x="795113" y="4306157"/>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7" name="Rectangle 6">
            <a:extLst>
              <a:ext uri="{FF2B5EF4-FFF2-40B4-BE49-F238E27FC236}">
                <a16:creationId xmlns:a16="http://schemas.microsoft.com/office/drawing/2014/main" id="{24A79E35-CC1C-498D-8256-18FC6410CB7E}"/>
              </a:ext>
            </a:extLst>
          </p:cNvPr>
          <p:cNvSpPr/>
          <p:nvPr/>
        </p:nvSpPr>
        <p:spPr>
          <a:xfrm>
            <a:off x="998352" y="5436710"/>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1461171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18920-F514-47A9-BBC0-CFA1DFFDE8DD}"/>
              </a:ext>
            </a:extLst>
          </p:cNvPr>
          <p:cNvSpPr txBox="1">
            <a:spLocks/>
          </p:cNvSpPr>
          <p:nvPr/>
        </p:nvSpPr>
        <p:spPr>
          <a:xfrm>
            <a:off x="838200" y="87047"/>
            <a:ext cx="10515600" cy="825910"/>
          </a:xfrm>
          <a:prstGeom prst="rect">
            <a:avLst/>
          </a:prstGeom>
        </p:spPr>
        <p:txBody>
          <a:bodyPr vert="horz" lIns="121954" tIns="60977" rIns="121954" bIns="60977" rtlCol="0" anchor="ctr">
            <a:normAutofit fontScale="975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0</a:t>
            </a:r>
          </a:p>
        </p:txBody>
      </p:sp>
      <p:sp>
        <p:nvSpPr>
          <p:cNvPr id="3" name="Title 1">
            <a:extLst>
              <a:ext uri="{FF2B5EF4-FFF2-40B4-BE49-F238E27FC236}">
                <a16:creationId xmlns:a16="http://schemas.microsoft.com/office/drawing/2014/main" id="{5C37C330-5EDD-4F80-9D17-0455CAA05F47}"/>
              </a:ext>
            </a:extLst>
          </p:cNvPr>
          <p:cNvSpPr txBox="1">
            <a:spLocks/>
          </p:cNvSpPr>
          <p:nvPr/>
        </p:nvSpPr>
        <p:spPr>
          <a:xfrm>
            <a:off x="795113" y="1189829"/>
            <a:ext cx="10799124" cy="28406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Lamar is deeply concerned about your judgment and ability to handle ethical responsibilities professionally. Actually, he’s not even sure you’re the right fit for this company at all. For now, your job performance is under intense scrutiny. He says that if you make any more mistakes, you’ll likely lose your job.</a:t>
            </a:r>
            <a:endParaRPr lang="en-US" sz="2800" dirty="0">
              <a:cs typeface="Calibri Light"/>
            </a:endParaRPr>
          </a:p>
        </p:txBody>
      </p:sp>
      <p:sp>
        <p:nvSpPr>
          <p:cNvPr id="4" name="Text Placeholder 1">
            <a:extLst>
              <a:ext uri="{FF2B5EF4-FFF2-40B4-BE49-F238E27FC236}">
                <a16:creationId xmlns:a16="http://schemas.microsoft.com/office/drawing/2014/main" id="{7CAA011F-9583-4A3C-B4A9-DFDAB9F6178C}"/>
              </a:ext>
            </a:extLst>
          </p:cNvPr>
          <p:cNvSpPr txBox="1">
            <a:spLocks/>
          </p:cNvSpPr>
          <p:nvPr/>
        </p:nvSpPr>
        <p:spPr>
          <a:xfrm>
            <a:off x="795113" y="3583667"/>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5" name="Rectangle 4">
            <a:extLst>
              <a:ext uri="{FF2B5EF4-FFF2-40B4-BE49-F238E27FC236}">
                <a16:creationId xmlns:a16="http://schemas.microsoft.com/office/drawing/2014/main" id="{37AFDDC1-CA32-4DA0-AC78-E3EE085C6191}"/>
              </a:ext>
            </a:extLst>
          </p:cNvPr>
          <p:cNvSpPr/>
          <p:nvPr/>
        </p:nvSpPr>
        <p:spPr>
          <a:xfrm>
            <a:off x="998352" y="4714220"/>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35081635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DF0A8F-3A9B-486F-8C38-91A7561A871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3CFA02B-0441-499E-A71F-51544C385A84}"/>
</file>

<file path=customXml/itemProps3.xml><?xml version="1.0" encoding="utf-8"?>
<ds:datastoreItem xmlns:ds="http://schemas.openxmlformats.org/officeDocument/2006/customXml" ds:itemID="{FBF1E155-B727-4A7C-8628-883DAE982E7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269</TotalTime>
  <Words>4538</Words>
  <Application>Microsoft Office PowerPoint</Application>
  <PresentationFormat>Widescreen</PresentationFormat>
  <Paragraphs>314</Paragraphs>
  <Slides>26</Slides>
  <Notes>26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Arial</vt:lpstr>
      <vt:lpstr>Calibri</vt:lpstr>
      <vt:lpstr>Calibri Light</vt:lpstr>
      <vt:lpstr>Titillium Web</vt:lpstr>
      <vt:lpstr>Wingdings</vt:lpstr>
      <vt:lpstr>1_Office Theme</vt:lpstr>
      <vt:lpstr>Office Theme</vt:lpstr>
      <vt:lpstr>Manage Job Responsibilities Professionally</vt:lpstr>
      <vt:lpstr>Manage Job Responsibilities Professionally</vt:lpstr>
      <vt:lpstr>Introduction</vt:lpstr>
      <vt:lpstr>Level1_Decision1</vt:lpstr>
      <vt:lpstr>Level1_Story1</vt:lpstr>
      <vt:lpstr>Level2_Decision1</vt:lpstr>
      <vt:lpstr>Level3_Decision1</vt:lpstr>
      <vt:lpstr>Level3_Decision2</vt:lpstr>
      <vt:lpstr>Level3_Story1</vt:lpstr>
      <vt:lpstr>Level4_Decision1</vt:lpstr>
      <vt:lpstr>Level4_Story1</vt:lpstr>
      <vt:lpstr>Level5_Decision1</vt:lpstr>
      <vt:lpstr>Level5_Story1</vt:lpstr>
      <vt:lpstr>Level5_Story2</vt:lpstr>
      <vt:lpstr>Level6_Decision1</vt:lpstr>
      <vt:lpstr>Level6_Decision2</vt:lpstr>
      <vt:lpstr>Level6_Story1</vt:lpstr>
      <vt:lpstr>Level7_Decision1</vt:lpstr>
      <vt:lpstr>Level7_Decision2</vt:lpstr>
      <vt:lpstr>Level7_Story1</vt:lpstr>
      <vt:lpstr>Level7_Story2</vt:lpstr>
      <vt:lpstr>Level7_Story3</vt:lpstr>
      <vt:lpstr>Level7_Story4</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West</dc:creator>
  <cp:lastModifiedBy>Molnar, Zenya</cp:lastModifiedBy>
  <cp:revision>11</cp:revision>
  <dcterms:created xsi:type="dcterms:W3CDTF">2020-01-29T23:57:56Z</dcterms:created>
  <dcterms:modified xsi:type="dcterms:W3CDTF">2020-04-07T17:17:45Z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0x010100CC237A0CA6CD2A4D8CE02E9AA9870115</vt:lpwstr>
  </property>
</Properties>
</file>